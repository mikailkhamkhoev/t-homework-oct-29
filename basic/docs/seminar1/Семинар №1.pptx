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147377429" r:id="rId2"/>
    <p:sldId id="2147377430" r:id="rId3"/>
    <p:sldId id="2147377431" r:id="rId4"/>
    <p:sldId id="2147377432" r:id="rId5"/>
    <p:sldId id="2147377433" r:id="rId6"/>
    <p:sldId id="2147377446" r:id="rId7"/>
    <p:sldId id="2147377434" r:id="rId8"/>
    <p:sldId id="2147377436" r:id="rId9"/>
    <p:sldId id="2147377437" r:id="rId10"/>
    <p:sldId id="2147377438" r:id="rId11"/>
    <p:sldId id="2147377439" r:id="rId12"/>
    <p:sldId id="2147377440" r:id="rId13"/>
    <p:sldId id="2147377441" r:id="rId14"/>
    <p:sldId id="2147377442" r:id="rId15"/>
    <p:sldId id="2147377443" r:id="rId16"/>
    <p:sldId id="2147377444" r:id="rId17"/>
    <p:sldId id="2147377445" r:id="rId18"/>
    <p:sldId id="2147377463" r:id="rId19"/>
    <p:sldId id="2147377464" r:id="rId20"/>
    <p:sldId id="2147377468" r:id="rId21"/>
    <p:sldId id="2147377469" r:id="rId22"/>
    <p:sldId id="2147377470" r:id="rId23"/>
    <p:sldId id="2147377471" r:id="rId24"/>
    <p:sldId id="2147377473" r:id="rId25"/>
    <p:sldId id="2147377474" r:id="rId26"/>
    <p:sldId id="2147377465" r:id="rId27"/>
    <p:sldId id="2147377466" r:id="rId28"/>
    <p:sldId id="2147377467" r:id="rId29"/>
  </p:sldIdLst>
  <p:sldSz cx="19799300" cy="11160125"/>
  <p:notesSz cx="6858000" cy="9144000"/>
  <p:embeddedFontLst>
    <p:embeddedFont>
      <p:font typeface="T-Sans" pitchFamily="2" charset="77"/>
      <p:regular r:id="rId32"/>
      <p:bold r:id="rId33"/>
    </p:embeddedFont>
    <p:embeddedFont>
      <p:font typeface="T-Sans Medium" pitchFamily="2" charset="77"/>
      <p:regular r:id="rId34"/>
    </p:embeddedFont>
    <p:embeddedFont>
      <p:font typeface="Tinkoff Sans" panose="02000506050000020004" pitchFamily="2" charset="77"/>
      <p:regular r:id="rId35"/>
      <p:bold r:id="rId36"/>
    </p:embeddedFont>
  </p:embeddedFontLst>
  <p:defaultTextStyle>
    <a:defPPr marL="0" marR="0" indent="0" algn="l" defTabSz="90006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1pPr>
    <a:lvl2pPr marL="0" marR="0" indent="450029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2pPr>
    <a:lvl3pPr marL="0" marR="0" indent="90006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3pPr>
    <a:lvl4pPr marL="0" marR="0" indent="135008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4pPr>
    <a:lvl5pPr marL="0" marR="0" indent="1800120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5pPr>
    <a:lvl6pPr marL="0" marR="0" indent="225014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6pPr>
    <a:lvl7pPr marL="0" marR="0" indent="270017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7pPr>
    <a:lvl8pPr marL="0" marR="0" indent="3150206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8pPr>
    <a:lvl9pPr marL="0" marR="0" indent="3600237" algn="l" defTabSz="45002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773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nkoff Sans"/>
        <a:ea typeface="Tinkoff Sans"/>
        <a:cs typeface="Tinkoff Sans"/>
        <a:sym typeface="Tinkoff Sans"/>
      </a:defRPr>
    </a:lvl9pPr>
  </p:defaultTextStyle>
  <p:extLst>
    <p:ext uri="{EFAFB233-063F-42B5-8137-9DF3F51BA10A}">
      <p15:sldGuideLst xmlns:p15="http://schemas.microsoft.com/office/powerpoint/2012/main">
        <p15:guide id="1" pos="861" userDrawn="1">
          <p15:clr>
            <a:srgbClr val="A4A3A4"/>
          </p15:clr>
        </p15:guide>
        <p15:guide id="2" orient="horz" pos="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2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B1EF"/>
    <a:srgbClr val="EFF1F2"/>
    <a:srgbClr val="FFEE96"/>
    <a:srgbClr val="F1EFFB"/>
    <a:srgbClr val="FFE1D5"/>
    <a:srgbClr val="E6F3D4"/>
    <a:srgbClr val="FA9174"/>
    <a:srgbClr val="FFBFA3"/>
    <a:srgbClr val="F5F5F6"/>
    <a:srgbClr val="D2D5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EACB"/>
          </a:solidFill>
        </a:fill>
      </a:tcStyle>
    </a:wholeTbl>
    <a:band2H>
      <a:tcTxStyle/>
      <a:tcStyle>
        <a:tcBdr/>
        <a:fill>
          <a:solidFill>
            <a:srgbClr val="FEF5E7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0D0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CCFF"/>
          </a:solidFill>
        </a:fill>
      </a:tcStyle>
    </a:wholeTbl>
    <a:band2H>
      <a:tcTxStyle/>
      <a:tcStyle>
        <a:tcBdr/>
        <a:fill>
          <a:solidFill>
            <a:srgbClr val="EAE7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>
              <a:lumOff val="3235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chemeClr val="accent2">
              <a:lumOff val="3235"/>
            </a:schemeClr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Tinkoff Sans"/>
          <a:ea typeface="Tinkoff Sans"/>
          <a:cs typeface="Tinkoff San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1"/>
    <p:restoredTop sz="93373"/>
  </p:normalViewPr>
  <p:slideViewPr>
    <p:cSldViewPr snapToGrid="0" snapToObjects="1" showGuides="1">
      <p:cViewPr varScale="1">
        <p:scale>
          <a:sx n="118" d="100"/>
          <a:sy n="118" d="100"/>
        </p:scale>
        <p:origin x="3672" y="240"/>
      </p:cViewPr>
      <p:guideLst>
        <p:guide pos="861"/>
        <p:guide orient="horz" pos="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83D989E-EF15-6F48-AA4B-731FAEF118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C4CF683-EEF1-4645-87EB-D55DCC4953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206CE-BBC7-5648-9AD8-918B797FE8E8}" type="datetimeFigureOut">
              <a:rPr lang="ru-RU" smtClean="0">
                <a:latin typeface="T-Sans" pitchFamily="2" charset="0"/>
                <a:ea typeface="T-Sans" pitchFamily="2" charset="0"/>
              </a:rPr>
              <a:t>01.09.2026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89581FD-2C33-5D4D-8228-B60CABE32A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57F81C-FF75-FE4D-AA1C-3BDE570DF5A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E2138-0C2A-DB4B-942A-F7E05EC66FCB}" type="slidenum">
              <a:rPr lang="ru-RU" smtClean="0">
                <a:latin typeface="T-Sans" pitchFamily="2" charset="0"/>
                <a:ea typeface="T-Sans" pitchFamily="2" charset="0"/>
              </a:rPr>
              <a:t>‹#›</a:t>
            </a:fld>
            <a:endParaRPr lang="ru-RU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7169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Shape 861"/>
          <p:cNvSpPr>
            <a:spLocks noGrp="1" noRot="1" noChangeAspect="1"/>
          </p:cNvSpPr>
          <p:nvPr>
            <p:ph type="sldImg"/>
          </p:nvPr>
        </p:nvSpPr>
        <p:spPr>
          <a:xfrm>
            <a:off x="387350" y="685800"/>
            <a:ext cx="60833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862" name="Shape 8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latinLnBrk="0">
      <a:defRPr sz="1378" b="0" i="0">
        <a:solidFill>
          <a:schemeClr val="tx1"/>
        </a:solidFill>
        <a:latin typeface="T-Sans" pitchFamily="2" charset="0"/>
        <a:ea typeface="+mj-ea"/>
        <a:cs typeface="+mj-cs"/>
        <a:sym typeface="Calibri"/>
      </a:defRPr>
    </a:lvl1pPr>
    <a:lvl2pPr indent="225015" latinLnBrk="0">
      <a:defRPr sz="1181">
        <a:latin typeface="+mj-lt"/>
        <a:ea typeface="+mj-ea"/>
        <a:cs typeface="+mj-cs"/>
        <a:sym typeface="Calibri"/>
      </a:defRPr>
    </a:lvl2pPr>
    <a:lvl3pPr indent="450029" latinLnBrk="0">
      <a:defRPr sz="1181">
        <a:latin typeface="+mj-lt"/>
        <a:ea typeface="+mj-ea"/>
        <a:cs typeface="+mj-cs"/>
        <a:sym typeface="Calibri"/>
      </a:defRPr>
    </a:lvl3pPr>
    <a:lvl4pPr indent="675045" latinLnBrk="0">
      <a:defRPr sz="1181">
        <a:latin typeface="+mj-lt"/>
        <a:ea typeface="+mj-ea"/>
        <a:cs typeface="+mj-cs"/>
        <a:sym typeface="Calibri"/>
      </a:defRPr>
    </a:lvl4pPr>
    <a:lvl5pPr indent="900060" latinLnBrk="0">
      <a:defRPr sz="1181">
        <a:latin typeface="+mj-lt"/>
        <a:ea typeface="+mj-ea"/>
        <a:cs typeface="+mj-cs"/>
        <a:sym typeface="Calibri"/>
      </a:defRPr>
    </a:lvl5pPr>
    <a:lvl6pPr indent="1125075" latinLnBrk="0">
      <a:defRPr sz="1181">
        <a:latin typeface="+mj-lt"/>
        <a:ea typeface="+mj-ea"/>
        <a:cs typeface="+mj-cs"/>
        <a:sym typeface="Calibri"/>
      </a:defRPr>
    </a:lvl6pPr>
    <a:lvl7pPr indent="1350086" latinLnBrk="0">
      <a:defRPr sz="1181">
        <a:latin typeface="+mj-lt"/>
        <a:ea typeface="+mj-ea"/>
        <a:cs typeface="+mj-cs"/>
        <a:sym typeface="Calibri"/>
      </a:defRPr>
    </a:lvl7pPr>
    <a:lvl8pPr indent="1575102" latinLnBrk="0">
      <a:defRPr sz="1181">
        <a:latin typeface="+mj-lt"/>
        <a:ea typeface="+mj-ea"/>
        <a:cs typeface="+mj-cs"/>
        <a:sym typeface="Calibri"/>
      </a:defRPr>
    </a:lvl8pPr>
    <a:lvl9pPr indent="1800120" latinLnBrk="0">
      <a:defRPr sz="1181">
        <a:latin typeface="+mj-lt"/>
        <a:ea typeface="+mj-ea"/>
        <a:cs typeface="+mj-cs"/>
        <a:sym typeface="Calibri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239111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934360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29913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03221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7795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935667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706721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53571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49054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399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06300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6520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85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DF84A1A-3892-BEBC-E3CB-B413F84BF63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272234" y="10409919"/>
            <a:ext cx="1068946" cy="246221"/>
          </a:xfrm>
          <a:prstGeom prst="rect">
            <a:avLst/>
          </a:prstGeom>
        </p:spPr>
        <p:txBody>
          <a:bodyPr anchor="ctr"/>
          <a:lstStyle>
            <a:lvl1pPr marL="0" indent="0" algn="r">
              <a:buFont typeface="Wingdings" pitchFamily="2" charset="2"/>
              <a:buNone/>
              <a:defRPr sz="1600" b="0" i="0"/>
            </a:lvl1pPr>
          </a:lstStyle>
          <a:p>
            <a:fld id="{9A07687F-D30E-1A4C-A0AB-5DD07EB6EB4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125966-8232-9AC4-8683-EE4F730CA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5759176" cy="111601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55D350B-6697-71DD-45DA-AAE4591C9E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224688" y="1779477"/>
            <a:ext cx="4394057" cy="6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6303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pos="5170" userDrawn="1">
          <p15:clr>
            <a:srgbClr val="FBAE40"/>
          </p15:clr>
        </p15:guide>
        <p15:guide id="24" orient="horz" pos="1111" userDrawn="1">
          <p15:clr>
            <a:srgbClr val="FBAE40"/>
          </p15:clr>
        </p15:guide>
        <p15:guide id="26" orient="horz" pos="1542" userDrawn="1">
          <p15:clr>
            <a:srgbClr val="FBAE40"/>
          </p15:clr>
        </p15:guide>
        <p15:guide id="30" orient="horz" pos="2653" userDrawn="1">
          <p15:clr>
            <a:srgbClr val="FBAE40"/>
          </p15:clr>
        </p15:guide>
        <p15:guide id="39" orient="horz" pos="4422" userDrawn="1">
          <p15:clr>
            <a:srgbClr val="FBAE40"/>
          </p15:clr>
        </p15:guide>
        <p15:guide id="43" orient="horz" pos="5533" userDrawn="1">
          <p15:clr>
            <a:srgbClr val="FBAE40"/>
          </p15:clr>
        </p15:guide>
        <p15:guide id="44" orient="horz" pos="591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A8CCF61-34E1-A7FE-253D-38968BB9DED6}"/>
              </a:ext>
            </a:extLst>
          </p:cNvPr>
          <p:cNvSpPr/>
          <p:nvPr userDrawn="1"/>
        </p:nvSpPr>
        <p:spPr>
          <a:xfrm>
            <a:off x="611188" y="647699"/>
            <a:ext cx="18576925" cy="9864725"/>
          </a:xfrm>
          <a:prstGeom prst="roundRect">
            <a:avLst>
              <a:gd name="adj" fmla="val 5394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solidFill>
                <a:srgbClr val="000000"/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189F2E-9007-1111-5F2A-7177336F6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4275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_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9E0DDE-5486-2C50-C638-7E159326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4C97689-0B14-BAB4-075D-08F8243A70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512104" y="1510158"/>
            <a:ext cx="4882285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92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925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C7EC11E-6AF4-DD27-3F92-218937F2CF6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461441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Желт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AE3D09BE-CDCC-BEAE-26D7-66AC1CF209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33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ерая плаш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2FBF9586-44EC-4E13-AED7-14C258C34A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423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рная плашка с засвет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B69617-8869-9649-F99C-69FDA9C1E2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11C91763-0915-F4BA-6A23-BA87B1885B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3769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24" orient="horz" pos="616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бел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00FDC96-810D-CFD9-6E58-04A3A2505C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5405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ер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00516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желт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8B3D8D3C-755C-BEF7-93C5-FD572759185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8802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56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B31166E-5B2E-161F-80C4-671886F8EC5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5535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паттерном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F91C1-1A78-58C6-CB42-CC30A05BA4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96DED21-0FBB-16BD-4DC9-B015EE6354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1823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черный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A0F6A44-6D52-9D3E-2A26-DB5B259C8297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1BCFD17-C1D9-8EDD-22C9-22186C3311D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63944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н с градиентом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54BFEFE7-FB2B-3859-C2EE-78C10CF7D7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9454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F15F1DD-95F6-4971-D888-6A6491841E9A}"/>
              </a:ext>
            </a:extLst>
          </p:cNvPr>
          <p:cNvGrpSpPr/>
          <p:nvPr userDrawn="1"/>
        </p:nvGrpSpPr>
        <p:grpSpPr>
          <a:xfrm>
            <a:off x="611187" y="2861734"/>
            <a:ext cx="18396000" cy="9864725"/>
            <a:chOff x="7477169" y="647700"/>
            <a:chExt cx="18396000" cy="9864725"/>
          </a:xfrm>
        </p:grpSpPr>
        <p:sp>
          <p:nvSpPr>
            <p:cNvPr id="5" name="Скругленный прямоугольник 4">
              <a:extLst>
                <a:ext uri="{FF2B5EF4-FFF2-40B4-BE49-F238E27FC236}">
                  <a16:creationId xmlns:a16="http://schemas.microsoft.com/office/drawing/2014/main" id="{38B58920-520D-ECD2-F228-4BCC7CF3CE49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2B7D3A56-805B-13E2-7063-6B9B4EC8AA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A30C1799-08EA-B949-D626-A8CCD88143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048CF9FC-F84E-B682-74A5-DBD5C6B0F2E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9" name="Скругленный прямоугольник 8">
              <a:extLst>
                <a:ext uri="{FF2B5EF4-FFF2-40B4-BE49-F238E27FC236}">
                  <a16:creationId xmlns:a16="http://schemas.microsoft.com/office/drawing/2014/main" id="{9B1BD348-2498-84F2-C965-C41594850914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57719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кода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43B8BAC9-FAA7-A835-C391-1C05B6AFA15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1F21671-BB96-2971-101E-D1089DBA17F8}"/>
              </a:ext>
            </a:extLst>
          </p:cNvPr>
          <p:cNvGrpSpPr/>
          <p:nvPr userDrawn="1"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83E92DA5-6108-6ED0-6D68-5064067EF090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DC590063-5A42-FB1A-E53B-185C753C31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6828266-A2B8-ABD5-B32A-F0002CFDC0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C4F931CE-FB41-24EA-227F-5FDF32D136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5" name="Скругленный прямоугольник 14">
              <a:extLst>
                <a:ext uri="{FF2B5EF4-FFF2-40B4-BE49-F238E27FC236}">
                  <a16:creationId xmlns:a16="http://schemas.microsoft.com/office/drawing/2014/main" id="{5862E01E-E516-3B53-62A9-B59CBE13424B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75024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аттерн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542BA4A3-BD66-B6CA-B053-0172A84AC9E4}"/>
              </a:ext>
            </a:extLst>
          </p:cNvPr>
          <p:cNvSpPr/>
          <p:nvPr userDrawn="1"/>
        </p:nvSpPr>
        <p:spPr>
          <a:xfrm>
            <a:off x="611188" y="647700"/>
            <a:ext cx="18576000" cy="9864725"/>
          </a:xfrm>
          <a:prstGeom prst="roundRect">
            <a:avLst>
              <a:gd name="adj" fmla="val 6279"/>
            </a:avLst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665FB45-97BD-7225-E420-C825F595E3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0178"/>
          <a:stretch/>
        </p:blipFill>
        <p:spPr>
          <a:xfrm>
            <a:off x="611186" y="4619298"/>
            <a:ext cx="18576000" cy="5881729"/>
          </a:xfrm>
          <a:prstGeom prst="roundRect">
            <a:avLst>
              <a:gd name="adj" fmla="val 10384"/>
            </a:avLst>
          </a:prstGeom>
        </p:spPr>
      </p:pic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CDC5362-4493-F8E4-812F-FB74B56668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3299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E61101-FB36-7188-BEAF-FDF7940DFCCF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584EAB4-0304-4FEF-C52A-A2CB0150F1FC}"/>
              </a:ext>
            </a:extLst>
          </p:cNvPr>
          <p:cNvSpPr/>
          <p:nvPr userDrawn="1"/>
        </p:nvSpPr>
        <p:spPr>
          <a:xfrm>
            <a:off x="2207516" y="-2112072"/>
            <a:ext cx="15384268" cy="15384268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B13E127B-8DEA-CC96-30EA-8B45282E4E78}"/>
              </a:ext>
            </a:extLst>
          </p:cNvPr>
          <p:cNvSpPr/>
          <p:nvPr userDrawn="1"/>
        </p:nvSpPr>
        <p:spPr>
          <a:xfrm>
            <a:off x="4645819" y="326231"/>
            <a:ext cx="10507662" cy="10507662"/>
          </a:xfrm>
          <a:prstGeom prst="ellipse">
            <a:avLst/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>
            <a:outerShdw blurRad="635000" algn="ctr" rotWithShape="0">
              <a:prstClr val="black">
                <a:alpha val="5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endParaRPr lang="ru-RU" sz="3200" b="0" i="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079FC53-DDC0-CA9F-5B63-3CAEBFE2C5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894602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инфографик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47CB827-92DF-1E19-4556-7F26AEF2ED94}"/>
              </a:ext>
            </a:extLst>
          </p:cNvPr>
          <p:cNvGrpSpPr/>
          <p:nvPr userDrawn="1"/>
        </p:nvGrpSpPr>
        <p:grpSpPr>
          <a:xfrm>
            <a:off x="7355366" y="-719938"/>
            <a:ext cx="12600000" cy="12600000"/>
            <a:chOff x="7355366" y="-719938"/>
            <a:chExt cx="12600000" cy="12600000"/>
          </a:xfrm>
        </p:grpSpPr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8A5DABA1-1DC3-E38B-4750-89870BC3EFA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7355366" y="-719938"/>
              <a:ext cx="12600000" cy="12600000"/>
            </a:xfrm>
            <a:prstGeom prst="ellipse">
              <a:avLst/>
            </a:prstGeom>
            <a:solidFill>
              <a:srgbClr val="212020">
                <a:alpha val="2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9D503385-2B01-BB65-0260-EAC7605709E5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585879" y="510575"/>
              <a:ext cx="10138974" cy="10138974"/>
            </a:xfrm>
            <a:prstGeom prst="ellipse">
              <a:avLst/>
            </a:prstGeom>
            <a:solidFill>
              <a:srgbClr val="212020">
                <a:alpha val="3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D702DD45-F95F-F325-33A5-6B018D62D09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9846586" y="1771282"/>
              <a:ext cx="7617561" cy="7617561"/>
            </a:xfrm>
            <a:prstGeom prst="ellipse">
              <a:avLst/>
            </a:prstGeom>
            <a:solidFill>
              <a:srgbClr val="212020">
                <a:alpha val="40000"/>
              </a:srgbClr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cs typeface="Tinkoff Sans"/>
                <a:sym typeface="Tinkoff Sans"/>
              </a:endParaRPr>
            </a:p>
          </p:txBody>
        </p:sp>
      </p:grpSp>
      <p:sp>
        <p:nvSpPr>
          <p:cNvPr id="9" name="Рисунок 5">
            <a:extLst>
              <a:ext uri="{FF2B5EF4-FFF2-40B4-BE49-F238E27FC236}">
                <a16:creationId xmlns:a16="http://schemas.microsoft.com/office/drawing/2014/main" id="{74F8FCCF-EC84-FD71-19BC-21BC6FE5EE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316613" y="3241309"/>
            <a:ext cx="4677507" cy="4677507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BAC04F5-2F11-88B0-A40D-7E022C490DC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426253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3A67B3-FB4F-3CB2-6C6A-D1F535CF10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0F3C1F4A-9CD7-F8ED-CE66-6400EF28413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9677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6B5DC0-C588-DA97-CCB3-A681ADD9E7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7" b="217"/>
          <a:stretch/>
        </p:blipFill>
        <p:spPr>
          <a:xfrm>
            <a:off x="611187" y="647700"/>
            <a:ext cx="18576925" cy="9864724"/>
          </a:xfrm>
          <a:prstGeom prst="roundRect">
            <a:avLst>
              <a:gd name="adj" fmla="val 6471"/>
            </a:avLst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0996C759-F426-06F4-0BC4-B87E8B8B87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207375" y="1910157"/>
            <a:ext cx="3384550" cy="3384550"/>
          </a:xfrm>
          <a:prstGeom prst="ellipse">
            <a:avLst/>
          </a:prstGeom>
          <a:solidFill>
            <a:schemeClr val="accent6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 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7126BD4C-C383-9301-0090-1D4E13EA6FA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61704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1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EDBFCA-6CD0-35CB-41B3-36AB2953C5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09"/>
            <a:ext cx="19799300" cy="11137104"/>
          </a:xfrm>
          <a:prstGeom prst="rect">
            <a:avLst/>
          </a:prstGeom>
        </p:spPr>
      </p:pic>
      <p:cxnSp>
        <p:nvCxnSpPr>
          <p:cNvPr id="51" name="Соединительная линия уступом 50">
            <a:extLst>
              <a:ext uri="{FF2B5EF4-FFF2-40B4-BE49-F238E27FC236}">
                <a16:creationId xmlns:a16="http://schemas.microsoft.com/office/drawing/2014/main" id="{3329BF57-8247-BE21-5523-C8E3F8A144D2}"/>
              </a:ext>
            </a:extLst>
          </p:cNvPr>
          <p:cNvCxnSpPr>
            <a:cxnSpLocks/>
            <a:stCxn id="36" idx="3"/>
            <a:endCxn id="31" idx="0"/>
          </p:cNvCxnSpPr>
          <p:nvPr userDrawn="1"/>
        </p:nvCxnSpPr>
        <p:spPr>
          <a:xfrm>
            <a:off x="12151144" y="4294991"/>
            <a:ext cx="4458796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4" name="Соединительная линия уступом 53">
            <a:extLst>
              <a:ext uri="{FF2B5EF4-FFF2-40B4-BE49-F238E27FC236}">
                <a16:creationId xmlns:a16="http://schemas.microsoft.com/office/drawing/2014/main" id="{04558508-EE6A-D763-E9A4-260659A92926}"/>
              </a:ext>
            </a:extLst>
          </p:cNvPr>
          <p:cNvCxnSpPr>
            <a:stCxn id="36" idx="1"/>
            <a:endCxn id="21" idx="0"/>
          </p:cNvCxnSpPr>
          <p:nvPr userDrawn="1"/>
        </p:nvCxnSpPr>
        <p:spPr>
          <a:xfrm rot="10800000" flipV="1">
            <a:off x="3189361" y="4294991"/>
            <a:ext cx="4458794" cy="3662510"/>
          </a:xfrm>
          <a:prstGeom prst="bentConnector2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C6D2594A-1FA6-F933-CFE2-93DB69279023}"/>
              </a:ext>
            </a:extLst>
          </p:cNvPr>
          <p:cNvCxnSpPr>
            <a:endCxn id="26" idx="0"/>
          </p:cNvCxnSpPr>
          <p:nvPr userDrawn="1"/>
        </p:nvCxnSpPr>
        <p:spPr>
          <a:xfrm>
            <a:off x="9899650" y="5373293"/>
            <a:ext cx="0" cy="2584208"/>
          </a:xfrm>
          <a:prstGeom prst="line">
            <a:avLst/>
          </a:prstGeom>
          <a:noFill/>
          <a:ln w="19050" cap="rnd">
            <a:solidFill>
              <a:srgbClr val="333333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D4243908-EBE6-D74B-9B81-D2D458B76874}"/>
              </a:ext>
            </a:extLst>
          </p:cNvPr>
          <p:cNvSpPr/>
          <p:nvPr/>
        </p:nvSpPr>
        <p:spPr>
          <a:xfrm>
            <a:off x="937866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26194E7-DE29-A96E-FDA8-40CFCD3F6B45}"/>
              </a:ext>
            </a:extLst>
          </p:cNvPr>
          <p:cNvSpPr/>
          <p:nvPr/>
        </p:nvSpPr>
        <p:spPr>
          <a:xfrm>
            <a:off x="764815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DF6D686-21DA-23E3-2D02-5BE4F58DB73E}"/>
              </a:ext>
            </a:extLst>
          </p:cNvPr>
          <p:cNvSpPr/>
          <p:nvPr/>
        </p:nvSpPr>
        <p:spPr>
          <a:xfrm>
            <a:off x="14358445" y="558006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C652039D-D3E9-0FE2-7C76-04F1BDC0CEFA}"/>
              </a:ext>
            </a:extLst>
          </p:cNvPr>
          <p:cNvSpPr/>
          <p:nvPr/>
        </p:nvSpPr>
        <p:spPr>
          <a:xfrm>
            <a:off x="937866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F8517EF7-A9CB-6060-9B5B-9284F8008B5A}"/>
              </a:ext>
            </a:extLst>
          </p:cNvPr>
          <p:cNvSpPr/>
          <p:nvPr/>
        </p:nvSpPr>
        <p:spPr>
          <a:xfrm>
            <a:off x="764815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CF12E7D5-8E67-5FD6-7DFB-40783541066C}"/>
              </a:ext>
            </a:extLst>
          </p:cNvPr>
          <p:cNvSpPr/>
          <p:nvPr/>
        </p:nvSpPr>
        <p:spPr>
          <a:xfrm>
            <a:off x="14358445" y="7957501"/>
            <a:ext cx="4502989" cy="2156604"/>
          </a:xfrm>
          <a:prstGeom prst="roundRect">
            <a:avLst>
              <a:gd name="adj" fmla="val 2323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6" name="Скругленный прямоугольник 35">
            <a:extLst>
              <a:ext uri="{FF2B5EF4-FFF2-40B4-BE49-F238E27FC236}">
                <a16:creationId xmlns:a16="http://schemas.microsoft.com/office/drawing/2014/main" id="{3523BD01-495C-0508-6528-37435F16CD29}"/>
              </a:ext>
            </a:extLst>
          </p:cNvPr>
          <p:cNvSpPr/>
          <p:nvPr/>
        </p:nvSpPr>
        <p:spPr>
          <a:xfrm>
            <a:off x="7648155" y="3216689"/>
            <a:ext cx="4502989" cy="2156604"/>
          </a:xfrm>
          <a:prstGeom prst="roundRect">
            <a:avLst>
              <a:gd name="adj" fmla="val 23232"/>
            </a:avLst>
          </a:prstGeom>
          <a:gradFill>
            <a:gsLst>
              <a:gs pos="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97CAB214-D26D-6764-37C0-88A38712D8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0922557" y="4131330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2" name="Рисунок 40">
            <a:extLst>
              <a:ext uri="{FF2B5EF4-FFF2-40B4-BE49-F238E27FC236}">
                <a16:creationId xmlns:a16="http://schemas.microsoft.com/office/drawing/2014/main" id="{4E271671-026B-BC66-8298-F846D467F5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922557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3" name="Рисунок 40">
            <a:extLst>
              <a:ext uri="{FF2B5EF4-FFF2-40B4-BE49-F238E27FC236}">
                <a16:creationId xmlns:a16="http://schemas.microsoft.com/office/drawing/2014/main" id="{E8008964-7207-DFFA-6167-432E9AD5B68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22557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40">
            <a:extLst>
              <a:ext uri="{FF2B5EF4-FFF2-40B4-BE49-F238E27FC236}">
                <a16:creationId xmlns:a16="http://schemas.microsoft.com/office/drawing/2014/main" id="{5E4B7693-F81F-64E5-BB12-AAC0176AB5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7432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40">
            <a:extLst>
              <a:ext uri="{FF2B5EF4-FFF2-40B4-BE49-F238E27FC236}">
                <a16:creationId xmlns:a16="http://schemas.microsoft.com/office/drawing/2014/main" id="{3985D896-4BC0-FE98-0455-E62069DEA7E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207432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40">
            <a:extLst>
              <a:ext uri="{FF2B5EF4-FFF2-40B4-BE49-F238E27FC236}">
                <a16:creationId xmlns:a16="http://schemas.microsoft.com/office/drawing/2014/main" id="{AF4B2BA9-A809-F832-C663-0BECDCD782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7623395" y="6524626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40">
            <a:extLst>
              <a:ext uri="{FF2B5EF4-FFF2-40B4-BE49-F238E27FC236}">
                <a16:creationId xmlns:a16="http://schemas.microsoft.com/office/drawing/2014/main" id="{923EEA1F-8180-AACE-C114-19FA98CFD42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23395" y="8910639"/>
            <a:ext cx="982662" cy="982662"/>
          </a:xfrm>
          <a:prstGeom prst="ellipse">
            <a:avLst/>
          </a:prstGeom>
          <a:solidFill>
            <a:schemeClr val="accent3"/>
          </a:solidFill>
        </p:spPr>
        <p:txBody>
          <a:bodyPr anchor="ctr"/>
          <a:lstStyle>
            <a:lvl1pPr algn="ctr">
              <a:defRPr sz="18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F6424D5-BD53-B501-EFCF-A7094B14AA1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566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а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D00267-5568-1808-9A58-50A7E61510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42" name="Рисунок 3">
            <a:extLst>
              <a:ext uri="{FF2B5EF4-FFF2-40B4-BE49-F238E27FC236}">
                <a16:creationId xmlns:a16="http://schemas.microsoft.com/office/drawing/2014/main" id="{7ADDD9D5-E467-DCAB-F59E-6F8A5FFA3F89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10084662" y="1392537"/>
            <a:ext cx="1332000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sz="2400"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Ф</a:t>
            </a:r>
            <a:r>
              <a:rPr lang="ru-RU" dirty="0"/>
              <a:t>ото</a:t>
            </a:r>
          </a:p>
        </p:txBody>
      </p:sp>
      <p:sp>
        <p:nvSpPr>
          <p:cNvPr id="43" name="Рисунок 4">
            <a:extLst>
              <a:ext uri="{FF2B5EF4-FFF2-40B4-BE49-F238E27FC236}">
                <a16:creationId xmlns:a16="http://schemas.microsoft.com/office/drawing/2014/main" id="{547DBDDA-3E5E-2E2A-CA25-69A84B4606A0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5512153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4" name="Рисунок 5">
            <a:extLst>
              <a:ext uri="{FF2B5EF4-FFF2-40B4-BE49-F238E27FC236}">
                <a16:creationId xmlns:a16="http://schemas.microsoft.com/office/drawing/2014/main" id="{68BEC38C-6C26-D162-9776-6CB9B0E4BD67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0087409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5" name="Рисунок 30">
            <a:extLst>
              <a:ext uri="{FF2B5EF4-FFF2-40B4-BE49-F238E27FC236}">
                <a16:creationId xmlns:a16="http://schemas.microsoft.com/office/drawing/2014/main" id="{6C42DA80-BE83-D5E0-8D52-5405B0A37A27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4591911" y="343053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6" name="Рисунок 31">
            <a:extLst>
              <a:ext uri="{FF2B5EF4-FFF2-40B4-BE49-F238E27FC236}">
                <a16:creationId xmlns:a16="http://schemas.microsoft.com/office/drawing/2014/main" id="{870F61A5-CF3B-2E6C-40A1-0A664B10706F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45534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7" name="Рисунок 32">
            <a:extLst>
              <a:ext uri="{FF2B5EF4-FFF2-40B4-BE49-F238E27FC236}">
                <a16:creationId xmlns:a16="http://schemas.microsoft.com/office/drawing/2014/main" id="{4AC76CDA-79C5-A6DB-DBD5-E05F8652ABD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1021306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8" name="Рисунок 33">
            <a:extLst>
              <a:ext uri="{FF2B5EF4-FFF2-40B4-BE49-F238E27FC236}">
                <a16:creationId xmlns:a16="http://schemas.microsoft.com/office/drawing/2014/main" id="{4FAB1FFA-D21B-3AC7-A1F0-371662B3291C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5589437" y="51387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9" name="Рисунок 34">
            <a:extLst>
              <a:ext uri="{FF2B5EF4-FFF2-40B4-BE49-F238E27FC236}">
                <a16:creationId xmlns:a16="http://schemas.microsoft.com/office/drawing/2014/main" id="{ABA1AF5F-8612-0C40-322D-391C28D2DD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46377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0" name="Рисунок 35">
            <a:extLst>
              <a:ext uri="{FF2B5EF4-FFF2-40B4-BE49-F238E27FC236}">
                <a16:creationId xmlns:a16="http://schemas.microsoft.com/office/drawing/2014/main" id="{2D939B1D-098B-DEB9-E778-BA6A389EACE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1021306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1" name="Рисунок 36">
            <a:extLst>
              <a:ext uri="{FF2B5EF4-FFF2-40B4-BE49-F238E27FC236}">
                <a16:creationId xmlns:a16="http://schemas.microsoft.com/office/drawing/2014/main" id="{02B9D7DE-05FA-09CF-FF40-CD53D77312E8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5588542" y="6791036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2" name="Рисунок 37">
            <a:extLst>
              <a:ext uri="{FF2B5EF4-FFF2-40B4-BE49-F238E27FC236}">
                <a16:creationId xmlns:a16="http://schemas.microsoft.com/office/drawing/2014/main" id="{8054396C-013F-A853-A3BA-AA5324B50A69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646377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3" name="Рисунок 38">
            <a:extLst>
              <a:ext uri="{FF2B5EF4-FFF2-40B4-BE49-F238E27FC236}">
                <a16:creationId xmlns:a16="http://schemas.microsoft.com/office/drawing/2014/main" id="{A044A316-30D4-CB52-3155-96A21134363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1026533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54" name="Рисунок 39">
            <a:extLst>
              <a:ext uri="{FF2B5EF4-FFF2-40B4-BE49-F238E27FC236}">
                <a16:creationId xmlns:a16="http://schemas.microsoft.com/office/drawing/2014/main" id="{89AE198D-E9CE-6294-4035-0F86E63F6B9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5593402" y="8441153"/>
            <a:ext cx="1329253" cy="1332000"/>
          </a:xfrm>
          <a:custGeom>
            <a:avLst/>
            <a:gdLst>
              <a:gd name="connsiteX0" fmla="*/ 685800 w 1371600"/>
              <a:gd name="connsiteY0" fmla="*/ 0 h 1371600"/>
              <a:gd name="connsiteX1" fmla="*/ 1371600 w 1371600"/>
              <a:gd name="connsiteY1" fmla="*/ 685800 h 1371600"/>
              <a:gd name="connsiteX2" fmla="*/ 685800 w 1371600"/>
              <a:gd name="connsiteY2" fmla="*/ 1371600 h 1371600"/>
              <a:gd name="connsiteX3" fmla="*/ 0 w 1371600"/>
              <a:gd name="connsiteY3" fmla="*/ 685800 h 1371600"/>
              <a:gd name="connsiteX4" fmla="*/ 685800 w 1371600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600" h="1371600">
                <a:moveTo>
                  <a:pt x="685800" y="0"/>
                </a:moveTo>
                <a:cubicBezTo>
                  <a:pt x="1064557" y="0"/>
                  <a:pt x="1371600" y="307043"/>
                  <a:pt x="1371600" y="685800"/>
                </a:cubicBezTo>
                <a:cubicBezTo>
                  <a:pt x="1371600" y="1064557"/>
                  <a:pt x="1064557" y="1371600"/>
                  <a:pt x="685800" y="1371600"/>
                </a:cubicBezTo>
                <a:cubicBezTo>
                  <a:pt x="307043" y="1371600"/>
                  <a:pt x="0" y="1064557"/>
                  <a:pt x="0" y="685800"/>
                </a:cubicBezTo>
                <a:cubicBezTo>
                  <a:pt x="0" y="307043"/>
                  <a:pt x="307043" y="0"/>
                  <a:pt x="685800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anchor="ctr"/>
          <a:lstStyle>
            <a:lvl1pPr algn="ctr"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D2F7E8D1-0C8D-E16D-7364-33B86D9E005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513399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201" userDrawn="1">
          <p15:clr>
            <a:srgbClr val="FBAE40"/>
          </p15:clr>
        </p15:guide>
        <p15:guide id="23" orient="horz" pos="2426" userDrawn="1">
          <p15:clr>
            <a:srgbClr val="FBAE40"/>
          </p15:clr>
        </p15:guide>
        <p15:guide id="44" orient="horz" pos="460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rgbClr val="FFEE9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B84011A-5000-94AF-6126-2744109098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038696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382C3434-EFE4-F51F-9AE1-64EBE00259DC}"/>
              </a:ext>
            </a:extLst>
          </p:cNvPr>
          <p:cNvSpPr/>
          <p:nvPr userDrawn="1"/>
        </p:nvSpPr>
        <p:spPr>
          <a:xfrm>
            <a:off x="13139738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BCEEFC11-EC7F-6F06-8CC9-21907FC31E3D}"/>
              </a:ext>
            </a:extLst>
          </p:cNvPr>
          <p:cNvSpPr/>
          <p:nvPr userDrawn="1"/>
        </p:nvSpPr>
        <p:spPr>
          <a:xfrm>
            <a:off x="6862924" y="2303463"/>
            <a:ext cx="6048375" cy="8208962"/>
          </a:xfrm>
          <a:prstGeom prst="roundRect">
            <a:avLst>
              <a:gd name="adj" fmla="val 8724"/>
            </a:avLst>
          </a:prstGeom>
          <a:gradFill>
            <a:gsLst>
              <a:gs pos="2500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D1EB7F91-FCBF-EE1C-C214-42C317A25CED}"/>
              </a:ext>
            </a:extLst>
          </p:cNvPr>
          <p:cNvSpPr/>
          <p:nvPr userDrawn="1"/>
        </p:nvSpPr>
        <p:spPr>
          <a:xfrm>
            <a:off x="13152277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FFC0A3">
                  <a:alpha val="50000"/>
                </a:srgbClr>
              </a:gs>
              <a:gs pos="100000">
                <a:srgbClr val="FFC0A3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B8F5289F-6DB6-1170-1BED-E70EA0DCBD7B}"/>
              </a:ext>
            </a:extLst>
          </p:cNvPr>
          <p:cNvSpPr/>
          <p:nvPr userDrawn="1"/>
        </p:nvSpPr>
        <p:spPr>
          <a:xfrm>
            <a:off x="6875463" y="647700"/>
            <a:ext cx="6035836" cy="1403350"/>
          </a:xfrm>
          <a:prstGeom prst="round2DiagRect">
            <a:avLst>
              <a:gd name="adj1" fmla="val 40963"/>
              <a:gd name="adj2" fmla="val 0"/>
            </a:avLst>
          </a:prstGeom>
          <a:gradFill>
            <a:gsLst>
              <a:gs pos="0">
                <a:srgbClr val="DAECBD">
                  <a:alpha val="50000"/>
                </a:srgbClr>
              </a:gs>
              <a:gs pos="100000">
                <a:srgbClr val="DAECB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Номер слайда">
            <a:extLst>
              <a:ext uri="{FF2B5EF4-FFF2-40B4-BE49-F238E27FC236}">
                <a16:creationId xmlns:a16="http://schemas.microsoft.com/office/drawing/2014/main" id="{AACEFA16-0A2C-CC3C-97F3-2BF76F5270A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331410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20" pos="4626" userDrawn="1">
          <p15:clr>
            <a:srgbClr val="FBAE40"/>
          </p15:clr>
        </p15:guide>
        <p15:guide id="21" pos="8617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pos="7801" userDrawn="1">
          <p15:clr>
            <a:srgbClr val="FBAE40"/>
          </p15:clr>
        </p15:guide>
        <p15:guide id="28" pos="11793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блока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4B0A02-5030-1F59-1E9F-B3ECF5EEC6C4}"/>
              </a:ext>
            </a:extLst>
          </p:cNvPr>
          <p:cNvSpPr/>
          <p:nvPr userDrawn="1"/>
        </p:nvSpPr>
        <p:spPr>
          <a:xfrm>
            <a:off x="13175044" y="640525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688013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40525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9A8E54B-CAB1-51F3-2D62-9BBAE2D25F7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867927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 userDrawn="1">
          <p15:clr>
            <a:srgbClr val="FBAE40"/>
          </p15:clr>
        </p15:guide>
        <p15:guide id="2" pos="1383" userDrawn="1">
          <p15:clr>
            <a:srgbClr val="FBAE40"/>
          </p15:clr>
        </p15:guide>
        <p15:guide id="3" pos="2199" userDrawn="1">
          <p15:clr>
            <a:srgbClr val="FBAE40"/>
          </p15:clr>
        </p15:guide>
        <p15:guide id="4" pos="2358" userDrawn="1">
          <p15:clr>
            <a:srgbClr val="FBAE40"/>
          </p15:clr>
        </p15:guide>
        <p15:guide id="5" pos="3197" userDrawn="1">
          <p15:clr>
            <a:srgbClr val="FBAE40"/>
          </p15:clr>
        </p15:guide>
        <p15:guide id="6" pos="3333" userDrawn="1">
          <p15:clr>
            <a:srgbClr val="FBAE40"/>
          </p15:clr>
        </p15:guide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9" pos="5170" userDrawn="1">
          <p15:clr>
            <a:srgbClr val="FBAE40"/>
          </p15:clr>
        </p15:guide>
        <p15:guide id="10" pos="5329" userDrawn="1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 userDrawn="1">
          <p15:clr>
            <a:srgbClr val="FBAE40"/>
          </p15:clr>
        </p15:guide>
        <p15:guide id="14" pos="7302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  <p15:guide id="17" pos="9116" userDrawn="1">
          <p15:clr>
            <a:srgbClr val="FBAE40"/>
          </p15:clr>
        </p15:guide>
        <p15:guide id="18" pos="9275" userDrawn="1">
          <p15:clr>
            <a:srgbClr val="FBAE40"/>
          </p15:clr>
        </p15:guide>
        <p15:guide id="19" pos="10092" userDrawn="1">
          <p15:clr>
            <a:srgbClr val="FBAE40"/>
          </p15:clr>
        </p15:guide>
        <p15:guide id="20" pos="10250" userDrawn="1">
          <p15:clr>
            <a:srgbClr val="FBAE40"/>
          </p15:clr>
        </p15:guide>
        <p15:guide id="21" pos="11089" userDrawn="1">
          <p15:clr>
            <a:srgbClr val="FBAE40"/>
          </p15:clr>
        </p15:guide>
        <p15:guide id="22" pos="11248" userDrawn="1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 userDrawn="1">
          <p15:clr>
            <a:srgbClr val="FBAE40"/>
          </p15:clr>
        </p15:guide>
        <p15:guide id="25" orient="horz" pos="1292" userDrawn="1">
          <p15:clr>
            <a:srgbClr val="FBAE40"/>
          </p15:clr>
        </p15:guide>
        <p15:guide id="26" orient="horz" pos="1451" userDrawn="1">
          <p15:clr>
            <a:srgbClr val="FBAE40"/>
          </p15:clr>
        </p15:guide>
        <p15:guide id="27" orient="horz" pos="1837" userDrawn="1">
          <p15:clr>
            <a:srgbClr val="FBAE40"/>
          </p15:clr>
        </p15:guide>
        <p15:guide id="28" orient="horz" pos="1995" userDrawn="1">
          <p15:clr>
            <a:srgbClr val="FBAE40"/>
          </p15:clr>
        </p15:guide>
        <p15:guide id="29" orient="horz" pos="2358" userDrawn="1">
          <p15:clr>
            <a:srgbClr val="FBAE40"/>
          </p15:clr>
        </p15:guide>
        <p15:guide id="30" orient="horz" pos="2517" userDrawn="1">
          <p15:clr>
            <a:srgbClr val="FBAE40"/>
          </p15:clr>
        </p15:guide>
        <p15:guide id="31" orient="horz" pos="2903" userDrawn="1">
          <p15:clr>
            <a:srgbClr val="FBAE40"/>
          </p15:clr>
        </p15:guide>
        <p15:guide id="32" orient="horz" pos="3061" userDrawn="1">
          <p15:clr>
            <a:srgbClr val="FBAE40"/>
          </p15:clr>
        </p15:guide>
        <p15:guide id="33" orient="horz" pos="3424" userDrawn="1">
          <p15:clr>
            <a:srgbClr val="FBAE40"/>
          </p15:clr>
        </p15:guide>
        <p15:guide id="34" orient="horz" pos="3583" userDrawn="1">
          <p15:clr>
            <a:srgbClr val="FBAE40"/>
          </p15:clr>
        </p15:guide>
        <p15:guide id="37" orient="horz" pos="3969" userDrawn="1">
          <p15:clr>
            <a:srgbClr val="FBAE40"/>
          </p15:clr>
        </p15:guide>
        <p15:guide id="38" orient="horz" pos="4127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  <p15:guide id="40" orient="horz" pos="4672" userDrawn="1">
          <p15:clr>
            <a:srgbClr val="FBAE40"/>
          </p15:clr>
        </p15:guide>
        <p15:guide id="41" orient="horz" pos="5035" userDrawn="1">
          <p15:clr>
            <a:srgbClr val="FBAE40"/>
          </p15:clr>
        </p15:guide>
        <p15:guide id="42" orient="horz" pos="5193" userDrawn="1">
          <p15:clr>
            <a:srgbClr val="FBAE40"/>
          </p15:clr>
        </p15:guide>
        <p15:guide id="43" orient="horz" pos="5579" userDrawn="1">
          <p15:clr>
            <a:srgbClr val="FBAE40"/>
          </p15:clr>
        </p15:guide>
        <p15:guide id="44" orient="horz" pos="5738" userDrawn="1">
          <p15:clr>
            <a:srgbClr val="FBAE40"/>
          </p15:clr>
        </p15:guide>
        <p15:guide id="45" orient="horz" pos="6100" userDrawn="1">
          <p15:clr>
            <a:srgbClr val="FBAE40"/>
          </p15:clr>
        </p15:guide>
        <p15:guide id="46" orient="horz" pos="6259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блоков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920BB3-B504-FDE4-54A6-D08E9D591175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6C39977A-07E6-43B8-A72A-A0A2DD8856F2}"/>
              </a:ext>
            </a:extLst>
          </p:cNvPr>
          <p:cNvSpPr/>
          <p:nvPr userDrawn="1"/>
        </p:nvSpPr>
        <p:spPr>
          <a:xfrm>
            <a:off x="611188" y="656291"/>
            <a:ext cx="6011862" cy="9860725"/>
          </a:xfrm>
          <a:prstGeom prst="roundRect">
            <a:avLst>
              <a:gd name="adj" fmla="val 804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38318C59-4947-0607-A781-8F3FE4425B02}"/>
              </a:ext>
            </a:extLst>
          </p:cNvPr>
          <p:cNvSpPr/>
          <p:nvPr userDrawn="1"/>
        </p:nvSpPr>
        <p:spPr>
          <a:xfrm>
            <a:off x="6883972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E8BB0852-CEED-0638-E743-DF3662938FCB}"/>
              </a:ext>
            </a:extLst>
          </p:cNvPr>
          <p:cNvSpPr/>
          <p:nvPr userDrawn="1"/>
        </p:nvSpPr>
        <p:spPr>
          <a:xfrm>
            <a:off x="6883972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35DBF272-939B-8648-6910-34827077F523}"/>
              </a:ext>
            </a:extLst>
          </p:cNvPr>
          <p:cNvSpPr/>
          <p:nvPr userDrawn="1"/>
        </p:nvSpPr>
        <p:spPr>
          <a:xfrm>
            <a:off x="13159266" y="5703779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7D1BFEE7-0825-0753-4E97-E04E80E683BC}"/>
              </a:ext>
            </a:extLst>
          </p:cNvPr>
          <p:cNvSpPr/>
          <p:nvPr userDrawn="1"/>
        </p:nvSpPr>
        <p:spPr>
          <a:xfrm>
            <a:off x="13159266" y="656291"/>
            <a:ext cx="6011862" cy="4820412"/>
          </a:xfrm>
          <a:prstGeom prst="roundRect">
            <a:avLst>
              <a:gd name="adj" fmla="val 11461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0F8788BB-1EFA-9E1C-ECD6-6E922EA133F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3464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 userDrawn="1">
          <p15:clr>
            <a:srgbClr val="FBAE40"/>
          </p15:clr>
        </p15:guide>
        <p15:guide id="8" pos="4331" userDrawn="1">
          <p15:clr>
            <a:srgbClr val="FBAE40"/>
          </p15:clr>
        </p15:guide>
        <p15:guide id="15" pos="8118" userDrawn="1">
          <p15:clr>
            <a:srgbClr val="FBAE40"/>
          </p15:clr>
        </p15:guide>
        <p15:guide id="16" pos="827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полнители с вырез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9">
            <a:extLst>
              <a:ext uri="{FF2B5EF4-FFF2-40B4-BE49-F238E27FC236}">
                <a16:creationId xmlns:a16="http://schemas.microsoft.com/office/drawing/2014/main" id="{E3195EB8-BAA6-98A2-ED4A-761390F89227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14887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4" name="Рисунок 10">
            <a:extLst>
              <a:ext uri="{FF2B5EF4-FFF2-40B4-BE49-F238E27FC236}">
                <a16:creationId xmlns:a16="http://schemas.microsoft.com/office/drawing/2014/main" id="{1736C7D4-7D97-6FF3-B2A9-90EFA450F879}"/>
              </a:ext>
            </a:extLst>
          </p:cNvPr>
          <p:cNvSpPr>
            <a:spLocks noGrp="1" noChangeAspect="1"/>
          </p:cNvSpPr>
          <p:nvPr>
            <p:ph type="pic" sz="quarter" idx="11" hasCustomPrompt="1"/>
          </p:nvPr>
        </p:nvSpPr>
        <p:spPr>
          <a:xfrm>
            <a:off x="6875010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5" name="Рисунок 11">
            <a:extLst>
              <a:ext uri="{FF2B5EF4-FFF2-40B4-BE49-F238E27FC236}">
                <a16:creationId xmlns:a16="http://schemas.microsoft.com/office/drawing/2014/main" id="{82A0538B-EBA4-07B0-F30A-251A02B76DDF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13135133" y="2319228"/>
            <a:ext cx="6043869" cy="4716000"/>
          </a:xfrm>
          <a:custGeom>
            <a:avLst/>
            <a:gdLst>
              <a:gd name="connsiteX0" fmla="*/ 517372 w 6003911"/>
              <a:gd name="connsiteY0" fmla="*/ 0 h 4684821"/>
              <a:gd name="connsiteX1" fmla="*/ 5486529 w 6003911"/>
              <a:gd name="connsiteY1" fmla="*/ 0 h 4684821"/>
              <a:gd name="connsiteX2" fmla="*/ 6003911 w 6003911"/>
              <a:gd name="connsiteY2" fmla="*/ 518264 h 4684821"/>
              <a:gd name="connsiteX3" fmla="*/ 6003911 w 6003911"/>
              <a:gd name="connsiteY3" fmla="*/ 2687333 h 4684821"/>
              <a:gd name="connsiteX4" fmla="*/ 5486539 w 6003911"/>
              <a:gd name="connsiteY4" fmla="*/ 3205597 h 4684821"/>
              <a:gd name="connsiteX5" fmla="*/ 5307456 w 6003911"/>
              <a:gd name="connsiteY5" fmla="*/ 3205597 h 4684821"/>
              <a:gd name="connsiteX6" fmla="*/ 4526949 w 6003911"/>
              <a:gd name="connsiteY6" fmla="*/ 3987450 h 4684821"/>
              <a:gd name="connsiteX7" fmla="*/ 4526949 w 6003911"/>
              <a:gd name="connsiteY7" fmla="*/ 4166842 h 4684821"/>
              <a:gd name="connsiteX8" fmla="*/ 4113844 w 6003911"/>
              <a:gd name="connsiteY8" fmla="*/ 4674577 h 4684821"/>
              <a:gd name="connsiteX9" fmla="*/ 4012398 w 6003911"/>
              <a:gd name="connsiteY9" fmla="*/ 4684821 h 4684821"/>
              <a:gd name="connsiteX10" fmla="*/ 514550 w 6003911"/>
              <a:gd name="connsiteY10" fmla="*/ 4684821 h 4684821"/>
              <a:gd name="connsiteX11" fmla="*/ 413103 w 6003911"/>
              <a:gd name="connsiteY11" fmla="*/ 4674577 h 4684821"/>
              <a:gd name="connsiteX12" fmla="*/ 0 w 6003911"/>
              <a:gd name="connsiteY12" fmla="*/ 4166842 h 4684821"/>
              <a:gd name="connsiteX13" fmla="*/ 0 w 6003911"/>
              <a:gd name="connsiteY13" fmla="*/ 518264 h 4684821"/>
              <a:gd name="connsiteX14" fmla="*/ 517372 w 6003911"/>
              <a:gd name="connsiteY14" fmla="*/ 0 h 4684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03911" h="4684821">
                <a:moveTo>
                  <a:pt x="517372" y="0"/>
                </a:moveTo>
                <a:lnTo>
                  <a:pt x="5486529" y="0"/>
                </a:lnTo>
                <a:cubicBezTo>
                  <a:pt x="5772273" y="0"/>
                  <a:pt x="6003911" y="232035"/>
                  <a:pt x="6003911" y="518264"/>
                </a:cubicBezTo>
                <a:lnTo>
                  <a:pt x="6003911" y="2687333"/>
                </a:lnTo>
                <a:cubicBezTo>
                  <a:pt x="6003911" y="2973560"/>
                  <a:pt x="5772273" y="3205597"/>
                  <a:pt x="5486539" y="3205597"/>
                </a:cubicBezTo>
                <a:lnTo>
                  <a:pt x="5307456" y="3205597"/>
                </a:lnTo>
                <a:cubicBezTo>
                  <a:pt x="4876392" y="3205597"/>
                  <a:pt x="4526949" y="3555643"/>
                  <a:pt x="4526949" y="3987450"/>
                </a:cubicBezTo>
                <a:lnTo>
                  <a:pt x="4526949" y="4166842"/>
                </a:lnTo>
                <a:cubicBezTo>
                  <a:pt x="4526949" y="4417291"/>
                  <a:pt x="4349601" y="4626250"/>
                  <a:pt x="4113844" y="4674577"/>
                </a:cubicBezTo>
                <a:lnTo>
                  <a:pt x="4012398" y="4684821"/>
                </a:lnTo>
                <a:lnTo>
                  <a:pt x="514550" y="4684821"/>
                </a:lnTo>
                <a:lnTo>
                  <a:pt x="413103" y="4674577"/>
                </a:lnTo>
                <a:cubicBezTo>
                  <a:pt x="177346" y="4626250"/>
                  <a:pt x="0" y="4417291"/>
                  <a:pt x="0" y="4166842"/>
                </a:cubicBezTo>
                <a:lnTo>
                  <a:pt x="0" y="518264"/>
                </a:lnTo>
                <a:cubicBezTo>
                  <a:pt x="0" y="232035"/>
                  <a:pt x="231635" y="0"/>
                  <a:pt x="517372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lIns="360000" tIns="360000" rIns="360000" bIns="36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2D17354B-548F-4A7B-2533-BB9F942475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743601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3">
            <a:extLst>
              <a:ext uri="{FF2B5EF4-FFF2-40B4-BE49-F238E27FC236}">
                <a16:creationId xmlns:a16="http://schemas.microsoft.com/office/drawing/2014/main" id="{01515A73-04C3-20AC-0CFB-39D743234689}"/>
              </a:ext>
            </a:extLst>
          </p:cNvPr>
          <p:cNvSpPr/>
          <p:nvPr/>
        </p:nvSpPr>
        <p:spPr>
          <a:xfrm>
            <a:off x="615403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Рисунок 3">
            <a:extLst>
              <a:ext uri="{FF2B5EF4-FFF2-40B4-BE49-F238E27FC236}">
                <a16:creationId xmlns:a16="http://schemas.microsoft.com/office/drawing/2014/main" id="{DE8C40DE-1372-D837-6A2D-7DED59BAD1C0}"/>
              </a:ext>
            </a:extLst>
          </p:cNvPr>
          <p:cNvSpPr/>
          <p:nvPr userDrawn="1"/>
        </p:nvSpPr>
        <p:spPr>
          <a:xfrm>
            <a:off x="6890697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3" name="Рисунок 3">
            <a:extLst>
              <a:ext uri="{FF2B5EF4-FFF2-40B4-BE49-F238E27FC236}">
                <a16:creationId xmlns:a16="http://schemas.microsoft.com/office/drawing/2014/main" id="{AC10503E-8046-7476-D9B2-778878EE1D11}"/>
              </a:ext>
            </a:extLst>
          </p:cNvPr>
          <p:cNvSpPr/>
          <p:nvPr userDrawn="1"/>
        </p:nvSpPr>
        <p:spPr>
          <a:xfrm>
            <a:off x="13165992" y="6551613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Рисунок 3">
            <a:extLst>
              <a:ext uri="{FF2B5EF4-FFF2-40B4-BE49-F238E27FC236}">
                <a16:creationId xmlns:a16="http://schemas.microsoft.com/office/drawing/2014/main" id="{BE82D4E0-C7D9-F4C5-5F35-AEA5153AC6D4}"/>
              </a:ext>
            </a:extLst>
          </p:cNvPr>
          <p:cNvSpPr/>
          <p:nvPr userDrawn="1"/>
        </p:nvSpPr>
        <p:spPr>
          <a:xfrm>
            <a:off x="615403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5" name="Рисунок 3">
            <a:extLst>
              <a:ext uri="{FF2B5EF4-FFF2-40B4-BE49-F238E27FC236}">
                <a16:creationId xmlns:a16="http://schemas.microsoft.com/office/drawing/2014/main" id="{FABD9EAD-22E6-5B1C-D342-6F9320852561}"/>
              </a:ext>
            </a:extLst>
          </p:cNvPr>
          <p:cNvSpPr/>
          <p:nvPr userDrawn="1"/>
        </p:nvSpPr>
        <p:spPr>
          <a:xfrm>
            <a:off x="6890697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Рисунок 3">
            <a:extLst>
              <a:ext uri="{FF2B5EF4-FFF2-40B4-BE49-F238E27FC236}">
                <a16:creationId xmlns:a16="http://schemas.microsoft.com/office/drawing/2014/main" id="{F2FF0358-5E97-8E4F-7D36-C076A812679C}"/>
              </a:ext>
            </a:extLst>
          </p:cNvPr>
          <p:cNvSpPr/>
          <p:nvPr userDrawn="1"/>
        </p:nvSpPr>
        <p:spPr>
          <a:xfrm>
            <a:off x="13165992" y="2303032"/>
            <a:ext cx="6002468" cy="3975899"/>
          </a:xfrm>
          <a:custGeom>
            <a:avLst/>
            <a:gdLst>
              <a:gd name="connsiteX0" fmla="*/ 6002469 w 6002468"/>
              <a:gd name="connsiteY0" fmla="*/ 618016 h 3975899"/>
              <a:gd name="connsiteX1" fmla="*/ 5383738 w 6002468"/>
              <a:gd name="connsiteY1" fmla="*/ 0 h 3975899"/>
              <a:gd name="connsiteX2" fmla="*/ 625837 w 6002468"/>
              <a:gd name="connsiteY2" fmla="*/ 0 h 3975899"/>
              <a:gd name="connsiteX3" fmla="*/ 7108 w 6002468"/>
              <a:gd name="connsiteY3" fmla="*/ 616415 h 3975899"/>
              <a:gd name="connsiteX4" fmla="*/ 2 w 6002468"/>
              <a:gd name="connsiteY4" fmla="*/ 3356288 h 3975899"/>
              <a:gd name="connsiteX5" fmla="*/ 618731 w 6002468"/>
              <a:gd name="connsiteY5" fmla="*/ 3975900 h 3975899"/>
              <a:gd name="connsiteX6" fmla="*/ 4216080 w 6002468"/>
              <a:gd name="connsiteY6" fmla="*/ 3975900 h 3975899"/>
              <a:gd name="connsiteX7" fmla="*/ 4814186 w 6002468"/>
              <a:gd name="connsiteY7" fmla="*/ 3376497 h 3975899"/>
              <a:gd name="connsiteX8" fmla="*/ 5408322 w 6002468"/>
              <a:gd name="connsiteY8" fmla="*/ 2781070 h 3975899"/>
              <a:gd name="connsiteX9" fmla="*/ 6002469 w 6002468"/>
              <a:gd name="connsiteY9" fmla="*/ 2187610 h 3975899"/>
              <a:gd name="connsiteX10" fmla="*/ 6002469 w 6002468"/>
              <a:gd name="connsiteY10" fmla="*/ 618016 h 3975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002468" h="3975899">
                <a:moveTo>
                  <a:pt x="6002469" y="618016"/>
                </a:moveTo>
                <a:cubicBezTo>
                  <a:pt x="6002469" y="276695"/>
                  <a:pt x="5725453" y="0"/>
                  <a:pt x="5383738" y="0"/>
                </a:cubicBezTo>
                <a:lnTo>
                  <a:pt x="625837" y="0"/>
                </a:lnTo>
                <a:cubicBezTo>
                  <a:pt x="284747" y="0"/>
                  <a:pt x="7992" y="275720"/>
                  <a:pt x="7108" y="616415"/>
                </a:cubicBezTo>
                <a:lnTo>
                  <a:pt x="2" y="3356288"/>
                </a:lnTo>
                <a:cubicBezTo>
                  <a:pt x="-885" y="3698226"/>
                  <a:pt x="276389" y="3975900"/>
                  <a:pt x="618731" y="3975900"/>
                </a:cubicBezTo>
                <a:lnTo>
                  <a:pt x="4216080" y="3975900"/>
                </a:lnTo>
                <a:cubicBezTo>
                  <a:pt x="4546400" y="3975900"/>
                  <a:pt x="4814186" y="3706445"/>
                  <a:pt x="4814186" y="3376497"/>
                </a:cubicBezTo>
                <a:cubicBezTo>
                  <a:pt x="4814186" y="3048743"/>
                  <a:pt x="5080189" y="2781070"/>
                  <a:pt x="5408322" y="2781070"/>
                </a:cubicBezTo>
                <a:cubicBezTo>
                  <a:pt x="5736456" y="2781070"/>
                  <a:pt x="6002469" y="2515375"/>
                  <a:pt x="6002469" y="2187610"/>
                </a:cubicBezTo>
                <a:lnTo>
                  <a:pt x="6002469" y="618016"/>
                </a:lnTo>
                <a:close/>
              </a:path>
            </a:pathLst>
          </a:custGeom>
          <a:gradFill>
            <a:gsLst>
              <a:gs pos="0">
                <a:srgbClr val="E0E1E3"/>
              </a:gs>
              <a:gs pos="79500">
                <a:srgbClr val="F3F3F5"/>
              </a:gs>
            </a:gsLst>
            <a:lin ang="3243474" scaled="1"/>
          </a:gradFill>
          <a:ln w="1030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DACB921E-34F4-B39F-CB56-695B4094A79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322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и с вырезами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55B62F-4A6E-2A82-8A84-5903ADA9D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646767"/>
            <a:ext cx="4462572" cy="482068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1351C10-78BB-5B20-4FF5-0DB0E767E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646767"/>
            <a:ext cx="4462572" cy="48206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2FB24B-11AB-60BA-2CC4-A90083813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45591" y="5707498"/>
            <a:ext cx="4462572" cy="48206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E0D87DE-52A9-9D4F-8F6F-A0E7DE0FD1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43715" y="5707498"/>
            <a:ext cx="4462572" cy="4820680"/>
          </a:xfrm>
          <a:prstGeom prst="rect">
            <a:avLst/>
          </a:prstGeom>
        </p:spPr>
      </p:pic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916BD939-3B26-76D5-C800-C54CAF8335E2}"/>
              </a:ext>
            </a:extLst>
          </p:cNvPr>
          <p:cNvSpPr/>
          <p:nvPr userDrawn="1"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FBF3750D-2DFD-F99F-B82A-E3DC5B9FF4B2}"/>
              </a:ext>
            </a:extLst>
          </p:cNvPr>
          <p:cNvSpPr/>
          <p:nvPr userDrawn="1"/>
        </p:nvSpPr>
        <p:spPr>
          <a:xfrm>
            <a:off x="13574110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82D75B98-C8BD-7E80-EB35-404F3A4E5085}"/>
              </a:ext>
            </a:extLst>
          </p:cNvPr>
          <p:cNvSpPr/>
          <p:nvPr userDrawn="1"/>
        </p:nvSpPr>
        <p:spPr>
          <a:xfrm>
            <a:off x="18249627" y="4501547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B3A63ED-36B1-28D9-148F-2B61F8224B1E}"/>
              </a:ext>
            </a:extLst>
          </p:cNvPr>
          <p:cNvSpPr/>
          <p:nvPr userDrawn="1"/>
        </p:nvSpPr>
        <p:spPr>
          <a:xfrm>
            <a:off x="13574110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454C450-F9B0-9EAD-A161-CF618C3A67C7}"/>
              </a:ext>
            </a:extLst>
          </p:cNvPr>
          <p:cNvSpPr/>
          <p:nvPr userDrawn="1"/>
        </p:nvSpPr>
        <p:spPr>
          <a:xfrm>
            <a:off x="18249627" y="9573879"/>
            <a:ext cx="934053" cy="934053"/>
          </a:xfrm>
          <a:prstGeom prst="ellipse">
            <a:avLst/>
          </a:prstGeom>
          <a:solidFill>
            <a:srgbClr val="EBEBED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2" name="Номер слайда">
            <a:extLst>
              <a:ext uri="{FF2B5EF4-FFF2-40B4-BE49-F238E27FC236}">
                <a16:creationId xmlns:a16="http://schemas.microsoft.com/office/drawing/2014/main" id="{D1B6CA6C-26DC-2726-A85C-C4574E4DC18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1046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8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A7209C-701D-EFF1-D053-EF206B5C75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0352" y="62"/>
            <a:ext cx="19840004" cy="11160000"/>
          </a:xfrm>
          <a:prstGeom prst="rect">
            <a:avLst/>
          </a:prstGeom>
        </p:spPr>
      </p:pic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75CAD5DB-3636-72FD-E8CC-C6F5AF14168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683133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16979B78-5F90-43E6-DDA5-D62A47926D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68573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1-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DE015856-6BC4-C5EC-CB3A-06EBEC83D472}"/>
              </a:ext>
            </a:extLst>
          </p:cNvPr>
          <p:cNvSpPr/>
          <p:nvPr userDrawn="1"/>
        </p:nvSpPr>
        <p:spPr>
          <a:xfrm>
            <a:off x="6875463" y="647700"/>
            <a:ext cx="12312650" cy="9864725"/>
          </a:xfrm>
          <a:prstGeom prst="roundRect">
            <a:avLst>
              <a:gd name="adj" fmla="val 480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385ED10-9BB3-A085-119F-84355A318DF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104881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плашкой 2 гор.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4D4F7591-5947-6E56-E200-33ABEB45DD29}"/>
              </a:ext>
            </a:extLst>
          </p:cNvPr>
          <p:cNvSpPr/>
          <p:nvPr userDrawn="1"/>
        </p:nvSpPr>
        <p:spPr>
          <a:xfrm>
            <a:off x="611188" y="3167064"/>
            <a:ext cx="18576925" cy="7345362"/>
          </a:xfrm>
          <a:prstGeom prst="roundRect">
            <a:avLst>
              <a:gd name="adj" fmla="val 654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4C91BC5-2FEE-6EFE-0AB5-DC32049551F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556266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2 плашками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82686D7D-2C5B-7C59-DE64-DB7826C86F4C}"/>
              </a:ext>
            </a:extLst>
          </p:cNvPr>
          <p:cNvSpPr/>
          <p:nvPr userDrawn="1"/>
        </p:nvSpPr>
        <p:spPr>
          <a:xfrm>
            <a:off x="611189" y="3167064"/>
            <a:ext cx="9180512" cy="7345362"/>
          </a:xfrm>
          <a:prstGeom prst="roundRect">
            <a:avLst>
              <a:gd name="adj" fmla="val 725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315A0197-1B36-BE20-0422-B841D0AD33C5}"/>
              </a:ext>
            </a:extLst>
          </p:cNvPr>
          <p:cNvSpPr/>
          <p:nvPr userDrawn="1"/>
        </p:nvSpPr>
        <p:spPr>
          <a:xfrm>
            <a:off x="10048487" y="3167064"/>
            <a:ext cx="9139624" cy="7345362"/>
          </a:xfrm>
          <a:prstGeom prst="roundRect">
            <a:avLst>
              <a:gd name="adj" fmla="val 7015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DEE51519-DF49-690F-5A20-FF1251D62E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37873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9" orient="horz" pos="1995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6024128-7667-9EE3-6AEF-FBE898BBBA29}"/>
              </a:ext>
            </a:extLst>
          </p:cNvPr>
          <p:cNvSpPr/>
          <p:nvPr userDrawn="1"/>
        </p:nvSpPr>
        <p:spPr>
          <a:xfrm>
            <a:off x="6893719" y="647700"/>
            <a:ext cx="12294394" cy="9864725"/>
          </a:xfrm>
          <a:prstGeom prst="roundRect">
            <a:avLst>
              <a:gd name="adj" fmla="val 5022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6">
            <a:extLst>
              <a:ext uri="{FF2B5EF4-FFF2-40B4-BE49-F238E27FC236}">
                <a16:creationId xmlns:a16="http://schemas.microsoft.com/office/drawing/2014/main" id="{32AD7565-3801-157D-ECCD-DA0A097572B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6011862" cy="9864725"/>
          </a:xfrm>
          <a:prstGeom prst="roundRect">
            <a:avLst>
              <a:gd name="adj" fmla="val 8632"/>
            </a:avLst>
          </a:prstGeom>
          <a:solidFill>
            <a:schemeClr val="accent6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изображения</a:t>
            </a:r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CCA51760-F1E4-DA5E-F681-1C48225929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839106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>
            <a:extLst>
              <a:ext uri="{FF2B5EF4-FFF2-40B4-BE49-F238E27FC236}">
                <a16:creationId xmlns:a16="http://schemas.microsoft.com/office/drawing/2014/main" id="{106D8025-2673-9F76-9704-0B62B7C9FD2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1188" y="2319229"/>
            <a:ext cx="18576925" cy="4845159"/>
          </a:xfrm>
          <a:prstGeom prst="roundRect">
            <a:avLst>
              <a:gd name="adj" fmla="val 10175"/>
            </a:avLst>
          </a:prstGeom>
          <a:solidFill>
            <a:srgbClr val="E0E1E3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endParaRPr lang="ru-RU" dirty="0"/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D415FCC-F8A2-1C2F-AB16-D14F96D831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69839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6" orient="horz" pos="1451" userDrawn="1">
          <p15:clr>
            <a:srgbClr val="FBAE40"/>
          </p15:clr>
        </p15:guide>
        <p15:guide id="39" orient="horz" pos="4513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83B3D84-087D-DD69-B9CD-1EA2D2D05C00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6" name="Рисунок 5">
            <a:extLst>
              <a:ext uri="{FF2B5EF4-FFF2-40B4-BE49-F238E27FC236}">
                <a16:creationId xmlns:a16="http://schemas.microsoft.com/office/drawing/2014/main" id="{680A0F9C-C6DA-ED07-DC42-9B1392F55F9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459788" y="647700"/>
            <a:ext cx="10725699" cy="9864725"/>
          </a:xfrm>
          <a:prstGeom prst="roundRect">
            <a:avLst>
              <a:gd name="adj" fmla="val 548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74D0E89C-6459-1FB5-B952-0CABBE20CC35}"/>
              </a:ext>
            </a:extLst>
          </p:cNvPr>
          <p:cNvSpPr/>
          <p:nvPr userDrawn="1"/>
        </p:nvSpPr>
        <p:spPr>
          <a:xfrm>
            <a:off x="613813" y="652653"/>
            <a:ext cx="7593562" cy="9859772"/>
          </a:xfrm>
          <a:prstGeom prst="roundRect">
            <a:avLst>
              <a:gd name="adj" fmla="val 6440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F108BE3-E3A8-7336-4912-8058FF96306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088783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2" pos="1161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4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6">
            <a:extLst>
              <a:ext uri="{FF2B5EF4-FFF2-40B4-BE49-F238E27FC236}">
                <a16:creationId xmlns:a16="http://schemas.microsoft.com/office/drawing/2014/main" id="{62235652-E410-14E7-3325-0B78EE2EEA6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1188" y="647700"/>
            <a:ext cx="7596187" cy="6516688"/>
          </a:xfrm>
          <a:prstGeom prst="roundRect">
            <a:avLst>
              <a:gd name="adj" fmla="val 8943"/>
            </a:avLst>
          </a:prstGeom>
          <a:solidFill>
            <a:schemeClr val="accent5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C19E53CE-B623-6004-1366-6FDE2EE962AF}"/>
              </a:ext>
            </a:extLst>
          </p:cNvPr>
          <p:cNvSpPr/>
          <p:nvPr userDrawn="1"/>
        </p:nvSpPr>
        <p:spPr>
          <a:xfrm>
            <a:off x="611188" y="7416800"/>
            <a:ext cx="7596187" cy="3095625"/>
          </a:xfrm>
          <a:prstGeom prst="roundRect">
            <a:avLst>
              <a:gd name="adj" fmla="val 19767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26B087EB-98BE-198C-78E9-848208EC6FF9}"/>
              </a:ext>
            </a:extLst>
          </p:cNvPr>
          <p:cNvSpPr/>
          <p:nvPr userDrawn="1"/>
        </p:nvSpPr>
        <p:spPr>
          <a:xfrm>
            <a:off x="8459788" y="647700"/>
            <a:ext cx="10725698" cy="9864725"/>
          </a:xfrm>
          <a:prstGeom prst="roundRect">
            <a:avLst>
              <a:gd name="adj" fmla="val 5360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3847AE31-56A8-C4CA-4584-F00061C3F0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95448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702" userDrawn="1">
          <p15:clr>
            <a:srgbClr val="FBAE40"/>
          </p15:clr>
        </p15:guide>
        <p15:guide id="2" pos="11611">
          <p15:clr>
            <a:srgbClr val="FBAE40"/>
          </p15:clr>
        </p15:guide>
        <p15:guide id="45" pos="573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3">
            <a:extLst>
              <a:ext uri="{FF2B5EF4-FFF2-40B4-BE49-F238E27FC236}">
                <a16:creationId xmlns:a16="http://schemas.microsoft.com/office/drawing/2014/main" id="{FFD35A26-9840-8880-8120-6C5FC4EAA5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9799300" cy="11160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В</a:t>
            </a:r>
            <a:r>
              <a:rPr lang="ru-RU" dirty="0"/>
              <a:t>ставка фото</a:t>
            </a:r>
          </a:p>
        </p:txBody>
      </p:sp>
    </p:spTree>
    <p:extLst>
      <p:ext uri="{BB962C8B-B14F-4D97-AF65-F5344CB8AC3E}">
        <p14:creationId xmlns:p14="http://schemas.microsoft.com/office/powerpoint/2010/main" val="8869638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2924A27-D394-98E3-CF54-68EDEDD5F64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343565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полнителем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6" name="Прямоугольник с двумя скругленными соседними углами 5">
            <a:extLst>
              <a:ext uri="{FF2B5EF4-FFF2-40B4-BE49-F238E27FC236}">
                <a16:creationId xmlns:a16="http://schemas.microsoft.com/office/drawing/2014/main" id="{6EA451E5-B806-965E-CA18-E6A3960CF92E}"/>
              </a:ext>
            </a:extLst>
          </p:cNvPr>
          <p:cNvSpPr/>
          <p:nvPr userDrawn="1"/>
        </p:nvSpPr>
        <p:spPr>
          <a:xfrm rot="16200000">
            <a:off x="5272880" y="-4013995"/>
            <a:ext cx="9864727" cy="19188112"/>
          </a:xfrm>
          <a:prstGeom prst="round2SameRect">
            <a:avLst>
              <a:gd name="adj1" fmla="val 7004"/>
              <a:gd name="adj2" fmla="val 0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3ADA0302-5FE9-1BED-171B-04229C17B6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79860" y="647700"/>
            <a:ext cx="10619440" cy="9864725"/>
          </a:xfrm>
          <a:custGeom>
            <a:avLst/>
            <a:gdLst>
              <a:gd name="connsiteX0" fmla="*/ 729735 w 10619440"/>
              <a:gd name="connsiteY0" fmla="*/ 0 h 9864725"/>
              <a:gd name="connsiteX1" fmla="*/ 10619440 w 10619440"/>
              <a:gd name="connsiteY1" fmla="*/ 0 h 9864725"/>
              <a:gd name="connsiteX2" fmla="*/ 10619440 w 10619440"/>
              <a:gd name="connsiteY2" fmla="*/ 9864725 h 9864725"/>
              <a:gd name="connsiteX3" fmla="*/ 729793 w 10619440"/>
              <a:gd name="connsiteY3" fmla="*/ 9864725 h 9864725"/>
              <a:gd name="connsiteX4" fmla="*/ 0 w 10619440"/>
              <a:gd name="connsiteY4" fmla="*/ 9134932 h 9864725"/>
              <a:gd name="connsiteX5" fmla="*/ 0 w 10619440"/>
              <a:gd name="connsiteY5" fmla="*/ 729790 h 9864725"/>
              <a:gd name="connsiteX6" fmla="*/ 655176 w 10619440"/>
              <a:gd name="connsiteY6" fmla="*/ 3765 h 986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19440" h="9864725">
                <a:moveTo>
                  <a:pt x="729735" y="0"/>
                </a:moveTo>
                <a:lnTo>
                  <a:pt x="10619440" y="0"/>
                </a:lnTo>
                <a:lnTo>
                  <a:pt x="10619440" y="9864725"/>
                </a:lnTo>
                <a:lnTo>
                  <a:pt x="729793" y="9864725"/>
                </a:lnTo>
                <a:cubicBezTo>
                  <a:pt x="326739" y="9864725"/>
                  <a:pt x="0" y="9537986"/>
                  <a:pt x="0" y="9134932"/>
                </a:cubicBezTo>
                <a:lnTo>
                  <a:pt x="0" y="729790"/>
                </a:lnTo>
                <a:cubicBezTo>
                  <a:pt x="0" y="351927"/>
                  <a:pt x="287173" y="41138"/>
                  <a:pt x="655176" y="3765"/>
                </a:cubicBezTo>
                <a:close/>
              </a:path>
            </a:pathLst>
          </a:custGeom>
          <a:solidFill>
            <a:srgbClr val="E0E1E3"/>
          </a:solidFill>
        </p:spPr>
        <p:txBody>
          <a:bodyPr wrap="square" lIns="720000" tIns="720000" rIns="720000" bIns="720000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3E37D892-9D21-89E3-C92D-1E02B16D5AF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970256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2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7CB543-CBDA-C4F6-DBB7-0AA62B3B8134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366B64EF-05C5-D58D-EA19-37B38FD87B8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0B4E9C-0298-57CE-4900-265B14F9D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9740" y="155779"/>
            <a:ext cx="5659820" cy="10603499"/>
          </a:xfrm>
          <a:prstGeom prst="rect">
            <a:avLst/>
          </a:prstGeom>
        </p:spPr>
      </p:pic>
      <p:sp>
        <p:nvSpPr>
          <p:cNvPr id="8" name="Рисунок 11">
            <a:extLst>
              <a:ext uri="{FF2B5EF4-FFF2-40B4-BE49-F238E27FC236}">
                <a16:creationId xmlns:a16="http://schemas.microsoft.com/office/drawing/2014/main" id="{5EFFCDDF-1F21-226F-65C3-03CF23E901E1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7721650" y="855970"/>
            <a:ext cx="4356000" cy="9432255"/>
          </a:xfrm>
          <a:prstGeom prst="roundRect">
            <a:avLst>
              <a:gd name="adj" fmla="val 12642"/>
            </a:avLst>
          </a:prstGeom>
          <a:solidFill>
            <a:schemeClr val="accent6"/>
          </a:solidFill>
        </p:spPr>
        <p:txBody>
          <a:bodyPr/>
          <a:lstStyle>
            <a:lvl1pPr>
              <a:defRPr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</p:spTree>
    <p:extLst>
      <p:ext uri="{BB962C8B-B14F-4D97-AF65-F5344CB8AC3E}">
        <p14:creationId xmlns:p14="http://schemas.microsoft.com/office/powerpoint/2010/main" val="412656899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5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16ECE12F-E94E-5DF9-C802-07CB291461A7}"/>
              </a:ext>
            </a:extLst>
          </p:cNvPr>
          <p:cNvSpPr/>
          <p:nvPr userDrawn="1"/>
        </p:nvSpPr>
        <p:spPr>
          <a:xfrm>
            <a:off x="611188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4" name="Прямоугольник с двумя скругленными противолежащими углами 3">
            <a:extLst>
              <a:ext uri="{FF2B5EF4-FFF2-40B4-BE49-F238E27FC236}">
                <a16:creationId xmlns:a16="http://schemas.microsoft.com/office/drawing/2014/main" id="{177F3DFA-214B-31F0-477D-973A9FB2B4D2}"/>
              </a:ext>
            </a:extLst>
          </p:cNvPr>
          <p:cNvSpPr/>
          <p:nvPr userDrawn="1"/>
        </p:nvSpPr>
        <p:spPr>
          <a:xfrm>
            <a:off x="611188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16E0473F-DC3B-EB5F-D6CB-70E3142AA8D0}"/>
              </a:ext>
            </a:extLst>
          </p:cNvPr>
          <p:cNvSpPr/>
          <p:nvPr userDrawn="1"/>
        </p:nvSpPr>
        <p:spPr>
          <a:xfrm>
            <a:off x="6881359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E0A1433B-30EB-EFDC-0992-2C3BB276A930}"/>
              </a:ext>
            </a:extLst>
          </p:cNvPr>
          <p:cNvSpPr/>
          <p:nvPr userDrawn="1"/>
        </p:nvSpPr>
        <p:spPr>
          <a:xfrm>
            <a:off x="6881359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7" name="Прямоугольник с двумя скругленными противолежащими углами 6">
            <a:extLst>
              <a:ext uri="{FF2B5EF4-FFF2-40B4-BE49-F238E27FC236}">
                <a16:creationId xmlns:a16="http://schemas.microsoft.com/office/drawing/2014/main" id="{32F60909-E504-EC34-C0C7-D5EE3AE8BB78}"/>
              </a:ext>
            </a:extLst>
          </p:cNvPr>
          <p:cNvSpPr/>
          <p:nvPr userDrawn="1"/>
        </p:nvSpPr>
        <p:spPr>
          <a:xfrm>
            <a:off x="13170192" y="3167063"/>
            <a:ext cx="6011862" cy="7345362"/>
          </a:xfrm>
          <a:prstGeom prst="round2DiagRect">
            <a:avLst>
              <a:gd name="adj1" fmla="val 11701"/>
              <a:gd name="adj2" fmla="val 0"/>
            </a:avLst>
          </a:prstGeom>
          <a:solidFill>
            <a:schemeClr val="accent5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b="0" i="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Прямоугольник с двумя скругленными противолежащими углами 7">
            <a:extLst>
              <a:ext uri="{FF2B5EF4-FFF2-40B4-BE49-F238E27FC236}">
                <a16:creationId xmlns:a16="http://schemas.microsoft.com/office/drawing/2014/main" id="{88323E56-13FA-8C59-3760-10F1E812EC2A}"/>
              </a:ext>
            </a:extLst>
          </p:cNvPr>
          <p:cNvSpPr/>
          <p:nvPr userDrawn="1"/>
        </p:nvSpPr>
        <p:spPr>
          <a:xfrm>
            <a:off x="13170192" y="9109075"/>
            <a:ext cx="6011862" cy="140335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BC41D6-7FF2-E141-BD24-D68D3A216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84459" y="3785793"/>
            <a:ext cx="3626535" cy="5323282"/>
          </a:xfrm>
          <a:prstGeom prst="rect">
            <a:avLst/>
          </a:prstGeom>
        </p:spPr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45A317-693C-BA35-F9FD-0B38D53916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226273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64F36A5-A931-90F9-DC15-681991E82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96075" y="3785793"/>
            <a:ext cx="3626535" cy="5323282"/>
          </a:xfrm>
          <a:prstGeom prst="rect">
            <a:avLst/>
          </a:prstGeom>
        </p:spPr>
      </p:pic>
      <p:sp>
        <p:nvSpPr>
          <p:cNvPr id="12" name="Рисунок 9">
            <a:extLst>
              <a:ext uri="{FF2B5EF4-FFF2-40B4-BE49-F238E27FC236}">
                <a16:creationId xmlns:a16="http://schemas.microsoft.com/office/drawing/2014/main" id="{53343718-A296-C12B-FA60-5A585FE120D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437889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6E59DDE-998C-8E98-753D-CF60D7FFD4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319838" y="3785793"/>
            <a:ext cx="3626535" cy="5323282"/>
          </a:xfrm>
          <a:prstGeom prst="rect">
            <a:avLst/>
          </a:prstGeom>
        </p:spPr>
      </p:pic>
      <p:sp>
        <p:nvSpPr>
          <p:cNvPr id="14" name="Рисунок 9">
            <a:extLst>
              <a:ext uri="{FF2B5EF4-FFF2-40B4-BE49-F238E27FC236}">
                <a16:creationId xmlns:a16="http://schemas.microsoft.com/office/drawing/2014/main" id="{F525E12E-69F5-046C-095E-1760440BDA8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4662391" y="4186595"/>
            <a:ext cx="2952000" cy="4922480"/>
          </a:xfrm>
          <a:prstGeom prst="round2SameRect">
            <a:avLst>
              <a:gd name="adj1" fmla="val 12358"/>
              <a:gd name="adj2" fmla="val 0"/>
            </a:avLst>
          </a:prstGeom>
          <a:solidFill>
            <a:schemeClr val="accent6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15" name="Номер слайда">
            <a:extLst>
              <a:ext uri="{FF2B5EF4-FFF2-40B4-BE49-F238E27FC236}">
                <a16:creationId xmlns:a16="http://schemas.microsoft.com/office/drawing/2014/main" id="{2D44E80A-C031-2044-8ECC-DF913BC174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38716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_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7747A12-741B-469C-5C9A-E220CF293408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FD5FB0-9A81-3A7C-DAA4-91299088F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9400" y="-118551"/>
            <a:ext cx="13169900" cy="11703072"/>
          </a:xfrm>
          <a:prstGeom prst="rect">
            <a:avLst/>
          </a:prstGeom>
        </p:spPr>
      </p:pic>
      <p:sp>
        <p:nvSpPr>
          <p:cNvPr id="9" name="Рисунок 18">
            <a:extLst>
              <a:ext uri="{FF2B5EF4-FFF2-40B4-BE49-F238E27FC236}">
                <a16:creationId xmlns:a16="http://schemas.microsoft.com/office/drawing/2014/main" id="{E85B5318-DE9B-9E64-A615-755452FB57B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581569" y="1274243"/>
            <a:ext cx="11229161" cy="7650999"/>
          </a:xfrm>
          <a:custGeom>
            <a:avLst/>
            <a:gdLst>
              <a:gd name="connsiteX0" fmla="*/ 208174 w 9461500"/>
              <a:gd name="connsiteY0" fmla="*/ 0 h 6446602"/>
              <a:gd name="connsiteX1" fmla="*/ 9461500 w 9461500"/>
              <a:gd name="connsiteY1" fmla="*/ 0 h 6446602"/>
              <a:gd name="connsiteX2" fmla="*/ 9461500 w 9461500"/>
              <a:gd name="connsiteY2" fmla="*/ 6446602 h 6446602"/>
              <a:gd name="connsiteX3" fmla="*/ 0 w 9461500"/>
              <a:gd name="connsiteY3" fmla="*/ 6446602 h 6446602"/>
              <a:gd name="connsiteX4" fmla="*/ 0 w 9461500"/>
              <a:gd name="connsiteY4" fmla="*/ 208291 h 6446602"/>
              <a:gd name="connsiteX5" fmla="*/ 208174 w 9461500"/>
              <a:gd name="connsiteY5" fmla="*/ 0 h 644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461500" h="6446602">
                <a:moveTo>
                  <a:pt x="208174" y="0"/>
                </a:moveTo>
                <a:lnTo>
                  <a:pt x="9461500" y="0"/>
                </a:lnTo>
                <a:lnTo>
                  <a:pt x="9461500" y="6446602"/>
                </a:lnTo>
                <a:lnTo>
                  <a:pt x="0" y="6446602"/>
                </a:lnTo>
                <a:lnTo>
                  <a:pt x="0" y="208291"/>
                </a:lnTo>
                <a:cubicBezTo>
                  <a:pt x="0" y="93255"/>
                  <a:pt x="93203" y="0"/>
                  <a:pt x="208174" y="0"/>
                </a:cubicBezTo>
                <a:close/>
              </a:path>
            </a:pathLst>
          </a:custGeom>
          <a:solidFill>
            <a:schemeClr val="accent6"/>
          </a:solidFill>
        </p:spPr>
        <p:txBody>
          <a:bodyPr wrap="square">
            <a:noAutofit/>
          </a:bodyPr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Скриншот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B433A600-8A53-F440-CF3F-CC91E1C6FAE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04010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orient="horz" pos="861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qr кодом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5706C0-6A13-4923-6574-EDE169364610}"/>
              </a:ext>
            </a:extLst>
          </p:cNvPr>
          <p:cNvSpPr/>
          <p:nvPr userDrawn="1"/>
        </p:nvSpPr>
        <p:spPr>
          <a:xfrm>
            <a:off x="10557164" y="1842655"/>
            <a:ext cx="7495309" cy="7481454"/>
          </a:xfrm>
          <a:prstGeom prst="roundRect">
            <a:avLst>
              <a:gd name="adj" fmla="val 8148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5" name="Рисунок 7">
            <a:extLst>
              <a:ext uri="{FF2B5EF4-FFF2-40B4-BE49-F238E27FC236}">
                <a16:creationId xmlns:a16="http://schemas.microsoft.com/office/drawing/2014/main" id="{A53F8555-2432-3EC8-BA86-230CA1B7571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444143" y="2722707"/>
            <a:ext cx="5721350" cy="5721350"/>
          </a:xfrm>
          <a:prstGeom prst="rect">
            <a:avLst/>
          </a:prstGeom>
          <a:solidFill>
            <a:schemeClr val="accent5"/>
          </a:solidFill>
        </p:spPr>
        <p:txBody>
          <a:bodyPr lIns="360000" tIns="360000" rIns="360000" bIns="360000"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Место для </a:t>
            </a:r>
            <a:r>
              <a:rPr lang="ru-RU" dirty="0" err="1"/>
              <a:t>Q</a:t>
            </a:r>
            <a:r>
              <a:rPr lang="en-US" dirty="0"/>
              <a:t>R</a:t>
            </a:r>
            <a:endParaRPr lang="ru-RU" dirty="0"/>
          </a:p>
        </p:txBody>
      </p:sp>
      <p:sp>
        <p:nvSpPr>
          <p:cNvPr id="6" name="Номер слайда">
            <a:extLst>
              <a:ext uri="{FF2B5EF4-FFF2-40B4-BE49-F238E27FC236}">
                <a16:creationId xmlns:a16="http://schemas.microsoft.com/office/drawing/2014/main" id="{FF5EF554-4206-B400-460C-2445949829A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2962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 userDrawn="1">
          <p15:clr>
            <a:srgbClr val="FBAE40"/>
          </p15:clr>
        </p15:guide>
        <p15:guide id="2" pos="11611" userDrawn="1">
          <p15:clr>
            <a:srgbClr val="FBAE40"/>
          </p15:clr>
        </p15:guide>
        <p15:guide id="23" orient="horz" pos="861" userDrawn="1">
          <p15:clr>
            <a:srgbClr val="FBAE40"/>
          </p15:clr>
        </p15:guide>
        <p15:guide id="44" orient="horz" pos="6169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5AE23A0-AACE-ADD6-0628-A911DAE569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7" y="647699"/>
            <a:ext cx="18576925" cy="9864725"/>
          </a:xfrm>
          <a:prstGeom prst="roundRect">
            <a:avLst>
              <a:gd name="adj" fmla="val 5359"/>
            </a:avLst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E66C56D-6598-4535-7307-3F3BBAC1AB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79312" y="5134647"/>
            <a:ext cx="6040677" cy="89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366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861">
          <p15:clr>
            <a:srgbClr val="FBAE40"/>
          </p15:clr>
        </p15:guide>
        <p15:guide id="2" pos="11611">
          <p15:clr>
            <a:srgbClr val="FBAE40"/>
          </p15:clr>
        </p15:guide>
        <p15:guide id="23" orient="horz" pos="861">
          <p15:clr>
            <a:srgbClr val="FBAE40"/>
          </p15:clr>
        </p15:guide>
        <p15:guide id="44" orient="horz" pos="616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 слайд 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F788B8D0-382E-E7BB-6C27-EDE5B651FA43}"/>
              </a:ext>
            </a:extLst>
          </p:cNvPr>
          <p:cNvSpPr/>
          <p:nvPr userDrawn="1"/>
        </p:nvSpPr>
        <p:spPr>
          <a:xfrm>
            <a:off x="611188" y="647700"/>
            <a:ext cx="12276137" cy="9864725"/>
          </a:xfrm>
          <a:prstGeom prst="roundRect">
            <a:avLst>
              <a:gd name="adj" fmla="val 5188"/>
            </a:avLst>
          </a:prstGeom>
          <a:gradFill>
            <a:gsLst>
              <a:gs pos="100000">
                <a:srgbClr val="E0E1E3"/>
              </a:gs>
              <a:gs pos="0">
                <a:srgbClr val="F3F3F5">
                  <a:alpha val="80477"/>
                </a:srgb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7" name="Рисунок 5">
            <a:extLst>
              <a:ext uri="{FF2B5EF4-FFF2-40B4-BE49-F238E27FC236}">
                <a16:creationId xmlns:a16="http://schemas.microsoft.com/office/drawing/2014/main" id="{51327A71-84B7-1359-8F86-115743DA08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3139738" y="647700"/>
            <a:ext cx="6045749" cy="9864725"/>
          </a:xfrm>
          <a:prstGeom prst="roundRect">
            <a:avLst>
              <a:gd name="adj" fmla="val 8098"/>
            </a:avLst>
          </a:prstGeom>
          <a:solidFill>
            <a:schemeClr val="accent4"/>
          </a:solidFill>
        </p:spPr>
        <p:txBody>
          <a:bodyPr/>
          <a:lstStyle>
            <a:lvl1pPr>
              <a:defRPr b="0" i="0">
                <a:latin typeface="T-Sans" pitchFamily="2" charset="0"/>
                <a:ea typeface="T-Sans" pitchFamily="2" charset="0"/>
              </a:defRPr>
            </a:lvl1pPr>
          </a:lstStyle>
          <a:p>
            <a:r>
              <a:rPr lang="ru-RU" dirty="0"/>
              <a:t>Вставка фото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353CD5-1AE7-9078-EC33-FEC734B29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389" y="1510158"/>
            <a:ext cx="488571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1665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1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899E0437-D66B-F092-7B3D-AE4F22893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574449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 userDrawn="1">
          <p15:clr>
            <a:srgbClr val="FBAE40"/>
          </p15:clr>
        </p15:guide>
        <p15:guide id="12" pos="6327" userDrawn="1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420B71-BE2A-77F8-6142-EABEC83248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510"/>
            <a:ext cx="19799300" cy="11137104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D6ABF4-FA5E-C290-265D-F03687E871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870196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3">
    <p:bg>
      <p:bg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251D5F1-2AF4-9D4F-5EDA-3B14ECB84BB3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lvl="0" defTabSz="457200"/>
            <a:endParaRPr lang="ru-RU" sz="1800" b="0" i="0" dirty="0"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B936FF7C-912E-C469-CC6F-F4D6C411C6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281306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 userDrawn="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4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27BB1A-232A-915D-0822-9E971DAD31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6420"/>
            <a:ext cx="19836000" cy="11157748"/>
          </a:xfrm>
          <a:prstGeom prst="rect">
            <a:avLst/>
          </a:prstGeom>
        </p:spPr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33F4BB79-CBF9-9F96-D712-095F36FD85C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945998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я дизайнера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C0AF5F-F272-25C3-6AE1-16E696AAA311}"/>
              </a:ext>
            </a:extLst>
          </p:cNvPr>
          <p:cNvSpPr/>
          <p:nvPr userDrawn="1"/>
        </p:nvSpPr>
        <p:spPr>
          <a:xfrm>
            <a:off x="0" y="0"/>
            <a:ext cx="19799300" cy="11160125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cs typeface="Tinkoff Sans"/>
              <a:sym typeface="Tinkoff Sans"/>
            </a:endParaRP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9DE8B3DF-6BA0-8D54-AF33-0EE7727168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solidFill>
                  <a:schemeClr val="accent6"/>
                </a:solidFill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937096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pos="1224">
          <p15:clr>
            <a:srgbClr val="FBAE40"/>
          </p15:clr>
        </p15:guide>
        <p15:guide id="2" pos="1383">
          <p15:clr>
            <a:srgbClr val="FBAE40"/>
          </p15:clr>
        </p15:guide>
        <p15:guide id="3" pos="2199">
          <p15:clr>
            <a:srgbClr val="FBAE40"/>
          </p15:clr>
        </p15:guide>
        <p15:guide id="4" pos="2358">
          <p15:clr>
            <a:srgbClr val="FBAE40"/>
          </p15:clr>
        </p15:guide>
        <p15:guide id="5" pos="3197">
          <p15:clr>
            <a:srgbClr val="FBAE40"/>
          </p15:clr>
        </p15:guide>
        <p15:guide id="6" pos="3356">
          <p15:clr>
            <a:srgbClr val="FBAE40"/>
          </p15:clr>
        </p15:guide>
        <p15:guide id="7" pos="4172">
          <p15:clr>
            <a:srgbClr val="FBAE40"/>
          </p15:clr>
        </p15:guide>
        <p15:guide id="8" pos="4331">
          <p15:clr>
            <a:srgbClr val="FBAE40"/>
          </p15:clr>
        </p15:guide>
        <p15:guide id="9" pos="5170">
          <p15:clr>
            <a:srgbClr val="FBAE40"/>
          </p15:clr>
        </p15:guide>
        <p15:guide id="10" pos="5329">
          <p15:clr>
            <a:srgbClr val="FBAE40"/>
          </p15:clr>
        </p15:guide>
        <p15:guide id="11" pos="6168">
          <p15:clr>
            <a:srgbClr val="FBAE40"/>
          </p15:clr>
        </p15:guide>
        <p15:guide id="12" pos="6327">
          <p15:clr>
            <a:srgbClr val="FBAE40"/>
          </p15:clr>
        </p15:guide>
        <p15:guide id="13" pos="7143">
          <p15:clr>
            <a:srgbClr val="FBAE40"/>
          </p15:clr>
        </p15:guide>
        <p15:guide id="14" pos="7302">
          <p15:clr>
            <a:srgbClr val="FBAE40"/>
          </p15:clr>
        </p15:guide>
        <p15:guide id="15" pos="8118">
          <p15:clr>
            <a:srgbClr val="FBAE40"/>
          </p15:clr>
        </p15:guide>
        <p15:guide id="16" pos="8277">
          <p15:clr>
            <a:srgbClr val="FBAE40"/>
          </p15:clr>
        </p15:guide>
        <p15:guide id="17" pos="9116">
          <p15:clr>
            <a:srgbClr val="FBAE40"/>
          </p15:clr>
        </p15:guide>
        <p15:guide id="18" pos="9275">
          <p15:clr>
            <a:srgbClr val="FBAE40"/>
          </p15:clr>
        </p15:guide>
        <p15:guide id="19" pos="10092">
          <p15:clr>
            <a:srgbClr val="FBAE40"/>
          </p15:clr>
        </p15:guide>
        <p15:guide id="20" pos="10250">
          <p15:clr>
            <a:srgbClr val="FBAE40"/>
          </p15:clr>
        </p15:guide>
        <p15:guide id="21" pos="11089">
          <p15:clr>
            <a:srgbClr val="FBAE40"/>
          </p15:clr>
        </p15:guide>
        <p15:guide id="22" pos="11248">
          <p15:clr>
            <a:srgbClr val="FBAE40"/>
          </p15:clr>
        </p15:guide>
        <p15:guide id="23" orient="horz" pos="771">
          <p15:clr>
            <a:srgbClr val="FBAE40"/>
          </p15:clr>
        </p15:guide>
        <p15:guide id="24" orient="horz" pos="930">
          <p15:clr>
            <a:srgbClr val="FBAE40"/>
          </p15:clr>
        </p15:guide>
        <p15:guide id="25" orient="horz" pos="1292">
          <p15:clr>
            <a:srgbClr val="FBAE40"/>
          </p15:clr>
        </p15:guide>
        <p15:guide id="26" orient="horz" pos="1451">
          <p15:clr>
            <a:srgbClr val="FBAE40"/>
          </p15:clr>
        </p15:guide>
        <p15:guide id="27" orient="horz" pos="1837">
          <p15:clr>
            <a:srgbClr val="FBAE40"/>
          </p15:clr>
        </p15:guide>
        <p15:guide id="28" orient="horz" pos="1995">
          <p15:clr>
            <a:srgbClr val="FBAE40"/>
          </p15:clr>
        </p15:guide>
        <p15:guide id="29" orient="horz" pos="2358">
          <p15:clr>
            <a:srgbClr val="FBAE40"/>
          </p15:clr>
        </p15:guide>
        <p15:guide id="30" orient="horz" pos="2517">
          <p15:clr>
            <a:srgbClr val="FBAE40"/>
          </p15:clr>
        </p15:guide>
        <p15:guide id="31" orient="horz" pos="2903">
          <p15:clr>
            <a:srgbClr val="FBAE40"/>
          </p15:clr>
        </p15:guide>
        <p15:guide id="32" orient="horz" pos="3061">
          <p15:clr>
            <a:srgbClr val="FBAE40"/>
          </p15:clr>
        </p15:guide>
        <p15:guide id="33" orient="horz" pos="3424">
          <p15:clr>
            <a:srgbClr val="FBAE40"/>
          </p15:clr>
        </p15:guide>
        <p15:guide id="34" orient="horz" pos="3583">
          <p15:clr>
            <a:srgbClr val="FBAE40"/>
          </p15:clr>
        </p15:guide>
        <p15:guide id="37" orient="horz" pos="3969">
          <p15:clr>
            <a:srgbClr val="FBAE40"/>
          </p15:clr>
        </p15:guide>
        <p15:guide id="38" orient="horz" pos="4127">
          <p15:clr>
            <a:srgbClr val="FBAE40"/>
          </p15:clr>
        </p15:guide>
        <p15:guide id="39" orient="horz" pos="4513">
          <p15:clr>
            <a:srgbClr val="FBAE40"/>
          </p15:clr>
        </p15:guide>
        <p15:guide id="40" orient="horz" pos="4672">
          <p15:clr>
            <a:srgbClr val="FBAE40"/>
          </p15:clr>
        </p15:guide>
        <p15:guide id="41" orient="horz" pos="5035">
          <p15:clr>
            <a:srgbClr val="FBAE40"/>
          </p15:clr>
        </p15:guide>
        <p15:guide id="42" orient="horz" pos="5193">
          <p15:clr>
            <a:srgbClr val="FBAE40"/>
          </p15:clr>
        </p15:guide>
        <p15:guide id="43" orient="horz" pos="5579">
          <p15:clr>
            <a:srgbClr val="FBAE40"/>
          </p15:clr>
        </p15:guide>
        <p15:guide id="44" orient="horz" pos="5738">
          <p15:clr>
            <a:srgbClr val="FBAE40"/>
          </p15:clr>
        </p15:guide>
        <p15:guide id="45" orient="horz" pos="6100">
          <p15:clr>
            <a:srgbClr val="FBAE40"/>
          </p15:clr>
        </p15:guide>
        <p15:guide id="46" orient="horz" pos="62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63B56008-A337-B822-0430-FAE6377E5C0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b="0" i="0" smtClean="0">
                <a:latin typeface="T-Sans" pitchFamily="2" charset="0"/>
                <a:ea typeface="T-Sans" pitchFamily="2" charset="0"/>
              </a:defRPr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845" r:id="rId2"/>
    <p:sldLayoutId id="2147483854" r:id="rId3"/>
    <p:sldLayoutId id="2147483782" r:id="rId4"/>
    <p:sldLayoutId id="2147483837" r:id="rId5"/>
    <p:sldLayoutId id="2147483776" r:id="rId6"/>
    <p:sldLayoutId id="2147483836" r:id="rId7"/>
    <p:sldLayoutId id="2147483789" r:id="rId8"/>
    <p:sldLayoutId id="2147483799" r:id="rId9"/>
    <p:sldLayoutId id="2147483769" r:id="rId10"/>
    <p:sldLayoutId id="2147483784" r:id="rId11"/>
    <p:sldLayoutId id="2147483786" r:id="rId12"/>
    <p:sldLayoutId id="2147483772" r:id="rId13"/>
    <p:sldLayoutId id="2147483785" r:id="rId14"/>
    <p:sldLayoutId id="2147483859" r:id="rId15"/>
    <p:sldLayoutId id="2147483860" r:id="rId16"/>
    <p:sldLayoutId id="2147483783" r:id="rId17"/>
    <p:sldLayoutId id="2147483852" r:id="rId18"/>
    <p:sldLayoutId id="2147483820" r:id="rId19"/>
    <p:sldLayoutId id="2147483777" r:id="rId20"/>
    <p:sldLayoutId id="2147483823" r:id="rId21"/>
    <p:sldLayoutId id="2147483813" r:id="rId22"/>
    <p:sldLayoutId id="2147483814" r:id="rId23"/>
    <p:sldLayoutId id="2147483787" r:id="rId24"/>
    <p:sldLayoutId id="2147483846" r:id="rId25"/>
    <p:sldLayoutId id="2147483790" r:id="rId26"/>
    <p:sldLayoutId id="2147483791" r:id="rId27"/>
    <p:sldLayoutId id="2147483849" r:id="rId28"/>
    <p:sldLayoutId id="2147483792" r:id="rId29"/>
    <p:sldLayoutId id="2147483839" r:id="rId30"/>
    <p:sldLayoutId id="2147483840" r:id="rId31"/>
    <p:sldLayoutId id="2147483810" r:id="rId32"/>
    <p:sldLayoutId id="2147483829" r:id="rId33"/>
    <p:sldLayoutId id="2147483830" r:id="rId34"/>
    <p:sldLayoutId id="2147483831" r:id="rId35"/>
    <p:sldLayoutId id="2147483838" r:id="rId36"/>
    <p:sldLayoutId id="2147483800" r:id="rId37"/>
    <p:sldLayoutId id="2147483825" r:id="rId38"/>
    <p:sldLayoutId id="2147483826" r:id="rId39"/>
    <p:sldLayoutId id="2147483828" r:id="rId40"/>
    <p:sldLayoutId id="2147483801" r:id="rId41"/>
    <p:sldLayoutId id="2147483802" r:id="rId42"/>
    <p:sldLayoutId id="2147483858" r:id="rId43"/>
    <p:sldLayoutId id="2147483851" r:id="rId44"/>
    <p:sldLayoutId id="2147483809" r:id="rId45"/>
    <p:sldLayoutId id="2147483841" r:id="rId46"/>
    <p:sldLayoutId id="2147483847" r:id="rId47"/>
    <p:sldLayoutId id="2147483863" r:id="rId48"/>
    <p:sldLayoutId id="2147483834" r:id="rId49"/>
    <p:sldLayoutId id="2147483832" r:id="rId50"/>
    <p:sldLayoutId id="2147483835" r:id="rId51"/>
    <p:sldLayoutId id="2147483833" r:id="rId52"/>
    <p:sldLayoutId id="2147483843" r:id="rId53"/>
  </p:sldLayoutIdLst>
  <p:transition spd="med"/>
  <p:hf hdr="0" ftr="0" dt="0"/>
  <p:txStyles>
    <p:titleStyle>
      <a:lvl1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0" marR="0" indent="0" algn="l" defTabSz="1485609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086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titleStyle>
    <p:bodyStyle>
      <a:lvl1pPr marL="0" marR="0" indent="0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None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1pPr>
      <a:lvl2pPr marL="708566" marR="0" indent="-438064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2pPr>
      <a:lvl3pPr marL="1417132" marR="0" indent="-517712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3pPr>
      <a:lvl4pPr marL="2125697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4pPr>
      <a:lvl5pPr marL="3560341" marR="0" indent="-589121" algn="l" defTabSz="1485609" rtl="0" latinLnBrk="0">
        <a:lnSpc>
          <a:spcPct val="118000"/>
        </a:lnSpc>
        <a:spcBef>
          <a:spcPts val="2363"/>
        </a:spcBef>
        <a:spcAft>
          <a:spcPts val="0"/>
        </a:spcAft>
        <a:buClrTx/>
        <a:buSzPct val="100000"/>
        <a:buFont typeface="Wingdings" pitchFamily="2" charset="2"/>
        <a:buChar char="§"/>
        <a:tabLst/>
        <a:defRPr sz="2363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5pPr>
      <a:lvl6pPr marL="4303145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6pPr>
      <a:lvl7pPr marL="5045952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7pPr>
      <a:lvl8pPr marL="5788754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8pPr>
      <a:lvl9pPr marL="6531561" marR="0" indent="-589121" algn="l" defTabSz="1485609" rtl="0" latinLnBrk="0">
        <a:lnSpc>
          <a:spcPct val="90000"/>
        </a:lnSpc>
        <a:spcBef>
          <a:spcPts val="1574"/>
        </a:spcBef>
        <a:spcAft>
          <a:spcPts val="0"/>
        </a:spcAft>
        <a:buClrTx/>
        <a:buSzPct val="100000"/>
        <a:buFont typeface="Arial"/>
        <a:buChar char="•"/>
        <a:tabLst/>
        <a:defRPr sz="4528" b="0" i="0" u="none" strike="noStrike" cap="none" spc="0" baseline="0">
          <a:solidFill>
            <a:srgbClr val="000000"/>
          </a:solidFill>
          <a:uFillTx/>
          <a:latin typeface="Tinkoff Sans"/>
          <a:ea typeface="Tinkoff Sans"/>
          <a:cs typeface="Tinkoff Sans"/>
          <a:sym typeface="Tinkoff Sans"/>
        </a:defRPr>
      </a:lvl9pPr>
    </p:bodyStyle>
    <p:otherStyle>
      <a:lvl1pPr marL="0" marR="0" indent="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1pPr>
      <a:lvl2pPr marL="0" marR="0" indent="44993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2pPr>
      <a:lvl3pPr marL="0" marR="0" indent="899880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3pPr>
      <a:lvl4pPr marL="0" marR="0" indent="1349818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4pPr>
      <a:lvl5pPr marL="0" marR="0" indent="1799759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5pPr>
      <a:lvl6pPr marL="0" marR="0" indent="224969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6pPr>
      <a:lvl7pPr marL="0" marR="0" indent="269963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7pPr>
      <a:lvl8pPr marL="0" marR="0" indent="3149576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8pPr>
      <a:lvl9pPr marL="0" marR="0" indent="3599515" algn="r" defTabSz="44993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81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inkoff Sans"/>
        </a:defRPr>
      </a:lvl9pPr>
    </p:otherStyle>
  </p:txStyles>
  <p:extLst>
    <p:ext uri="{27BBF7A9-308A-43DC-89C8-2F10F3537804}">
      <p15:sldGuideLst xmlns:p15="http://schemas.microsoft.com/office/powerpoint/2012/main">
        <p15:guide id="1" pos="385" userDrawn="1">
          <p15:clr>
            <a:srgbClr val="F26B43"/>
          </p15:clr>
        </p15:guide>
        <p15:guide id="2" orient="horz" pos="408" userDrawn="1">
          <p15:clr>
            <a:srgbClr val="F26B43"/>
          </p15:clr>
        </p15:guide>
        <p15:guide id="3" pos="12087" userDrawn="1">
          <p15:clr>
            <a:srgbClr val="F26B43"/>
          </p15:clr>
        </p15:guide>
        <p15:guide id="4" orient="horz" pos="66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0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29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3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8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4799E05-1C06-249F-F018-346FCB4EB48C}"/>
              </a:ext>
            </a:extLst>
          </p:cNvPr>
          <p:cNvSpPr txBox="1"/>
          <p:nvPr/>
        </p:nvSpPr>
        <p:spPr>
          <a:xfrm>
            <a:off x="8213892" y="4078900"/>
            <a:ext cx="10992150" cy="12526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88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Академия Бэкенда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C5504A-1512-3B53-17F3-B6E78F652625}"/>
              </a:ext>
            </a:extLst>
          </p:cNvPr>
          <p:cNvSpPr txBox="1"/>
          <p:nvPr/>
        </p:nvSpPr>
        <p:spPr>
          <a:xfrm>
            <a:off x="9059105" y="8905360"/>
            <a:ext cx="10129008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400"/>
              </a:lnSpc>
              <a:defRPr sz="2400">
                <a:solidFill>
                  <a:schemeClr val="accent6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Сергей Хватов | Ведущий разработчик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B43444-2599-EB79-10A9-817AC955C359}"/>
              </a:ext>
            </a:extLst>
          </p:cNvPr>
          <p:cNvSpPr txBox="1"/>
          <p:nvPr/>
        </p:nvSpPr>
        <p:spPr>
          <a:xfrm>
            <a:off x="8213892" y="5331551"/>
            <a:ext cx="10992150" cy="8002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ru-RU" sz="3200" dirty="0">
                <a:latin typeface="T-Sans" pitchFamily="2" charset="77"/>
                <a:ea typeface="T-Sans" pitchFamily="2" charset="77"/>
              </a:rPr>
              <a:t>Курс, посвященный разработке на </a:t>
            </a:r>
            <a:r>
              <a:rPr lang="en-US" sz="3200" dirty="0">
                <a:latin typeface="T-Sans" pitchFamily="2" charset="77"/>
                <a:ea typeface="T-Sans" pitchFamily="2" charset="77"/>
              </a:rPr>
              <a:t>Java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latin typeface="T-Sans" pitchFamily="2" charset="77"/>
                <a:ea typeface="T-Sans" pitchFamily="2" charset="77"/>
              </a:rPr>
              <a:t>1-й семестр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8C7919-13E5-E761-9B17-11242C460C9D}"/>
              </a:ext>
            </a:extLst>
          </p:cNvPr>
          <p:cNvGrpSpPr/>
          <p:nvPr/>
        </p:nvGrpSpPr>
        <p:grpSpPr>
          <a:xfrm>
            <a:off x="8207375" y="8783638"/>
            <a:ext cx="612776" cy="612776"/>
            <a:chOff x="6884958" y="8711671"/>
            <a:chExt cx="921394" cy="921394"/>
          </a:xfrm>
        </p:grpSpPr>
        <p:sp>
          <p:nvSpPr>
            <p:cNvPr id="3" name="Овал 2">
              <a:extLst>
                <a:ext uri="{FF2B5EF4-FFF2-40B4-BE49-F238E27FC236}">
                  <a16:creationId xmlns:a16="http://schemas.microsoft.com/office/drawing/2014/main" id="{FBC5EDC0-76AA-4A7A-59AB-9485EFEBB772}"/>
                </a:ext>
              </a:extLst>
            </p:cNvPr>
            <p:cNvSpPr/>
            <p:nvPr/>
          </p:nvSpPr>
          <p:spPr>
            <a:xfrm>
              <a:off x="6884958" y="8711671"/>
              <a:ext cx="921394" cy="921394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endParaRP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36EC14B0-942F-78BF-DB33-FDDDCBEE2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121611" y="8948324"/>
              <a:ext cx="448089" cy="4480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61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47A7A92A-92D8-23CA-C70C-9DB791A11F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41" b="22417"/>
          <a:stretch/>
        </p:blipFill>
        <p:spPr>
          <a:xfrm>
            <a:off x="611188" y="647700"/>
            <a:ext cx="7596187" cy="6516688"/>
          </a:xfr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DD083BD-5FF6-05DA-92A5-522B017AF9B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2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E1AB889-AAE4-02E0-264C-D44B799EAF91}"/>
              </a:ext>
            </a:extLst>
          </p:cNvPr>
          <p:cNvGrpSpPr/>
          <p:nvPr/>
        </p:nvGrpSpPr>
        <p:grpSpPr>
          <a:xfrm>
            <a:off x="1133009" y="8240206"/>
            <a:ext cx="6504921" cy="1470357"/>
            <a:chOff x="1150938" y="8168094"/>
            <a:chExt cx="6504921" cy="147035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948361-9C7C-43BF-201E-0B1BDE4B627C}"/>
                </a:ext>
              </a:extLst>
            </p:cNvPr>
            <p:cNvSpPr txBox="1"/>
            <p:nvPr/>
          </p:nvSpPr>
          <p:spPr>
            <a:xfrm>
              <a:off x="1150938" y="8168094"/>
              <a:ext cx="6504921" cy="8656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dirty="0">
                  <a:latin typeface="T-Sans" pitchFamily="2" charset="77"/>
                  <a:ea typeface="T-Sans" pitchFamily="2" charset="77"/>
                </a:rPr>
                <a:t>Сергей Хватов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079C18-1EF9-E2A1-537D-C215DE0AE304}"/>
                </a:ext>
              </a:extLst>
            </p:cNvPr>
            <p:cNvSpPr txBox="1"/>
            <p:nvPr/>
          </p:nvSpPr>
          <p:spPr>
            <a:xfrm>
              <a:off x="1150938" y="9109075"/>
              <a:ext cx="6504920" cy="5293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ts val="66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pPr>
                <a:lnSpc>
                  <a:spcPct val="110000"/>
                </a:lnSpc>
              </a:pPr>
              <a:r>
                <a:rPr lang="ru-RU" sz="3200" b="0" dirty="0">
                  <a:latin typeface="T-Sans" pitchFamily="2" charset="77"/>
                  <a:ea typeface="T-Sans" pitchFamily="2" charset="77"/>
                </a:rPr>
                <a:t>Ведущий разработчик, </a:t>
              </a:r>
              <a:r>
                <a:rPr lang="en-US" sz="3200" b="0" dirty="0">
                  <a:latin typeface="T-Sans" pitchFamily="2" charset="77"/>
                  <a:ea typeface="T-Sans" pitchFamily="2" charset="77"/>
                </a:rPr>
                <a:t>PRM</a:t>
              </a:r>
              <a:endParaRPr lang="ru-RU" sz="3200" b="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B8A0E74-6D80-96F3-625F-9638C170E59A}"/>
              </a:ext>
            </a:extLst>
          </p:cNvPr>
          <p:cNvSpPr txBox="1"/>
          <p:nvPr/>
        </p:nvSpPr>
        <p:spPr>
          <a:xfrm>
            <a:off x="9130553" y="1135354"/>
            <a:ext cx="9390529" cy="79406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0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4800" b="1" dirty="0">
                <a:latin typeface="T-Sans" pitchFamily="2" charset="77"/>
                <a:ea typeface="T-Sans" pitchFamily="2" charset="77"/>
              </a:rPr>
              <a:t>Давайте познакомимся!</a:t>
            </a:r>
          </a:p>
        </p:txBody>
      </p:sp>
      <p:pic>
        <p:nvPicPr>
          <p:cNvPr id="24" name="object 54">
            <a:extLst>
              <a:ext uri="{FF2B5EF4-FFF2-40B4-BE49-F238E27FC236}">
                <a16:creationId xmlns:a16="http://schemas.microsoft.com/office/drawing/2014/main" id="{54942638-8C11-805C-15F4-C5E24E19FC9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143197" y="2339392"/>
            <a:ext cx="751448" cy="6617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2FDE7C-B160-B26A-9CF6-6CEC0AF89771}"/>
              </a:ext>
            </a:extLst>
          </p:cNvPr>
          <p:cNvSpPr txBox="1"/>
          <p:nvPr/>
        </p:nvSpPr>
        <p:spPr>
          <a:xfrm>
            <a:off x="10174522" y="2339392"/>
            <a:ext cx="8257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-Sans" pitchFamily="2" charset="77"/>
                <a:ea typeface="T-Sans" pitchFamily="2" charset="77"/>
              </a:rPr>
              <a:t>Образование</a:t>
            </a:r>
          </a:p>
          <a:p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Закончил бакалавриат в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СПбПУ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 Петра Великого в 2021, а магистратуру в ИТМО в 2023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.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Аспирантуру в ИТМО бросил, толком и не начав, в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2026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 году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…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T-Sans" pitchFamily="2" charset="77"/>
              <a:ea typeface="T-Sans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8C4E1D-DCF1-3D46-BBAA-C58C53669030}"/>
              </a:ext>
            </a:extLst>
          </p:cNvPr>
          <p:cNvSpPr txBox="1"/>
          <p:nvPr/>
        </p:nvSpPr>
        <p:spPr>
          <a:xfrm>
            <a:off x="10174521" y="4773155"/>
            <a:ext cx="8257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-Sans" pitchFamily="2" charset="77"/>
                <a:ea typeface="T-Sans" pitchFamily="2" charset="77"/>
              </a:rPr>
              <a:t>Карьера</a:t>
            </a:r>
          </a:p>
          <a:p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Работаю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Java/Kotlin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разработчиком в Отделе Расчетных Технологий (ОРТ) с мая 2022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. 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Имею более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6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 лет опыта коммерческой разработки на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Java.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T-Sans" pitchFamily="2" charset="77"/>
              <a:ea typeface="T-Sans" pitchFamily="2" charset="77"/>
            </a:endParaRPr>
          </a:p>
        </p:txBody>
      </p:sp>
      <p:pic>
        <p:nvPicPr>
          <p:cNvPr id="27" name="object 40">
            <a:extLst>
              <a:ext uri="{FF2B5EF4-FFF2-40B4-BE49-F238E27FC236}">
                <a16:creationId xmlns:a16="http://schemas.microsoft.com/office/drawing/2014/main" id="{AE44ED6D-0903-0AE1-8DAF-FAAFFA9FA24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143197" y="4921101"/>
            <a:ext cx="751448" cy="65896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1DE0D06-61C4-B2E6-C095-4042CBD463CD}"/>
              </a:ext>
            </a:extLst>
          </p:cNvPr>
          <p:cNvSpPr txBox="1"/>
          <p:nvPr/>
        </p:nvSpPr>
        <p:spPr>
          <a:xfrm>
            <a:off x="10174521" y="7500051"/>
            <a:ext cx="825794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tx1"/>
                </a:solidFill>
                <a:latin typeface="T-Sans" pitchFamily="2" charset="77"/>
                <a:ea typeface="T-Sans" pitchFamily="2" charset="77"/>
              </a:rPr>
              <a:t>Преподавание</a:t>
            </a:r>
          </a:p>
          <a:p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Буду вести у вас семинары, а у некоторых – принимать ДЗ </a:t>
            </a: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T-Sans" pitchFamily="2" charset="77"/>
                <a:ea typeface="T-Sans" pitchFamily="2" charset="77"/>
              </a:rPr>
              <a:t>:)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T-Sans" pitchFamily="2" charset="77"/>
              <a:ea typeface="T-Sans" pitchFamily="2" charset="77"/>
            </a:endParaRPr>
          </a:p>
        </p:txBody>
      </p:sp>
      <p:pic>
        <p:nvPicPr>
          <p:cNvPr id="29" name="object 10">
            <a:extLst>
              <a:ext uri="{FF2B5EF4-FFF2-40B4-BE49-F238E27FC236}">
                <a16:creationId xmlns:a16="http://schemas.microsoft.com/office/drawing/2014/main" id="{E7C36453-0C2A-5D1C-1000-5243D09EDAB3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107488" y="7500051"/>
            <a:ext cx="898582" cy="65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20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AA98BD8C-548C-B295-39B1-38D21A77F8D2}"/>
              </a:ext>
            </a:extLst>
          </p:cNvPr>
          <p:cNvSpPr/>
          <p:nvPr/>
        </p:nvSpPr>
        <p:spPr>
          <a:xfrm>
            <a:off x="10017425" y="7383650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3</a:t>
            </a:fld>
            <a:endParaRPr lang="ru-RU" dirty="0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D269E35-EB7C-C2AE-EE21-D723F84019AD}"/>
              </a:ext>
            </a:extLst>
          </p:cNvPr>
          <p:cNvSpPr/>
          <p:nvPr/>
        </p:nvSpPr>
        <p:spPr>
          <a:xfrm>
            <a:off x="18389388" y="9719137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4666AEF0-B42A-5BA1-0A55-804C0EEB1806}"/>
              </a:ext>
            </a:extLst>
          </p:cNvPr>
          <p:cNvSpPr/>
          <p:nvPr/>
        </p:nvSpPr>
        <p:spPr>
          <a:xfrm>
            <a:off x="10017425" y="4008662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9231803-DA31-6264-E844-EEAB25DDCFE5}"/>
              </a:ext>
            </a:extLst>
          </p:cNvPr>
          <p:cNvSpPr/>
          <p:nvPr/>
        </p:nvSpPr>
        <p:spPr>
          <a:xfrm>
            <a:off x="18389388" y="6343279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494AA5DF-033D-383C-2177-FF599154D94F}"/>
              </a:ext>
            </a:extLst>
          </p:cNvPr>
          <p:cNvSpPr/>
          <p:nvPr/>
        </p:nvSpPr>
        <p:spPr>
          <a:xfrm>
            <a:off x="10017425" y="632805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6354EF4-B4D4-D7A0-6739-B96F7E193D06}"/>
              </a:ext>
            </a:extLst>
          </p:cNvPr>
          <p:cNvSpPr/>
          <p:nvPr/>
        </p:nvSpPr>
        <p:spPr>
          <a:xfrm>
            <a:off x="18389388" y="2967422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C75C0F2A-3523-B35C-464F-6A38394FEC56}"/>
              </a:ext>
            </a:extLst>
          </p:cNvPr>
          <p:cNvSpPr/>
          <p:nvPr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2500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0A3B1-437F-7215-DE4A-0C9EA35F4867}"/>
              </a:ext>
            </a:extLst>
          </p:cNvPr>
          <p:cNvSpPr txBox="1"/>
          <p:nvPr/>
        </p:nvSpPr>
        <p:spPr>
          <a:xfrm>
            <a:off x="1366167" y="1264476"/>
            <a:ext cx="7826799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Что нас с вами ждет в ближайшее время?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A6602-F341-4E73-FAE8-E35CA6502199}"/>
              </a:ext>
            </a:extLst>
          </p:cNvPr>
          <p:cNvSpPr txBox="1"/>
          <p:nvPr/>
        </p:nvSpPr>
        <p:spPr>
          <a:xfrm>
            <a:off x="10637160" y="765867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Формат занятий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59DDEF-55F0-5988-C3D2-F906B69F5E35}"/>
              </a:ext>
            </a:extLst>
          </p:cNvPr>
          <p:cNvSpPr txBox="1"/>
          <p:nvPr/>
        </p:nvSpPr>
        <p:spPr>
          <a:xfrm>
            <a:off x="10637159" y="1379274"/>
            <a:ext cx="7193640" cy="168251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Каждую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среду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в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19:00</a:t>
            </a:r>
            <a:endParaRPr lang="ru-RU" dirty="0">
              <a:solidFill>
                <a:schemeClr val="bg1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Онлайн-встречи в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Толке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(ссылочка у вас уже есть)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Будет как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теория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, так и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практика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, поэтому хорошо бы иметь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ПК под рукой</a:t>
            </a:r>
            <a:endParaRPr lang="ru-RU" b="1" dirty="0">
              <a:solidFill>
                <a:schemeClr val="bg1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96D1CA-4723-F576-C7C4-3F9428982711}"/>
              </a:ext>
            </a:extLst>
          </p:cNvPr>
          <p:cNvSpPr txBox="1"/>
          <p:nvPr/>
        </p:nvSpPr>
        <p:spPr>
          <a:xfrm>
            <a:off x="10637159" y="4241264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Программа занятий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E6DE3-81B8-F7E7-AED0-0063E81C010F}"/>
              </a:ext>
            </a:extLst>
          </p:cNvPr>
          <p:cNvSpPr txBox="1"/>
          <p:nvPr/>
        </p:nvSpPr>
        <p:spPr>
          <a:xfrm>
            <a:off x="10637158" y="4968215"/>
            <a:ext cx="6979617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В этом семестре — только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ванильная </a:t>
            </a:r>
            <a:r>
              <a:rPr lang="en-GB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Java</a:t>
            </a:r>
            <a:b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</a:b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Всеми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л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юбимый </a:t>
            </a:r>
            <a:r>
              <a:rPr lang="en-GB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Spring</a:t>
            </a:r>
            <a:r>
              <a:rPr lang="en-GB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начнется во 2-м семестре</a:t>
            </a:r>
            <a:r>
              <a:rPr lang="en-US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…</a:t>
            </a:r>
            <a:endParaRPr lang="en-GB" dirty="0">
              <a:solidFill>
                <a:schemeClr val="bg1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Начнем с базы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в виде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ООП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и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ФП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и дойдем до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многопоточности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и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сетевого взаимодействия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FA5F6-14AF-41AE-411F-B0FAF564910A}"/>
              </a:ext>
            </a:extLst>
          </p:cNvPr>
          <p:cNvSpPr txBox="1"/>
          <p:nvPr/>
        </p:nvSpPr>
        <p:spPr>
          <a:xfrm>
            <a:off x="10639209" y="7616500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Проект и сопромат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27B36-9105-B370-49AA-E9DD714C5EFF}"/>
              </a:ext>
            </a:extLst>
          </p:cNvPr>
          <p:cNvSpPr txBox="1"/>
          <p:nvPr/>
        </p:nvSpPr>
        <p:spPr>
          <a:xfrm>
            <a:off x="10637159" y="8256251"/>
            <a:ext cx="7634454" cy="22159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" sz="2400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Совместная разработка реального </a:t>
            </a:r>
            <a:r>
              <a:rPr lang="ru" sz="2400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проекта - </a:t>
            </a:r>
            <a:r>
              <a:rPr lang="ru" sz="2400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CLI-утилиты </a:t>
            </a:r>
            <a:r>
              <a:rPr lang="ru" sz="2400" b="1" u="sng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Market Pulse</a:t>
            </a:r>
            <a:r>
              <a:rPr lang="en-US" sz="2400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,</a:t>
            </a:r>
            <a:r>
              <a:rPr lang="ru-RU" sz="2400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который можно будет добавить в собственную копилку </a:t>
            </a:r>
            <a:r>
              <a:rPr lang="en-US" sz="2400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pet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-проектов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!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К каждому семинару будут </a:t>
            </a:r>
            <a:r>
              <a:rPr lang="ru-RU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сопроводительные материалы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для углубления ваших познаний по теме занятия!</a:t>
            </a:r>
            <a:endParaRPr lang="ru-RU" dirty="0">
              <a:solidFill>
                <a:schemeClr val="bg1"/>
              </a:solidFill>
              <a:latin typeface="T-Sans" pitchFamily="2" charset="77"/>
              <a:ea typeface="T-Sans" pitchFamily="2" charset="77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CD54DA-6693-2054-3E9F-4CC3B1136D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94"/>
          <a:stretch/>
        </p:blipFill>
        <p:spPr>
          <a:xfrm>
            <a:off x="2182524" y="4293209"/>
            <a:ext cx="7571187" cy="6208041"/>
          </a:xfrm>
          <a:custGeom>
            <a:avLst/>
            <a:gdLst>
              <a:gd name="connsiteX0" fmla="*/ 0 w 7571187"/>
              <a:gd name="connsiteY0" fmla="*/ 0 h 6208041"/>
              <a:gd name="connsiteX1" fmla="*/ 7571187 w 7571187"/>
              <a:gd name="connsiteY1" fmla="*/ 0 h 6208041"/>
              <a:gd name="connsiteX2" fmla="*/ 7571187 w 7571187"/>
              <a:gd name="connsiteY2" fmla="*/ 5693043 h 6208041"/>
              <a:gd name="connsiteX3" fmla="*/ 7056189 w 7571187"/>
              <a:gd name="connsiteY3" fmla="*/ 6208041 h 6208041"/>
              <a:gd name="connsiteX4" fmla="*/ 0 w 7571187"/>
              <a:gd name="connsiteY4" fmla="*/ 6208041 h 6208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1187" h="6208041">
                <a:moveTo>
                  <a:pt x="0" y="0"/>
                </a:moveTo>
                <a:lnTo>
                  <a:pt x="7571187" y="0"/>
                </a:lnTo>
                <a:lnTo>
                  <a:pt x="7571187" y="5693043"/>
                </a:lnTo>
                <a:cubicBezTo>
                  <a:pt x="7571187" y="5977469"/>
                  <a:pt x="7340615" y="6208041"/>
                  <a:pt x="7056189" y="6208041"/>
                </a:cubicBezTo>
                <a:lnTo>
                  <a:pt x="0" y="6208041"/>
                </a:lnTo>
                <a:close/>
              </a:path>
            </a:pathLst>
          </a:custGeom>
        </p:spPr>
      </p:pic>
      <p:pic>
        <p:nvPicPr>
          <p:cNvPr id="4" name="Google Shape;77;p16" descr="фон должен быть чисто белым, не серым">
            <a:extLst>
              <a:ext uri="{FF2B5EF4-FFF2-40B4-BE49-F238E27FC236}">
                <a16:creationId xmlns:a16="http://schemas.microsoft.com/office/drawing/2014/main" id="{3731BF20-29AE-D605-5E24-12119CD398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5719">
            <a:off x="7813819" y="7032822"/>
            <a:ext cx="1916710" cy="1394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910620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C87BDE-9B96-5A50-F406-56B7CDF42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0291" y="35525"/>
            <a:ext cx="899009" cy="1042305"/>
          </a:xfrm>
          <a:prstGeom prst="rect">
            <a:avLst/>
          </a:prstGeom>
        </p:spPr>
      </p:pic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D6FFDE2B-DA71-583B-A04B-5DD0BC689DB1}"/>
              </a:ext>
            </a:extLst>
          </p:cNvPr>
          <p:cNvSpPr/>
          <p:nvPr/>
        </p:nvSpPr>
        <p:spPr>
          <a:xfrm>
            <a:off x="6882375" y="6551613"/>
            <a:ext cx="6048376" cy="3956812"/>
          </a:xfrm>
          <a:prstGeom prst="roundRect">
            <a:avLst>
              <a:gd name="adj" fmla="val 1273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55" name="Скругленный прямоугольник 54">
            <a:extLst>
              <a:ext uri="{FF2B5EF4-FFF2-40B4-BE49-F238E27FC236}">
                <a16:creationId xmlns:a16="http://schemas.microsoft.com/office/drawing/2014/main" id="{3AF59F0C-6459-E81C-BF66-F9B57ADA1807}"/>
              </a:ext>
            </a:extLst>
          </p:cNvPr>
          <p:cNvSpPr/>
          <p:nvPr/>
        </p:nvSpPr>
        <p:spPr>
          <a:xfrm>
            <a:off x="625010" y="6551613"/>
            <a:ext cx="6048376" cy="3956812"/>
          </a:xfrm>
          <a:prstGeom prst="roundRect">
            <a:avLst>
              <a:gd name="adj" fmla="val 1273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DBA74EF-13A2-C541-34F0-E25C8EC7276A}"/>
              </a:ext>
            </a:extLst>
          </p:cNvPr>
          <p:cNvSpPr/>
          <p:nvPr/>
        </p:nvSpPr>
        <p:spPr>
          <a:xfrm>
            <a:off x="13139739" y="6551613"/>
            <a:ext cx="6048376" cy="3956812"/>
          </a:xfrm>
          <a:prstGeom prst="roundRect">
            <a:avLst>
              <a:gd name="adj" fmla="val 12737"/>
            </a:avLst>
          </a:prstGeo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8509440-1752-17F2-9789-04C10FF531AF}"/>
              </a:ext>
            </a:extLst>
          </p:cNvPr>
          <p:cNvSpPr/>
          <p:nvPr/>
        </p:nvSpPr>
        <p:spPr>
          <a:xfrm>
            <a:off x="611187" y="668235"/>
            <a:ext cx="18576925" cy="5660263"/>
          </a:xfrm>
          <a:prstGeom prst="roundRect">
            <a:avLst>
              <a:gd name="adj" fmla="val 8585"/>
            </a:avLst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7DC0A-8110-AEFD-F640-D39B823E5311}"/>
              </a:ext>
            </a:extLst>
          </p:cNvPr>
          <p:cNvSpPr txBox="1"/>
          <p:nvPr/>
        </p:nvSpPr>
        <p:spPr>
          <a:xfrm>
            <a:off x="1207066" y="2453455"/>
            <a:ext cx="8146210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Как мы с вами будем общаться?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6EFE82-EEB1-9CF7-6304-C7487C69C6AD}"/>
              </a:ext>
            </a:extLst>
          </p:cNvPr>
          <p:cNvSpPr txBox="1"/>
          <p:nvPr/>
        </p:nvSpPr>
        <p:spPr>
          <a:xfrm>
            <a:off x="1207066" y="4527477"/>
            <a:ext cx="9906000" cy="3893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Что же делать, если у вас возникнут вопросы? А они обязательно возникнут</a:t>
            </a:r>
            <a:r>
              <a:rPr lang="en-US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…</a:t>
            </a:r>
            <a:endParaRPr lang="ru-RU" dirty="0">
              <a:solidFill>
                <a:schemeClr val="bg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CCACCB-3587-4D94-62DB-1E3A3EFE4804}"/>
              </a:ext>
            </a:extLst>
          </p:cNvPr>
          <p:cNvSpPr txBox="1"/>
          <p:nvPr/>
        </p:nvSpPr>
        <p:spPr>
          <a:xfrm>
            <a:off x="7462044" y="7669499"/>
            <a:ext cx="4716462" cy="192360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●"/>
            </a:pPr>
            <a:r>
              <a:rPr lang="ru-RU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Группа в </a:t>
            </a:r>
            <a:r>
              <a:rPr lang="en-GB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Telegram</a:t>
            </a:r>
            <a:r>
              <a:rPr lang="en-GB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— </a:t>
            </a:r>
            <a:r>
              <a:rPr lang="ru-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анонсы, вопросы и опросы, </a:t>
            </a:r>
            <a:r>
              <a:rPr lang="ru-RU" sz="2400" b="0" strike="sngStrike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розыгрыши и </a:t>
            </a:r>
            <a:r>
              <a:rPr lang="ru-RU" sz="2400" b="0" strike="sngStrike" dirty="0" err="1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гивы</a:t>
            </a:r>
            <a:r>
              <a:rPr lang="ru-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, и полезные ссылки</a:t>
            </a:r>
          </a:p>
          <a:p>
            <a:pPr marL="457200" lvl="0" indent="-301625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333333"/>
              </a:buClr>
              <a:buSzPts val="1150"/>
              <a:buFont typeface="Arial"/>
              <a:buChar char="●"/>
            </a:pPr>
            <a:r>
              <a:rPr lang="ru-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Личные вопросы можно писать мне в ТГ: </a:t>
            </a:r>
            <a:r>
              <a:rPr lang="en-US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@</a:t>
            </a:r>
            <a:r>
              <a:rPr lang="en-US" sz="2400" b="1" dirty="0" err="1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skhvatov</a:t>
            </a:r>
            <a:endParaRPr lang="ru-RU" sz="2400" b="0" dirty="0">
              <a:solidFill>
                <a:srgbClr val="333333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0B1E09-B8D7-1B5B-E370-61C0C8E5082A}"/>
              </a:ext>
            </a:extLst>
          </p:cNvPr>
          <p:cNvSpPr txBox="1"/>
          <p:nvPr/>
        </p:nvSpPr>
        <p:spPr>
          <a:xfrm>
            <a:off x="7462044" y="705298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В </a:t>
            </a:r>
            <a:r>
              <a:rPr lang="ru-RU" sz="3200" dirty="0" err="1">
                <a:latin typeface="T-Sans Medium" pitchFamily="2" charset="0"/>
                <a:ea typeface="T-Sans" pitchFamily="2" charset="0"/>
              </a:rPr>
              <a:t>офлайне</a:t>
            </a:r>
            <a:endParaRPr lang="ru-RU" sz="32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0CA157-B7EC-C0A5-3DA6-8FA1A2C97007}"/>
              </a:ext>
            </a:extLst>
          </p:cNvPr>
          <p:cNvSpPr txBox="1"/>
          <p:nvPr/>
        </p:nvSpPr>
        <p:spPr>
          <a:xfrm>
            <a:off x="13724509" y="7669499"/>
            <a:ext cx="5199135" cy="23729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Ваше мнение очень важно для нас! </a:t>
            </a:r>
          </a:p>
          <a:p>
            <a:pPr>
              <a:lnSpc>
                <a:spcPct val="13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После каждого семинара будет ссылочка на сбор ОС, и было бы замечательно, если бы вы поделились вашими впечатлениями!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AD4282-3584-A722-976D-16FA5CD3837A}"/>
              </a:ext>
            </a:extLst>
          </p:cNvPr>
          <p:cNvSpPr txBox="1"/>
          <p:nvPr/>
        </p:nvSpPr>
        <p:spPr>
          <a:xfrm>
            <a:off x="13724509" y="705298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Обратная связь!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3DDD69-1C9C-CA86-3389-87E28283104E}"/>
              </a:ext>
            </a:extLst>
          </p:cNvPr>
          <p:cNvSpPr txBox="1"/>
          <p:nvPr/>
        </p:nvSpPr>
        <p:spPr>
          <a:xfrm>
            <a:off x="1207066" y="7683330"/>
            <a:ext cx="4716462" cy="22929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lvl="0" indent="-301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●"/>
            </a:pPr>
            <a:r>
              <a:rPr lang="ru-RU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Вопросы всегда можно писать в </a:t>
            </a:r>
            <a:r>
              <a:rPr lang="ru-RU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чат </a:t>
            </a:r>
            <a:r>
              <a:rPr lang="ru-RU" b="1" dirty="0">
                <a:latin typeface="T-Sans" pitchFamily="2" charset="77"/>
                <a:ea typeface="T-Sans" pitchFamily="2" charset="77"/>
                <a:cs typeface="Arial"/>
                <a:sym typeface="Arial"/>
              </a:rPr>
              <a:t>в Толке</a:t>
            </a:r>
            <a:endParaRPr lang="ru-RU" b="0" dirty="0">
              <a:solidFill>
                <a:srgbClr val="333333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  <a:p>
            <a:pPr marL="457200" lvl="0" indent="-3016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Arial"/>
              <a:buChar char="●"/>
            </a:pPr>
            <a:r>
              <a:rPr lang="ru-RU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Хотите что-то спросить или сказать голосом? </a:t>
            </a:r>
            <a:r>
              <a:rPr lang="ru-RU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Поднимите руку</a:t>
            </a:r>
            <a:r>
              <a:rPr lang="ru-RU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в Толке и дождитесь, когда слово передадут вам!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8F3CE8-9E07-A4A0-5EF2-CF65E176A7A6}"/>
              </a:ext>
            </a:extLst>
          </p:cNvPr>
          <p:cNvSpPr txBox="1"/>
          <p:nvPr/>
        </p:nvSpPr>
        <p:spPr>
          <a:xfrm>
            <a:off x="1207066" y="7052984"/>
            <a:ext cx="4875212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На семинаре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15EC8639-264A-6E40-C9A2-BB7ED3DE6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70986" y="9649465"/>
            <a:ext cx="720000" cy="7200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B90DAAC0-77B5-82F2-A044-5E424CEAF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28350" y="9649465"/>
            <a:ext cx="720000" cy="72000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B842E349-9369-A6B4-3BA7-8937DF359B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03644" y="9649465"/>
            <a:ext cx="720000" cy="720000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8422A33C-FC3B-7755-9043-C835405739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4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991576-4F95-002E-224F-FE5B3C7B1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5460" y="935977"/>
            <a:ext cx="5064862" cy="506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8839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8509440-1752-17F2-9789-04C10FF531AF}"/>
              </a:ext>
            </a:extLst>
          </p:cNvPr>
          <p:cNvSpPr/>
          <p:nvPr/>
        </p:nvSpPr>
        <p:spPr>
          <a:xfrm>
            <a:off x="611187" y="651700"/>
            <a:ext cx="18576925" cy="5660263"/>
          </a:xfrm>
          <a:prstGeom prst="roundRect">
            <a:avLst>
              <a:gd name="adj" fmla="val 8585"/>
            </a:avLst>
          </a:prstGeom>
          <a:gradFill>
            <a:gsLst>
              <a:gs pos="2500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06294A-F019-4899-C19E-AF4E18B8B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306" y="953624"/>
            <a:ext cx="5038016" cy="5038016"/>
          </a:xfrm>
          <a:prstGeom prst="rect">
            <a:avLst/>
          </a:prstGeom>
        </p:spPr>
      </p:pic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B529684-05F7-95D9-1851-590B50148214}"/>
              </a:ext>
            </a:extLst>
          </p:cNvPr>
          <p:cNvSpPr/>
          <p:nvPr/>
        </p:nvSpPr>
        <p:spPr>
          <a:xfrm>
            <a:off x="611187" y="6551613"/>
            <a:ext cx="4464051" cy="3956812"/>
          </a:xfrm>
          <a:prstGeom prst="roundRect">
            <a:avLst>
              <a:gd name="adj" fmla="val 12284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9E855791-80C2-D9FD-E059-B5BBF6DED834}"/>
              </a:ext>
            </a:extLst>
          </p:cNvPr>
          <p:cNvSpPr/>
          <p:nvPr/>
        </p:nvSpPr>
        <p:spPr>
          <a:xfrm>
            <a:off x="5315479" y="6551613"/>
            <a:ext cx="4464051" cy="3956812"/>
          </a:xfrm>
          <a:prstGeom prst="roundRect">
            <a:avLst>
              <a:gd name="adj" fmla="val 12284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ADBA74EF-13A2-C541-34F0-E25C8EC7276A}"/>
              </a:ext>
            </a:extLst>
          </p:cNvPr>
          <p:cNvSpPr/>
          <p:nvPr/>
        </p:nvSpPr>
        <p:spPr>
          <a:xfrm>
            <a:off x="10019771" y="6551613"/>
            <a:ext cx="4464051" cy="3956812"/>
          </a:xfrm>
          <a:prstGeom prst="roundRect">
            <a:avLst>
              <a:gd name="adj" fmla="val 12284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3E13D2DE-8AC9-23F1-5B32-44EE61CCE645}"/>
              </a:ext>
            </a:extLst>
          </p:cNvPr>
          <p:cNvSpPr/>
          <p:nvPr/>
        </p:nvSpPr>
        <p:spPr>
          <a:xfrm>
            <a:off x="14724064" y="6551613"/>
            <a:ext cx="4464051" cy="3956812"/>
          </a:xfrm>
          <a:prstGeom prst="roundRect">
            <a:avLst>
              <a:gd name="adj" fmla="val 12284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704D5FBB-382D-7D48-7B9A-47187059D814}"/>
              </a:ext>
            </a:extLst>
          </p:cNvPr>
          <p:cNvSpPr/>
          <p:nvPr/>
        </p:nvSpPr>
        <p:spPr>
          <a:xfrm>
            <a:off x="976972" y="6871438"/>
            <a:ext cx="1932867" cy="5983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Native Java</a:t>
            </a:r>
            <a:endParaRPr lang="ru-RU" sz="2200" dirty="0">
              <a:solidFill>
                <a:schemeClr val="tx2">
                  <a:lumMod val="50000"/>
                </a:schemeClr>
              </a:solidFill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9" name="Скругленный прямоугольник 28">
            <a:extLst>
              <a:ext uri="{FF2B5EF4-FFF2-40B4-BE49-F238E27FC236}">
                <a16:creationId xmlns:a16="http://schemas.microsoft.com/office/drawing/2014/main" id="{5264E601-7681-4A55-2E2D-80B8C802819A}"/>
              </a:ext>
            </a:extLst>
          </p:cNvPr>
          <p:cNvSpPr/>
          <p:nvPr/>
        </p:nvSpPr>
        <p:spPr>
          <a:xfrm>
            <a:off x="5664735" y="6871438"/>
            <a:ext cx="3551545" cy="5983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Real Time Programming</a:t>
            </a:r>
            <a:endParaRPr lang="ru-RU" sz="2200" dirty="0">
              <a:solidFill>
                <a:schemeClr val="tx2">
                  <a:lumMod val="50000"/>
                </a:schemeClr>
              </a:solidFill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31" name="Скругленный прямоугольник 30">
            <a:extLst>
              <a:ext uri="{FF2B5EF4-FFF2-40B4-BE49-F238E27FC236}">
                <a16:creationId xmlns:a16="http://schemas.microsoft.com/office/drawing/2014/main" id="{E9F545F1-706C-4FD8-7AD4-9918A2ED3ECF}"/>
              </a:ext>
            </a:extLst>
          </p:cNvPr>
          <p:cNvSpPr/>
          <p:nvPr/>
        </p:nvSpPr>
        <p:spPr>
          <a:xfrm>
            <a:off x="10402122" y="6871438"/>
            <a:ext cx="3051231" cy="5983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Реальный продукт</a:t>
            </a:r>
          </a:p>
        </p:txBody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808672C8-A9B7-369A-59B1-CFB49980C320}"/>
              </a:ext>
            </a:extLst>
          </p:cNvPr>
          <p:cNvSpPr/>
          <p:nvPr/>
        </p:nvSpPr>
        <p:spPr>
          <a:xfrm>
            <a:off x="15077640" y="6871438"/>
            <a:ext cx="2714249" cy="5983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144000" tIns="45719" rIns="144000" bIns="45719" numCol="1" spcCol="38100" rtlCol="0" anchor="ctr">
            <a:noAutofit/>
          </a:bodyPr>
          <a:lstStyle/>
          <a:p>
            <a:pPr defTabSz="457200"/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 Medium" pitchFamily="2" charset="0"/>
                <a:ea typeface="T-Sans" pitchFamily="2" charset="0"/>
              </a:rPr>
              <a:t>Проект в копилку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9AA7E33-136C-71CE-A762-38E46E379854}"/>
              </a:ext>
            </a:extLst>
          </p:cNvPr>
          <p:cNvSpPr txBox="1"/>
          <p:nvPr/>
        </p:nvSpPr>
        <p:spPr>
          <a:xfrm>
            <a:off x="976972" y="7709396"/>
            <a:ext cx="3721488" cy="2420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Познакомимся с основными функциональными возможностями языка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, </a:t>
            </a: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углубим свои познания, а также поработаем со стандартной и множеством других библиотек!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149031-81D8-06C6-ED2F-4F61477E60FE}"/>
              </a:ext>
            </a:extLst>
          </p:cNvPr>
          <p:cNvSpPr txBox="1"/>
          <p:nvPr/>
        </p:nvSpPr>
        <p:spPr>
          <a:xfrm>
            <a:off x="5664735" y="7552640"/>
            <a:ext cx="3688541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Уникальная возможность посмотреть на процесс разработки в реальном времени!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F98FDA-3821-37DC-6346-E1721FDD0987}"/>
              </a:ext>
            </a:extLst>
          </p:cNvPr>
          <p:cNvSpPr txBox="1"/>
          <p:nvPr/>
        </p:nvSpPr>
        <p:spPr>
          <a:xfrm>
            <a:off x="10402122" y="7586594"/>
            <a:ext cx="3551545" cy="2420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Не просто еще один образовательный проект, где ООП рассматривается на примерах кошечек и собачек, а жесткий и безжалостный </a:t>
            </a:r>
            <a:r>
              <a:rPr lang="ru-RU" sz="2200" dirty="0" err="1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финтех</a:t>
            </a: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26F54EC-C6E2-D11F-EA03-5F4FE72EA6F7}"/>
              </a:ext>
            </a:extLst>
          </p:cNvPr>
          <p:cNvSpPr txBox="1"/>
          <p:nvPr/>
        </p:nvSpPr>
        <p:spPr>
          <a:xfrm>
            <a:off x="15077640" y="7584468"/>
            <a:ext cx="3551545" cy="2420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20000"/>
              </a:lnSpc>
            </a:pP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Над проектом мы будем работать совместно, а это значит, что вы будете в полном праве добавить его к себе в копилку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завершенных 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pet-</a:t>
            </a:r>
            <a:r>
              <a:rPr lang="ru-RU" sz="2200" dirty="0">
                <a:solidFill>
                  <a:schemeClr val="tx2">
                    <a:lumMod val="50000"/>
                  </a:schemeClr>
                </a:solidFill>
                <a:latin typeface="T-Sans" pitchFamily="2" charset="0"/>
                <a:ea typeface="T-Sans" pitchFamily="2" charset="0"/>
              </a:rPr>
              <a:t>проектов!</a:t>
            </a:r>
          </a:p>
        </p:txBody>
      </p:sp>
      <p:sp>
        <p:nvSpPr>
          <p:cNvPr id="4" name="Номер слайда">
            <a:extLst>
              <a:ext uri="{FF2B5EF4-FFF2-40B4-BE49-F238E27FC236}">
                <a16:creationId xmlns:a16="http://schemas.microsoft.com/office/drawing/2014/main" id="{AD8A5A23-31E7-289E-67FB-9C74B68612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5</a:t>
            </a:fld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491CBA-D103-2B54-DA1C-A7C54B4FDFE2}"/>
              </a:ext>
            </a:extLst>
          </p:cNvPr>
          <p:cNvSpPr txBox="1"/>
          <p:nvPr/>
        </p:nvSpPr>
        <p:spPr>
          <a:xfrm>
            <a:off x="1207066" y="2453455"/>
            <a:ext cx="8146210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Market Pulse</a:t>
            </a:r>
            <a:endParaRPr lang="ru-RU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9700B-3105-6975-FEBE-1C7A64382C2F}"/>
              </a:ext>
            </a:extLst>
          </p:cNvPr>
          <p:cNvSpPr txBox="1"/>
          <p:nvPr/>
        </p:nvSpPr>
        <p:spPr>
          <a:xfrm>
            <a:off x="1207066" y="1618234"/>
            <a:ext cx="5368832" cy="473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Кратко, без спойлеров, про проект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E7A50-FABF-5269-0158-02BBE1516466}"/>
              </a:ext>
            </a:extLst>
          </p:cNvPr>
          <p:cNvSpPr txBox="1"/>
          <p:nvPr/>
        </p:nvSpPr>
        <p:spPr>
          <a:xfrm>
            <a:off x="1207066" y="4527477"/>
            <a:ext cx="9906000" cy="12018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Давайте поможем Сереже (</a:t>
            </a:r>
            <a:r>
              <a:rPr lang="ru-RU" strike="sngStrike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то есть мне</a:t>
            </a:r>
            <a:r>
              <a:rPr lang="ru-RU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) написать </a:t>
            </a:r>
            <a:r>
              <a:rPr lang="en-US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CLI-</a:t>
            </a:r>
            <a:r>
              <a:rPr lang="ru-RU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утилиту для отслеживания сигналов на бирже, чтобы он (</a:t>
            </a:r>
            <a:r>
              <a:rPr lang="ru-RU" strike="sngStrike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то есть я</a:t>
            </a:r>
            <a:r>
              <a:rPr lang="ru-RU" dirty="0">
                <a:solidFill>
                  <a:schemeClr val="accent4"/>
                </a:solidFill>
                <a:latin typeface="T-Sans" pitchFamily="2" charset="0"/>
                <a:ea typeface="T-Sans" pitchFamily="2" charset="0"/>
              </a:rPr>
              <a:t>) знал, когда же ему покупать, а когда продавать акции Илона Макса!?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F18340-C9B2-03AC-4CC9-2B7F5C55C9BF}"/>
              </a:ext>
            </a:extLst>
          </p:cNvPr>
          <p:cNvSpPr txBox="1"/>
          <p:nvPr/>
        </p:nvSpPr>
        <p:spPr>
          <a:xfrm>
            <a:off x="9601989" y="10869368"/>
            <a:ext cx="1024414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О функциональных возможностях и душераздирающей истории Сережи можно узнать в файлах проекта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…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0120766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4456678"/>
            <a:ext cx="8644611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А как попасть на собеседование?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590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7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ООП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834621" y="3405166"/>
            <a:ext cx="16504847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Зло, добро или нечто посередине?</a:t>
            </a:r>
          </a:p>
        </p:txBody>
      </p:sp>
    </p:spTree>
    <p:extLst>
      <p:ext uri="{BB962C8B-B14F-4D97-AF65-F5344CB8AC3E}">
        <p14:creationId xmlns:p14="http://schemas.microsoft.com/office/powerpoint/2010/main" val="188296363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720D4-8099-37D5-3EF0-405D50B69558}"/>
              </a:ext>
            </a:extLst>
          </p:cNvPr>
          <p:cNvSpPr txBox="1"/>
          <p:nvPr/>
        </p:nvSpPr>
        <p:spPr>
          <a:xfrm>
            <a:off x="1366838" y="1281402"/>
            <a:ext cx="8146210" cy="12865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Что такое ООП?</a:t>
            </a:r>
          </a:p>
          <a:p>
            <a:r>
              <a:rPr lang="ru-RU" sz="3200" dirty="0">
                <a:latin typeface="T-Sans" pitchFamily="2" charset="0"/>
                <a:ea typeface="T-Sans" pitchFamily="2" charset="0"/>
              </a:rPr>
              <a:t>И с чем его едят?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A05AA-27DD-1E4A-1538-15B1D54FDA5A}"/>
              </a:ext>
            </a:extLst>
          </p:cNvPr>
          <p:cNvSpPr txBox="1"/>
          <p:nvPr/>
        </p:nvSpPr>
        <p:spPr>
          <a:xfrm>
            <a:off x="1366838" y="2998554"/>
            <a:ext cx="6492182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ООП</a:t>
            </a:r>
            <a:r>
              <a:rPr lang="ru-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– это парадигма, в центре которой стоят объекты, </a:t>
            </a:r>
            <a:r>
              <a:rPr lang="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объединяющие </a:t>
            </a:r>
            <a:r>
              <a:rPr lang="ru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состояние</a:t>
            </a:r>
            <a:r>
              <a:rPr lang="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(данные) и </a:t>
            </a:r>
            <a:r>
              <a:rPr lang="ru" sz="24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поведение</a:t>
            </a:r>
            <a:r>
              <a:rPr lang="ru" sz="24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(методы, работающие с этими данными).</a:t>
            </a:r>
            <a:endParaRPr lang="ru-RU" sz="2400" b="0" dirty="0">
              <a:solidFill>
                <a:srgbClr val="333333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8CBE18-DF12-26C9-E5E9-D5FED1A7ED75}"/>
              </a:ext>
            </a:extLst>
          </p:cNvPr>
          <p:cNvSpPr txBox="1"/>
          <p:nvPr/>
        </p:nvSpPr>
        <p:spPr>
          <a:xfrm>
            <a:off x="10446026" y="1094676"/>
            <a:ext cx="361744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" sz="32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Инкапсуляция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FF81E-5B7B-C2E5-8137-F115D18BF37B}"/>
              </a:ext>
            </a:extLst>
          </p:cNvPr>
          <p:cNvSpPr txBox="1"/>
          <p:nvPr/>
        </p:nvSpPr>
        <p:spPr>
          <a:xfrm>
            <a:off x="10446026" y="1798467"/>
            <a:ext cx="3379702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Это сокрытие деталей реализации и данных от внешнего пользователя для безопасности и простоты</a:t>
            </a:r>
            <a:r>
              <a:rPr lang="en-US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</a:t>
            </a:r>
            <a:r>
              <a:rPr lang="ru-RU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как разработки, так и использования.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8A965-FC8B-B470-CF81-D39807DCDE39}"/>
              </a:ext>
            </a:extLst>
          </p:cNvPr>
          <p:cNvSpPr txBox="1"/>
          <p:nvPr/>
        </p:nvSpPr>
        <p:spPr>
          <a:xfrm>
            <a:off x="15200906" y="1094676"/>
            <a:ext cx="361744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b="1" dirty="0">
                <a:latin typeface="T-Sans Medium" pitchFamily="2" charset="0"/>
                <a:ea typeface="T-Sans" pitchFamily="2" charset="0"/>
              </a:rPr>
              <a:t>Наследование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E210F-8F28-87E0-9BD3-96CB7D25EBBF}"/>
              </a:ext>
            </a:extLst>
          </p:cNvPr>
          <p:cNvSpPr txBox="1"/>
          <p:nvPr/>
        </p:nvSpPr>
        <p:spPr>
          <a:xfrm>
            <a:off x="15200906" y="1798466"/>
            <a:ext cx="3379702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Это возможность </a:t>
            </a:r>
            <a:r>
              <a:rPr lang="ru-RU" dirty="0" err="1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п</a:t>
            </a:r>
            <a:r>
              <a:rPr lang="ru-RU" b="0" dirty="0" err="1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ереиспользования</a:t>
            </a:r>
            <a:r>
              <a:rPr lang="ru-RU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готового кода и построения иерархий от общего к частному.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3948A-11AB-5B82-B324-55F46536CA96}"/>
              </a:ext>
            </a:extLst>
          </p:cNvPr>
          <p:cNvSpPr txBox="1"/>
          <p:nvPr/>
        </p:nvSpPr>
        <p:spPr>
          <a:xfrm>
            <a:off x="10446026" y="6813090"/>
            <a:ext cx="3379702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Это возможность работы с разными типами данных через единый общий интерфейс.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279D45C-E6A6-4B32-5C08-70D8E26E1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0395" y="4687809"/>
            <a:ext cx="565727" cy="57727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E9C7B4A-2505-7110-2BCB-FF7A47C7E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4181" y="4692892"/>
            <a:ext cx="524794" cy="5247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E27001A-586A-43C3-8CFA-AF6021FD1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0198" y="9762711"/>
            <a:ext cx="524794" cy="52479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ACFA3D37-0CD5-F9B9-6120-2B20966F63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0987" y="9762711"/>
            <a:ext cx="524794" cy="524794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96A7A5C-5D2E-D228-F5A4-40733A7E93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8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50D2E5-0530-D03D-4FE0-26DC3163969B}"/>
              </a:ext>
            </a:extLst>
          </p:cNvPr>
          <p:cNvSpPr txBox="1"/>
          <p:nvPr/>
        </p:nvSpPr>
        <p:spPr>
          <a:xfrm>
            <a:off x="10446026" y="6152920"/>
            <a:ext cx="361744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" sz="32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Полиморфизм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19" name="Рисунок 5">
            <a:extLst>
              <a:ext uri="{FF2B5EF4-FFF2-40B4-BE49-F238E27FC236}">
                <a16:creationId xmlns:a16="http://schemas.microsoft.com/office/drawing/2014/main" id="{8C13326C-B7EA-15AA-F9D9-B9CEF0BE2169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297"/>
          <a:stretch/>
        </p:blipFill>
        <p:spPr>
          <a:xfrm>
            <a:off x="1580875" y="5630795"/>
            <a:ext cx="7772400" cy="4881630"/>
          </a:xfrm>
          <a:prstGeom prst="rect">
            <a:avLst/>
          </a:prstGeom>
        </p:spPr>
      </p:pic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2E3AD89-5144-1D63-294F-DC6C2DE43283}"/>
              </a:ext>
            </a:extLst>
          </p:cNvPr>
          <p:cNvSpPr/>
          <p:nvPr/>
        </p:nvSpPr>
        <p:spPr>
          <a:xfrm>
            <a:off x="14594025" y="5600724"/>
            <a:ext cx="4734808" cy="4993575"/>
          </a:xfrm>
          <a:prstGeom prst="roundRect">
            <a:avLst/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55EFB9E-6D8D-FB05-FB22-15005EDAC1A3}"/>
              </a:ext>
            </a:extLst>
          </p:cNvPr>
          <p:cNvSpPr/>
          <p:nvPr/>
        </p:nvSpPr>
        <p:spPr>
          <a:xfrm>
            <a:off x="14746425" y="5693726"/>
            <a:ext cx="4441688" cy="4818699"/>
          </a:xfrm>
          <a:prstGeom prst="roundRect">
            <a:avLst/>
          </a:prstGeom>
          <a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515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9F43314E-F14C-F7CC-5B06-5B5A73AEC27B}"/>
              </a:ext>
            </a:extLst>
          </p:cNvPr>
          <p:cNvSpPr/>
          <p:nvPr/>
        </p:nvSpPr>
        <p:spPr>
          <a:xfrm>
            <a:off x="611188" y="647700"/>
            <a:ext cx="18606887" cy="9864725"/>
          </a:xfrm>
          <a:prstGeom prst="roundRect">
            <a:avLst>
              <a:gd name="adj" fmla="val 6279"/>
            </a:avLst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0"/>
                <a:ea typeface="T-Sans" pitchFamily="2" charset="0"/>
                <a:sym typeface="Tinkoff Sans"/>
              </a:rPr>
              <a:t>t</a:t>
            </a: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D86D3EE-F3D0-BDE5-B602-3A769E74A828}"/>
              </a:ext>
            </a:extLst>
          </p:cNvPr>
          <p:cNvSpPr/>
          <p:nvPr/>
        </p:nvSpPr>
        <p:spPr>
          <a:xfrm>
            <a:off x="7866346" y="2489907"/>
            <a:ext cx="6360922" cy="6360922"/>
          </a:xfrm>
          <a:prstGeom prst="ellipse">
            <a:avLst/>
          </a:prstGeom>
          <a:noFill/>
          <a:ln w="330200" cap="flat">
            <a:gradFill>
              <a:gsLst>
                <a:gs pos="0">
                  <a:schemeClr val="accent6">
                    <a:alpha val="0"/>
                  </a:schemeClr>
                </a:gs>
                <a:gs pos="100000">
                  <a:srgbClr val="E8E8E8">
                    <a:alpha val="80000"/>
                  </a:srgbClr>
                </a:gs>
              </a:gsLst>
              <a:lin ang="2700000" scaled="0"/>
            </a:gra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22A8BB5E-F68C-3BC3-4919-BA1BB45E37FC}"/>
              </a:ext>
            </a:extLst>
          </p:cNvPr>
          <p:cNvSpPr/>
          <p:nvPr/>
        </p:nvSpPr>
        <p:spPr>
          <a:xfrm>
            <a:off x="8412547" y="3036108"/>
            <a:ext cx="5268521" cy="5268521"/>
          </a:xfrm>
          <a:prstGeom prst="ellipse">
            <a:avLst/>
          </a:prstGeom>
          <a:gradFill>
            <a:gsLst>
              <a:gs pos="84000">
                <a:srgbClr val="E4E4E4">
                  <a:alpha val="60000"/>
                </a:srgbClr>
              </a:gs>
              <a:gs pos="0">
                <a:schemeClr val="accent6">
                  <a:alpha val="20000"/>
                </a:schemeClr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180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0"/>
              <a:ea typeface="T-Sans" pitchFamily="2" charset="0"/>
              <a:sym typeface="Tinkoff 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4E2AA-DACC-D71F-B1EB-D8E0B1E68EB3}"/>
              </a:ext>
            </a:extLst>
          </p:cNvPr>
          <p:cNvSpPr txBox="1"/>
          <p:nvPr/>
        </p:nvSpPr>
        <p:spPr>
          <a:xfrm>
            <a:off x="2195513" y="2576798"/>
            <a:ext cx="7437002" cy="15727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5600" dirty="0">
                <a:latin typeface="T-Sans" pitchFamily="2" charset="0"/>
                <a:ea typeface="T-Sans" pitchFamily="2" charset="0"/>
              </a:rPr>
              <a:t>Что такое ООП с точки зрения Алана </a:t>
            </a:r>
            <a:r>
              <a:rPr lang="ru-RU" sz="5600" dirty="0" err="1">
                <a:latin typeface="T-Sans" pitchFamily="2" charset="0"/>
                <a:ea typeface="T-Sans" pitchFamily="2" charset="0"/>
              </a:rPr>
              <a:t>Кея</a:t>
            </a:r>
            <a:r>
              <a:rPr lang="ru-RU" sz="5600" dirty="0">
                <a:latin typeface="T-Sans" pitchFamily="2" charset="0"/>
                <a:ea typeface="T-Sans" pitchFamily="2" charset="0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94B4CA-BC0F-9F60-27D9-16216338E238}"/>
              </a:ext>
            </a:extLst>
          </p:cNvPr>
          <p:cNvSpPr txBox="1"/>
          <p:nvPr/>
        </p:nvSpPr>
        <p:spPr>
          <a:xfrm>
            <a:off x="2195513" y="4576724"/>
            <a:ext cx="7397205" cy="26622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Алан Кей, разработчик языка </a:t>
            </a:r>
            <a:r>
              <a:rPr lang="en-US" sz="2800" b="1" dirty="0" err="1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SmallTalk</a:t>
            </a:r>
            <a:r>
              <a:rPr lang="en-US" sz="280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,</a:t>
            </a: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рассматривал объекты не как структуры данных, а как </a:t>
            </a:r>
            <a:r>
              <a:rPr lang="ru-RU" sz="2800" b="1" dirty="0">
                <a:solidFill>
                  <a:srgbClr val="000000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живые клетки</a:t>
            </a: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, которые общаются между собой, передавая </a:t>
            </a:r>
            <a:r>
              <a:rPr lang="ru-RU" sz="2800" b="1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сообщения</a:t>
            </a: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. </a:t>
            </a:r>
            <a:endParaRPr lang="en-US" sz="2800" b="0" dirty="0">
              <a:solidFill>
                <a:srgbClr val="333333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Главная идея — </a:t>
            </a:r>
            <a:r>
              <a:rPr lang="ru-RU" sz="2800" b="1" dirty="0">
                <a:solidFill>
                  <a:srgbClr val="333333"/>
                </a:solidFill>
                <a:latin typeface="T-Sans" pitchFamily="2" charset="77"/>
                <a:ea typeface="T-Sans" pitchFamily="2" charset="77"/>
              </a:rPr>
              <a:t>изоляция</a:t>
            </a:r>
            <a:r>
              <a:rPr lang="ru-RU" sz="2800" b="0" dirty="0">
                <a:solidFill>
                  <a:srgbClr val="333333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внутренней структуры для масштабируемости.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03E8E5F-EDAA-1E54-182E-B17A007398A9}"/>
              </a:ext>
            </a:extLst>
          </p:cNvPr>
          <p:cNvSpPr/>
          <p:nvPr/>
        </p:nvSpPr>
        <p:spPr>
          <a:xfrm>
            <a:off x="11241837" y="2063576"/>
            <a:ext cx="1607648" cy="1607648"/>
          </a:xfrm>
          <a:prstGeom prst="ellipse">
            <a:avLst/>
          </a:prstGeom>
          <a:gradFill>
            <a:gsLst>
              <a:gs pos="0">
                <a:srgbClr val="E4E4E4"/>
              </a:gs>
              <a:gs pos="79500">
                <a:schemeClr val="accent5"/>
              </a:gs>
            </a:gsLst>
            <a:lin ang="3246064" scaled="1"/>
          </a:gradFill>
          <a:ln w="12700" cap="flat">
            <a:noFill/>
            <a:prstDash val="solid"/>
            <a:miter lim="800000"/>
          </a:ln>
          <a:effectLst>
            <a:outerShdw blurRad="381000" algn="ctr" rotWithShape="0">
              <a:prstClr val="black">
                <a:alpha val="4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lnSpc>
                <a:spcPts val="4600"/>
              </a:lnSpc>
            </a:pPr>
            <a:endParaRPr lang="ru-RU" sz="40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043EFFC-B761-E727-60A5-AC8344F26A9E}"/>
              </a:ext>
            </a:extLst>
          </p:cNvPr>
          <p:cNvSpPr/>
          <p:nvPr/>
        </p:nvSpPr>
        <p:spPr>
          <a:xfrm>
            <a:off x="13308631" y="4769198"/>
            <a:ext cx="1607648" cy="1607648"/>
          </a:xfrm>
          <a:prstGeom prst="ellipse">
            <a:avLst/>
          </a:prstGeom>
          <a:gradFill>
            <a:gsLst>
              <a:gs pos="0">
                <a:srgbClr val="E4E4E4"/>
              </a:gs>
              <a:gs pos="79500">
                <a:schemeClr val="accent5"/>
              </a:gs>
            </a:gsLst>
            <a:lin ang="3246064" scaled="1"/>
          </a:gradFill>
          <a:ln w="12700" cap="flat">
            <a:noFill/>
            <a:prstDash val="solid"/>
            <a:miter lim="800000"/>
          </a:ln>
          <a:effectLst>
            <a:outerShdw blurRad="381000" algn="ctr" rotWithShape="0">
              <a:prstClr val="black">
                <a:alpha val="4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lnSpc>
                <a:spcPts val="4600"/>
              </a:lnSpc>
            </a:pPr>
            <a:endParaRPr lang="ru-RU" sz="40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01332E6-EA0B-908E-B857-EAB1916BA082}"/>
              </a:ext>
            </a:extLst>
          </p:cNvPr>
          <p:cNvSpPr/>
          <p:nvPr/>
        </p:nvSpPr>
        <p:spPr>
          <a:xfrm>
            <a:off x="11655196" y="7575029"/>
            <a:ext cx="1607648" cy="1607648"/>
          </a:xfrm>
          <a:prstGeom prst="ellipse">
            <a:avLst/>
          </a:prstGeom>
          <a:gradFill>
            <a:gsLst>
              <a:gs pos="0">
                <a:srgbClr val="E4E4E4"/>
              </a:gs>
              <a:gs pos="79500">
                <a:schemeClr val="accent5"/>
              </a:gs>
            </a:gsLst>
            <a:lin ang="3246064" scaled="1"/>
          </a:gradFill>
          <a:ln w="12700" cap="flat">
            <a:noFill/>
            <a:prstDash val="solid"/>
            <a:miter lim="800000"/>
          </a:ln>
          <a:effectLst>
            <a:outerShdw blurRad="381000" algn="ctr" rotWithShape="0">
              <a:prstClr val="black">
                <a:alpha val="4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lnSpc>
                <a:spcPts val="4600"/>
              </a:lnSpc>
            </a:pPr>
            <a:endParaRPr lang="ru-RU" sz="40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2462659-E0E3-F881-142B-EB54E9687E87}"/>
              </a:ext>
            </a:extLst>
          </p:cNvPr>
          <p:cNvSpPr/>
          <p:nvPr/>
        </p:nvSpPr>
        <p:spPr>
          <a:xfrm>
            <a:off x="7985070" y="7011357"/>
            <a:ext cx="1607648" cy="1607648"/>
          </a:xfrm>
          <a:prstGeom prst="ellipse">
            <a:avLst/>
          </a:prstGeom>
          <a:gradFill>
            <a:gsLst>
              <a:gs pos="0">
                <a:srgbClr val="E4E4E4"/>
              </a:gs>
              <a:gs pos="79500">
                <a:schemeClr val="accent5"/>
              </a:gs>
            </a:gsLst>
            <a:lin ang="3246064" scaled="1"/>
          </a:gradFill>
          <a:ln w="12700" cap="flat">
            <a:noFill/>
            <a:prstDash val="solid"/>
            <a:miter lim="800000"/>
          </a:ln>
          <a:effectLst>
            <a:outerShdw blurRad="381000" algn="ctr" rotWithShape="0">
              <a:prstClr val="black">
                <a:alpha val="4000"/>
              </a:prst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>
              <a:lnSpc>
                <a:spcPts val="4600"/>
              </a:lnSpc>
            </a:pPr>
            <a:endParaRPr lang="ru-RU" sz="4000" dirty="0">
              <a:solidFill>
                <a:schemeClr val="accent2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1EC560-1C05-3888-4543-DC4B67EBD19F}"/>
              </a:ext>
            </a:extLst>
          </p:cNvPr>
          <p:cNvSpPr txBox="1"/>
          <p:nvPr/>
        </p:nvSpPr>
        <p:spPr>
          <a:xfrm>
            <a:off x="12903590" y="2397526"/>
            <a:ext cx="2888838" cy="4578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sz="2400" dirty="0">
                <a:latin typeface="T-Sans Medium" pitchFamily="2" charset="0"/>
                <a:ea typeface="T-Sans" pitchFamily="2" charset="0"/>
              </a:rPr>
              <a:t>Все – объект!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A47F5-68A5-D09B-9EDB-750961D4F3C8}"/>
              </a:ext>
            </a:extLst>
          </p:cNvPr>
          <p:cNvSpPr txBox="1"/>
          <p:nvPr/>
        </p:nvSpPr>
        <p:spPr>
          <a:xfrm>
            <a:off x="15015579" y="5313795"/>
            <a:ext cx="3459775" cy="9451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sz="2400" dirty="0">
                <a:latin typeface="T-Sans Medium" pitchFamily="2" charset="0"/>
                <a:ea typeface="T-Sans" pitchFamily="2" charset="0"/>
              </a:rPr>
              <a:t>Коммуникация – только через сообщения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5181E-7BC5-FACC-E456-A627314BD751}"/>
              </a:ext>
            </a:extLst>
          </p:cNvPr>
          <p:cNvSpPr txBox="1"/>
          <p:nvPr/>
        </p:nvSpPr>
        <p:spPr>
          <a:xfrm>
            <a:off x="13308631" y="8439202"/>
            <a:ext cx="4843463" cy="4578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sz="2400" dirty="0">
                <a:latin typeface="T-Sans Medium" pitchFamily="2" charset="0"/>
                <a:ea typeface="T-Sans" pitchFamily="2" charset="0"/>
              </a:rPr>
              <a:t>Изоляция внутреннего состояния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5B8101-23CB-C377-E576-58B245A87752}"/>
              </a:ext>
            </a:extLst>
          </p:cNvPr>
          <p:cNvSpPr txBox="1"/>
          <p:nvPr/>
        </p:nvSpPr>
        <p:spPr>
          <a:xfrm>
            <a:off x="7929242" y="8645016"/>
            <a:ext cx="1695982" cy="4578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r"/>
            <a:r>
              <a:rPr lang="en-US" sz="2400" dirty="0">
                <a:latin typeface="T-Sans Medium" pitchFamily="2" charset="0"/>
                <a:ea typeface="T-Sans" pitchFamily="2" charset="0"/>
              </a:rPr>
              <a:t>Late Binding</a:t>
            </a:r>
            <a:endParaRPr lang="ru-RU" sz="24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FC433B5D-F90E-28FC-EFE1-C5031FBF75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9</a:t>
            </a:fld>
            <a:endParaRPr lang="ru-RU" dirty="0"/>
          </a:p>
        </p:txBody>
      </p:sp>
      <p:pic>
        <p:nvPicPr>
          <p:cNvPr id="6" name="Рисунок 159">
            <a:extLst>
              <a:ext uri="{FF2B5EF4-FFF2-40B4-BE49-F238E27FC236}">
                <a16:creationId xmlns:a16="http://schemas.microsoft.com/office/drawing/2014/main" id="{3A9C9B08-0096-BC77-641E-B38730D48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35049" y="7463787"/>
            <a:ext cx="720000" cy="720000"/>
          </a:xfrm>
          <a:prstGeom prst="rect">
            <a:avLst/>
          </a:prstGeom>
        </p:spPr>
      </p:pic>
      <p:pic>
        <p:nvPicPr>
          <p:cNvPr id="7" name="Рисунок 149">
            <a:extLst>
              <a:ext uri="{FF2B5EF4-FFF2-40B4-BE49-F238E27FC236}">
                <a16:creationId xmlns:a16="http://schemas.microsoft.com/office/drawing/2014/main" id="{92D6BE1A-E67F-BD88-5AB7-DF1869BE9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80368" y="5220062"/>
            <a:ext cx="720000" cy="720000"/>
          </a:xfrm>
          <a:prstGeom prst="rect">
            <a:avLst/>
          </a:prstGeom>
        </p:spPr>
      </p:pic>
      <p:pic>
        <p:nvPicPr>
          <p:cNvPr id="23" name="Рисунок 197">
            <a:extLst>
              <a:ext uri="{FF2B5EF4-FFF2-40B4-BE49-F238E27FC236}">
                <a16:creationId xmlns:a16="http://schemas.microsoft.com/office/drawing/2014/main" id="{733BDDCA-BD0D-4CCD-887F-90FF18B80E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4929" y="2507400"/>
            <a:ext cx="720000" cy="720000"/>
          </a:xfrm>
          <a:prstGeom prst="rect">
            <a:avLst/>
          </a:prstGeom>
        </p:spPr>
      </p:pic>
      <p:pic>
        <p:nvPicPr>
          <p:cNvPr id="24" name="Рисунок 40">
            <a:extLst>
              <a:ext uri="{FF2B5EF4-FFF2-40B4-BE49-F238E27FC236}">
                <a16:creationId xmlns:a16="http://schemas.microsoft.com/office/drawing/2014/main" id="{5D385719-2E84-E1D7-F010-288246D9AB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29485" y="8018853"/>
            <a:ext cx="720000" cy="72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AC3B33E-B6DE-F9FD-772B-A365D30DC111}"/>
              </a:ext>
            </a:extLst>
          </p:cNvPr>
          <p:cNvSpPr txBox="1"/>
          <p:nvPr/>
        </p:nvSpPr>
        <p:spPr>
          <a:xfrm>
            <a:off x="9933810" y="10604806"/>
            <a:ext cx="9133115" cy="4732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r>
              <a:rPr lang="ru-RU" sz="2800" dirty="0">
                <a:solidFill>
                  <a:schemeClr val="accent6"/>
                </a:solidFill>
                <a:latin typeface="T-Sans Medium" pitchFamily="2" charset="0"/>
                <a:ea typeface="T-Sans" pitchFamily="2" charset="0"/>
              </a:rPr>
              <a:t>На сколько сильно это отличается от современного ООП?</a:t>
            </a:r>
          </a:p>
        </p:txBody>
      </p:sp>
    </p:spTree>
    <p:extLst>
      <p:ext uri="{BB962C8B-B14F-4D97-AF65-F5344CB8AC3E}">
        <p14:creationId xmlns:p14="http://schemas.microsoft.com/office/powerpoint/2010/main" val="28491847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7A1CC713-6638-B051-DE5B-D72BC1A4512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10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1D9ED3-5D42-B993-8C58-065A41527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9730" y="-109723"/>
            <a:ext cx="11379570" cy="113795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A4D5B0-3517-BE1E-47E7-1B04259B55B3}"/>
              </a:ext>
            </a:extLst>
          </p:cNvPr>
          <p:cNvSpPr txBox="1"/>
          <p:nvPr/>
        </p:nvSpPr>
        <p:spPr>
          <a:xfrm>
            <a:off x="2348971" y="4456678"/>
            <a:ext cx="8644611" cy="22467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Подробнее про принципы</a:t>
            </a:r>
          </a:p>
        </p:txBody>
      </p:sp>
    </p:spTree>
    <p:extLst>
      <p:ext uri="{BB962C8B-B14F-4D97-AF65-F5344CB8AC3E}">
        <p14:creationId xmlns:p14="http://schemas.microsoft.com/office/powerpoint/2010/main" val="124224447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11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84382" y="4340977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b="1" dirty="0">
                <a:latin typeface="T-Sans" pitchFamily="2" charset="77"/>
                <a:ea typeface="T-Sans" pitchFamily="2" charset="77"/>
              </a:rPr>
              <a:t>Геттеры </a:t>
            </a:r>
            <a:r>
              <a:rPr lang="ru-RU" dirty="0">
                <a:latin typeface="T-Sans" pitchFamily="2" charset="77"/>
                <a:ea typeface="T-Sans" pitchFamily="2" charset="77"/>
              </a:rPr>
              <a:t>и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сеттеры</a:t>
            </a:r>
            <a:r>
              <a:rPr lang="ru-RU" dirty="0">
                <a:latin typeface="T-Sans" pitchFamily="2" charset="77"/>
                <a:ea typeface="T-Sans" pitchFamily="2" charset="77"/>
              </a:rPr>
              <a:t>, открывающие прямой доступ к полям,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часто</a:t>
            </a:r>
            <a:r>
              <a:rPr lang="ru-RU" dirty="0">
                <a:latin typeface="T-Sans" pitchFamily="2" charset="77"/>
                <a:ea typeface="T-Sans" pitchFamily="2" charset="77"/>
              </a:rPr>
              <a:t>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нарушают этот принцип</a:t>
            </a:r>
            <a:r>
              <a:rPr lang="ru-RU" dirty="0">
                <a:latin typeface="T-Sans" pitchFamily="2" charset="77"/>
                <a:ea typeface="T-Sans" pitchFamily="2" charset="77"/>
              </a:rPr>
              <a:t>, обнажая структуру данных.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2353756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Основная суть – проектирование через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контракты</a:t>
            </a:r>
            <a:r>
              <a:rPr lang="ru-RU" dirty="0">
                <a:latin typeface="T-Sans" pitchFamily="2" charset="77"/>
                <a:ea typeface="T-Sans" pitchFamily="2" charset="77"/>
              </a:rPr>
              <a:t>. Объект строго разделяет то,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что</a:t>
            </a:r>
            <a:r>
              <a:rPr lang="ru-RU" dirty="0">
                <a:latin typeface="T-Sans" pitchFamily="2" charset="77"/>
                <a:ea typeface="T-Sans" pitchFamily="2" charset="77"/>
              </a:rPr>
              <a:t> он делает, от того,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как</a:t>
            </a:r>
            <a:r>
              <a:rPr lang="ru-RU" dirty="0">
                <a:latin typeface="T-Sans" pitchFamily="2" charset="77"/>
                <a:ea typeface="T-Sans" pitchFamily="2" charset="77"/>
              </a:rPr>
              <a:t> именно он это делает внутри.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2353756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4340977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77"/>
                <a:ea typeface="T-Sans" pitchFamily="2" charset="77"/>
              </a:rPr>
              <a:t>Инкапсуляция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grpSp>
        <p:nvGrpSpPr>
          <p:cNvPr id="28" name="Google Shape;229;p23">
            <a:extLst>
              <a:ext uri="{FF2B5EF4-FFF2-40B4-BE49-F238E27FC236}">
                <a16:creationId xmlns:a16="http://schemas.microsoft.com/office/drawing/2014/main" id="{D5CCD1CB-8DE4-C94A-DE75-F8CD8BA3967E}"/>
              </a:ext>
            </a:extLst>
          </p:cNvPr>
          <p:cNvGrpSpPr/>
          <p:nvPr/>
        </p:nvGrpSpPr>
        <p:grpSpPr>
          <a:xfrm>
            <a:off x="8266578" y="1739759"/>
            <a:ext cx="9869179" cy="8179630"/>
            <a:chOff x="4943475" y="1381125"/>
            <a:chExt cx="3495600" cy="3152700"/>
          </a:xfrm>
        </p:grpSpPr>
        <p:sp>
          <p:nvSpPr>
            <p:cNvPr id="30" name="Google Shape;231;p23">
              <a:extLst>
                <a:ext uri="{FF2B5EF4-FFF2-40B4-BE49-F238E27FC236}">
                  <a16:creationId xmlns:a16="http://schemas.microsoft.com/office/drawing/2014/main" id="{E3720191-9DC2-212F-90C1-F24D14C44335}"/>
                </a:ext>
              </a:extLst>
            </p:cNvPr>
            <p:cNvSpPr txBox="1"/>
            <p:nvPr/>
          </p:nvSpPr>
          <p:spPr>
            <a:xfrm>
              <a:off x="4953000" y="1381125"/>
              <a:ext cx="3476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800" b="1" dirty="0">
                  <a:solidFill>
                    <a:srgbClr val="111111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Пример из языка Си (где нет классов)</a:t>
              </a:r>
              <a:endParaRPr sz="28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ru" sz="2000" b="0" dirty="0">
                  <a:solidFill>
                    <a:schemeClr val="accent3">
                      <a:lumMod val="50000"/>
                    </a:schemeClr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Инкапсуляция шире, чем ООП. Системные вызовы ОС скрывают реализацию за единым интерфейсом.</a:t>
              </a:r>
              <a:endParaRPr sz="2000" b="0" dirty="0">
                <a:solidFill>
                  <a:schemeClr val="accent3">
                    <a:lumMod val="50000"/>
                  </a:schemeClr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  <p:sp>
          <p:nvSpPr>
            <p:cNvPr id="31" name="Google Shape;232;p23">
              <a:extLst>
                <a:ext uri="{FF2B5EF4-FFF2-40B4-BE49-F238E27FC236}">
                  <a16:creationId xmlns:a16="http://schemas.microsoft.com/office/drawing/2014/main" id="{DDDDAB0D-C00B-0E1F-C11F-54502C3491FE}"/>
                </a:ext>
              </a:extLst>
            </p:cNvPr>
            <p:cNvSpPr/>
            <p:nvPr/>
          </p:nvSpPr>
          <p:spPr>
            <a:xfrm>
              <a:off x="4953000" y="1952625"/>
              <a:ext cx="3476700" cy="400200"/>
            </a:xfrm>
            <a:prstGeom prst="roundRect">
              <a:avLst>
                <a:gd name="adj" fmla="val 14285"/>
              </a:avLst>
            </a:prstGeom>
            <a:solidFill>
              <a:srgbClr val="F0EFFB"/>
            </a:solidFill>
            <a:ln w="9525" cap="flat" cmpd="sng">
              <a:solidFill>
                <a:srgbClr val="E5E4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32" name="Google Shape;233;p23">
              <a:extLst>
                <a:ext uri="{FF2B5EF4-FFF2-40B4-BE49-F238E27FC236}">
                  <a16:creationId xmlns:a16="http://schemas.microsoft.com/office/drawing/2014/main" id="{8E7FA72F-9C1C-3787-FBB0-7E5AFC888AE5}"/>
                </a:ext>
              </a:extLst>
            </p:cNvPr>
            <p:cNvSpPr txBox="1"/>
            <p:nvPr/>
          </p:nvSpPr>
          <p:spPr>
            <a:xfrm>
              <a:off x="5095875" y="2028825"/>
              <a:ext cx="31908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int open(const char *pathname, int flags);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  <p:pic>
          <p:nvPicPr>
            <p:cNvPr id="33" name="Google Shape;234;p23">
              <a:extLst>
                <a:ext uri="{FF2B5EF4-FFF2-40B4-BE49-F238E27FC236}">
                  <a16:creationId xmlns:a16="http://schemas.microsoft.com/office/drawing/2014/main" id="{9C85878F-C1FB-C6F8-140B-D549AC3DBBC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681788" y="242887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" name="Google Shape;235;p23">
              <a:extLst>
                <a:ext uri="{FF2B5EF4-FFF2-40B4-BE49-F238E27FC236}">
                  <a16:creationId xmlns:a16="http://schemas.microsoft.com/office/drawing/2014/main" id="{F1F834A8-AEB1-576D-76E1-BC5452282262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43550" y="2581275"/>
              <a:ext cx="22956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" name="Google Shape;236;p23">
              <a:extLst>
                <a:ext uri="{FF2B5EF4-FFF2-40B4-BE49-F238E27FC236}">
                  <a16:creationId xmlns:a16="http://schemas.microsoft.com/office/drawing/2014/main" id="{5ACDA876-EE4D-EF30-A10F-3537D91B6F5B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538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237;p23">
              <a:extLst>
                <a:ext uri="{FF2B5EF4-FFF2-40B4-BE49-F238E27FC236}">
                  <a16:creationId xmlns:a16="http://schemas.microsoft.com/office/drawing/2014/main" id="{63396BB9-C542-E1D7-4F16-F1DDE42098C4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81788" y="2590800"/>
              <a:ext cx="19200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238;p23">
              <a:extLst>
                <a:ext uri="{FF2B5EF4-FFF2-40B4-BE49-F238E27FC236}">
                  <a16:creationId xmlns:a16="http://schemas.microsoft.com/office/drawing/2014/main" id="{D19D4834-1F27-AA16-6520-0B8FCEE4BDF2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824788" y="2714625"/>
              <a:ext cx="19200" cy="14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" name="Google Shape;239;p23">
              <a:extLst>
                <a:ext uri="{FF2B5EF4-FFF2-40B4-BE49-F238E27FC236}">
                  <a16:creationId xmlns:a16="http://schemas.microsoft.com/office/drawing/2014/main" id="{76245F5E-FDCA-8BD8-36B0-826BE3EB257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514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240;p23">
              <a:extLst>
                <a:ext uri="{FF2B5EF4-FFF2-40B4-BE49-F238E27FC236}">
                  <a16:creationId xmlns:a16="http://schemas.microsoft.com/office/drawing/2014/main" id="{7289D1C2-785B-9957-3C77-A0F25E96F97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57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241;p23">
              <a:extLst>
                <a:ext uri="{FF2B5EF4-FFF2-40B4-BE49-F238E27FC236}">
                  <a16:creationId xmlns:a16="http://schemas.microsoft.com/office/drawing/2014/main" id="{D3BFCF72-43DB-3A56-8C24-216DE7E8E16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00975" y="2819400"/>
              <a:ext cx="66600" cy="57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" name="Google Shape;242;p23">
              <a:extLst>
                <a:ext uri="{FF2B5EF4-FFF2-40B4-BE49-F238E27FC236}">
                  <a16:creationId xmlns:a16="http://schemas.microsoft.com/office/drawing/2014/main" id="{EB802DB6-6D9C-61BA-F1C7-4E132F755986}"/>
                </a:ext>
              </a:extLst>
            </p:cNvPr>
            <p:cNvGrpSpPr/>
            <p:nvPr/>
          </p:nvGrpSpPr>
          <p:grpSpPr>
            <a:xfrm>
              <a:off x="5000625" y="2905125"/>
              <a:ext cx="1095300" cy="809700"/>
              <a:chOff x="5000625" y="2905125"/>
              <a:chExt cx="1095300" cy="809700"/>
            </a:xfrm>
          </p:grpSpPr>
          <p:sp>
            <p:nvSpPr>
              <p:cNvPr id="50" name="Google Shape;243;p23">
                <a:extLst>
                  <a:ext uri="{FF2B5EF4-FFF2-40B4-BE49-F238E27FC236}">
                    <a16:creationId xmlns:a16="http://schemas.microsoft.com/office/drawing/2014/main" id="{C3BEFA2D-2CE5-6813-D62B-BF21F2271B87}"/>
                  </a:ext>
                </a:extLst>
              </p:cNvPr>
              <p:cNvSpPr/>
              <p:nvPr/>
            </p:nvSpPr>
            <p:spPr>
              <a:xfrm>
                <a:off x="5000625" y="2905125"/>
                <a:ext cx="10953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FFFFF"/>
              </a:solidFill>
              <a:ln w="9525" cap="flat" cmpd="sng">
                <a:solidFill>
                  <a:srgbClr val="EAE9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-Sans" pitchFamily="2" charset="77"/>
                  <a:ea typeface="T-Sans" pitchFamily="2" charset="77"/>
                </a:endParaRPr>
              </a:p>
            </p:txBody>
          </p:sp>
          <p:sp>
            <p:nvSpPr>
              <p:cNvPr id="51" name="Google Shape;244;p23">
                <a:extLst>
                  <a:ext uri="{FF2B5EF4-FFF2-40B4-BE49-F238E27FC236}">
                    <a16:creationId xmlns:a16="http://schemas.microsoft.com/office/drawing/2014/main" id="{38200D24-68BA-50E5-161C-417C74218ACF}"/>
                  </a:ext>
                </a:extLst>
              </p:cNvPr>
              <p:cNvSpPr txBox="1"/>
              <p:nvPr/>
            </p:nvSpPr>
            <p:spPr>
              <a:xfrm>
                <a:off x="5095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 dirty="0">
                    <a:solidFill>
                      <a:schemeClr val="bg1"/>
                    </a:solidFill>
                    <a:latin typeface="T-Sans" pitchFamily="2" charset="77"/>
                    <a:ea typeface="T-Sans" pitchFamily="2" charset="77"/>
                    <a:cs typeface="Arial"/>
                    <a:sym typeface="Arial"/>
                  </a:rPr>
                  <a:t>Linux</a:t>
                </a:r>
                <a:endParaRPr sz="2000" b="1" dirty="0">
                  <a:solidFill>
                    <a:schemeClr val="bg1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FS: ext4 / tmpfs</a:t>
                </a:r>
                <a:b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</a:b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Реализация ядра Linux</a:t>
                </a:r>
                <a:endParaRPr sz="20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2" name="Google Shape;245;p23">
              <a:extLst>
                <a:ext uri="{FF2B5EF4-FFF2-40B4-BE49-F238E27FC236}">
                  <a16:creationId xmlns:a16="http://schemas.microsoft.com/office/drawing/2014/main" id="{295943B0-2529-DC82-620F-D89117EB66DD}"/>
                </a:ext>
              </a:extLst>
            </p:cNvPr>
            <p:cNvGrpSpPr/>
            <p:nvPr/>
          </p:nvGrpSpPr>
          <p:grpSpPr>
            <a:xfrm>
              <a:off x="6143625" y="2905125"/>
              <a:ext cx="1095300" cy="809700"/>
              <a:chOff x="6143625" y="2905125"/>
              <a:chExt cx="1095300" cy="809700"/>
            </a:xfrm>
          </p:grpSpPr>
          <p:sp>
            <p:nvSpPr>
              <p:cNvPr id="48" name="Google Shape;246;p23">
                <a:extLst>
                  <a:ext uri="{FF2B5EF4-FFF2-40B4-BE49-F238E27FC236}">
                    <a16:creationId xmlns:a16="http://schemas.microsoft.com/office/drawing/2014/main" id="{D1BBDF89-9DB1-924B-3E5D-87B35A2CF458}"/>
                  </a:ext>
                </a:extLst>
              </p:cNvPr>
              <p:cNvSpPr/>
              <p:nvPr/>
            </p:nvSpPr>
            <p:spPr>
              <a:xfrm>
                <a:off x="6143625" y="2905125"/>
                <a:ext cx="10953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FFFFF"/>
              </a:solidFill>
              <a:ln w="9525" cap="flat" cmpd="sng">
                <a:solidFill>
                  <a:srgbClr val="EAE9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-Sans" pitchFamily="2" charset="77"/>
                  <a:ea typeface="T-Sans" pitchFamily="2" charset="77"/>
                </a:endParaRPr>
              </a:p>
            </p:txBody>
          </p:sp>
          <p:sp>
            <p:nvSpPr>
              <p:cNvPr id="49" name="Google Shape;247;p23">
                <a:extLst>
                  <a:ext uri="{FF2B5EF4-FFF2-40B4-BE49-F238E27FC236}">
                    <a16:creationId xmlns:a16="http://schemas.microsoft.com/office/drawing/2014/main" id="{74CC1E98-0D7A-AB96-6AF8-97EB791D69B0}"/>
                  </a:ext>
                </a:extLst>
              </p:cNvPr>
              <p:cNvSpPr txBox="1"/>
              <p:nvPr/>
            </p:nvSpPr>
            <p:spPr>
              <a:xfrm>
                <a:off x="6238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 dirty="0">
                    <a:solidFill>
                      <a:schemeClr val="bg1"/>
                    </a:solidFill>
                    <a:latin typeface="T-Sans" pitchFamily="2" charset="77"/>
                    <a:ea typeface="T-Sans" pitchFamily="2" charset="77"/>
                    <a:cs typeface="Arial"/>
                    <a:sym typeface="Arial"/>
                  </a:rPr>
                  <a:t>macOS</a:t>
                </a:r>
                <a:endParaRPr sz="2000" b="1" dirty="0">
                  <a:solidFill>
                    <a:schemeClr val="bg1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FS: APFS</a:t>
                </a:r>
                <a:b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</a:b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Реализация ядра Darwin</a:t>
                </a:r>
                <a:endParaRPr sz="20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3" name="Google Shape;248;p23">
              <a:extLst>
                <a:ext uri="{FF2B5EF4-FFF2-40B4-BE49-F238E27FC236}">
                  <a16:creationId xmlns:a16="http://schemas.microsoft.com/office/drawing/2014/main" id="{964EF724-5D0E-FC8E-4B31-3951C1F3DB4C}"/>
                </a:ext>
              </a:extLst>
            </p:cNvPr>
            <p:cNvGrpSpPr/>
            <p:nvPr/>
          </p:nvGrpSpPr>
          <p:grpSpPr>
            <a:xfrm>
              <a:off x="7286625" y="2905125"/>
              <a:ext cx="1095300" cy="809700"/>
              <a:chOff x="7286625" y="2905125"/>
              <a:chExt cx="1095300" cy="809700"/>
            </a:xfrm>
          </p:grpSpPr>
          <p:sp>
            <p:nvSpPr>
              <p:cNvPr id="46" name="Google Shape;249;p23">
                <a:extLst>
                  <a:ext uri="{FF2B5EF4-FFF2-40B4-BE49-F238E27FC236}">
                    <a16:creationId xmlns:a16="http://schemas.microsoft.com/office/drawing/2014/main" id="{5EB9959D-6B36-8D61-72AD-8C997D07C4A0}"/>
                  </a:ext>
                </a:extLst>
              </p:cNvPr>
              <p:cNvSpPr/>
              <p:nvPr/>
            </p:nvSpPr>
            <p:spPr>
              <a:xfrm>
                <a:off x="7286625" y="2905125"/>
                <a:ext cx="1095300" cy="809700"/>
              </a:xfrm>
              <a:prstGeom prst="roundRect">
                <a:avLst>
                  <a:gd name="adj" fmla="val 7058"/>
                </a:avLst>
              </a:prstGeom>
              <a:solidFill>
                <a:srgbClr val="FFFFFF"/>
              </a:solidFill>
              <a:ln w="9525" cap="flat" cmpd="sng">
                <a:solidFill>
                  <a:srgbClr val="EAE9E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T-Sans" pitchFamily="2" charset="77"/>
                  <a:ea typeface="T-Sans" pitchFamily="2" charset="77"/>
                </a:endParaRPr>
              </a:p>
            </p:txBody>
          </p:sp>
          <p:sp>
            <p:nvSpPr>
              <p:cNvPr id="47" name="Google Shape;250;p23">
                <a:extLst>
                  <a:ext uri="{FF2B5EF4-FFF2-40B4-BE49-F238E27FC236}">
                    <a16:creationId xmlns:a16="http://schemas.microsoft.com/office/drawing/2014/main" id="{2D37E915-AA56-7203-FF8B-8AB0862A5097}"/>
                  </a:ext>
                </a:extLst>
              </p:cNvPr>
              <p:cNvSpPr txBox="1"/>
              <p:nvPr/>
            </p:nvSpPr>
            <p:spPr>
              <a:xfrm>
                <a:off x="7381875" y="3000375"/>
                <a:ext cx="904800" cy="61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u" sz="2000" b="1" dirty="0">
                    <a:solidFill>
                      <a:schemeClr val="bg1"/>
                    </a:solidFill>
                    <a:latin typeface="T-Sans" pitchFamily="2" charset="77"/>
                    <a:ea typeface="T-Sans" pitchFamily="2" charset="77"/>
                    <a:cs typeface="Arial"/>
                    <a:sym typeface="Arial"/>
                  </a:rPr>
                  <a:t>Windows</a:t>
                </a:r>
                <a:endParaRPr sz="2000" b="1" dirty="0">
                  <a:solidFill>
                    <a:schemeClr val="bg1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endParaRPr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None/>
                </a:pP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FS: NTFS</a:t>
                </a:r>
                <a:b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</a:br>
                <a:r>
                  <a:rPr lang="ru" sz="2000" b="0" dirty="0">
                    <a:solidFill>
                      <a:srgbClr val="666666"/>
                    </a:solidFill>
                    <a:latin typeface="T-Sans" pitchFamily="2" charset="77"/>
                    <a:ea typeface="T-Sans" pitchFamily="2" charset="77"/>
                    <a:cs typeface="Courier New"/>
                    <a:sym typeface="Courier New"/>
                  </a:rPr>
                  <a:t>Слой трансляции POSIX</a:t>
                </a:r>
                <a:endParaRPr sz="20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endParaRPr>
              </a:p>
            </p:txBody>
          </p:sp>
        </p:grpSp>
        <p:pic>
          <p:nvPicPr>
            <p:cNvPr id="44" name="Google Shape;251;p23">
              <a:extLst>
                <a:ext uri="{FF2B5EF4-FFF2-40B4-BE49-F238E27FC236}">
                  <a16:creationId xmlns:a16="http://schemas.microsoft.com/office/drawing/2014/main" id="{FAEFC7D1-3725-EDD8-FF85-47178F83B182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943475" y="3895725"/>
              <a:ext cx="3495600" cy="6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252;p23">
              <a:extLst>
                <a:ext uri="{FF2B5EF4-FFF2-40B4-BE49-F238E27FC236}">
                  <a16:creationId xmlns:a16="http://schemas.microsoft.com/office/drawing/2014/main" id="{8FBA28F9-FCDF-ACCE-7A60-D96B34D9F70C}"/>
                </a:ext>
              </a:extLst>
            </p:cNvPr>
            <p:cNvSpPr txBox="1"/>
            <p:nvPr/>
          </p:nvSpPr>
          <p:spPr>
            <a:xfrm>
              <a:off x="5095875" y="4000500"/>
              <a:ext cx="31908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// Работает одинаково на любой системе:</a:t>
              </a:r>
              <a:endParaRPr sz="18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111111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int fd = open("file.txt", O_RDONLY);</a:t>
              </a:r>
              <a:endParaRPr sz="36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D8480BA-7AD9-54AD-45F6-8824EB5E46B0}"/>
              </a:ext>
            </a:extLst>
          </p:cNvPr>
          <p:cNvSpPr txBox="1"/>
          <p:nvPr/>
        </p:nvSpPr>
        <p:spPr>
          <a:xfrm>
            <a:off x="1484382" y="6266587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Хорошая инкапсуляция означает, что объект сам отвечает за корректность своего состояния – так называемая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защита инвариантов</a:t>
            </a:r>
            <a:r>
              <a:rPr lang="ru-RU" dirty="0">
                <a:latin typeface="T-Sans" pitchFamily="2" charset="77"/>
                <a:ea typeface="T-Sans" pitchFamily="2" charset="77"/>
              </a:rPr>
              <a:t>. </a:t>
            </a:r>
          </a:p>
        </p:txBody>
      </p:sp>
      <p:pic>
        <p:nvPicPr>
          <p:cNvPr id="53" name="Рисунок 20">
            <a:extLst>
              <a:ext uri="{FF2B5EF4-FFF2-40B4-BE49-F238E27FC236}">
                <a16:creationId xmlns:a16="http://schemas.microsoft.com/office/drawing/2014/main" id="{9341772A-FBF2-5A18-0679-19F4C4C40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6266587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713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12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79388" y="3734181"/>
            <a:ext cx="4521708" cy="169277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Также используется для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построения иерархий типов</a:t>
            </a:r>
            <a:r>
              <a:rPr lang="ru-RU" dirty="0">
                <a:latin typeface="T-Sans" pitchFamily="2" charset="77"/>
                <a:ea typeface="T-Sans" pitchFamily="2" charset="77"/>
              </a:rPr>
              <a:t>, что вкупе с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полиморфизмом</a:t>
            </a:r>
            <a:r>
              <a:rPr lang="ru-RU" dirty="0">
                <a:latin typeface="T-Sans" pitchFamily="2" charset="77"/>
                <a:ea typeface="T-Sans" pitchFamily="2" charset="77"/>
              </a:rPr>
              <a:t> позволяет писать максимально </a:t>
            </a:r>
            <a:r>
              <a:rPr lang="ru-RU" b="1" dirty="0" err="1">
                <a:latin typeface="T-Sans" pitchFamily="2" charset="77"/>
                <a:ea typeface="T-Sans" pitchFamily="2" charset="77"/>
              </a:rPr>
              <a:t>переиспользуемый</a:t>
            </a:r>
            <a:r>
              <a:rPr lang="ru-RU" dirty="0">
                <a:latin typeface="T-Sans" pitchFamily="2" charset="77"/>
                <a:ea typeface="T-Sans" pitchFamily="2" charset="77"/>
              </a:rPr>
              <a:t> и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расширяемый</a:t>
            </a:r>
            <a:r>
              <a:rPr lang="ru-RU" dirty="0">
                <a:latin typeface="T-Sans" pitchFamily="2" charset="77"/>
                <a:ea typeface="T-Sans" pitchFamily="2" charset="77"/>
              </a:rPr>
              <a:t> код</a:t>
            </a:r>
            <a:r>
              <a:rPr lang="en-US" dirty="0">
                <a:latin typeface="T-Sans" pitchFamily="2" charset="77"/>
                <a:ea typeface="T-Sans" pitchFamily="2" charset="77"/>
              </a:rPr>
              <a:t>. 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2353756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Наследование устанавливает отношение «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является</a:t>
            </a:r>
            <a:r>
              <a:rPr lang="ru-RU" dirty="0">
                <a:latin typeface="T-Sans" pitchFamily="2" charset="77"/>
                <a:ea typeface="T-Sans" pitchFamily="2" charset="77"/>
              </a:rPr>
              <a:t>» (</a:t>
            </a:r>
            <a:r>
              <a:rPr lang="en-GB" dirty="0">
                <a:latin typeface="T-Sans" pitchFamily="2" charset="77"/>
                <a:ea typeface="T-Sans" pitchFamily="2" charset="77"/>
              </a:rPr>
              <a:t>IS-A) </a:t>
            </a:r>
            <a:r>
              <a:rPr lang="ru-RU" dirty="0">
                <a:latin typeface="T-Sans" pitchFamily="2" charset="77"/>
                <a:ea typeface="T-Sans" pitchFamily="2" charset="77"/>
              </a:rPr>
              <a:t>и позволяет повторно использовать код.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2353756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94" y="3734181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77"/>
                <a:ea typeface="T-Sans" pitchFamily="2" charset="77"/>
              </a:rPr>
              <a:t>Наследование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0E3187-5929-3E70-BBD3-9575274EAAEA}"/>
              </a:ext>
            </a:extLst>
          </p:cNvPr>
          <p:cNvSpPr txBox="1"/>
          <p:nvPr/>
        </p:nvSpPr>
        <p:spPr>
          <a:xfrm>
            <a:off x="1479388" y="5912727"/>
            <a:ext cx="4521708" cy="13542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Базовый класс описывает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общее состояние и поведение</a:t>
            </a:r>
            <a:r>
              <a:rPr lang="ru-RU" dirty="0">
                <a:latin typeface="T-Sans" pitchFamily="2" charset="77"/>
                <a:ea typeface="T-Sans" pitchFamily="2" charset="77"/>
              </a:rPr>
              <a:t>, в то время как наследники реализуют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специфичную</a:t>
            </a:r>
            <a:r>
              <a:rPr lang="ru-RU" dirty="0">
                <a:latin typeface="T-Sans" pitchFamily="2" charset="77"/>
                <a:ea typeface="T-Sans" pitchFamily="2" charset="77"/>
              </a:rPr>
              <a:t> логику.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5615F07D-C2EE-359A-F71A-DD44B2761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94" y="5912727"/>
            <a:ext cx="612000" cy="612000"/>
          </a:xfrm>
          <a:prstGeom prst="rect">
            <a:avLst/>
          </a:prstGeom>
        </p:spPr>
      </p:pic>
      <p:grpSp>
        <p:nvGrpSpPr>
          <p:cNvPr id="24" name="Google Shape;278;p25">
            <a:extLst>
              <a:ext uri="{FF2B5EF4-FFF2-40B4-BE49-F238E27FC236}">
                <a16:creationId xmlns:a16="http://schemas.microsoft.com/office/drawing/2014/main" id="{4D1AC698-0EC5-F59C-EEA4-18E65427F601}"/>
              </a:ext>
            </a:extLst>
          </p:cNvPr>
          <p:cNvGrpSpPr/>
          <p:nvPr/>
        </p:nvGrpSpPr>
        <p:grpSpPr>
          <a:xfrm>
            <a:off x="7990051" y="1637110"/>
            <a:ext cx="10504777" cy="8645818"/>
            <a:chOff x="4924425" y="1466850"/>
            <a:chExt cx="3524250" cy="2962200"/>
          </a:xfrm>
        </p:grpSpPr>
        <p:pic>
          <p:nvPicPr>
            <p:cNvPr id="26" name="Google Shape;280;p25">
              <a:extLst>
                <a:ext uri="{FF2B5EF4-FFF2-40B4-BE49-F238E27FC236}">
                  <a16:creationId xmlns:a16="http://schemas.microsoft.com/office/drawing/2014/main" id="{A375B8C9-EF4E-F5F0-096D-ED58111A86F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534025" y="1466850"/>
              <a:ext cx="2305200" cy="7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81;p25">
              <a:extLst>
                <a:ext uri="{FF2B5EF4-FFF2-40B4-BE49-F238E27FC236}">
                  <a16:creationId xmlns:a16="http://schemas.microsoft.com/office/drawing/2014/main" id="{FDA7F063-3759-A3F9-6179-6E73976B741A}"/>
                </a:ext>
              </a:extLst>
            </p:cNvPr>
            <p:cNvSpPr txBox="1"/>
            <p:nvPr/>
          </p:nvSpPr>
          <p:spPr>
            <a:xfrm>
              <a:off x="5638800" y="1571625"/>
              <a:ext cx="20955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Instrument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ticker, name, getDescription()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  <p:pic>
          <p:nvPicPr>
            <p:cNvPr id="29" name="Google Shape;282;p25">
              <a:extLst>
                <a:ext uri="{FF2B5EF4-FFF2-40B4-BE49-F238E27FC236}">
                  <a16:creationId xmlns:a16="http://schemas.microsoft.com/office/drawing/2014/main" id="{3AB1A281-E18D-6F69-2250-79EBCC22778C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677025" y="2190750"/>
              <a:ext cx="192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283;p25">
              <a:extLst>
                <a:ext uri="{FF2B5EF4-FFF2-40B4-BE49-F238E27FC236}">
                  <a16:creationId xmlns:a16="http://schemas.microsoft.com/office/drawing/2014/main" id="{0703A9F5-59BC-6925-EE52-BE0F6DCA2F8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495925" y="2657475"/>
              <a:ext cx="2371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284;p25">
              <a:extLst>
                <a:ext uri="{FF2B5EF4-FFF2-40B4-BE49-F238E27FC236}">
                  <a16:creationId xmlns:a16="http://schemas.microsoft.com/office/drawing/2014/main" id="{282806C3-11F1-92C0-C59B-3B9DFB2914C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8640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285;p25">
              <a:extLst>
                <a:ext uri="{FF2B5EF4-FFF2-40B4-BE49-F238E27FC236}">
                  <a16:creationId xmlns:a16="http://schemas.microsoft.com/office/drawing/2014/main" id="{19D88BF4-E77C-359B-46DA-E5104100F7B1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45782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286;p25">
              <a:extLst>
                <a:ext uri="{FF2B5EF4-FFF2-40B4-BE49-F238E27FC236}">
                  <a16:creationId xmlns:a16="http://schemas.microsoft.com/office/drawing/2014/main" id="{7F108724-39A8-62C8-F484-BB480C332F6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677025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287;p25">
              <a:extLst>
                <a:ext uri="{FF2B5EF4-FFF2-40B4-BE49-F238E27FC236}">
                  <a16:creationId xmlns:a16="http://schemas.microsoft.com/office/drawing/2014/main" id="{E45CD8D3-0E78-5BFF-CF7C-D4F8699438FC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48450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288;p25">
              <a:extLst>
                <a:ext uri="{FF2B5EF4-FFF2-40B4-BE49-F238E27FC236}">
                  <a16:creationId xmlns:a16="http://schemas.microsoft.com/office/drawing/2014/main" id="{987FB495-4A87-3204-6899-094D9EADC03F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86765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289;p25">
              <a:extLst>
                <a:ext uri="{FF2B5EF4-FFF2-40B4-BE49-F238E27FC236}">
                  <a16:creationId xmlns:a16="http://schemas.microsoft.com/office/drawing/2014/main" id="{CFC56717-CA59-BAC9-DCE7-1D1DCF2F618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3907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290;p25">
              <a:extLst>
                <a:ext uri="{FF2B5EF4-FFF2-40B4-BE49-F238E27FC236}">
                  <a16:creationId xmlns:a16="http://schemas.microsoft.com/office/drawing/2014/main" id="{F3BD02AB-ADA9-6C19-A825-5D4657CDF06F}"/>
                </a:ext>
              </a:extLst>
            </p:cNvPr>
            <p:cNvSpPr/>
            <p:nvPr/>
          </p:nvSpPr>
          <p:spPr>
            <a:xfrm>
              <a:off x="4924425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62" name="Google Shape;291;p25">
              <a:extLst>
                <a:ext uri="{FF2B5EF4-FFF2-40B4-BE49-F238E27FC236}">
                  <a16:creationId xmlns:a16="http://schemas.microsoft.com/office/drawing/2014/main" id="{F4CE80EE-1698-FB8A-43F3-BDDC8C534A8F}"/>
                </a:ext>
              </a:extLst>
            </p:cNvPr>
            <p:cNvSpPr txBox="1"/>
            <p:nvPr/>
          </p:nvSpPr>
          <p:spPr>
            <a:xfrm>
              <a:off x="497205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Stock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sector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  <a:endParaRPr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  <p:sp>
          <p:nvSpPr>
            <p:cNvPr id="63" name="Google Shape;292;p25">
              <a:extLst>
                <a:ext uri="{FF2B5EF4-FFF2-40B4-BE49-F238E27FC236}">
                  <a16:creationId xmlns:a16="http://schemas.microsoft.com/office/drawing/2014/main" id="{8229C4A6-96B6-EA55-E246-E2C3B433EBC3}"/>
                </a:ext>
              </a:extLst>
            </p:cNvPr>
            <p:cNvSpPr/>
            <p:nvPr/>
          </p:nvSpPr>
          <p:spPr>
            <a:xfrm>
              <a:off x="6115050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93;p25">
              <a:extLst>
                <a:ext uri="{FF2B5EF4-FFF2-40B4-BE49-F238E27FC236}">
                  <a16:creationId xmlns:a16="http://schemas.microsoft.com/office/drawing/2014/main" id="{21A34E49-4F26-93F6-5ED4-4A1146501D2C}"/>
                </a:ext>
              </a:extLst>
            </p:cNvPr>
            <p:cNvSpPr txBox="1"/>
            <p:nvPr/>
          </p:nvSpPr>
          <p:spPr>
            <a:xfrm>
              <a:off x="6162675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Bond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coupon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  <a:endParaRPr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  <p:sp>
          <p:nvSpPr>
            <p:cNvPr id="65" name="Google Shape;294;p25">
              <a:extLst>
                <a:ext uri="{FF2B5EF4-FFF2-40B4-BE49-F238E27FC236}">
                  <a16:creationId xmlns:a16="http://schemas.microsoft.com/office/drawing/2014/main" id="{96AA8207-847C-A75D-6754-1F3E18F8D307}"/>
                </a:ext>
              </a:extLst>
            </p:cNvPr>
            <p:cNvSpPr/>
            <p:nvPr/>
          </p:nvSpPr>
          <p:spPr>
            <a:xfrm>
              <a:off x="7305675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95;p25">
              <a:extLst>
                <a:ext uri="{FF2B5EF4-FFF2-40B4-BE49-F238E27FC236}">
                  <a16:creationId xmlns:a16="http://schemas.microsoft.com/office/drawing/2014/main" id="{2C8B95E8-13D9-70F8-D348-5E4450D62CBC}"/>
                </a:ext>
              </a:extLst>
            </p:cNvPr>
            <p:cNvSpPr txBox="1"/>
            <p:nvPr/>
          </p:nvSpPr>
          <p:spPr>
            <a:xfrm>
              <a:off x="735330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Etf</a:t>
              </a:r>
              <a:endParaRPr sz="3600" b="1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index</a:t>
              </a:r>
              <a:endParaRPr sz="2400" b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  <a:endParaRPr sz="1800" b="1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F40D51C-C649-9C72-3A60-6D19EDD8E0CA}"/>
              </a:ext>
            </a:extLst>
          </p:cNvPr>
          <p:cNvSpPr txBox="1"/>
          <p:nvPr/>
        </p:nvSpPr>
        <p:spPr>
          <a:xfrm>
            <a:off x="9758976" y="10547198"/>
            <a:ext cx="693875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Пример иерархии классов, с которой нам с вами придется столкнуться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4249842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13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79388" y="3734181"/>
            <a:ext cx="4521708" cy="270843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Связь с 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Interface Segregation Principle </a:t>
            </a:r>
            <a:r>
              <a:rPr lang="en-US" dirty="0">
                <a:latin typeface="T-Sans" pitchFamily="2" charset="77"/>
                <a:ea typeface="T-Sans" pitchFamily="2" charset="77"/>
              </a:rPr>
              <a:t>(ISP) </a:t>
            </a:r>
            <a:r>
              <a:rPr lang="ru-RU" dirty="0">
                <a:latin typeface="T-Sans" pitchFamily="2" charset="77"/>
                <a:ea typeface="T-Sans" pitchFamily="2" charset="77"/>
              </a:rPr>
              <a:t>из 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SOLID*: </a:t>
            </a:r>
            <a:r>
              <a:rPr lang="ru-RU" dirty="0">
                <a:latin typeface="T-Sans" pitchFamily="2" charset="77"/>
                <a:ea typeface="T-Sans" pitchFamily="2" charset="77"/>
              </a:rPr>
              <a:t>если подкласс вынужден наследовать методы, которые ему не нужны (или для которых он не может дать осмысленную реализацию), — это верный сигнал, что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иерархия спроектирована неверно</a:t>
            </a:r>
            <a:r>
              <a:rPr lang="ru-RU" dirty="0">
                <a:latin typeface="T-Sans" pitchFamily="2" charset="77"/>
                <a:ea typeface="T-Sans" pitchFamily="2" charset="77"/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2353756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Чем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сложнее</a:t>
            </a:r>
            <a:r>
              <a:rPr lang="ru-RU" dirty="0">
                <a:latin typeface="T-Sans" pitchFamily="2" charset="77"/>
                <a:ea typeface="T-Sans" pitchFamily="2" charset="77"/>
              </a:rPr>
              <a:t>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иерархия</a:t>
            </a:r>
            <a:r>
              <a:rPr lang="ru-RU" dirty="0">
                <a:latin typeface="T-Sans" pitchFamily="2" charset="77"/>
                <a:ea typeface="T-Sans" pitchFamily="2" charset="77"/>
              </a:rPr>
              <a:t>, тем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больнее</a:t>
            </a:r>
            <a:r>
              <a:rPr lang="ru-RU" dirty="0">
                <a:latin typeface="T-Sans" pitchFamily="2" charset="77"/>
                <a:ea typeface="T-Sans" pitchFamily="2" charset="77"/>
              </a:rPr>
              <a:t> и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опаснее</a:t>
            </a:r>
            <a:r>
              <a:rPr lang="ru-RU" dirty="0">
                <a:latin typeface="T-Sans" pitchFamily="2" charset="77"/>
                <a:ea typeface="T-Sans" pitchFamily="2" charset="77"/>
              </a:rPr>
              <a:t> может быть внесение изменений в ее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корень</a:t>
            </a:r>
            <a:r>
              <a:rPr lang="ru-RU" dirty="0">
                <a:latin typeface="T-Sans" pitchFamily="2" charset="77"/>
                <a:ea typeface="T-Sans" pitchFamily="2" charset="77"/>
              </a:rPr>
              <a:t>.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2353756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94" y="3734181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626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4400" dirty="0">
                <a:latin typeface="T-Sans" pitchFamily="2" charset="77"/>
                <a:ea typeface="T-Sans" pitchFamily="2" charset="77"/>
              </a:rPr>
              <a:t>Когда оно ломается?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grpSp>
        <p:nvGrpSpPr>
          <p:cNvPr id="24" name="Google Shape;278;p25">
            <a:extLst>
              <a:ext uri="{FF2B5EF4-FFF2-40B4-BE49-F238E27FC236}">
                <a16:creationId xmlns:a16="http://schemas.microsoft.com/office/drawing/2014/main" id="{4D1AC698-0EC5-F59C-EEA4-18E65427F601}"/>
              </a:ext>
            </a:extLst>
          </p:cNvPr>
          <p:cNvGrpSpPr/>
          <p:nvPr/>
        </p:nvGrpSpPr>
        <p:grpSpPr>
          <a:xfrm>
            <a:off x="7990051" y="1637110"/>
            <a:ext cx="10504777" cy="8645818"/>
            <a:chOff x="4924425" y="1466850"/>
            <a:chExt cx="3524250" cy="2962200"/>
          </a:xfrm>
        </p:grpSpPr>
        <p:pic>
          <p:nvPicPr>
            <p:cNvPr id="26" name="Google Shape;280;p25">
              <a:extLst>
                <a:ext uri="{FF2B5EF4-FFF2-40B4-BE49-F238E27FC236}">
                  <a16:creationId xmlns:a16="http://schemas.microsoft.com/office/drawing/2014/main" id="{A375B8C9-EF4E-F5F0-096D-ED58111A86F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34025" y="1466850"/>
              <a:ext cx="2305200" cy="73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Google Shape;281;p25">
              <a:extLst>
                <a:ext uri="{FF2B5EF4-FFF2-40B4-BE49-F238E27FC236}">
                  <a16:creationId xmlns:a16="http://schemas.microsoft.com/office/drawing/2014/main" id="{FDA7F063-3759-A3F9-6179-6E73976B741A}"/>
                </a:ext>
              </a:extLst>
            </p:cNvPr>
            <p:cNvSpPr txBox="1"/>
            <p:nvPr/>
          </p:nvSpPr>
          <p:spPr>
            <a:xfrm>
              <a:off x="5565077" y="1571625"/>
              <a:ext cx="2233533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Instrument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ticker, name, getDescription()</a:t>
              </a: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400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добавили новый</a:t>
              </a:r>
              <a:r>
                <a:rPr lang="en-US" sz="2400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</a:t>
              </a:r>
              <a:r>
                <a:rPr lang="ru-RU" sz="2400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абстрактный</a:t>
              </a:r>
              <a:r>
                <a:rPr lang="ru" sz="2400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метод </a:t>
              </a:r>
              <a:r>
                <a:rPr lang="en-US" sz="2400" dirty="0" err="1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getDividends</a:t>
              </a:r>
              <a:r>
                <a:rPr lang="en-US" sz="2400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()</a:t>
              </a:r>
              <a:endParaRPr sz="2400" b="0" dirty="0">
                <a:solidFill>
                  <a:srgbClr val="FF0000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  <p:pic>
          <p:nvPicPr>
            <p:cNvPr id="29" name="Google Shape;282;p25">
              <a:extLst>
                <a:ext uri="{FF2B5EF4-FFF2-40B4-BE49-F238E27FC236}">
                  <a16:creationId xmlns:a16="http://schemas.microsoft.com/office/drawing/2014/main" id="{3AB1A281-E18D-6F69-2250-79EBCC22778C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677025" y="2190750"/>
              <a:ext cx="19200" cy="47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283;p25">
              <a:extLst>
                <a:ext uri="{FF2B5EF4-FFF2-40B4-BE49-F238E27FC236}">
                  <a16:creationId xmlns:a16="http://schemas.microsoft.com/office/drawing/2014/main" id="{0703A9F5-59BC-6925-EE52-BE0F6DCA2F8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495925" y="2657475"/>
              <a:ext cx="23718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284;p25">
              <a:extLst>
                <a:ext uri="{FF2B5EF4-FFF2-40B4-BE49-F238E27FC236}">
                  <a16:creationId xmlns:a16="http://schemas.microsoft.com/office/drawing/2014/main" id="{282806C3-11F1-92C0-C59B-3B9DFB2914C9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48640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285;p25">
              <a:extLst>
                <a:ext uri="{FF2B5EF4-FFF2-40B4-BE49-F238E27FC236}">
                  <a16:creationId xmlns:a16="http://schemas.microsoft.com/office/drawing/2014/main" id="{19D88BF4-E77C-359B-46DA-E5104100F7B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45782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286;p25">
              <a:extLst>
                <a:ext uri="{FF2B5EF4-FFF2-40B4-BE49-F238E27FC236}">
                  <a16:creationId xmlns:a16="http://schemas.microsoft.com/office/drawing/2014/main" id="{7F108724-39A8-62C8-F484-BB480C332F66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77025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287;p25">
              <a:extLst>
                <a:ext uri="{FF2B5EF4-FFF2-40B4-BE49-F238E27FC236}">
                  <a16:creationId xmlns:a16="http://schemas.microsoft.com/office/drawing/2014/main" id="{E45CD8D3-0E78-5BFF-CF7C-D4F8699438F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48450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288;p25">
              <a:extLst>
                <a:ext uri="{FF2B5EF4-FFF2-40B4-BE49-F238E27FC236}">
                  <a16:creationId xmlns:a16="http://schemas.microsoft.com/office/drawing/2014/main" id="{987FB495-4A87-3204-6899-094D9EADC03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7867650" y="2667000"/>
              <a:ext cx="19200" cy="19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289;p25">
              <a:extLst>
                <a:ext uri="{FF2B5EF4-FFF2-40B4-BE49-F238E27FC236}">
                  <a16:creationId xmlns:a16="http://schemas.microsoft.com/office/drawing/2014/main" id="{CFC56717-CA59-BAC9-DCE7-1D1DCF2F6184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839075" y="2828925"/>
              <a:ext cx="76200" cy="7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290;p25">
              <a:extLst>
                <a:ext uri="{FF2B5EF4-FFF2-40B4-BE49-F238E27FC236}">
                  <a16:creationId xmlns:a16="http://schemas.microsoft.com/office/drawing/2014/main" id="{F3BD02AB-ADA9-6C19-A825-5D4657CDF06F}"/>
                </a:ext>
              </a:extLst>
            </p:cNvPr>
            <p:cNvSpPr/>
            <p:nvPr/>
          </p:nvSpPr>
          <p:spPr>
            <a:xfrm>
              <a:off x="4924425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80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62" name="Google Shape;291;p25">
              <a:extLst>
                <a:ext uri="{FF2B5EF4-FFF2-40B4-BE49-F238E27FC236}">
                  <a16:creationId xmlns:a16="http://schemas.microsoft.com/office/drawing/2014/main" id="{F4CE80EE-1698-FB8A-43F3-BDDC8C534A8F}"/>
                </a:ext>
              </a:extLst>
            </p:cNvPr>
            <p:cNvSpPr txBox="1"/>
            <p:nvPr/>
          </p:nvSpPr>
          <p:spPr>
            <a:xfrm>
              <a:off x="497205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Stock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sector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нужно реализовать метод </a:t>
              </a:r>
              <a:r>
                <a:rPr lang="en-US" sz="1800" b="1" dirty="0" err="1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getDividends</a:t>
              </a:r>
              <a:r>
                <a:rPr lang="en-US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()</a:t>
              </a:r>
            </a:p>
          </p:txBody>
        </p:sp>
        <p:sp>
          <p:nvSpPr>
            <p:cNvPr id="63" name="Google Shape;292;p25">
              <a:extLst>
                <a:ext uri="{FF2B5EF4-FFF2-40B4-BE49-F238E27FC236}">
                  <a16:creationId xmlns:a16="http://schemas.microsoft.com/office/drawing/2014/main" id="{8229C4A6-96B6-EA55-E246-E2C3B433EBC3}"/>
                </a:ext>
              </a:extLst>
            </p:cNvPr>
            <p:cNvSpPr/>
            <p:nvPr/>
          </p:nvSpPr>
          <p:spPr>
            <a:xfrm>
              <a:off x="6115050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93;p25">
              <a:extLst>
                <a:ext uri="{FF2B5EF4-FFF2-40B4-BE49-F238E27FC236}">
                  <a16:creationId xmlns:a16="http://schemas.microsoft.com/office/drawing/2014/main" id="{21A34E49-4F26-93F6-5ED4-4A1146501D2C}"/>
                </a:ext>
              </a:extLst>
            </p:cNvPr>
            <p:cNvSpPr txBox="1"/>
            <p:nvPr/>
          </p:nvSpPr>
          <p:spPr>
            <a:xfrm>
              <a:off x="6162675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Bond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coupon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  <a:endParaRPr lang="en-US"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нужно реализовать метод </a:t>
              </a:r>
              <a:r>
                <a:rPr lang="en-US" sz="1800" b="1" dirty="0" err="1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getDividends</a:t>
              </a:r>
              <a:r>
                <a:rPr lang="en-US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()</a:t>
              </a:r>
              <a:endParaRPr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  <p:sp>
          <p:nvSpPr>
            <p:cNvPr id="65" name="Google Shape;294;p25">
              <a:extLst>
                <a:ext uri="{FF2B5EF4-FFF2-40B4-BE49-F238E27FC236}">
                  <a16:creationId xmlns:a16="http://schemas.microsoft.com/office/drawing/2014/main" id="{96AA8207-847C-A75D-6754-1F3E18F8D307}"/>
                </a:ext>
              </a:extLst>
            </p:cNvPr>
            <p:cNvSpPr/>
            <p:nvPr/>
          </p:nvSpPr>
          <p:spPr>
            <a:xfrm>
              <a:off x="7305675" y="2952750"/>
              <a:ext cx="1143000" cy="1476300"/>
            </a:xfrm>
            <a:prstGeom prst="roundRect">
              <a:avLst>
                <a:gd name="adj" fmla="val 6666"/>
              </a:avLst>
            </a:prstGeom>
            <a:solidFill>
              <a:srgbClr val="F1EFFB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95;p25">
              <a:extLst>
                <a:ext uri="{FF2B5EF4-FFF2-40B4-BE49-F238E27FC236}">
                  <a16:creationId xmlns:a16="http://schemas.microsoft.com/office/drawing/2014/main" id="{2C8B95E8-13D9-70F8-D348-5E4450D62CBC}"/>
                </a:ext>
              </a:extLst>
            </p:cNvPr>
            <p:cNvSpPr txBox="1"/>
            <p:nvPr/>
          </p:nvSpPr>
          <p:spPr>
            <a:xfrm>
              <a:off x="7353300" y="3095625"/>
              <a:ext cx="10479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36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Etf</a:t>
              </a:r>
              <a:endParaRPr sz="36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ru" sz="2400" b="0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index</a:t>
              </a:r>
              <a:endParaRPr sz="2400" b="0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999999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Наследует ticker, name и поведение</a:t>
              </a:r>
              <a:endParaRPr lang="en-US"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  <a:p>
              <a:pPr marL="0" lvl="0" indent="0" algn="ctr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ru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нужно реализовать метод </a:t>
              </a:r>
              <a:r>
                <a:rPr lang="en-US" sz="1800" b="1" dirty="0" err="1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getDividends</a:t>
              </a:r>
              <a:r>
                <a:rPr lang="en-US" sz="1800" b="1" dirty="0">
                  <a:solidFill>
                    <a:srgbClr val="FF0000"/>
                  </a:solidFill>
                  <a:latin typeface="T-Sans" pitchFamily="2" charset="77"/>
                  <a:ea typeface="T-Sans" pitchFamily="2" charset="77"/>
                  <a:cs typeface="Arial"/>
                  <a:sym typeface="Arial"/>
                </a:rPr>
                <a:t>()</a:t>
              </a:r>
              <a:endParaRPr sz="1800" b="1" dirty="0">
                <a:solidFill>
                  <a:srgbClr val="999999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1F40D51C-C649-9C72-3A60-6D19EDD8E0CA}"/>
              </a:ext>
            </a:extLst>
          </p:cNvPr>
          <p:cNvSpPr txBox="1"/>
          <p:nvPr/>
        </p:nvSpPr>
        <p:spPr>
          <a:xfrm>
            <a:off x="9991317" y="10560106"/>
            <a:ext cx="62751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dirty="0"/>
              <a:t>А что делать, если у какого-то из инструментов нет дивидендов?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AED5AF-20E6-06E2-E309-9FFE911C4E83}"/>
              </a:ext>
            </a:extLst>
          </p:cNvPr>
          <p:cNvSpPr txBox="1"/>
          <p:nvPr/>
        </p:nvSpPr>
        <p:spPr>
          <a:xfrm>
            <a:off x="595388" y="10512425"/>
            <a:ext cx="6275114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RU" sz="1800" b="1" dirty="0">
                <a:solidFill>
                  <a:schemeClr val="accent3">
                    <a:lumMod val="50000"/>
                  </a:schemeClr>
                </a:solidFill>
              </a:rPr>
              <a:t>*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RU" sz="18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про 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SOLID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мы с вами поговорим на 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следующих семинарах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!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30169529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F9F53D-12DD-F728-FBAF-6F896C8C6E9F}"/>
              </a:ext>
            </a:extLst>
          </p:cNvPr>
          <p:cNvSpPr txBox="1"/>
          <p:nvPr/>
        </p:nvSpPr>
        <p:spPr>
          <a:xfrm>
            <a:off x="611188" y="556966"/>
            <a:ext cx="5879259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Есть альтернатива наследованию!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BBC81-665B-182C-8A88-4B0F8FFA52A2}"/>
              </a:ext>
            </a:extLst>
          </p:cNvPr>
          <p:cNvSpPr txBox="1"/>
          <p:nvPr/>
        </p:nvSpPr>
        <p:spPr>
          <a:xfrm>
            <a:off x="611188" y="3743325"/>
            <a:ext cx="4716462" cy="48013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Часто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проблемы</a:t>
            </a:r>
            <a:r>
              <a:rPr lang="ru-RU" dirty="0">
                <a:latin typeface="T-Sans" pitchFamily="2" charset="0"/>
                <a:ea typeface="T-Sans" pitchFamily="2" charset="0"/>
              </a:rPr>
              <a:t> наследования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снимаются</a:t>
            </a:r>
            <a:r>
              <a:rPr lang="ru-RU" dirty="0">
                <a:latin typeface="T-Sans" pitchFamily="2" charset="0"/>
                <a:ea typeface="T-Sans" pitchFamily="2" charset="0"/>
              </a:rPr>
              <a:t> простым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объединением</a:t>
            </a:r>
            <a:r>
              <a:rPr lang="ru-RU" dirty="0">
                <a:latin typeface="T-Sans" pitchFamily="2" charset="0"/>
                <a:ea typeface="T-Sans" pitchFamily="2" charset="0"/>
              </a:rPr>
              <a:t>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объектов</a:t>
            </a:r>
            <a:r>
              <a:rPr lang="ru-RU" dirty="0">
                <a:latin typeface="T-Sans" pitchFamily="2" charset="0"/>
                <a:ea typeface="T-Sans" pitchFamily="2" charset="0"/>
              </a:rPr>
              <a:t>, а не выстраиванием иерархии. 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r>
              <a:rPr lang="ru-RU" b="1" dirty="0">
                <a:latin typeface="T-Sans" pitchFamily="2" charset="0"/>
                <a:ea typeface="T-Sans" pitchFamily="2" charset="0"/>
              </a:rPr>
              <a:t>Правило большого пальца: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0"/>
                <a:ea typeface="T-Sans" pitchFamily="2" charset="0"/>
              </a:rPr>
              <a:t>Предпочитать композицию наследованию. Наследоваться стоит использовать только тогда, когда отношение </a:t>
            </a:r>
            <a:r>
              <a:rPr lang="en-GB" dirty="0">
                <a:latin typeface="T-Sans" pitchFamily="2" charset="0"/>
                <a:ea typeface="T-Sans" pitchFamily="2" charset="0"/>
              </a:rPr>
              <a:t>IS-A </a:t>
            </a:r>
            <a:r>
              <a:rPr lang="ru-RU" dirty="0">
                <a:latin typeface="T-Sans" pitchFamily="2" charset="0"/>
                <a:ea typeface="T-Sans" pitchFamily="2" charset="0"/>
              </a:rPr>
              <a:t>действительно есть, а иерархия остаётся простой.</a:t>
            </a: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  <a:p>
            <a:pPr>
              <a:lnSpc>
                <a:spcPct val="100000"/>
              </a:lnSpc>
            </a:pP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3811FD-CFB6-AA9B-18BE-0A3E8DAAB793}"/>
              </a:ext>
            </a:extLst>
          </p:cNvPr>
          <p:cNvSpPr txBox="1"/>
          <p:nvPr/>
        </p:nvSpPr>
        <p:spPr>
          <a:xfrm>
            <a:off x="7359458" y="2809908"/>
            <a:ext cx="5040000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Объект </a:t>
            </a: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ссылается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 на другой, но тот </a:t>
            </a: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живёт независимо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. Одна и та же акция может быть в десятках котировок. Удаление котировки не затрагивает саму акцию.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D5E15-7B2B-0E7F-A749-E209A7A2AB9D}"/>
              </a:ext>
            </a:extLst>
          </p:cNvPr>
          <p:cNvSpPr txBox="1"/>
          <p:nvPr/>
        </p:nvSpPr>
        <p:spPr>
          <a:xfrm>
            <a:off x="13668820" y="2809908"/>
            <a:ext cx="504000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tx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Более сильная форма владения, «</a:t>
            </a:r>
            <a:r>
              <a:rPr lang="ru-RU" b="1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часть-целое</a:t>
            </a:r>
            <a:r>
              <a:rPr lang="ru-RU" dirty="0">
                <a:solidFill>
                  <a:schemeClr val="bg1"/>
                </a:solidFill>
                <a:latin typeface="T-Sans" pitchFamily="2" charset="0"/>
                <a:ea typeface="T-Sans" pitchFamily="2" charset="0"/>
              </a:rPr>
              <a:t>». Позиция портфеля живёт только внутри него. Удаление портфеля удаляет и все его позиции.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345203A-FEDA-E10B-7BB8-6EE5751038A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14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54BE0-375F-C558-497F-B2B95696D3B3}"/>
              </a:ext>
            </a:extLst>
          </p:cNvPr>
          <p:cNvSpPr txBox="1"/>
          <p:nvPr/>
        </p:nvSpPr>
        <p:spPr>
          <a:xfrm>
            <a:off x="7359460" y="1132518"/>
            <a:ext cx="502462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latin typeface="T-Sans Medium" pitchFamily="2" charset="0"/>
                <a:ea typeface="T-Sans" pitchFamily="2" charset="0"/>
              </a:rPr>
              <a:t>Агрегация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BAA70-043A-64F3-C6D7-8E99ECA6F4EB}"/>
              </a:ext>
            </a:extLst>
          </p:cNvPr>
          <p:cNvSpPr txBox="1"/>
          <p:nvPr/>
        </p:nvSpPr>
        <p:spPr>
          <a:xfrm>
            <a:off x="13668820" y="1132518"/>
            <a:ext cx="5052568" cy="503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36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Композиция</a:t>
            </a:r>
          </a:p>
        </p:txBody>
      </p:sp>
      <p:grpSp>
        <p:nvGrpSpPr>
          <p:cNvPr id="13" name="Google Shape;326;p27">
            <a:extLst>
              <a:ext uri="{FF2B5EF4-FFF2-40B4-BE49-F238E27FC236}">
                <a16:creationId xmlns:a16="http://schemas.microsoft.com/office/drawing/2014/main" id="{A6E7FE91-4999-B080-FF60-005A95DCD3E1}"/>
              </a:ext>
            </a:extLst>
          </p:cNvPr>
          <p:cNvGrpSpPr/>
          <p:nvPr/>
        </p:nvGrpSpPr>
        <p:grpSpPr>
          <a:xfrm>
            <a:off x="7359458" y="5074658"/>
            <a:ext cx="5052568" cy="1846659"/>
            <a:chOff x="714375" y="2047875"/>
            <a:chExt cx="3476700" cy="1428900"/>
          </a:xfrm>
        </p:grpSpPr>
        <p:sp>
          <p:nvSpPr>
            <p:cNvPr id="16" name="Google Shape;329;p27">
              <a:extLst>
                <a:ext uri="{FF2B5EF4-FFF2-40B4-BE49-F238E27FC236}">
                  <a16:creationId xmlns:a16="http://schemas.microsoft.com/office/drawing/2014/main" id="{7E0653F3-A665-4C1D-1CEF-9CB92FE09386}"/>
                </a:ext>
              </a:extLst>
            </p:cNvPr>
            <p:cNvSpPr/>
            <p:nvPr/>
          </p:nvSpPr>
          <p:spPr>
            <a:xfrm>
              <a:off x="714375" y="2047875"/>
              <a:ext cx="3476700" cy="1428900"/>
            </a:xfrm>
            <a:prstGeom prst="roundRect">
              <a:avLst>
                <a:gd name="adj" fmla="val 4000"/>
              </a:avLst>
            </a:prstGeom>
            <a:solidFill>
              <a:srgbClr val="FFEE96"/>
            </a:solidFill>
            <a:ln w="9525" cap="flat" cmpd="sng">
              <a:solidFill>
                <a:srgbClr val="E5E4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30;p27">
              <a:extLst>
                <a:ext uri="{FF2B5EF4-FFF2-40B4-BE49-F238E27FC236}">
                  <a16:creationId xmlns:a16="http://schemas.microsoft.com/office/drawing/2014/main" id="{92CA724F-B9CC-F8FD-E0FD-DAF22BCFB258}"/>
                </a:ext>
              </a:extLst>
            </p:cNvPr>
            <p:cNvSpPr txBox="1"/>
            <p:nvPr/>
          </p:nvSpPr>
          <p:spPr>
            <a:xfrm>
              <a:off x="857250" y="21431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// Код агрегации в Java</a:t>
              </a:r>
              <a:endParaRPr sz="2000" b="1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public class Quote {</a:t>
              </a:r>
              <a:b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</a:b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 private final </a:t>
              </a: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Stock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</a:t>
              </a: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stock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;</a:t>
              </a:r>
              <a:b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</a:b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 private final BigDecimal price;</a:t>
              </a:r>
              <a:b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</a:b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}</a:t>
              </a:r>
              <a:endParaRPr sz="20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</p:grpSp>
      <p:grpSp>
        <p:nvGrpSpPr>
          <p:cNvPr id="18" name="Google Shape;331;p27">
            <a:extLst>
              <a:ext uri="{FF2B5EF4-FFF2-40B4-BE49-F238E27FC236}">
                <a16:creationId xmlns:a16="http://schemas.microsoft.com/office/drawing/2014/main" id="{A3B813E2-2008-34F6-239D-E04DBF7EB4C1}"/>
              </a:ext>
            </a:extLst>
          </p:cNvPr>
          <p:cNvGrpSpPr/>
          <p:nvPr/>
        </p:nvGrpSpPr>
        <p:grpSpPr>
          <a:xfrm>
            <a:off x="13679488" y="5074658"/>
            <a:ext cx="5052568" cy="1846658"/>
            <a:chOff x="4953000" y="2047875"/>
            <a:chExt cx="3476700" cy="1428900"/>
          </a:xfrm>
          <a:solidFill>
            <a:srgbClr val="EFF1F2"/>
          </a:solidFill>
        </p:grpSpPr>
        <p:sp>
          <p:nvSpPr>
            <p:cNvPr id="21" name="Google Shape;334;p27">
              <a:extLst>
                <a:ext uri="{FF2B5EF4-FFF2-40B4-BE49-F238E27FC236}">
                  <a16:creationId xmlns:a16="http://schemas.microsoft.com/office/drawing/2014/main" id="{35AB9E46-4AA9-3A8C-1A0F-79B18C57A264}"/>
                </a:ext>
              </a:extLst>
            </p:cNvPr>
            <p:cNvSpPr/>
            <p:nvPr/>
          </p:nvSpPr>
          <p:spPr>
            <a:xfrm>
              <a:off x="4953000" y="2047875"/>
              <a:ext cx="3476700" cy="1428900"/>
            </a:xfrm>
            <a:prstGeom prst="roundRect">
              <a:avLst>
                <a:gd name="adj" fmla="val 4000"/>
              </a:avLst>
            </a:prstGeom>
            <a:grpFill/>
            <a:ln w="9525" cap="flat" cmpd="sng">
              <a:solidFill>
                <a:srgbClr val="E5E4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35;p27">
              <a:extLst>
                <a:ext uri="{FF2B5EF4-FFF2-40B4-BE49-F238E27FC236}">
                  <a16:creationId xmlns:a16="http://schemas.microsoft.com/office/drawing/2014/main" id="{353FB435-9AC7-2AFD-3622-8E04A646004E}"/>
                </a:ext>
              </a:extLst>
            </p:cNvPr>
            <p:cNvSpPr txBox="1"/>
            <p:nvPr/>
          </p:nvSpPr>
          <p:spPr>
            <a:xfrm>
              <a:off x="5095875" y="2143125"/>
              <a:ext cx="3190800" cy="1238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// Код композиции в Java</a:t>
              </a:r>
              <a:endParaRPr sz="2000" b="1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public class Portfolio {</a:t>
              </a:r>
              <a:b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</a:b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 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static class Position {</a:t>
              </a: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... 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}</a:t>
              </a:r>
              <a:b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</a:b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 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Position</a:t>
              </a: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[] </a:t>
              </a: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positions</a:t>
              </a:r>
              <a:r>
                <a:rPr lang="en-US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 = new ...</a:t>
              </a: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New"/>
                  <a:sym typeface="Courier New"/>
                </a:rPr>
                <a:t>}</a:t>
              </a:r>
              <a:endParaRPr sz="2000" b="1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New"/>
                <a:sym typeface="Courier New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92855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530F7A5D-F5D7-E6BD-747A-6D5284DA45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>
                <a:latin typeface="T-Sans" pitchFamily="2" charset="77"/>
                <a:ea typeface="T-Sans" pitchFamily="2" charset="77"/>
              </a:rPr>
              <a:pPr algn="r">
                <a:buFont typeface="Wingdings" pitchFamily="2" charset="2"/>
                <a:buNone/>
              </a:pPr>
              <a:t>15</a:t>
            </a:fld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F826-89E5-D916-469A-977BE872DF8A}"/>
              </a:ext>
            </a:extLst>
          </p:cNvPr>
          <p:cNvSpPr txBox="1"/>
          <p:nvPr/>
        </p:nvSpPr>
        <p:spPr>
          <a:xfrm>
            <a:off x="1479388" y="3734181"/>
            <a:ext cx="4521708" cy="2369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b="1" dirty="0">
                <a:latin typeface="T-Sans" pitchFamily="2" charset="77"/>
                <a:ea typeface="T-Sans" pitchFamily="2" charset="77"/>
              </a:rPr>
              <a:t>Полиморфизм подтипов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:</a:t>
            </a:r>
            <a:endParaRPr lang="ru-RU" b="1" dirty="0">
              <a:latin typeface="T-Sans" pitchFamily="2" charset="77"/>
              <a:ea typeface="T-Sans" pitchFamily="2" charset="77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Переопределение методов в подклассах. Код вызывает нужную реализацию в зависимости от конкретного типа объекта. Решение принимается в </a:t>
            </a:r>
            <a:r>
              <a:rPr lang="en-GB" b="1" dirty="0">
                <a:latin typeface="T-Sans" pitchFamily="2" charset="77"/>
                <a:ea typeface="T-Sans" pitchFamily="2" charset="77"/>
              </a:rPr>
              <a:t>runtime</a:t>
            </a:r>
            <a:r>
              <a:rPr lang="en-GB" dirty="0">
                <a:latin typeface="T-Sans" pitchFamily="2" charset="77"/>
                <a:ea typeface="T-Sans" pitchFamily="2" charset="77"/>
              </a:rPr>
              <a:t> </a:t>
            </a:r>
            <a:r>
              <a:rPr lang="ru-RU" dirty="0">
                <a:latin typeface="T-Sans" pitchFamily="2" charset="77"/>
                <a:ea typeface="T-Sans" pitchFamily="2" charset="77"/>
              </a:rPr>
              <a:t>на основе фактического типа.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92D358-E8E5-63DF-1D61-218928D980C1}"/>
              </a:ext>
            </a:extLst>
          </p:cNvPr>
          <p:cNvSpPr txBox="1"/>
          <p:nvPr/>
        </p:nvSpPr>
        <p:spPr>
          <a:xfrm>
            <a:off x="1484382" y="2353756"/>
            <a:ext cx="4521708" cy="1015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Способность работать с объектами разных типов через единый общий интерфейс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BE006AB-0641-8464-5FBF-F3353EAC0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2353756"/>
            <a:ext cx="612000" cy="6120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807939-D90B-4638-A99E-4291645C29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6194" y="3734181"/>
            <a:ext cx="612000" cy="61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AD1F9E-7A8E-0D3B-E2C0-8AFEE77263AB}"/>
              </a:ext>
            </a:extLst>
          </p:cNvPr>
          <p:cNvSpPr txBox="1"/>
          <p:nvPr/>
        </p:nvSpPr>
        <p:spPr>
          <a:xfrm>
            <a:off x="611188" y="1321118"/>
            <a:ext cx="5650934" cy="8540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77"/>
                <a:ea typeface="T-Sans" pitchFamily="2" charset="77"/>
              </a:rPr>
              <a:t>Полиморфизм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F56AC23A-04C6-0CB7-4194-08E51495C828}"/>
              </a:ext>
            </a:extLst>
          </p:cNvPr>
          <p:cNvGrpSpPr/>
          <p:nvPr/>
        </p:nvGrpSpPr>
        <p:grpSpPr>
          <a:xfrm>
            <a:off x="7477170" y="647700"/>
            <a:ext cx="11448000" cy="9864725"/>
            <a:chOff x="7477170" y="647700"/>
            <a:chExt cx="11448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16DCC4B4-3EBC-8B3B-EA9A-30F82B9B5612}"/>
                </a:ext>
              </a:extLst>
            </p:cNvPr>
            <p:cNvSpPr/>
            <p:nvPr/>
          </p:nvSpPr>
          <p:spPr>
            <a:xfrm>
              <a:off x="7477170" y="647700"/>
              <a:ext cx="11448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50ABFB29-9A1D-4E9A-7806-2134A16A9F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72B004E8-4FC8-C030-6D79-CC671F3EFC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B31BB015-4971-4842-1ED0-CD88AC28F2C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endParaRPr>
            </a:p>
          </p:txBody>
        </p:sp>
        <p:sp>
          <p:nvSpPr>
            <p:cNvPr id="12" name="Скругленный прямоугольник 11">
              <a:extLst>
                <a:ext uri="{FF2B5EF4-FFF2-40B4-BE49-F238E27FC236}">
                  <a16:creationId xmlns:a16="http://schemas.microsoft.com/office/drawing/2014/main" id="{EE763C6C-231F-5639-A9C0-7BF198248EBC}"/>
                </a:ext>
              </a:extLst>
            </p:cNvPr>
            <p:cNvSpPr/>
            <p:nvPr/>
          </p:nvSpPr>
          <p:spPr>
            <a:xfrm>
              <a:off x="7621170" y="1245510"/>
              <a:ext cx="11160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77"/>
                <a:ea typeface="T-Sans" pitchFamily="2" charset="7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F0E3187-5929-3E70-BBD3-9575274EAAEA}"/>
              </a:ext>
            </a:extLst>
          </p:cNvPr>
          <p:cNvSpPr txBox="1"/>
          <p:nvPr/>
        </p:nvSpPr>
        <p:spPr>
          <a:xfrm>
            <a:off x="1484382" y="6468823"/>
            <a:ext cx="4521708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b="1" dirty="0">
                <a:latin typeface="T-Sans" pitchFamily="2" charset="77"/>
                <a:ea typeface="T-Sans" pitchFamily="2" charset="77"/>
              </a:rPr>
              <a:t>Перегрузка</a:t>
            </a:r>
            <a:r>
              <a:rPr lang="en-US" b="1" dirty="0">
                <a:latin typeface="T-Sans" pitchFamily="2" charset="77"/>
                <a:ea typeface="T-Sans" pitchFamily="2" charset="77"/>
              </a:rPr>
              <a:t>:</a:t>
            </a:r>
            <a:r>
              <a:rPr lang="ru-RU" dirty="0">
                <a:latin typeface="T-Sans" pitchFamily="2" charset="77"/>
                <a:ea typeface="T-Sans" pitchFamily="2" charset="77"/>
              </a:rPr>
              <a:t> </a:t>
            </a:r>
            <a:endParaRPr lang="en-US" dirty="0">
              <a:latin typeface="T-Sans" pitchFamily="2" charset="77"/>
              <a:ea typeface="T-Sans" pitchFamily="2" charset="77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Несколько методов с одним именем, но разными сигнатурами параметров. Конкретный метод для вызова определяется компилятором в </a:t>
            </a:r>
            <a:r>
              <a:rPr lang="en-GB" b="1" dirty="0">
                <a:latin typeface="T-Sans" pitchFamily="2" charset="77"/>
                <a:ea typeface="T-Sans" pitchFamily="2" charset="77"/>
              </a:rPr>
              <a:t>compile-time</a:t>
            </a:r>
            <a:r>
              <a:rPr lang="en-GB" dirty="0">
                <a:latin typeface="T-Sans" pitchFamily="2" charset="77"/>
                <a:ea typeface="T-Sans" pitchFamily="2" charset="77"/>
              </a:rPr>
              <a:t> </a:t>
            </a:r>
            <a:r>
              <a:rPr lang="ru-RU" dirty="0">
                <a:latin typeface="T-Sans" pitchFamily="2" charset="77"/>
                <a:ea typeface="T-Sans" pitchFamily="2" charset="77"/>
              </a:rPr>
              <a:t>по типам аргументов.</a:t>
            </a:r>
          </a:p>
        </p:txBody>
      </p:sp>
      <p:pic>
        <p:nvPicPr>
          <p:cNvPr id="7" name="Рисунок 20">
            <a:extLst>
              <a:ext uri="{FF2B5EF4-FFF2-40B4-BE49-F238E27FC236}">
                <a16:creationId xmlns:a16="http://schemas.microsoft.com/office/drawing/2014/main" id="{5615F07D-C2EE-359A-F71A-DD44B2761B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6468823"/>
            <a:ext cx="612000" cy="61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53A152-D2EE-1BE2-1783-921C6F04ED63}"/>
              </a:ext>
            </a:extLst>
          </p:cNvPr>
          <p:cNvSpPr txBox="1"/>
          <p:nvPr/>
        </p:nvSpPr>
        <p:spPr>
          <a:xfrm>
            <a:off x="1484382" y="8864910"/>
            <a:ext cx="4521708" cy="6771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latin typeface="T-Sans" pitchFamily="2" charset="77"/>
                <a:ea typeface="T-Sans" pitchFamily="2" charset="77"/>
              </a:rPr>
              <a:t>Есть и другие виды полиморфизма, но о них – на </a:t>
            </a:r>
            <a:r>
              <a:rPr lang="ru-RU" b="1" dirty="0">
                <a:latin typeface="T-Sans" pitchFamily="2" charset="77"/>
                <a:ea typeface="T-Sans" pitchFamily="2" charset="77"/>
              </a:rPr>
              <a:t>следующих семинарах</a:t>
            </a:r>
            <a:r>
              <a:rPr lang="en-US" dirty="0">
                <a:latin typeface="T-Sans" pitchFamily="2" charset="77"/>
                <a:ea typeface="T-Sans" pitchFamily="2" charset="77"/>
              </a:rPr>
              <a:t>. </a:t>
            </a:r>
            <a:endParaRPr lang="ru-RU" dirty="0">
              <a:latin typeface="T-Sans" pitchFamily="2" charset="77"/>
              <a:ea typeface="T-Sans" pitchFamily="2" charset="77"/>
            </a:endParaRPr>
          </a:p>
        </p:txBody>
      </p:sp>
      <p:pic>
        <p:nvPicPr>
          <p:cNvPr id="9" name="Рисунок 20">
            <a:extLst>
              <a:ext uri="{FF2B5EF4-FFF2-40B4-BE49-F238E27FC236}">
                <a16:creationId xmlns:a16="http://schemas.microsoft.com/office/drawing/2014/main" id="{13A00694-4BFB-048D-A214-9A64330D4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8864910"/>
            <a:ext cx="612000" cy="612000"/>
          </a:xfrm>
          <a:prstGeom prst="rect">
            <a:avLst/>
          </a:prstGeom>
        </p:spPr>
      </p:pic>
      <p:grpSp>
        <p:nvGrpSpPr>
          <p:cNvPr id="16" name="Google Shape;346;p28">
            <a:extLst>
              <a:ext uri="{FF2B5EF4-FFF2-40B4-BE49-F238E27FC236}">
                <a16:creationId xmlns:a16="http://schemas.microsoft.com/office/drawing/2014/main" id="{89976F03-FDB8-7FD9-45EB-232D4CFB65C1}"/>
              </a:ext>
            </a:extLst>
          </p:cNvPr>
          <p:cNvGrpSpPr/>
          <p:nvPr/>
        </p:nvGrpSpPr>
        <p:grpSpPr>
          <a:xfrm>
            <a:off x="7893204" y="1526540"/>
            <a:ext cx="6659649" cy="4231553"/>
            <a:chOff x="476250" y="1286963"/>
            <a:chExt cx="3952800" cy="1850065"/>
          </a:xfrm>
        </p:grpSpPr>
        <p:sp>
          <p:nvSpPr>
            <p:cNvPr id="19" name="Google Shape;347;p28">
              <a:extLst>
                <a:ext uri="{FF2B5EF4-FFF2-40B4-BE49-F238E27FC236}">
                  <a16:creationId xmlns:a16="http://schemas.microsoft.com/office/drawing/2014/main" id="{2C705994-E4F3-64C2-F955-64767E9A3BC7}"/>
                </a:ext>
              </a:extLst>
            </p:cNvPr>
            <p:cNvSpPr/>
            <p:nvPr/>
          </p:nvSpPr>
          <p:spPr>
            <a:xfrm>
              <a:off x="476250" y="1286963"/>
              <a:ext cx="3952800" cy="1850065"/>
            </a:xfrm>
            <a:prstGeom prst="roundRect">
              <a:avLst>
                <a:gd name="adj" fmla="val 4615"/>
              </a:avLst>
            </a:prstGeom>
            <a:solidFill>
              <a:srgbClr val="FAF9F6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22" name="Google Shape;348;p28">
              <a:extLst>
                <a:ext uri="{FF2B5EF4-FFF2-40B4-BE49-F238E27FC236}">
                  <a16:creationId xmlns:a16="http://schemas.microsoft.com/office/drawing/2014/main" id="{04435576-9ED0-8328-10DA-6E409C5643FA}"/>
                </a:ext>
              </a:extLst>
            </p:cNvPr>
            <p:cNvSpPr txBox="1"/>
            <p:nvPr/>
          </p:nvSpPr>
          <p:spPr>
            <a:xfrm>
              <a:off x="714375" y="1381125"/>
              <a:ext cx="3476700" cy="158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111111"/>
                  </a:solidFill>
                  <a:latin typeface="T-Sans" pitchFamily="2" charset="77"/>
                  <a:ea typeface="T-Sans" pitchFamily="2" charset="77"/>
                  <a:cs typeface="Inter"/>
                  <a:sym typeface="Inter"/>
                </a:rPr>
                <a:t>Полиморфизм подтипов (subtype, runtime)</a:t>
              </a:r>
              <a:endParaRPr sz="20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Inter"/>
                <a:sym typeface="Inter"/>
              </a:endParaRPr>
            </a:p>
          </p:txBody>
        </p:sp>
        <p:sp>
          <p:nvSpPr>
            <p:cNvPr id="25" name="Google Shape;349;p28">
              <a:extLst>
                <a:ext uri="{FF2B5EF4-FFF2-40B4-BE49-F238E27FC236}">
                  <a16:creationId xmlns:a16="http://schemas.microsoft.com/office/drawing/2014/main" id="{FCC15847-46DE-66CF-2F25-7E7662CBB1F4}"/>
                </a:ext>
              </a:extLst>
            </p:cNvPr>
            <p:cNvSpPr/>
            <p:nvPr/>
          </p:nvSpPr>
          <p:spPr>
            <a:xfrm>
              <a:off x="714375" y="1611975"/>
              <a:ext cx="3476700" cy="1428900"/>
            </a:xfrm>
            <a:prstGeom prst="roundRect">
              <a:avLst>
                <a:gd name="adj" fmla="val 4000"/>
              </a:avLst>
            </a:prstGeom>
            <a:solidFill>
              <a:srgbClr val="F0EFFB"/>
            </a:solidFill>
            <a:ln w="9525" cap="flat" cmpd="sng">
              <a:solidFill>
                <a:srgbClr val="E5E4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28" name="Google Shape;350;p28">
              <a:extLst>
                <a:ext uri="{FF2B5EF4-FFF2-40B4-BE49-F238E27FC236}">
                  <a16:creationId xmlns:a16="http://schemas.microsoft.com/office/drawing/2014/main" id="{C3960273-C6EC-3EEE-E524-F952ABE232D7}"/>
                </a:ext>
              </a:extLst>
            </p:cNvPr>
            <p:cNvSpPr txBox="1"/>
            <p:nvPr/>
          </p:nvSpPr>
          <p:spPr>
            <a:xfrm>
              <a:off x="857250" y="1707225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1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// Вызов метода подкласса в Java</a:t>
              </a:r>
              <a:endParaRPr sz="1600" b="1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void example() {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List&lt;Instrument&gt; list = List.of(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  </a:t>
              </a: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new Stock(), 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  </a:t>
              </a: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new Bond(), 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  </a:t>
              </a: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new Etf()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);</a:t>
              </a:r>
            </a:p>
            <a:p>
              <a:pPr lvl="1" indent="0"/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for (Instrument instr : list) {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  instr.</a:t>
              </a:r>
              <a:r>
                <a:rPr lang="ru" sz="160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getDescription</a:t>
              </a: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(); // </a:t>
              </a:r>
              <a:r>
                <a:rPr lang="ru" sz="160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конкретный подкласс</a:t>
              </a:r>
              <a:endParaRPr sz="160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lvl="1" indent="0"/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}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}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</p:txBody>
        </p:sp>
      </p:grpSp>
      <p:grpSp>
        <p:nvGrpSpPr>
          <p:cNvPr id="30" name="Google Shape;351;p28">
            <a:extLst>
              <a:ext uri="{FF2B5EF4-FFF2-40B4-BE49-F238E27FC236}">
                <a16:creationId xmlns:a16="http://schemas.microsoft.com/office/drawing/2014/main" id="{B87C5877-19DE-9AAC-256B-246CBECC2B58}"/>
              </a:ext>
            </a:extLst>
          </p:cNvPr>
          <p:cNvGrpSpPr/>
          <p:nvPr/>
        </p:nvGrpSpPr>
        <p:grpSpPr>
          <a:xfrm>
            <a:off x="12074974" y="6156844"/>
            <a:ext cx="6404922" cy="4084968"/>
            <a:chOff x="4714875" y="1309299"/>
            <a:chExt cx="3952800" cy="1850065"/>
          </a:xfrm>
        </p:grpSpPr>
        <p:sp>
          <p:nvSpPr>
            <p:cNvPr id="31" name="Google Shape;352;p28">
              <a:extLst>
                <a:ext uri="{FF2B5EF4-FFF2-40B4-BE49-F238E27FC236}">
                  <a16:creationId xmlns:a16="http://schemas.microsoft.com/office/drawing/2014/main" id="{B2323CA2-4461-12A5-AE60-3997F454265D}"/>
                </a:ext>
              </a:extLst>
            </p:cNvPr>
            <p:cNvSpPr/>
            <p:nvPr/>
          </p:nvSpPr>
          <p:spPr>
            <a:xfrm>
              <a:off x="4714875" y="1309299"/>
              <a:ext cx="3952800" cy="1850065"/>
            </a:xfrm>
            <a:prstGeom prst="roundRect">
              <a:avLst>
                <a:gd name="adj" fmla="val 4615"/>
              </a:avLst>
            </a:prstGeom>
            <a:solidFill>
              <a:srgbClr val="FAF9F6"/>
            </a:solidFill>
            <a:ln w="14300" cap="flat" cmpd="sng">
              <a:solidFill>
                <a:srgbClr val="EAE9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4400"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32" name="Google Shape;353;p28">
              <a:extLst>
                <a:ext uri="{FF2B5EF4-FFF2-40B4-BE49-F238E27FC236}">
                  <a16:creationId xmlns:a16="http://schemas.microsoft.com/office/drawing/2014/main" id="{64E54C60-4F7D-DFE7-1D4B-33574BAB842D}"/>
                </a:ext>
              </a:extLst>
            </p:cNvPr>
            <p:cNvSpPr txBox="1"/>
            <p:nvPr/>
          </p:nvSpPr>
          <p:spPr>
            <a:xfrm>
              <a:off x="4953000" y="1381125"/>
              <a:ext cx="3476700" cy="1388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2000" b="1" dirty="0">
                  <a:solidFill>
                    <a:srgbClr val="111111"/>
                  </a:solidFill>
                  <a:latin typeface="T-Sans" pitchFamily="2" charset="77"/>
                  <a:ea typeface="T-Sans" pitchFamily="2" charset="77"/>
                  <a:cs typeface="Inter"/>
                  <a:sym typeface="Inter"/>
                </a:rPr>
                <a:t>Перегрузка (overloading, compile-time)</a:t>
              </a:r>
              <a:endParaRPr sz="20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Inter"/>
                <a:sym typeface="Inter"/>
              </a:endParaRPr>
            </a:p>
          </p:txBody>
        </p:sp>
        <p:sp>
          <p:nvSpPr>
            <p:cNvPr id="33" name="Google Shape;354;p28">
              <a:extLst>
                <a:ext uri="{FF2B5EF4-FFF2-40B4-BE49-F238E27FC236}">
                  <a16:creationId xmlns:a16="http://schemas.microsoft.com/office/drawing/2014/main" id="{1B870440-1C9D-1EBA-3209-D77486CB131A}"/>
                </a:ext>
              </a:extLst>
            </p:cNvPr>
            <p:cNvSpPr/>
            <p:nvPr/>
          </p:nvSpPr>
          <p:spPr>
            <a:xfrm>
              <a:off x="4937723" y="1622674"/>
              <a:ext cx="3476700" cy="1428900"/>
            </a:xfrm>
            <a:prstGeom prst="roundRect">
              <a:avLst>
                <a:gd name="adj" fmla="val 4000"/>
              </a:avLst>
            </a:prstGeom>
            <a:solidFill>
              <a:srgbClr val="F0EFFB"/>
            </a:solidFill>
            <a:ln w="9525" cap="flat" cmpd="sng">
              <a:solidFill>
                <a:srgbClr val="E5E4F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-Sans" pitchFamily="2" charset="77"/>
                <a:ea typeface="T-Sans" pitchFamily="2" charset="77"/>
              </a:endParaRPr>
            </a:p>
          </p:txBody>
        </p:sp>
        <p:sp>
          <p:nvSpPr>
            <p:cNvPr id="34" name="Google Shape;355;p28">
              <a:extLst>
                <a:ext uri="{FF2B5EF4-FFF2-40B4-BE49-F238E27FC236}">
                  <a16:creationId xmlns:a16="http://schemas.microsoft.com/office/drawing/2014/main" id="{0F2942A7-BFD6-6F8C-B283-6C1ABEEE49D4}"/>
                </a:ext>
              </a:extLst>
            </p:cNvPr>
            <p:cNvSpPr txBox="1"/>
            <p:nvPr/>
          </p:nvSpPr>
          <p:spPr>
            <a:xfrm>
              <a:off x="5080598" y="1717924"/>
              <a:ext cx="3190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1" dirty="0">
                  <a:solidFill>
                    <a:srgbClr val="666666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// Статический полиморфизм в Java</a:t>
              </a:r>
              <a:endParaRPr sz="1600" b="1" dirty="0">
                <a:solidFill>
                  <a:srgbClr val="666666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int add(int a, int b) {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return a + b;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}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double add(double a, double b) {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return a + b;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}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String add(String a, String b) {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  return a + b;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600" b="0" dirty="0">
                  <a:solidFill>
                    <a:srgbClr val="071699"/>
                  </a:solidFill>
                  <a:latin typeface="T-Sans" pitchFamily="2" charset="77"/>
                  <a:ea typeface="T-Sans" pitchFamily="2" charset="77"/>
                  <a:cs typeface="Courier Prime"/>
                  <a:sym typeface="Courier Prime"/>
                </a:rPr>
                <a:t>}</a:t>
              </a:r>
              <a:endParaRPr sz="1600" b="0" dirty="0">
                <a:solidFill>
                  <a:srgbClr val="071699"/>
                </a:solidFill>
                <a:latin typeface="T-Sans" pitchFamily="2" charset="77"/>
                <a:ea typeface="T-Sans" pitchFamily="2" charset="77"/>
                <a:cs typeface="Courier Prime"/>
                <a:sym typeface="Courier Prim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81583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3902680"/>
            <a:ext cx="8644611" cy="33547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Как принципы работают вместе?</a:t>
            </a: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16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5953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AA98BD8C-548C-B295-39B1-38D21A77F8D2}"/>
              </a:ext>
            </a:extLst>
          </p:cNvPr>
          <p:cNvSpPr/>
          <p:nvPr/>
        </p:nvSpPr>
        <p:spPr>
          <a:xfrm>
            <a:off x="10017425" y="7383650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17</a:t>
            </a:fld>
            <a:endParaRPr lang="ru-RU" dirty="0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D269E35-EB7C-C2AE-EE21-D723F84019AD}"/>
              </a:ext>
            </a:extLst>
          </p:cNvPr>
          <p:cNvSpPr/>
          <p:nvPr/>
        </p:nvSpPr>
        <p:spPr>
          <a:xfrm>
            <a:off x="18389388" y="9719137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4666AEF0-B42A-5BA1-0A55-804C0EEB1806}"/>
              </a:ext>
            </a:extLst>
          </p:cNvPr>
          <p:cNvSpPr/>
          <p:nvPr/>
        </p:nvSpPr>
        <p:spPr>
          <a:xfrm>
            <a:off x="10017425" y="4008662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9231803-DA31-6264-E844-EEAB25DDCFE5}"/>
              </a:ext>
            </a:extLst>
          </p:cNvPr>
          <p:cNvSpPr/>
          <p:nvPr/>
        </p:nvSpPr>
        <p:spPr>
          <a:xfrm>
            <a:off x="18389388" y="6343279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494AA5DF-033D-383C-2177-FF599154D94F}"/>
              </a:ext>
            </a:extLst>
          </p:cNvPr>
          <p:cNvSpPr/>
          <p:nvPr/>
        </p:nvSpPr>
        <p:spPr>
          <a:xfrm>
            <a:off x="10017425" y="632805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6354EF4-B4D4-D7A0-6739-B96F7E193D06}"/>
              </a:ext>
            </a:extLst>
          </p:cNvPr>
          <p:cNvSpPr/>
          <p:nvPr/>
        </p:nvSpPr>
        <p:spPr>
          <a:xfrm>
            <a:off x="18389388" y="2967422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C75C0F2A-3523-B35C-464F-6A38394FEC56}"/>
              </a:ext>
            </a:extLst>
          </p:cNvPr>
          <p:cNvSpPr/>
          <p:nvPr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2500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0A3B1-437F-7215-DE4A-0C9EA35F4867}"/>
              </a:ext>
            </a:extLst>
          </p:cNvPr>
          <p:cNvSpPr txBox="1"/>
          <p:nvPr/>
        </p:nvSpPr>
        <p:spPr>
          <a:xfrm>
            <a:off x="1366167" y="1264476"/>
            <a:ext cx="7826799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Как принципы дополняют друг друга?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A6602-F341-4E73-FAE8-E35CA6502199}"/>
              </a:ext>
            </a:extLst>
          </p:cNvPr>
          <p:cNvSpPr txBox="1"/>
          <p:nvPr/>
        </p:nvSpPr>
        <p:spPr>
          <a:xfrm>
            <a:off x="10637160" y="765867"/>
            <a:ext cx="6979617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solidFill>
                  <a:srgbClr val="111111"/>
                </a:solidFill>
                <a:latin typeface="T-Sans" pitchFamily="2" charset="77"/>
                <a:ea typeface="T-Sans" pitchFamily="2" charset="77"/>
                <a:cs typeface="Inter"/>
                <a:sym typeface="Inter"/>
              </a:rPr>
              <a:t>Полиморфизм подтипов невозможен без наследования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59DDEF-55F0-5988-C3D2-F906B69F5E35}"/>
              </a:ext>
            </a:extLst>
          </p:cNvPr>
          <p:cNvSpPr txBox="1"/>
          <p:nvPr/>
        </p:nvSpPr>
        <p:spPr>
          <a:xfrm>
            <a:off x="10637158" y="1881132"/>
            <a:ext cx="719364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Полиморфизм подтипов построен на иерархии типов. Без наследования (или реализации общего интерфейса) нет общего типа, через который можно единообразно обращаться к разным объектам.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96D1CA-4723-F576-C7C4-3F9428982711}"/>
              </a:ext>
            </a:extLst>
          </p:cNvPr>
          <p:cNvSpPr txBox="1"/>
          <p:nvPr/>
        </p:nvSpPr>
        <p:spPr>
          <a:xfrm>
            <a:off x="10637159" y="4241264"/>
            <a:ext cx="6979617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sz="3200" dirty="0"/>
              <a:t>Наследование без полиморфизма почти бессмысленно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E6DE3-81B8-F7E7-AED0-0063E81C010F}"/>
              </a:ext>
            </a:extLst>
          </p:cNvPr>
          <p:cNvSpPr txBox="1"/>
          <p:nvPr/>
        </p:nvSpPr>
        <p:spPr>
          <a:xfrm>
            <a:off x="10637158" y="5356529"/>
            <a:ext cx="6979617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Без полиморфизма наследование сводится к простому копированию полей и методов от родителя. </a:t>
            </a:r>
            <a:r>
              <a:rPr lang="ru-RU" dirty="0" err="1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Переиспользование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 кода полезно, но без возможности переопределять поведение наследование теряет силу.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FA5F6-14AF-41AE-411F-B0FAF564910A}"/>
              </a:ext>
            </a:extLst>
          </p:cNvPr>
          <p:cNvSpPr txBox="1"/>
          <p:nvPr/>
        </p:nvSpPr>
        <p:spPr>
          <a:xfrm>
            <a:off x="10639209" y="7616500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Фундамент в виде инкапсуляции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27B36-9105-B370-49AA-E9DD714C5EFF}"/>
              </a:ext>
            </a:extLst>
          </p:cNvPr>
          <p:cNvSpPr txBox="1"/>
          <p:nvPr/>
        </p:nvSpPr>
        <p:spPr>
          <a:xfrm>
            <a:off x="10637159" y="8256251"/>
            <a:ext cx="7631386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Без сокрытия реализации внутреннее состояние торчит наружу и любой может его испортить. Тогда ни наследование, ни полиморфизм не спасают</a:t>
            </a:r>
            <a:r>
              <a:rPr lang="en-US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 -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 иерархия строится поверх объектов, которым нельзя доверять.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6CD54DA-6693-2054-3E9F-4CC3B1136D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194"/>
          <a:stretch/>
        </p:blipFill>
        <p:spPr>
          <a:xfrm>
            <a:off x="2182524" y="4293209"/>
            <a:ext cx="7571187" cy="6208041"/>
          </a:xfrm>
          <a:custGeom>
            <a:avLst/>
            <a:gdLst>
              <a:gd name="connsiteX0" fmla="*/ 0 w 7571187"/>
              <a:gd name="connsiteY0" fmla="*/ 0 h 6208041"/>
              <a:gd name="connsiteX1" fmla="*/ 7571187 w 7571187"/>
              <a:gd name="connsiteY1" fmla="*/ 0 h 6208041"/>
              <a:gd name="connsiteX2" fmla="*/ 7571187 w 7571187"/>
              <a:gd name="connsiteY2" fmla="*/ 5693043 h 6208041"/>
              <a:gd name="connsiteX3" fmla="*/ 7056189 w 7571187"/>
              <a:gd name="connsiteY3" fmla="*/ 6208041 h 6208041"/>
              <a:gd name="connsiteX4" fmla="*/ 0 w 7571187"/>
              <a:gd name="connsiteY4" fmla="*/ 6208041 h 6208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1187" h="6208041">
                <a:moveTo>
                  <a:pt x="0" y="0"/>
                </a:moveTo>
                <a:lnTo>
                  <a:pt x="7571187" y="0"/>
                </a:lnTo>
                <a:lnTo>
                  <a:pt x="7571187" y="5693043"/>
                </a:lnTo>
                <a:cubicBezTo>
                  <a:pt x="7571187" y="5977469"/>
                  <a:pt x="7340615" y="6208041"/>
                  <a:pt x="7056189" y="6208041"/>
                </a:cubicBezTo>
                <a:lnTo>
                  <a:pt x="0" y="6208041"/>
                </a:lnTo>
                <a:close/>
              </a:path>
            </a:pathLst>
          </a:custGeom>
        </p:spPr>
      </p:pic>
      <p:pic>
        <p:nvPicPr>
          <p:cNvPr id="4" name="Google Shape;77;p16" descr="фон должен быть чисто белым, не серым">
            <a:extLst>
              <a:ext uri="{FF2B5EF4-FFF2-40B4-BE49-F238E27FC236}">
                <a16:creationId xmlns:a16="http://schemas.microsoft.com/office/drawing/2014/main" id="{3731BF20-29AE-D605-5E24-12119CD398B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5719">
            <a:off x="7813819" y="7032822"/>
            <a:ext cx="1916710" cy="1394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240730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251D3-19F3-F160-6D06-334796F6236F}"/>
              </a:ext>
            </a:extLst>
          </p:cNvPr>
          <p:cNvSpPr txBox="1"/>
          <p:nvPr/>
        </p:nvSpPr>
        <p:spPr>
          <a:xfrm>
            <a:off x="611188" y="556966"/>
            <a:ext cx="14190662" cy="151426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77"/>
                <a:ea typeface="T-Sans" pitchFamily="2" charset="77"/>
              </a:rPr>
              <a:t>OOP </a:t>
            </a:r>
          </a:p>
          <a:p>
            <a:r>
              <a:rPr lang="en-US" sz="4800" b="1" i="0" dirty="0">
                <a:effectLst/>
                <a:latin typeface="T-Sans" pitchFamily="2" charset="77"/>
                <a:ea typeface="T-Sans" pitchFamily="2" charset="77"/>
              </a:rPr>
              <a:t>(</a:t>
            </a:r>
            <a:r>
              <a:rPr lang="en-GB" sz="4800" b="1" i="0" dirty="0">
                <a:effectLst/>
                <a:latin typeface="T-Sans" pitchFamily="2" charset="77"/>
                <a:ea typeface="T-Sans" pitchFamily="2" charset="77"/>
              </a:rPr>
              <a:t>Overengineered Oriented Programming)</a:t>
            </a:r>
            <a:endParaRPr lang="ru-RU" sz="4800" dirty="0">
              <a:latin typeface="T-Sans" pitchFamily="2" charset="77"/>
              <a:ea typeface="T-Sans" pitchFamily="2" charset="77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6954BB4-FECD-C238-86A9-1C7141FAC7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</p:spPr>
        <p:txBody>
          <a:bodyPr/>
          <a:lstStyle/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18</a:t>
            </a:fld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5ABCFA4A-91D4-ADFF-8090-11BAE1D8AC7A}"/>
              </a:ext>
            </a:extLst>
          </p:cNvPr>
          <p:cNvGrpSpPr/>
          <p:nvPr/>
        </p:nvGrpSpPr>
        <p:grpSpPr>
          <a:xfrm>
            <a:off x="6036940" y="3271520"/>
            <a:ext cx="13762360" cy="8554720"/>
            <a:chOff x="7477169" y="647700"/>
            <a:chExt cx="18396000" cy="9864725"/>
          </a:xfrm>
        </p:grpSpPr>
        <p:sp>
          <p:nvSpPr>
            <p:cNvPr id="4" name="Скругленный прямоугольник 3">
              <a:extLst>
                <a:ext uri="{FF2B5EF4-FFF2-40B4-BE49-F238E27FC236}">
                  <a16:creationId xmlns:a16="http://schemas.microsoft.com/office/drawing/2014/main" id="{DCD838DA-196F-C605-F2A7-7F386E043C57}"/>
                </a:ext>
              </a:extLst>
            </p:cNvPr>
            <p:cNvSpPr/>
            <p:nvPr/>
          </p:nvSpPr>
          <p:spPr>
            <a:xfrm>
              <a:off x="7477169" y="647700"/>
              <a:ext cx="18396000" cy="9864725"/>
            </a:xfrm>
            <a:prstGeom prst="roundRect">
              <a:avLst>
                <a:gd name="adj" fmla="val 2808"/>
              </a:avLst>
            </a:prstGeom>
            <a:gradFill>
              <a:gsLst>
                <a:gs pos="14000">
                  <a:srgbClr val="D2D5DB"/>
                </a:gs>
                <a:gs pos="100000">
                  <a:schemeClr val="accent4"/>
                </a:gs>
              </a:gsLst>
              <a:lin ang="2700000" scaled="0"/>
            </a:gra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  <p:sp>
          <p:nvSpPr>
            <p:cNvPr id="7" name="Овал 6">
              <a:extLst>
                <a:ext uri="{FF2B5EF4-FFF2-40B4-BE49-F238E27FC236}">
                  <a16:creationId xmlns:a16="http://schemas.microsoft.com/office/drawing/2014/main" id="{2A50F289-7B21-8438-ECDB-FFEE584732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31101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8" name="Овал 7">
              <a:extLst>
                <a:ext uri="{FF2B5EF4-FFF2-40B4-BE49-F238E27FC236}">
                  <a16:creationId xmlns:a16="http://schemas.microsoft.com/office/drawing/2014/main" id="{10263E46-CA92-68FA-D7D7-EB742CA73A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90052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B143798E-8EE4-2A50-D5D0-8066A77DD0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249003" y="877197"/>
              <a:ext cx="162103" cy="162103"/>
            </a:xfrm>
            <a:prstGeom prst="ellipse">
              <a:avLst/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marL="0" marR="0" indent="0" algn="l" defTabSz="457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endParaRPr>
            </a:p>
          </p:txBody>
        </p:sp>
        <p:sp>
          <p:nvSpPr>
            <p:cNvPr id="11" name="Скругленный прямоугольник 10">
              <a:extLst>
                <a:ext uri="{FF2B5EF4-FFF2-40B4-BE49-F238E27FC236}">
                  <a16:creationId xmlns:a16="http://schemas.microsoft.com/office/drawing/2014/main" id="{FE24EF2B-0ED1-D528-16FC-823F217DB55E}"/>
                </a:ext>
              </a:extLst>
            </p:cNvPr>
            <p:cNvSpPr/>
            <p:nvPr/>
          </p:nvSpPr>
          <p:spPr>
            <a:xfrm>
              <a:off x="7621169" y="1245510"/>
              <a:ext cx="18108000" cy="9144000"/>
            </a:xfrm>
            <a:prstGeom prst="roundRect">
              <a:avLst>
                <a:gd name="adj" fmla="val 2168"/>
              </a:avLst>
            </a:prstGeom>
            <a:solidFill>
              <a:schemeClr val="accent6"/>
            </a:solidFill>
            <a:ln w="12700" cap="flat">
              <a:noFill/>
              <a:prstDash val="solid"/>
              <a:miter lim="8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noAutofit/>
            </a:bodyPr>
            <a:lstStyle/>
            <a:p>
              <a:pPr defTabSz="457200"/>
              <a:endParaRPr lang="ru-RU" sz="1800" dirty="0">
                <a:latin typeface="T-Sans" pitchFamily="2" charset="0"/>
                <a:ea typeface="T-Sans" pitchFamily="2" charset="0"/>
              </a:endParaRPr>
            </a:p>
          </p:txBody>
        </p:sp>
      </p:grpSp>
      <p:pic>
        <p:nvPicPr>
          <p:cNvPr id="6" name="Picture 2" descr="I ❤️ OOP : r/ProgrammerHumor">
            <a:extLst>
              <a:ext uri="{FF2B5EF4-FFF2-40B4-BE49-F238E27FC236}">
                <a16:creationId xmlns:a16="http://schemas.microsoft.com/office/drawing/2014/main" id="{6B066535-30F2-E357-FB57-34E0148FA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4669" y="4203478"/>
            <a:ext cx="13546817" cy="5966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2D34785-CEEB-8175-0BA6-F5ABA5B86138}"/>
              </a:ext>
            </a:extLst>
          </p:cNvPr>
          <p:cNvSpPr txBox="1"/>
          <p:nvPr/>
        </p:nvSpPr>
        <p:spPr>
          <a:xfrm>
            <a:off x="1484382" y="5580062"/>
            <a:ext cx="4521708" cy="20143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Не забывайте, что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ООП – не серебряная пуля</a:t>
            </a:r>
            <a:r>
              <a:rPr lang="ru-RU" dirty="0">
                <a:latin typeface="T-Sans" pitchFamily="2" charset="0"/>
                <a:ea typeface="T-Sans" pitchFamily="2" charset="0"/>
              </a:rPr>
              <a:t>! Разработчики современных ЯП это уже давно поняли, поэтому большинство из них – </a:t>
            </a:r>
            <a:r>
              <a:rPr lang="ru-RU" b="1" dirty="0" err="1">
                <a:latin typeface="T-Sans" pitchFamily="2" charset="0"/>
                <a:ea typeface="T-Sans" pitchFamily="2" charset="0"/>
              </a:rPr>
              <a:t>мультипарадигмальные</a:t>
            </a:r>
            <a:r>
              <a:rPr lang="ru-RU" dirty="0">
                <a:latin typeface="T-Sans" pitchFamily="2" charset="0"/>
                <a:ea typeface="T-Sans" pitchFamily="2" charset="0"/>
              </a:rPr>
              <a:t>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FA82C5-6072-0AAC-F6A1-BAC08F8718D6}"/>
              </a:ext>
            </a:extLst>
          </p:cNvPr>
          <p:cNvSpPr txBox="1"/>
          <p:nvPr/>
        </p:nvSpPr>
        <p:spPr>
          <a:xfrm>
            <a:off x="1519657" y="3858603"/>
            <a:ext cx="4521708" cy="16081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defRPr sz="2200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Используйте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паттерны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 </a:t>
            </a:r>
            <a:r>
              <a:rPr lang="ru-RU" b="1" dirty="0">
                <a:latin typeface="T-Sans" pitchFamily="2" charset="0"/>
                <a:ea typeface="T-Sans" pitchFamily="2" charset="0"/>
              </a:rPr>
              <a:t>и принципы</a:t>
            </a:r>
            <a:r>
              <a:rPr lang="en-US" b="1" dirty="0">
                <a:latin typeface="T-Sans" pitchFamily="2" charset="0"/>
                <a:ea typeface="T-Sans" pitchFamily="2" charset="0"/>
              </a:rPr>
              <a:t>*</a:t>
            </a:r>
            <a:r>
              <a:rPr lang="ru-RU" dirty="0">
                <a:latin typeface="T-Sans" pitchFamily="2" charset="0"/>
                <a:ea typeface="T-Sans" pitchFamily="2" charset="0"/>
              </a:rPr>
              <a:t>! Они – результат десятков лет страданий других разработчиков!</a:t>
            </a:r>
          </a:p>
        </p:txBody>
      </p:sp>
      <p:pic>
        <p:nvPicPr>
          <p:cNvPr id="19" name="Рисунок 19">
            <a:extLst>
              <a:ext uri="{FF2B5EF4-FFF2-40B4-BE49-F238E27FC236}">
                <a16:creationId xmlns:a16="http://schemas.microsoft.com/office/drawing/2014/main" id="{2133F882-3F2C-3467-5234-805D76A72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6463" y="3858603"/>
            <a:ext cx="612000" cy="612000"/>
          </a:xfrm>
          <a:prstGeom prst="rect">
            <a:avLst/>
          </a:prstGeom>
        </p:spPr>
      </p:pic>
      <p:pic>
        <p:nvPicPr>
          <p:cNvPr id="20" name="Рисунок 20">
            <a:extLst>
              <a:ext uri="{FF2B5EF4-FFF2-40B4-BE49-F238E27FC236}">
                <a16:creationId xmlns:a16="http://schemas.microsoft.com/office/drawing/2014/main" id="{B27DE548-5AAE-4B67-F817-8D8297F893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188" y="5580062"/>
            <a:ext cx="612000" cy="612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F586D1-7E1A-2BE5-4A75-FB4C6802460B}"/>
              </a:ext>
            </a:extLst>
          </p:cNvPr>
          <p:cNvSpPr txBox="1"/>
          <p:nvPr/>
        </p:nvSpPr>
        <p:spPr>
          <a:xfrm>
            <a:off x="595388" y="3274060"/>
            <a:ext cx="4997520" cy="430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rPr>
              <a:t>Чтобы ООП не превратилось в тыкву</a:t>
            </a:r>
            <a:r>
              <a:rPr kumimoji="0" lang="en-US" sz="22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-Sans" pitchFamily="2" charset="77"/>
                <a:ea typeface="T-Sans" pitchFamily="2" charset="77"/>
                <a:sym typeface="Tinkoff Sans"/>
              </a:rPr>
              <a:t>:</a:t>
            </a:r>
            <a:endParaRPr kumimoji="0" lang="en-RU" sz="22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-Sans" pitchFamily="2" charset="77"/>
              <a:ea typeface="T-Sans" pitchFamily="2" charset="77"/>
              <a:sym typeface="Tinkoff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AD562-4025-B5E6-8F89-059080D04AFA}"/>
              </a:ext>
            </a:extLst>
          </p:cNvPr>
          <p:cNvSpPr txBox="1"/>
          <p:nvPr/>
        </p:nvSpPr>
        <p:spPr>
          <a:xfrm>
            <a:off x="595388" y="10512425"/>
            <a:ext cx="4997520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en-RU" sz="1800" b="1" dirty="0">
                <a:solidFill>
                  <a:schemeClr val="accent3">
                    <a:lumMod val="50000"/>
                  </a:schemeClr>
                </a:solidFill>
              </a:rPr>
              <a:t>*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)</a:t>
            </a:r>
            <a:r>
              <a:rPr lang="en-RU" sz="18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про 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паттерны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 и другие 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принципы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, типа </a:t>
            </a: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SOLID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мы с вами поговорим на </a:t>
            </a:r>
            <a:r>
              <a:rPr lang="ru-RU" sz="1800" b="1" dirty="0">
                <a:solidFill>
                  <a:schemeClr val="accent3">
                    <a:lumMod val="50000"/>
                  </a:schemeClr>
                </a:solidFill>
              </a:rPr>
              <a:t>следующих семинарах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!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31707220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1E5570F8-9A9F-285E-4E03-BD9A6CF4F0B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19</a:t>
            </a:fld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64E705-425A-AD37-7C82-42FF7D07134B}"/>
              </a:ext>
            </a:extLst>
          </p:cNvPr>
          <p:cNvSpPr txBox="1"/>
          <p:nvPr/>
        </p:nvSpPr>
        <p:spPr>
          <a:xfrm>
            <a:off x="1834621" y="2090474"/>
            <a:ext cx="16504848" cy="1138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sz="80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Java Process Memory Model</a:t>
            </a:r>
            <a:endParaRPr lang="ru-RU" sz="8000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7B878-EA30-7CE0-B47F-9C6D305F1DA2}"/>
              </a:ext>
            </a:extLst>
          </p:cNvPr>
          <p:cNvSpPr txBox="1"/>
          <p:nvPr/>
        </p:nvSpPr>
        <p:spPr>
          <a:xfrm>
            <a:off x="1834621" y="3405166"/>
            <a:ext cx="16504847" cy="6370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2800">
                <a:solidFill>
                  <a:schemeClr val="accent5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120000"/>
              </a:lnSpc>
            </a:pP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Не путать с </a:t>
            </a:r>
            <a:r>
              <a:rPr lang="en-US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JMM </a:t>
            </a:r>
            <a:r>
              <a:rPr lang="ru-RU" sz="3600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из многопоточности!</a:t>
            </a:r>
          </a:p>
        </p:txBody>
      </p:sp>
    </p:spTree>
    <p:extLst>
      <p:ext uri="{BB962C8B-B14F-4D97-AF65-F5344CB8AC3E}">
        <p14:creationId xmlns:p14="http://schemas.microsoft.com/office/powerpoint/2010/main" val="32014562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251D3-19F3-F160-6D06-334796F6236F}"/>
              </a:ext>
            </a:extLst>
          </p:cNvPr>
          <p:cNvSpPr txBox="1"/>
          <p:nvPr/>
        </p:nvSpPr>
        <p:spPr>
          <a:xfrm>
            <a:off x="611187" y="556966"/>
            <a:ext cx="5580157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Из чего состоит память процесса </a:t>
            </a:r>
            <a:r>
              <a:rPr lang="en-US" dirty="0">
                <a:latin typeface="T-Sans" pitchFamily="2" charset="0"/>
                <a:ea typeface="T-Sans" pitchFamily="2" charset="0"/>
              </a:rPr>
              <a:t>JVM?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B13FB85-896E-2444-CF89-EFDA5C89D5D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20</a:t>
            </a:fld>
            <a:endParaRPr lang="ru-RU" dirty="0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85E20B74-1B17-60E0-D802-6E56BD1B5166}"/>
              </a:ext>
            </a:extLst>
          </p:cNvPr>
          <p:cNvSpPr/>
          <p:nvPr/>
        </p:nvSpPr>
        <p:spPr>
          <a:xfrm>
            <a:off x="7372857" y="2286884"/>
            <a:ext cx="8194433" cy="7102247"/>
          </a:xfrm>
          <a:custGeom>
            <a:avLst/>
            <a:gdLst>
              <a:gd name="connsiteX0" fmla="*/ 3352364 w 8194433"/>
              <a:gd name="connsiteY0" fmla="*/ 256787 h 7102247"/>
              <a:gd name="connsiteX1" fmla="*/ 4242286 w 8194433"/>
              <a:gd name="connsiteY1" fmla="*/ 256787 h 7102247"/>
              <a:gd name="connsiteX2" fmla="*/ 8194434 w 8194433"/>
              <a:gd name="connsiteY2" fmla="*/ 7102248 h 7102247"/>
              <a:gd name="connsiteX3" fmla="*/ 823112 w 8194433"/>
              <a:gd name="connsiteY3" fmla="*/ 7102248 h 7102247"/>
              <a:gd name="connsiteX4" fmla="*/ 111174 w 8194433"/>
              <a:gd name="connsiteY4" fmla="*/ 5870798 h 7102247"/>
              <a:gd name="connsiteX5" fmla="*/ 3352364 w 8194433"/>
              <a:gd name="connsiteY5" fmla="*/ 256787 h 710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94433" h="7102247">
                <a:moveTo>
                  <a:pt x="3352364" y="256787"/>
                </a:moveTo>
                <a:cubicBezTo>
                  <a:pt x="3550028" y="-85596"/>
                  <a:pt x="4044621" y="-85596"/>
                  <a:pt x="4242286" y="256787"/>
                </a:cubicBezTo>
                <a:lnTo>
                  <a:pt x="8194434" y="7102248"/>
                </a:lnTo>
                <a:lnTo>
                  <a:pt x="823112" y="7102248"/>
                </a:lnTo>
                <a:cubicBezTo>
                  <a:pt x="190569" y="7102248"/>
                  <a:pt x="-204881" y="6418239"/>
                  <a:pt x="111174" y="5870798"/>
                </a:cubicBezTo>
                <a:lnTo>
                  <a:pt x="3352364" y="256787"/>
                </a:lnTo>
                <a:close/>
              </a:path>
            </a:pathLst>
          </a:custGeom>
          <a:solidFill>
            <a:srgbClr val="F5F5F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AEA1082-F788-1816-878F-1DFB099E1E8B}"/>
              </a:ext>
            </a:extLst>
          </p:cNvPr>
          <p:cNvSpPr/>
          <p:nvPr/>
        </p:nvSpPr>
        <p:spPr>
          <a:xfrm>
            <a:off x="8451542" y="2286928"/>
            <a:ext cx="6037018" cy="5234084"/>
          </a:xfrm>
          <a:custGeom>
            <a:avLst/>
            <a:gdLst>
              <a:gd name="connsiteX0" fmla="*/ 2273668 w 6037018"/>
              <a:gd name="connsiteY0" fmla="*/ 256798 h 5234084"/>
              <a:gd name="connsiteX1" fmla="*/ 3163610 w 6037018"/>
              <a:gd name="connsiteY1" fmla="*/ 256799 h 5234084"/>
              <a:gd name="connsiteX2" fmla="*/ 6037018 w 6037018"/>
              <a:gd name="connsiteY2" fmla="*/ 5234085 h 5234084"/>
              <a:gd name="connsiteX3" fmla="*/ 823115 w 6037018"/>
              <a:gd name="connsiteY3" fmla="*/ 5234085 h 5234084"/>
              <a:gd name="connsiteX4" fmla="*/ 111164 w 6037018"/>
              <a:gd name="connsiteY4" fmla="*/ 4002656 h 5234084"/>
              <a:gd name="connsiteX5" fmla="*/ 2273668 w 6037018"/>
              <a:gd name="connsiteY5" fmla="*/ 256798 h 523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7018" h="5234084">
                <a:moveTo>
                  <a:pt x="2273668" y="256798"/>
                </a:moveTo>
                <a:cubicBezTo>
                  <a:pt x="2471343" y="-85600"/>
                  <a:pt x="2965946" y="-85599"/>
                  <a:pt x="3163610" y="256799"/>
                </a:cubicBezTo>
                <a:lnTo>
                  <a:pt x="6037018" y="5234085"/>
                </a:lnTo>
                <a:lnTo>
                  <a:pt x="823115" y="5234085"/>
                </a:lnTo>
                <a:cubicBezTo>
                  <a:pt x="190579" y="5234085"/>
                  <a:pt x="-204873" y="4550097"/>
                  <a:pt x="111164" y="4002656"/>
                </a:cubicBezTo>
                <a:lnTo>
                  <a:pt x="2273668" y="256798"/>
                </a:lnTo>
                <a:close/>
              </a:path>
            </a:pathLst>
          </a:custGeom>
          <a:gradFill>
            <a:gsLst>
              <a:gs pos="0">
                <a:srgbClr val="E2E6EA"/>
              </a:gs>
              <a:gs pos="79500">
                <a:srgbClr val="EEF0F3"/>
              </a:gs>
            </a:gsLst>
            <a:lin ang="19284413" scaled="1"/>
          </a:gra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4B1145C8-369F-AF35-A722-1F5E430709C1}"/>
              </a:ext>
            </a:extLst>
          </p:cNvPr>
          <p:cNvSpPr/>
          <p:nvPr/>
        </p:nvSpPr>
        <p:spPr>
          <a:xfrm>
            <a:off x="9606544" y="1975939"/>
            <a:ext cx="3700549" cy="3502460"/>
          </a:xfrm>
          <a:custGeom>
            <a:avLst/>
            <a:gdLst>
              <a:gd name="connsiteX0" fmla="*/ 1389592 w 3700549"/>
              <a:gd name="connsiteY0" fmla="*/ 101149 h 3502460"/>
              <a:gd name="connsiteX1" fmla="*/ 1744802 w 3700549"/>
              <a:gd name="connsiteY1" fmla="*/ 102986 h 3502460"/>
              <a:gd name="connsiteX2" fmla="*/ 3700550 w 3700549"/>
              <a:gd name="connsiteY2" fmla="*/ 3502461 h 3502460"/>
              <a:gd name="connsiteX3" fmla="*/ 823135 w 3700549"/>
              <a:gd name="connsiteY3" fmla="*/ 3502461 h 3502460"/>
              <a:gd name="connsiteX4" fmla="*/ 114851 w 3700549"/>
              <a:gd name="connsiteY4" fmla="*/ 2264750 h 3502460"/>
              <a:gd name="connsiteX5" fmla="*/ 1389592 w 3700549"/>
              <a:gd name="connsiteY5" fmla="*/ 101149 h 350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0549" h="3502460">
                <a:moveTo>
                  <a:pt x="1389592" y="101149"/>
                </a:moveTo>
                <a:cubicBezTo>
                  <a:pt x="1469520" y="-34527"/>
                  <a:pt x="1666270" y="-33510"/>
                  <a:pt x="1744802" y="102986"/>
                </a:cubicBezTo>
                <a:lnTo>
                  <a:pt x="3700550" y="3502461"/>
                </a:lnTo>
                <a:lnTo>
                  <a:pt x="823135" y="3502461"/>
                </a:lnTo>
                <a:cubicBezTo>
                  <a:pt x="187362" y="3502461"/>
                  <a:pt x="-207668" y="2812160"/>
                  <a:pt x="114851" y="2264750"/>
                </a:cubicBezTo>
                <a:lnTo>
                  <a:pt x="1389592" y="10114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850D-795A-F3FD-81B8-2250AFF0BF84}"/>
              </a:ext>
            </a:extLst>
          </p:cNvPr>
          <p:cNvSpPr txBox="1"/>
          <p:nvPr/>
        </p:nvSpPr>
        <p:spPr>
          <a:xfrm>
            <a:off x="10313457" y="3883430"/>
            <a:ext cx="1784918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en-US" sz="3200" dirty="0">
                <a:latin typeface="T-Sans Medium" pitchFamily="2" charset="0"/>
                <a:ea typeface="T-Sans" pitchFamily="2" charset="0"/>
              </a:rPr>
              <a:t>Heap</a:t>
            </a:r>
            <a:endParaRPr lang="ru-RU" sz="3200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57431-739A-B96E-B66C-B2236E3DFBFC}"/>
              </a:ext>
            </a:extLst>
          </p:cNvPr>
          <p:cNvSpPr txBox="1"/>
          <p:nvPr/>
        </p:nvSpPr>
        <p:spPr>
          <a:xfrm>
            <a:off x="9944007" y="6113852"/>
            <a:ext cx="2570202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en-US" sz="32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Stack</a:t>
            </a:r>
            <a:endParaRPr lang="ru-RU" sz="32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36A8E-123F-2808-085F-BB0F69C7CC9E}"/>
              </a:ext>
            </a:extLst>
          </p:cNvPr>
          <p:cNvSpPr txBox="1"/>
          <p:nvPr/>
        </p:nvSpPr>
        <p:spPr>
          <a:xfrm>
            <a:off x="9944007" y="8182057"/>
            <a:ext cx="2570202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en-US" sz="32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Non-heap</a:t>
            </a:r>
            <a:endParaRPr lang="ru-RU" sz="3200" dirty="0">
              <a:solidFill>
                <a:schemeClr val="bg1"/>
              </a:solidFill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6670E96-8409-5CBD-6825-1DE3D01AD969}"/>
              </a:ext>
            </a:extLst>
          </p:cNvPr>
          <p:cNvSpPr/>
          <p:nvPr/>
        </p:nvSpPr>
        <p:spPr>
          <a:xfrm>
            <a:off x="11854023" y="3345451"/>
            <a:ext cx="1102133" cy="1102133"/>
          </a:xfrm>
          <a:prstGeom prst="ellipse">
            <a:avLst/>
          </a:prstGeom>
          <a:solidFill>
            <a:schemeClr val="accent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40EC3-68F0-B210-69D7-C897BF7C04B8}"/>
              </a:ext>
            </a:extLst>
          </p:cNvPr>
          <p:cNvSpPr txBox="1"/>
          <p:nvPr/>
        </p:nvSpPr>
        <p:spPr>
          <a:xfrm>
            <a:off x="13456394" y="3485610"/>
            <a:ext cx="4552597" cy="3308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Объекты и массивы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42C829-0655-DEEA-02CD-9240E550E81C}"/>
              </a:ext>
            </a:extLst>
          </p:cNvPr>
          <p:cNvSpPr txBox="1"/>
          <p:nvPr/>
        </p:nvSpPr>
        <p:spPr>
          <a:xfrm>
            <a:off x="14794410" y="5832384"/>
            <a:ext cx="3545059" cy="10079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Стек вызовов, каждый привязан к своему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потоку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;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является частью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non-heap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7C43ED-894D-DCCD-36A1-306ACA8DF8CB}"/>
              </a:ext>
            </a:extLst>
          </p:cNvPr>
          <p:cNvSpPr txBox="1"/>
          <p:nvPr/>
        </p:nvSpPr>
        <p:spPr>
          <a:xfrm>
            <a:off x="15990339" y="7659182"/>
            <a:ext cx="2901624" cy="6694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Служебные данные, код и метаданные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3D8BA4E-8AE3-18D5-1F4C-CFC8287D886A}"/>
              </a:ext>
            </a:extLst>
          </p:cNvPr>
          <p:cNvSpPr/>
          <p:nvPr/>
        </p:nvSpPr>
        <p:spPr>
          <a:xfrm>
            <a:off x="13260070" y="5832631"/>
            <a:ext cx="1102133" cy="1102133"/>
          </a:xfrm>
          <a:prstGeom prst="ellipse">
            <a:avLst/>
          </a:prstGeom>
          <a:solidFill>
            <a:srgbClr val="EAEEF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4C6FFC5-C073-09D9-E117-B7E25429B3E2}"/>
              </a:ext>
            </a:extLst>
          </p:cNvPr>
          <p:cNvSpPr/>
          <p:nvPr/>
        </p:nvSpPr>
        <p:spPr>
          <a:xfrm>
            <a:off x="14402419" y="7793425"/>
            <a:ext cx="1102133" cy="1102133"/>
          </a:xfrm>
          <a:prstGeom prst="ellipse">
            <a:avLst/>
          </a:prstGeom>
          <a:solidFill>
            <a:srgbClr val="F3F3F5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24811F-2DDE-732F-1AAD-2BA4BCFEB501}"/>
              </a:ext>
            </a:extLst>
          </p:cNvPr>
          <p:cNvSpPr txBox="1"/>
          <p:nvPr/>
        </p:nvSpPr>
        <p:spPr>
          <a:xfrm>
            <a:off x="7795470" y="9525249"/>
            <a:ext cx="7709082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(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*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)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 Heap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Non-heap (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или, как его еще называют, 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off-heap)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существуют отдельно друг от друга,  но в рамках памяти, выделенно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й под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java-</a:t>
            </a:r>
            <a:r>
              <a:rPr lang="ru-RU" sz="1800" dirty="0">
                <a:solidFill>
                  <a:schemeClr val="accent3">
                    <a:lumMod val="50000"/>
                  </a:schemeClr>
                </a:solidFill>
              </a:rPr>
              <a:t>процесс. 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4" name="Рисунок 235">
            <a:extLst>
              <a:ext uri="{FF2B5EF4-FFF2-40B4-BE49-F238E27FC236}">
                <a16:creationId xmlns:a16="http://schemas.microsoft.com/office/drawing/2014/main" id="{E53F5FB5-C340-FB12-5C3E-8E8AFA130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51625" y="3554963"/>
            <a:ext cx="720000" cy="720000"/>
          </a:xfrm>
          <a:prstGeom prst="rect">
            <a:avLst/>
          </a:prstGeom>
        </p:spPr>
      </p:pic>
      <p:pic>
        <p:nvPicPr>
          <p:cNvPr id="10" name="Рисунок 235">
            <a:extLst>
              <a:ext uri="{FF2B5EF4-FFF2-40B4-BE49-F238E27FC236}">
                <a16:creationId xmlns:a16="http://schemas.microsoft.com/office/drawing/2014/main" id="{CC995B21-C7E3-585B-1810-46BC9B6D4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56394" y="6039072"/>
            <a:ext cx="720000" cy="720000"/>
          </a:xfrm>
          <a:prstGeom prst="rect">
            <a:avLst/>
          </a:prstGeom>
        </p:spPr>
      </p:pic>
      <p:pic>
        <p:nvPicPr>
          <p:cNvPr id="11" name="Рисунок 235">
            <a:extLst>
              <a:ext uri="{FF2B5EF4-FFF2-40B4-BE49-F238E27FC236}">
                <a16:creationId xmlns:a16="http://schemas.microsoft.com/office/drawing/2014/main" id="{71F35BF0-C97E-149A-792A-92192C35A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93485" y="7950652"/>
            <a:ext cx="720000" cy="7200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7205212-BFB8-7EE3-C25C-6E2D04DC8831}"/>
              </a:ext>
            </a:extLst>
          </p:cNvPr>
          <p:cNvSpPr/>
          <p:nvPr/>
        </p:nvSpPr>
        <p:spPr>
          <a:xfrm>
            <a:off x="600882" y="4290858"/>
            <a:ext cx="5590462" cy="5098273"/>
          </a:xfrm>
          <a:prstGeom prst="roundRect">
            <a:avLst/>
          </a:prstGeom>
          <a:solidFill>
            <a:schemeClr val="accent6"/>
          </a:soli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17FB15-4AF9-DCB2-B2BE-FF1C2855548C}"/>
              </a:ext>
            </a:extLst>
          </p:cNvPr>
          <p:cNvSpPr/>
          <p:nvPr/>
        </p:nvSpPr>
        <p:spPr>
          <a:xfrm>
            <a:off x="999653" y="4650028"/>
            <a:ext cx="4810839" cy="4380648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76589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720D4-8099-37D5-3EF0-405D50B69558}"/>
              </a:ext>
            </a:extLst>
          </p:cNvPr>
          <p:cNvSpPr txBox="1"/>
          <p:nvPr/>
        </p:nvSpPr>
        <p:spPr>
          <a:xfrm>
            <a:off x="1366838" y="1281402"/>
            <a:ext cx="8146210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Heap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место, где рождаются и умирают объекты</a:t>
            </a:r>
            <a:r>
              <a:rPr lang="en-US" dirty="0">
                <a:latin typeface="T-Sans" pitchFamily="2" charset="0"/>
                <a:ea typeface="T-Sans" pitchFamily="2" charset="0"/>
              </a:rPr>
              <a:t>…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8CBE18-DF12-26C9-E5E9-D5FED1A7ED75}"/>
              </a:ext>
            </a:extLst>
          </p:cNvPr>
          <p:cNvSpPr txBox="1"/>
          <p:nvPr/>
        </p:nvSpPr>
        <p:spPr>
          <a:xfrm>
            <a:off x="10446026" y="943504"/>
            <a:ext cx="361744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Особенности кучи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FF81E-5B7B-C2E5-8137-F115D18BF37B}"/>
              </a:ext>
            </a:extLst>
          </p:cNvPr>
          <p:cNvSpPr txBox="1"/>
          <p:nvPr/>
        </p:nvSpPr>
        <p:spPr>
          <a:xfrm>
            <a:off x="10446026" y="1894895"/>
            <a:ext cx="3379702" cy="28315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Все объекты и массивы приложения создаются и размещаются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здесь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Находится под прямым управлением </a:t>
            </a:r>
            <a:r>
              <a:rPr lang="en-GB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GC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Размер задается через флаги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-</a:t>
            </a:r>
            <a:r>
              <a:rPr lang="en-GB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Xms</a:t>
            </a:r>
            <a:r>
              <a:rPr lang="en-GB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-</a:t>
            </a:r>
            <a:r>
              <a:rPr lang="en-GB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x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8A965-FC8B-B470-CF81-D39807DCDE39}"/>
              </a:ext>
            </a:extLst>
          </p:cNvPr>
          <p:cNvSpPr txBox="1"/>
          <p:nvPr/>
        </p:nvSpPr>
        <p:spPr>
          <a:xfrm>
            <a:off x="15200906" y="823833"/>
            <a:ext cx="3617446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latin typeface="T-Sans Medium" pitchFamily="2" charset="0"/>
                <a:ea typeface="T-Sans" pitchFamily="2" charset="0"/>
              </a:rPr>
              <a:t>Weak Generational Hypothesis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E210F-8F28-87E0-9BD3-96CB7D25EBBF}"/>
              </a:ext>
            </a:extLst>
          </p:cNvPr>
          <p:cNvSpPr txBox="1"/>
          <p:nvPr/>
        </p:nvSpPr>
        <p:spPr>
          <a:xfrm>
            <a:off x="15200906" y="1944829"/>
            <a:ext cx="3379702" cy="26930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Большинство объектов живут недолго и удаляются во время быстрых сбор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ок </a:t>
            </a:r>
            <a:r>
              <a:rPr lang="ru-RU" sz="20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мусора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Пережившие несколько сборок объекты постепенно переходят в долгоживущую область</a:t>
            </a:r>
            <a:endParaRPr lang="en-GB" sz="20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3948A-11AB-5B82-B324-55F46536CA96}"/>
              </a:ext>
            </a:extLst>
          </p:cNvPr>
          <p:cNvSpPr txBox="1"/>
          <p:nvPr/>
        </p:nvSpPr>
        <p:spPr>
          <a:xfrm>
            <a:off x="10446026" y="7226352"/>
            <a:ext cx="3708886" cy="1965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Young Generation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–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состоит из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Eden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Survivor 0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Survivor 1 </a:t>
            </a:r>
            <a:endParaRPr lang="ru-RU" b="1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Old Generation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D60028-AA9B-B936-B691-FEF4F0286D0D}"/>
              </a:ext>
            </a:extLst>
          </p:cNvPr>
          <p:cNvSpPr txBox="1"/>
          <p:nvPr/>
        </p:nvSpPr>
        <p:spPr>
          <a:xfrm>
            <a:off x="15156223" y="6704608"/>
            <a:ext cx="3379702" cy="4147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30000"/>
              </a:lnSpc>
            </a:pPr>
            <a:r>
              <a:rPr lang="ru-RU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Про это – дальше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:)</a:t>
            </a:r>
            <a:endParaRPr lang="ru-RU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279D45C-E6A6-4B32-5C08-70D8E26E1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0395" y="4687809"/>
            <a:ext cx="565727" cy="57727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E9C7B4A-2505-7110-2BCB-FF7A47C7E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4181" y="4692892"/>
            <a:ext cx="524794" cy="5247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E27001A-586A-43C3-8CFA-AF6021FD1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0198" y="9762711"/>
            <a:ext cx="524794" cy="524794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96A7A5C-5D2E-D228-F5A4-40733A7E93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1BCC4C4-910A-268F-D9F4-B99356B542C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1297"/>
          <a:stretch/>
        </p:blipFill>
        <p:spPr>
          <a:xfrm>
            <a:off x="1580875" y="5630795"/>
            <a:ext cx="7772400" cy="488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317A69-DEB9-7C30-D523-8D061D059FF1}"/>
              </a:ext>
            </a:extLst>
          </p:cNvPr>
          <p:cNvSpPr txBox="1"/>
          <p:nvPr/>
        </p:nvSpPr>
        <p:spPr>
          <a:xfrm>
            <a:off x="10446026" y="6169077"/>
            <a:ext cx="3617446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Структура поколений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4AA161-4F52-2293-D629-9A8DB253135F}"/>
              </a:ext>
            </a:extLst>
          </p:cNvPr>
          <p:cNvSpPr txBox="1"/>
          <p:nvPr/>
        </p:nvSpPr>
        <p:spPr>
          <a:xfrm>
            <a:off x="15156223" y="6103029"/>
            <a:ext cx="361744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latin typeface="T-Sans Medium" pitchFamily="2" charset="0"/>
                <a:ea typeface="T-Sans" pitchFamily="2" charset="0"/>
              </a:rPr>
              <a:t>Garbage Collection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8" name="Рисунок 77">
            <a:extLst>
              <a:ext uri="{FF2B5EF4-FFF2-40B4-BE49-F238E27FC236}">
                <a16:creationId xmlns:a16="http://schemas.microsoft.com/office/drawing/2014/main" id="{F7DC27EB-C30B-48C1-4BA1-ADA17C6EDA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18398912" y="9705449"/>
            <a:ext cx="720000" cy="720000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C30B3D-B9E8-E486-548D-5BDFAC555A8B}"/>
              </a:ext>
            </a:extLst>
          </p:cNvPr>
          <p:cNvSpPr/>
          <p:nvPr/>
        </p:nvSpPr>
        <p:spPr>
          <a:xfrm>
            <a:off x="14961150" y="7699467"/>
            <a:ext cx="2948897" cy="2725982"/>
          </a:xfrm>
          <a:prstGeom prst="round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l" defTabSz="457200"/>
            <a:endParaRPr lang="en-RU" sz="1800" dirty="0">
              <a:latin typeface="T-Sans" pitchFamily="2" charset="0"/>
              <a:ea typeface="T-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47503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AA98BD8C-548C-B295-39B1-38D21A77F8D2}"/>
              </a:ext>
            </a:extLst>
          </p:cNvPr>
          <p:cNvSpPr/>
          <p:nvPr/>
        </p:nvSpPr>
        <p:spPr>
          <a:xfrm>
            <a:off x="10017425" y="7383650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5" name="Номер слайда">
            <a:extLst>
              <a:ext uri="{FF2B5EF4-FFF2-40B4-BE49-F238E27FC236}">
                <a16:creationId xmlns:a16="http://schemas.microsoft.com/office/drawing/2014/main" id="{A4A4C991-1C43-14C1-2612-95EBCB75D9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22</a:t>
            </a:fld>
            <a:endParaRPr lang="ru-RU" dirty="0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CD269E35-EB7C-C2AE-EE21-D723F84019AD}"/>
              </a:ext>
            </a:extLst>
          </p:cNvPr>
          <p:cNvSpPr/>
          <p:nvPr/>
        </p:nvSpPr>
        <p:spPr>
          <a:xfrm>
            <a:off x="18389388" y="9719137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3</a:t>
            </a:r>
          </a:p>
        </p:txBody>
      </p:sp>
      <p:sp>
        <p:nvSpPr>
          <p:cNvPr id="15" name="Полилиния 14">
            <a:extLst>
              <a:ext uri="{FF2B5EF4-FFF2-40B4-BE49-F238E27FC236}">
                <a16:creationId xmlns:a16="http://schemas.microsoft.com/office/drawing/2014/main" id="{4666AEF0-B42A-5BA1-0A55-804C0EEB1806}"/>
              </a:ext>
            </a:extLst>
          </p:cNvPr>
          <p:cNvSpPr/>
          <p:nvPr/>
        </p:nvSpPr>
        <p:spPr>
          <a:xfrm>
            <a:off x="10017425" y="4008662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79231803-DA31-6264-E844-EEAB25DDCFE5}"/>
              </a:ext>
            </a:extLst>
          </p:cNvPr>
          <p:cNvSpPr/>
          <p:nvPr/>
        </p:nvSpPr>
        <p:spPr>
          <a:xfrm>
            <a:off x="18389388" y="6343279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2</a:t>
            </a:r>
          </a:p>
        </p:txBody>
      </p:sp>
      <p:sp>
        <p:nvSpPr>
          <p:cNvPr id="17" name="Полилиния 16">
            <a:extLst>
              <a:ext uri="{FF2B5EF4-FFF2-40B4-BE49-F238E27FC236}">
                <a16:creationId xmlns:a16="http://schemas.microsoft.com/office/drawing/2014/main" id="{494AA5DF-033D-383C-2177-FF599154D94F}"/>
              </a:ext>
            </a:extLst>
          </p:cNvPr>
          <p:cNvSpPr/>
          <p:nvPr/>
        </p:nvSpPr>
        <p:spPr>
          <a:xfrm>
            <a:off x="10017425" y="632805"/>
            <a:ext cx="9180146" cy="3142800"/>
          </a:xfrm>
          <a:custGeom>
            <a:avLst/>
            <a:gdLst>
              <a:gd name="connsiteX0" fmla="*/ 467837 w 9180146"/>
              <a:gd name="connsiteY0" fmla="*/ 0 h 3142800"/>
              <a:gd name="connsiteX1" fmla="*/ 3530624 w 9180146"/>
              <a:gd name="connsiteY1" fmla="*/ 0 h 3142800"/>
              <a:gd name="connsiteX2" fmla="*/ 7367670 w 9180146"/>
              <a:gd name="connsiteY2" fmla="*/ 0 h 3142800"/>
              <a:gd name="connsiteX3" fmla="*/ 7643898 w 9180146"/>
              <a:gd name="connsiteY3" fmla="*/ 0 h 3142800"/>
              <a:gd name="connsiteX4" fmla="*/ 7643908 w 9180146"/>
              <a:gd name="connsiteY4" fmla="*/ 1 h 3142800"/>
              <a:gd name="connsiteX5" fmla="*/ 8691238 w 9180146"/>
              <a:gd name="connsiteY5" fmla="*/ 1 h 3142800"/>
              <a:gd name="connsiteX6" fmla="*/ 9180146 w 9180146"/>
              <a:gd name="connsiteY6" fmla="*/ 488211 h 3142800"/>
              <a:gd name="connsiteX7" fmla="*/ 9180146 w 9180146"/>
              <a:gd name="connsiteY7" fmla="*/ 1728129 h 3142800"/>
              <a:gd name="connsiteX8" fmla="*/ 8710662 w 9180146"/>
              <a:gd name="connsiteY8" fmla="*/ 2196939 h 3142800"/>
              <a:gd name="connsiteX9" fmla="*/ 8241190 w 9180146"/>
              <a:gd name="connsiteY9" fmla="*/ 2667303 h 3142800"/>
              <a:gd name="connsiteX10" fmla="*/ 7768578 w 9180146"/>
              <a:gd name="connsiteY10" fmla="*/ 3140808 h 3142800"/>
              <a:gd name="connsiteX11" fmla="*/ 7663658 w 9180146"/>
              <a:gd name="connsiteY11" fmla="*/ 3140808 h 3142800"/>
              <a:gd name="connsiteX12" fmla="*/ 7643898 w 9180146"/>
              <a:gd name="connsiteY12" fmla="*/ 3142800 h 3142800"/>
              <a:gd name="connsiteX13" fmla="*/ 7367670 w 9180146"/>
              <a:gd name="connsiteY13" fmla="*/ 3142800 h 3142800"/>
              <a:gd name="connsiteX14" fmla="*/ 3530624 w 9180146"/>
              <a:gd name="connsiteY14" fmla="*/ 3142800 h 3142800"/>
              <a:gd name="connsiteX15" fmla="*/ 467837 w 9180146"/>
              <a:gd name="connsiteY15" fmla="*/ 3142800 h 3142800"/>
              <a:gd name="connsiteX16" fmla="*/ 0 w 9180146"/>
              <a:gd name="connsiteY16" fmla="*/ 2674963 h 3142800"/>
              <a:gd name="connsiteX17" fmla="*/ 0 w 9180146"/>
              <a:gd name="connsiteY17" fmla="*/ 467837 h 3142800"/>
              <a:gd name="connsiteX18" fmla="*/ 467837 w 9180146"/>
              <a:gd name="connsiteY18" fmla="*/ 0 h 31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180146" h="3142800">
                <a:moveTo>
                  <a:pt x="467837" y="0"/>
                </a:moveTo>
                <a:lnTo>
                  <a:pt x="3530624" y="0"/>
                </a:lnTo>
                <a:lnTo>
                  <a:pt x="7367670" y="0"/>
                </a:lnTo>
                <a:lnTo>
                  <a:pt x="7643898" y="0"/>
                </a:lnTo>
                <a:lnTo>
                  <a:pt x="7643908" y="1"/>
                </a:lnTo>
                <a:lnTo>
                  <a:pt x="8691238" y="1"/>
                </a:lnTo>
                <a:cubicBezTo>
                  <a:pt x="8961254" y="1"/>
                  <a:pt x="9180146" y="218581"/>
                  <a:pt x="9180146" y="488211"/>
                </a:cubicBezTo>
                <a:lnTo>
                  <a:pt x="9180146" y="1728129"/>
                </a:lnTo>
                <a:cubicBezTo>
                  <a:pt x="9180146" y="1987050"/>
                  <a:pt x="8969946" y="2196939"/>
                  <a:pt x="8710662" y="2196939"/>
                </a:cubicBezTo>
                <a:cubicBezTo>
                  <a:pt x="8451378" y="2196939"/>
                  <a:pt x="8241190" y="2408390"/>
                  <a:pt x="8241190" y="2667303"/>
                </a:cubicBezTo>
                <a:cubicBezTo>
                  <a:pt x="8241190" y="2927950"/>
                  <a:pt x="8029590" y="3140808"/>
                  <a:pt x="7768578" y="3140808"/>
                </a:cubicBezTo>
                <a:lnTo>
                  <a:pt x="7663658" y="3140808"/>
                </a:lnTo>
                <a:lnTo>
                  <a:pt x="7643898" y="3142800"/>
                </a:lnTo>
                <a:lnTo>
                  <a:pt x="7367670" y="3142800"/>
                </a:lnTo>
                <a:lnTo>
                  <a:pt x="3530624" y="3142800"/>
                </a:lnTo>
                <a:lnTo>
                  <a:pt x="467837" y="3142800"/>
                </a:lnTo>
                <a:cubicBezTo>
                  <a:pt x="209458" y="3142800"/>
                  <a:pt x="0" y="2933342"/>
                  <a:pt x="0" y="2674963"/>
                </a:cubicBezTo>
                <a:lnTo>
                  <a:pt x="0" y="467837"/>
                </a:lnTo>
                <a:cubicBezTo>
                  <a:pt x="0" y="209458"/>
                  <a:pt x="209458" y="0"/>
                  <a:pt x="467837" y="0"/>
                </a:cubicBezTo>
                <a:close/>
              </a:path>
            </a:pathLst>
          </a:custGeom>
          <a:gradFill>
            <a:gsLst>
              <a:gs pos="100000">
                <a:srgbClr val="E0E1E3"/>
              </a:gs>
              <a:gs pos="0">
                <a:srgbClr val="F3F3F5"/>
              </a:gs>
            </a:gsLst>
            <a:lin ang="3000000" scaled="0"/>
          </a:gradFill>
          <a:ln w="1030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6354EF4-B4D4-D7A0-6739-B96F7E193D06}"/>
              </a:ext>
            </a:extLst>
          </p:cNvPr>
          <p:cNvSpPr/>
          <p:nvPr/>
        </p:nvSpPr>
        <p:spPr>
          <a:xfrm>
            <a:off x="18389388" y="2967422"/>
            <a:ext cx="808183" cy="808183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algn="ctr" defTabSz="457200"/>
            <a:r>
              <a:rPr lang="ru-RU" sz="3200" b="1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1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C75C0F2A-3523-B35C-464F-6A38394FEC56}"/>
              </a:ext>
            </a:extLst>
          </p:cNvPr>
          <p:cNvSpPr/>
          <p:nvPr/>
        </p:nvSpPr>
        <p:spPr>
          <a:xfrm>
            <a:off x="611188" y="640525"/>
            <a:ext cx="9142522" cy="9860725"/>
          </a:xfrm>
          <a:prstGeom prst="roundRect">
            <a:avLst>
              <a:gd name="adj" fmla="val 5633"/>
            </a:avLst>
          </a:prstGeom>
          <a:gradFill>
            <a:gsLst>
              <a:gs pos="25000">
                <a:schemeClr val="accent2"/>
              </a:gs>
              <a:gs pos="100000">
                <a:srgbClr val="5D5D5D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B0A3B1-437F-7215-DE4A-0C9EA35F4867}"/>
              </a:ext>
            </a:extLst>
          </p:cNvPr>
          <p:cNvSpPr txBox="1"/>
          <p:nvPr/>
        </p:nvSpPr>
        <p:spPr>
          <a:xfrm>
            <a:off x="1366167" y="1264476"/>
            <a:ext cx="7826799" cy="168507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  <a:latin typeface="T-Sans" pitchFamily="2" charset="0"/>
                <a:ea typeface="T-Sans" pitchFamily="2" charset="0"/>
              </a:rPr>
              <a:t>Java Garbage Collector (GC)</a:t>
            </a:r>
            <a:endParaRPr lang="ru-RU" dirty="0">
              <a:solidFill>
                <a:schemeClr val="accent6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A6602-F341-4E73-FAE8-E35CA6502199}"/>
              </a:ext>
            </a:extLst>
          </p:cNvPr>
          <p:cNvSpPr txBox="1"/>
          <p:nvPr/>
        </p:nvSpPr>
        <p:spPr>
          <a:xfrm>
            <a:off x="10637160" y="765867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ru-RU" dirty="0"/>
              <a:t>Алгоритм работы </a:t>
            </a:r>
            <a:r>
              <a:rPr lang="en-US" dirty="0"/>
              <a:t>GC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59DDEF-55F0-5988-C3D2-F906B69F5E35}"/>
              </a:ext>
            </a:extLst>
          </p:cNvPr>
          <p:cNvSpPr txBox="1"/>
          <p:nvPr/>
        </p:nvSpPr>
        <p:spPr>
          <a:xfrm>
            <a:off x="10686851" y="1492818"/>
            <a:ext cx="7175480" cy="2000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Mark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: сканирование от корней (</a:t>
            </a:r>
            <a:r>
              <a:rPr lang="en-US" b="1" dirty="0" err="1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gc</a:t>
            </a:r>
            <a:r>
              <a:rPr lang="en-US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roots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) для определения живых объектов. </a:t>
            </a:r>
            <a:endParaRPr lang="en-US" dirty="0">
              <a:solidFill>
                <a:schemeClr val="bg1"/>
              </a:solidFill>
              <a:latin typeface="T-Sans" pitchFamily="2" charset="77"/>
              <a:ea typeface="T-Sans" pitchFamily="2" charset="77"/>
              <a:cs typeface="Arial"/>
              <a:sym typeface="Arial"/>
            </a:endParaRPr>
          </a:p>
          <a:p>
            <a:pPr lvl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GB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Sweep</a:t>
            </a:r>
            <a:r>
              <a:rPr lang="en-GB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 &amp; </a:t>
            </a:r>
            <a:r>
              <a:rPr lang="en-GB" b="1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Compact</a:t>
            </a:r>
            <a:r>
              <a:rPr lang="en-GB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: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  <a:cs typeface="Arial"/>
                <a:sym typeface="Arial"/>
              </a:rPr>
              <a:t>удаление мертвых объектов и уплотнение оставшихся для устранения фрагментации кучи.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96D1CA-4723-F576-C7C4-3F9428982711}"/>
              </a:ext>
            </a:extLst>
          </p:cNvPr>
          <p:cNvSpPr txBox="1"/>
          <p:nvPr/>
        </p:nvSpPr>
        <p:spPr>
          <a:xfrm>
            <a:off x="10637159" y="4241264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/>
              <a:t>Stop-The-World Problem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4E6DE3-81B8-F7E7-AED0-0063E81C010F}"/>
              </a:ext>
            </a:extLst>
          </p:cNvPr>
          <p:cNvSpPr txBox="1"/>
          <p:nvPr/>
        </p:nvSpPr>
        <p:spPr>
          <a:xfrm>
            <a:off x="10637158" y="4968215"/>
            <a:ext cx="7488515" cy="184665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Сборка мусора расходует ресурсы </a:t>
            </a:r>
            <a:r>
              <a:rPr lang="en-GB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CPU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и требует периодических пауз для безопасного изменения адресов объектов в памяти. Невозможно одновременно оптимизировать минимальное время пауз</a:t>
            </a:r>
            <a:r>
              <a:rPr lang="en-GB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,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максимальную пропускную способность и потребление памяти.</a:t>
            </a:r>
            <a:endParaRPr lang="en-US" dirty="0">
              <a:solidFill>
                <a:schemeClr val="bg1"/>
              </a:solidFill>
              <a:latin typeface="T-Sans" pitchFamily="2" charset="77"/>
              <a:ea typeface="T-Sans" pitchFamily="2" charset="7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FA5F6-14AF-41AE-411F-B0FAF564910A}"/>
              </a:ext>
            </a:extLst>
          </p:cNvPr>
          <p:cNvSpPr txBox="1"/>
          <p:nvPr/>
        </p:nvSpPr>
        <p:spPr>
          <a:xfrm>
            <a:off x="10639209" y="7616500"/>
            <a:ext cx="6979617" cy="59554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10000"/>
              </a:lnSpc>
              <a:defRPr sz="3600">
                <a:solidFill>
                  <a:schemeClr val="accent2"/>
                </a:solidFill>
                <a:latin typeface="T-Sans Medium" pitchFamily="2" charset="0"/>
                <a:ea typeface="T-Sans" pitchFamily="2" charset="0"/>
              </a:defRPr>
            </a:lvl1pPr>
          </a:lstStyle>
          <a:p>
            <a:r>
              <a:rPr lang="en-US" dirty="0" err="1"/>
              <a:t>HotSpot</a:t>
            </a:r>
            <a:r>
              <a:rPr lang="en-US" dirty="0"/>
              <a:t> JVM GC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27B36-9105-B370-49AA-E9DD714C5EFF}"/>
              </a:ext>
            </a:extLst>
          </p:cNvPr>
          <p:cNvSpPr txBox="1"/>
          <p:nvPr/>
        </p:nvSpPr>
        <p:spPr>
          <a:xfrm>
            <a:off x="10637159" y="8256251"/>
            <a:ext cx="7631386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30000"/>
              </a:lnSpc>
              <a:defRPr sz="2400">
                <a:solidFill>
                  <a:schemeClr val="bg2">
                    <a:lumMod val="50000"/>
                  </a:schemeClr>
                </a:solidFill>
                <a:latin typeface="T-Sans" pitchFamily="2" charset="0"/>
                <a:ea typeface="T-Sans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Serial, Parallel, G1, ZGC / Shenandoah, Epsilon GC. </a:t>
            </a:r>
          </a:p>
          <a:p>
            <a:pPr>
              <a:lnSpc>
                <a:spcPct val="100000"/>
              </a:lnSpc>
            </a:pPr>
            <a:endParaRPr lang="en-US" dirty="0">
              <a:solidFill>
                <a:schemeClr val="bg1"/>
              </a:solidFill>
              <a:latin typeface="T-Sans" pitchFamily="2" charset="77"/>
              <a:ea typeface="T-Sans" pitchFamily="2" charset="77"/>
            </a:endParaRPr>
          </a:p>
          <a:p>
            <a:pPr>
              <a:lnSpc>
                <a:spcPct val="100000"/>
              </a:lnSpc>
            </a:pP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У каждого </a:t>
            </a:r>
            <a:r>
              <a:rPr lang="en-US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GC – </a:t>
            </a:r>
            <a:r>
              <a:rPr lang="ru-RU" dirty="0">
                <a:solidFill>
                  <a:schemeClr val="bg1"/>
                </a:solidFill>
                <a:latin typeface="T-Sans" pitchFamily="2" charset="77"/>
                <a:ea typeface="T-Sans" pitchFamily="2" charset="77"/>
              </a:rPr>
              <a:t>есть свои достоинства и недостатки, и своя собственная область применения. </a:t>
            </a:r>
            <a:endParaRPr lang="en-US" dirty="0">
              <a:solidFill>
                <a:schemeClr val="bg1"/>
              </a:solidFill>
              <a:latin typeface="T-Sans" pitchFamily="2" charset="77"/>
              <a:ea typeface="T-Sans" pitchFamily="2" charset="77"/>
            </a:endParaRPr>
          </a:p>
        </p:txBody>
      </p:sp>
      <p:pic>
        <p:nvPicPr>
          <p:cNvPr id="8194" name="Picture 2" descr="Java Garbage Collection Types &amp; Settings in Jelastic | Virtuozzo">
            <a:extLst>
              <a:ext uri="{FF2B5EF4-FFF2-40B4-BE49-F238E27FC236}">
                <a16:creationId xmlns:a16="http://schemas.microsoft.com/office/drawing/2014/main" id="{520DB5DE-8BAA-3497-C30F-1568DA4EA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146" y="5549482"/>
            <a:ext cx="6079820" cy="541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138270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5720D4-8099-37D5-3EF0-405D50B69558}"/>
              </a:ext>
            </a:extLst>
          </p:cNvPr>
          <p:cNvSpPr txBox="1"/>
          <p:nvPr/>
        </p:nvSpPr>
        <p:spPr>
          <a:xfrm>
            <a:off x="1366838" y="1281402"/>
            <a:ext cx="8146210" cy="25160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en-US" dirty="0">
                <a:latin typeface="T-Sans" pitchFamily="2" charset="0"/>
                <a:ea typeface="T-Sans" pitchFamily="2" charset="0"/>
              </a:rPr>
              <a:t>Heap – </a:t>
            </a:r>
            <a:r>
              <a:rPr lang="ru-RU" dirty="0">
                <a:latin typeface="T-Sans" pitchFamily="2" charset="0"/>
                <a:ea typeface="T-Sans" pitchFamily="2" charset="0"/>
              </a:rPr>
              <a:t>бесценен, для всего остального есть </a:t>
            </a:r>
            <a:r>
              <a:rPr lang="en-US" dirty="0">
                <a:latin typeface="T-Sans" pitchFamily="2" charset="0"/>
                <a:ea typeface="T-Sans" pitchFamily="2" charset="0"/>
              </a:rPr>
              <a:t>Non-Heap…</a:t>
            </a:r>
            <a:endParaRPr lang="ru-RU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8CBE18-DF12-26C9-E5E9-D5FED1A7ED75}"/>
              </a:ext>
            </a:extLst>
          </p:cNvPr>
          <p:cNvSpPr txBox="1"/>
          <p:nvPr/>
        </p:nvSpPr>
        <p:spPr>
          <a:xfrm>
            <a:off x="10380986" y="877277"/>
            <a:ext cx="383896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latin typeface="T-Sans Medium" pitchFamily="2" charset="0"/>
                <a:ea typeface="T-Sans" pitchFamily="2" charset="0"/>
              </a:rPr>
              <a:t>Observable Non-Heap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FF81E-5B7B-C2E5-8137-F115D18BF37B}"/>
              </a:ext>
            </a:extLst>
          </p:cNvPr>
          <p:cNvSpPr txBox="1"/>
          <p:nvPr/>
        </p:nvSpPr>
        <p:spPr>
          <a:xfrm>
            <a:off x="10380496" y="1562459"/>
            <a:ext cx="4061218" cy="24468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b="1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Metaspace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метаданные классов, байт-код, статические поля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</a:t>
            </a:r>
            <a:r>
              <a:rPr lang="ru-RU" sz="2400" dirty="0" err="1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тд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Code Cache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: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область для хранения машинного кода, скомпилированного 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JIT.</a:t>
            </a:r>
            <a:endParaRPr lang="ru-RU" sz="24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38A965-FC8B-B470-CF81-D39807DCDE39}"/>
              </a:ext>
            </a:extLst>
          </p:cNvPr>
          <p:cNvSpPr txBox="1"/>
          <p:nvPr/>
        </p:nvSpPr>
        <p:spPr>
          <a:xfrm>
            <a:off x="15095812" y="839494"/>
            <a:ext cx="3795216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Все остальное, что не попало в </a:t>
            </a:r>
            <a:r>
              <a:rPr lang="en-US" dirty="0">
                <a:latin typeface="T-Sans Medium" pitchFamily="2" charset="0"/>
                <a:ea typeface="T-Sans" pitchFamily="2" charset="0"/>
              </a:rPr>
              <a:t>Heap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6E210F-8F28-87E0-9BD3-96CB7D25EBBF}"/>
              </a:ext>
            </a:extLst>
          </p:cNvPr>
          <p:cNvSpPr txBox="1"/>
          <p:nvPr/>
        </p:nvSpPr>
        <p:spPr>
          <a:xfrm>
            <a:off x="15095812" y="1957760"/>
            <a:ext cx="3372228" cy="2954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Помимо </a:t>
            </a:r>
            <a:r>
              <a:rPr lang="en-GB" sz="2400" dirty="0" err="1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Metaspace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и </a:t>
            </a:r>
            <a:r>
              <a:rPr lang="en-GB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Code Cache,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в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Non-heap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содержится много другой вспомогательной информации – </a:t>
            </a:r>
            <a:r>
              <a:rPr lang="ru-RU" sz="2400" b="1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стеки потоков</a:t>
            </a:r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effectLst/>
                <a:latin typeface="T-Sans" pitchFamily="2" charset="0"/>
                <a:ea typeface="T-Sans" pitchFamily="2" charset="0"/>
              </a:rPr>
              <a:t>*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,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данные, необходимые для работы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GC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и так далее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…</a:t>
            </a:r>
            <a:endParaRPr lang="en-GB" sz="2400" dirty="0">
              <a:solidFill>
                <a:schemeClr val="tx2">
                  <a:lumMod val="75000"/>
                </a:schemeClr>
              </a:solidFill>
              <a:effectLst/>
              <a:latin typeface="T-Sans" pitchFamily="2" charset="0"/>
              <a:ea typeface="T-Sans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83948A-11AB-5B82-B324-55F46536CA96}"/>
              </a:ext>
            </a:extLst>
          </p:cNvPr>
          <p:cNvSpPr txBox="1"/>
          <p:nvPr/>
        </p:nvSpPr>
        <p:spPr>
          <a:xfrm>
            <a:off x="10446026" y="7226352"/>
            <a:ext cx="3708886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Java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память можно выделять не только в куче с помощью оператора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new,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но и в напрямую в ОС с помощью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Direct Memory Buffers.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Подробнее об этом на семинарах про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NIO. 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279D45C-E6A6-4B32-5C08-70D8E26E1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30395" y="4687809"/>
            <a:ext cx="565727" cy="57727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E9C7B4A-2505-7110-2BCB-FF7A47C7E4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4181" y="4692892"/>
            <a:ext cx="524794" cy="5247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E27001A-586A-43C3-8CFA-AF6021FD14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0198" y="9762711"/>
            <a:ext cx="524794" cy="524794"/>
          </a:xfrm>
          <a:prstGeom prst="rect">
            <a:avLst/>
          </a:prstGeom>
        </p:spPr>
      </p:pic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996A7A5C-5D2E-D228-F5A4-40733A7E93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23</a:t>
            </a:fld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17A69-DEB9-7C30-D523-8D061D059FF1}"/>
              </a:ext>
            </a:extLst>
          </p:cNvPr>
          <p:cNvSpPr txBox="1"/>
          <p:nvPr/>
        </p:nvSpPr>
        <p:spPr>
          <a:xfrm>
            <a:off x="10446026" y="6169077"/>
            <a:ext cx="3617446" cy="10710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en-US" dirty="0">
                <a:latin typeface="T-Sans Medium" pitchFamily="2" charset="0"/>
                <a:ea typeface="T-Sans" pitchFamily="2" charset="0"/>
              </a:rPr>
              <a:t>Direct Memory Buffers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10244" name="Picture 4" descr="Diagram of typical memory layout for 2-GB apps.">
            <a:extLst>
              <a:ext uri="{FF2B5EF4-FFF2-40B4-BE49-F238E27FC236}">
                <a16:creationId xmlns:a16="http://schemas.microsoft.com/office/drawing/2014/main" id="{012134D4-7D63-39D3-7BAC-984246ABD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838" y="4455175"/>
            <a:ext cx="7594600" cy="473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9CF1AE-E003-5402-5A73-AD95EFC93C22}"/>
              </a:ext>
            </a:extLst>
          </p:cNvPr>
          <p:cNvSpPr txBox="1"/>
          <p:nvPr/>
        </p:nvSpPr>
        <p:spPr>
          <a:xfrm>
            <a:off x="15200906" y="6076009"/>
            <a:ext cx="3795216" cy="5293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800"/>
              </a:lnSpc>
              <a:defRPr sz="32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>
              <a:lnSpc>
                <a:spcPct val="110000"/>
              </a:lnSpc>
            </a:pPr>
            <a:r>
              <a:rPr lang="ru-RU" dirty="0">
                <a:latin typeface="T-Sans Medium" pitchFamily="2" charset="0"/>
                <a:ea typeface="T-Sans" pitchFamily="2" charset="0"/>
              </a:rPr>
              <a:t>Опасность </a:t>
            </a:r>
            <a:r>
              <a:rPr lang="en-US" dirty="0">
                <a:latin typeface="T-Sans Medium" pitchFamily="2" charset="0"/>
                <a:ea typeface="T-Sans" pitchFamily="2" charset="0"/>
              </a:rPr>
              <a:t>Non-Heap</a:t>
            </a:r>
            <a:endParaRPr lang="ru-RU" dirty="0">
              <a:latin typeface="T-Sans Medium" pitchFamily="2" charset="0"/>
              <a:ea typeface="T-Sans" pitchFamily="2" charset="0"/>
            </a:endParaRPr>
          </a:p>
        </p:txBody>
      </p:sp>
      <p:pic>
        <p:nvPicPr>
          <p:cNvPr id="15" name="Рисунок 235">
            <a:extLst>
              <a:ext uri="{FF2B5EF4-FFF2-40B4-BE49-F238E27FC236}">
                <a16:creationId xmlns:a16="http://schemas.microsoft.com/office/drawing/2014/main" id="{1DBB4210-CD97-4D3D-0A50-30F2FEFD47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3258" y="9665108"/>
            <a:ext cx="720000" cy="720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BEF233-36A7-7C7F-98C1-FA6F9991F59D}"/>
              </a:ext>
            </a:extLst>
          </p:cNvPr>
          <p:cNvSpPr txBox="1"/>
          <p:nvPr/>
        </p:nvSpPr>
        <p:spPr>
          <a:xfrm>
            <a:off x="15200906" y="6682015"/>
            <a:ext cx="3708886" cy="25853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120000"/>
              </a:lnSpc>
              <a:spcAft>
                <a:spcPts val="1800"/>
              </a:spcAft>
              <a:defRPr sz="2200">
                <a:solidFill>
                  <a:schemeClr val="bg2">
                    <a:lumMod val="75000"/>
                  </a:schemeClr>
                </a:solidFill>
                <a:latin typeface="Tinkoff Sans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00000"/>
              </a:lnSpc>
            </a:pP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Главная опасность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Non-Heap – </a:t>
            </a:r>
            <a:r>
              <a:rPr lang="ru-RU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забыть или не знать о его существовании. Особенно опасно это становится, если вы работаете в окружениях с ограниченной оперативной памятью, к примеру –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K8S.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6AADD3-1A3E-1C7D-9620-704A7F1717BD}"/>
              </a:ext>
            </a:extLst>
          </p:cNvPr>
          <p:cNvSpPr txBox="1"/>
          <p:nvPr/>
        </p:nvSpPr>
        <p:spPr>
          <a:xfrm>
            <a:off x="9662553" y="10853961"/>
            <a:ext cx="1013674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(*) </a:t>
            </a:r>
            <a:r>
              <a:rPr kumimoji="0" lang="ru-RU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про внутреннее устройства стеков потоков мы с вами поговорим на семинара</a:t>
            </a:r>
            <a:r>
              <a:rPr lang="ru-RU" sz="1800" dirty="0"/>
              <a:t>х про многопоточность!</a:t>
            </a:r>
            <a:endParaRPr kumimoji="0" lang="en-RU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198576900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251D3-19F3-F160-6D06-334796F6236F}"/>
              </a:ext>
            </a:extLst>
          </p:cNvPr>
          <p:cNvSpPr txBox="1"/>
          <p:nvPr/>
        </p:nvSpPr>
        <p:spPr>
          <a:xfrm>
            <a:off x="611188" y="556966"/>
            <a:ext cx="5497004" cy="255839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dirty="0">
                <a:latin typeface="T-Sans" pitchFamily="2" charset="0"/>
                <a:ea typeface="T-Sans" pitchFamily="2" charset="0"/>
              </a:rPr>
              <a:t>Из чего же складывается вес объекта?</a:t>
            </a:r>
          </a:p>
        </p:txBody>
      </p:sp>
      <p:sp>
        <p:nvSpPr>
          <p:cNvPr id="2" name="Номер слайда">
            <a:extLst>
              <a:ext uri="{FF2B5EF4-FFF2-40B4-BE49-F238E27FC236}">
                <a16:creationId xmlns:a16="http://schemas.microsoft.com/office/drawing/2014/main" id="{DB13FB85-896E-2444-CF89-EFDA5C89D5D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24</a:t>
            </a:fld>
            <a:endParaRPr lang="ru-RU" dirty="0"/>
          </a:p>
        </p:txBody>
      </p:sp>
      <p:sp>
        <p:nvSpPr>
          <p:cNvPr id="20" name="Полилиния 19">
            <a:extLst>
              <a:ext uri="{FF2B5EF4-FFF2-40B4-BE49-F238E27FC236}">
                <a16:creationId xmlns:a16="http://schemas.microsoft.com/office/drawing/2014/main" id="{85E20B74-1B17-60E0-D802-6E56BD1B5166}"/>
              </a:ext>
            </a:extLst>
          </p:cNvPr>
          <p:cNvSpPr/>
          <p:nvPr/>
        </p:nvSpPr>
        <p:spPr>
          <a:xfrm>
            <a:off x="7372857" y="2286884"/>
            <a:ext cx="8194433" cy="7102247"/>
          </a:xfrm>
          <a:custGeom>
            <a:avLst/>
            <a:gdLst>
              <a:gd name="connsiteX0" fmla="*/ 3352364 w 8194433"/>
              <a:gd name="connsiteY0" fmla="*/ 256787 h 7102247"/>
              <a:gd name="connsiteX1" fmla="*/ 4242286 w 8194433"/>
              <a:gd name="connsiteY1" fmla="*/ 256787 h 7102247"/>
              <a:gd name="connsiteX2" fmla="*/ 8194434 w 8194433"/>
              <a:gd name="connsiteY2" fmla="*/ 7102248 h 7102247"/>
              <a:gd name="connsiteX3" fmla="*/ 823112 w 8194433"/>
              <a:gd name="connsiteY3" fmla="*/ 7102248 h 7102247"/>
              <a:gd name="connsiteX4" fmla="*/ 111174 w 8194433"/>
              <a:gd name="connsiteY4" fmla="*/ 5870798 h 7102247"/>
              <a:gd name="connsiteX5" fmla="*/ 3352364 w 8194433"/>
              <a:gd name="connsiteY5" fmla="*/ 256787 h 7102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94433" h="7102247">
                <a:moveTo>
                  <a:pt x="3352364" y="256787"/>
                </a:moveTo>
                <a:cubicBezTo>
                  <a:pt x="3550028" y="-85596"/>
                  <a:pt x="4044621" y="-85596"/>
                  <a:pt x="4242286" y="256787"/>
                </a:cubicBezTo>
                <a:lnTo>
                  <a:pt x="8194434" y="7102248"/>
                </a:lnTo>
                <a:lnTo>
                  <a:pt x="823112" y="7102248"/>
                </a:lnTo>
                <a:cubicBezTo>
                  <a:pt x="190569" y="7102248"/>
                  <a:pt x="-204881" y="6418239"/>
                  <a:pt x="111174" y="5870798"/>
                </a:cubicBezTo>
                <a:lnTo>
                  <a:pt x="3352364" y="256787"/>
                </a:lnTo>
                <a:close/>
              </a:path>
            </a:pathLst>
          </a:custGeom>
          <a:solidFill>
            <a:srgbClr val="F5F5F6"/>
          </a:solidFill>
          <a:ln w="951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2" name="Полилиния 21">
            <a:extLst>
              <a:ext uri="{FF2B5EF4-FFF2-40B4-BE49-F238E27FC236}">
                <a16:creationId xmlns:a16="http://schemas.microsoft.com/office/drawing/2014/main" id="{0AEA1082-F788-1816-878F-1DFB099E1E8B}"/>
              </a:ext>
            </a:extLst>
          </p:cNvPr>
          <p:cNvSpPr/>
          <p:nvPr/>
        </p:nvSpPr>
        <p:spPr>
          <a:xfrm>
            <a:off x="8451542" y="2286928"/>
            <a:ext cx="6037018" cy="5234084"/>
          </a:xfrm>
          <a:custGeom>
            <a:avLst/>
            <a:gdLst>
              <a:gd name="connsiteX0" fmla="*/ 2273668 w 6037018"/>
              <a:gd name="connsiteY0" fmla="*/ 256798 h 5234084"/>
              <a:gd name="connsiteX1" fmla="*/ 3163610 w 6037018"/>
              <a:gd name="connsiteY1" fmla="*/ 256799 h 5234084"/>
              <a:gd name="connsiteX2" fmla="*/ 6037018 w 6037018"/>
              <a:gd name="connsiteY2" fmla="*/ 5234085 h 5234084"/>
              <a:gd name="connsiteX3" fmla="*/ 823115 w 6037018"/>
              <a:gd name="connsiteY3" fmla="*/ 5234085 h 5234084"/>
              <a:gd name="connsiteX4" fmla="*/ 111164 w 6037018"/>
              <a:gd name="connsiteY4" fmla="*/ 4002656 h 5234084"/>
              <a:gd name="connsiteX5" fmla="*/ 2273668 w 6037018"/>
              <a:gd name="connsiteY5" fmla="*/ 256798 h 5234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7018" h="5234084">
                <a:moveTo>
                  <a:pt x="2273668" y="256798"/>
                </a:moveTo>
                <a:cubicBezTo>
                  <a:pt x="2471343" y="-85600"/>
                  <a:pt x="2965946" y="-85599"/>
                  <a:pt x="3163610" y="256799"/>
                </a:cubicBezTo>
                <a:lnTo>
                  <a:pt x="6037018" y="5234085"/>
                </a:lnTo>
                <a:lnTo>
                  <a:pt x="823115" y="5234085"/>
                </a:lnTo>
                <a:cubicBezTo>
                  <a:pt x="190579" y="5234085"/>
                  <a:pt x="-204873" y="4550097"/>
                  <a:pt x="111164" y="4002656"/>
                </a:cubicBezTo>
                <a:lnTo>
                  <a:pt x="2273668" y="256798"/>
                </a:lnTo>
                <a:close/>
              </a:path>
            </a:pathLst>
          </a:custGeom>
          <a:gradFill>
            <a:gsLst>
              <a:gs pos="0">
                <a:srgbClr val="E2E6EA"/>
              </a:gs>
              <a:gs pos="79500">
                <a:srgbClr val="EEF0F3"/>
              </a:gs>
            </a:gsLst>
            <a:lin ang="19284413" scaled="1"/>
          </a:gradFill>
          <a:ln w="9508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4" name="Полилиния 23">
            <a:extLst>
              <a:ext uri="{FF2B5EF4-FFF2-40B4-BE49-F238E27FC236}">
                <a16:creationId xmlns:a16="http://schemas.microsoft.com/office/drawing/2014/main" id="{4B1145C8-369F-AF35-A722-1F5E430709C1}"/>
              </a:ext>
            </a:extLst>
          </p:cNvPr>
          <p:cNvSpPr/>
          <p:nvPr/>
        </p:nvSpPr>
        <p:spPr>
          <a:xfrm>
            <a:off x="9606544" y="1975939"/>
            <a:ext cx="3700549" cy="3502460"/>
          </a:xfrm>
          <a:custGeom>
            <a:avLst/>
            <a:gdLst>
              <a:gd name="connsiteX0" fmla="*/ 1389592 w 3700549"/>
              <a:gd name="connsiteY0" fmla="*/ 101149 h 3502460"/>
              <a:gd name="connsiteX1" fmla="*/ 1744802 w 3700549"/>
              <a:gd name="connsiteY1" fmla="*/ 102986 h 3502460"/>
              <a:gd name="connsiteX2" fmla="*/ 3700550 w 3700549"/>
              <a:gd name="connsiteY2" fmla="*/ 3502461 h 3502460"/>
              <a:gd name="connsiteX3" fmla="*/ 823135 w 3700549"/>
              <a:gd name="connsiteY3" fmla="*/ 3502461 h 3502460"/>
              <a:gd name="connsiteX4" fmla="*/ 114851 w 3700549"/>
              <a:gd name="connsiteY4" fmla="*/ 2264750 h 3502460"/>
              <a:gd name="connsiteX5" fmla="*/ 1389592 w 3700549"/>
              <a:gd name="connsiteY5" fmla="*/ 101149 h 350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00549" h="3502460">
                <a:moveTo>
                  <a:pt x="1389592" y="101149"/>
                </a:moveTo>
                <a:cubicBezTo>
                  <a:pt x="1469520" y="-34527"/>
                  <a:pt x="1666270" y="-33510"/>
                  <a:pt x="1744802" y="102986"/>
                </a:cubicBezTo>
                <a:lnTo>
                  <a:pt x="3700550" y="3502461"/>
                </a:lnTo>
                <a:lnTo>
                  <a:pt x="823135" y="3502461"/>
                </a:lnTo>
                <a:cubicBezTo>
                  <a:pt x="187362" y="3502461"/>
                  <a:pt x="-207668" y="2812160"/>
                  <a:pt x="114851" y="2264750"/>
                </a:cubicBezTo>
                <a:lnTo>
                  <a:pt x="1389592" y="101149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rgbClr val="FFE560"/>
              </a:gs>
            </a:gsLst>
            <a:lin ang="2700000" scaled="0"/>
          </a:gradFill>
          <a:ln w="12700" cap="flat">
            <a:noFill/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3B850D-795A-F3FD-81B8-2250AFF0BF84}"/>
              </a:ext>
            </a:extLst>
          </p:cNvPr>
          <p:cNvSpPr txBox="1"/>
          <p:nvPr/>
        </p:nvSpPr>
        <p:spPr>
          <a:xfrm>
            <a:off x="10313457" y="3883430"/>
            <a:ext cx="1784918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Поля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A57431-739A-B96E-B66C-B2236E3DFBFC}"/>
              </a:ext>
            </a:extLst>
          </p:cNvPr>
          <p:cNvSpPr txBox="1"/>
          <p:nvPr/>
        </p:nvSpPr>
        <p:spPr>
          <a:xfrm>
            <a:off x="9944007" y="6113852"/>
            <a:ext cx="2570202" cy="97590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solidFill>
                  <a:schemeClr val="bg1"/>
                </a:solidFill>
                <a:latin typeface="T-Sans Medium" pitchFamily="2" charset="0"/>
                <a:ea typeface="T-Sans" pitchFamily="2" charset="0"/>
              </a:rPr>
              <a:t>Заголовок объекта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36A8E-123F-2808-085F-BB0F69C7CC9E}"/>
              </a:ext>
            </a:extLst>
          </p:cNvPr>
          <p:cNvSpPr txBox="1"/>
          <p:nvPr/>
        </p:nvSpPr>
        <p:spPr>
          <a:xfrm>
            <a:off x="9944007" y="8182057"/>
            <a:ext cx="2764682" cy="4885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t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4200"/>
              </a:lnSpc>
              <a:defRPr sz="36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</a:lstStyle>
          <a:p>
            <a:pPr algn="ctr">
              <a:lnSpc>
                <a:spcPts val="3800"/>
              </a:lnSpc>
            </a:pPr>
            <a:r>
              <a:rPr lang="ru-RU" sz="3200" dirty="0">
                <a:latin typeface="T-Sans Medium" pitchFamily="2" charset="0"/>
                <a:ea typeface="T-Sans" pitchFamily="2" charset="0"/>
              </a:rPr>
              <a:t>Выравнивание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6670E96-8409-5CBD-6825-1DE3D01AD969}"/>
              </a:ext>
            </a:extLst>
          </p:cNvPr>
          <p:cNvSpPr/>
          <p:nvPr/>
        </p:nvSpPr>
        <p:spPr>
          <a:xfrm>
            <a:off x="11854023" y="3345451"/>
            <a:ext cx="1102133" cy="1102133"/>
          </a:xfrm>
          <a:prstGeom prst="ellipse">
            <a:avLst/>
          </a:prstGeom>
          <a:solidFill>
            <a:schemeClr val="accent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defTabSz="457200"/>
            <a:endParaRPr lang="ru-RU" sz="1800" dirty="0">
              <a:latin typeface="T-Sans" pitchFamily="2" charset="0"/>
              <a:ea typeface="T-Sans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340EC3-68F0-B210-69D7-C897BF7C04B8}"/>
              </a:ext>
            </a:extLst>
          </p:cNvPr>
          <p:cNvSpPr txBox="1"/>
          <p:nvPr/>
        </p:nvSpPr>
        <p:spPr>
          <a:xfrm>
            <a:off x="13456394" y="3485610"/>
            <a:ext cx="4552597" cy="6694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Данные объекта (полезная нагрузка) – примитивы и ссылки на другие объекты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42C829-0655-DEEA-02CD-9240E550E81C}"/>
              </a:ext>
            </a:extLst>
          </p:cNvPr>
          <p:cNvSpPr txBox="1"/>
          <p:nvPr/>
        </p:nvSpPr>
        <p:spPr>
          <a:xfrm>
            <a:off x="14794410" y="5832384"/>
            <a:ext cx="3437029" cy="6694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Вспомогательная информация, необходимая для работы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JVM</a:t>
            </a:r>
            <a:endParaRPr lang="ru-RU" sz="2000" dirty="0">
              <a:solidFill>
                <a:schemeClr val="tx2">
                  <a:lumMod val="75000"/>
                </a:schemeClr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27C43ED-894D-DCCD-36A1-306ACA8DF8CB}"/>
              </a:ext>
            </a:extLst>
          </p:cNvPr>
          <p:cNvSpPr txBox="1"/>
          <p:nvPr/>
        </p:nvSpPr>
        <p:spPr>
          <a:xfrm>
            <a:off x="15990339" y="7659182"/>
            <a:ext cx="3052404" cy="100796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ts val="3200"/>
              </a:lnSpc>
              <a:defRPr sz="2400">
                <a:solidFill>
                  <a:schemeClr val="accent2"/>
                </a:solidFill>
                <a:latin typeface="TINKOFFSANS-MEDIUM" panose="02000506050000020004" pitchFamily="2" charset="0"/>
              </a:defRPr>
            </a:lvl1pPr>
            <a:lvl2pPr marL="1199924" indent="-445133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2pPr>
            <a:lvl3pPr marL="2035650" indent="-52606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3pPr>
            <a:lvl4pPr marL="2863001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4pPr>
            <a:lvl5pPr marL="3617794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5pPr>
            <a:lvl6pPr marL="4372585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6pPr>
            <a:lvl7pPr marL="5127377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7pPr>
            <a:lvl8pPr marL="5882168" indent="-598628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8pPr>
            <a:lvl9pPr marL="6636960" indent="-598627" defTabSz="1509582">
              <a:lnSpc>
                <a:spcPct val="90000"/>
              </a:lnSpc>
              <a:spcBef>
                <a:spcPts val="1600"/>
              </a:spcBef>
              <a:buSzPct val="100000"/>
              <a:buFont typeface="Arial"/>
              <a:buChar char="•"/>
              <a:defRPr sz="4600"/>
            </a:lvl9pPr>
          </a:lstStyle>
          <a:p>
            <a:pPr>
              <a:lnSpc>
                <a:spcPct val="110000"/>
              </a:lnSpc>
            </a:pPr>
            <a:r>
              <a:rPr lang="ru-RU" sz="2000" dirty="0">
                <a:solidFill>
                  <a:schemeClr val="tx2">
                    <a:lumMod val="75000"/>
                  </a:schemeClr>
                </a:solidFill>
                <a:latin typeface="T-Sans" pitchFamily="2" charset="0"/>
                <a:ea typeface="T-Sans" pitchFamily="2" charset="0"/>
              </a:rPr>
              <a:t>Остаточное кол-во байт, необходимое для кратности размера объекта 8 байтам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A6BD550-AEA2-13D2-C200-C569AA0C2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01490" y="3592918"/>
            <a:ext cx="607199" cy="607199"/>
          </a:xfrm>
          <a:prstGeom prst="rect">
            <a:avLst/>
          </a:prstGeom>
        </p:spPr>
      </p:pic>
      <p:sp>
        <p:nvSpPr>
          <p:cNvPr id="6" name="Овал 5">
            <a:extLst>
              <a:ext uri="{FF2B5EF4-FFF2-40B4-BE49-F238E27FC236}">
                <a16:creationId xmlns:a16="http://schemas.microsoft.com/office/drawing/2014/main" id="{A3D8BA4E-8AE3-18D5-1F4C-CFC8287D886A}"/>
              </a:ext>
            </a:extLst>
          </p:cNvPr>
          <p:cNvSpPr/>
          <p:nvPr/>
        </p:nvSpPr>
        <p:spPr>
          <a:xfrm>
            <a:off x="13260070" y="5832631"/>
            <a:ext cx="1102133" cy="1102133"/>
          </a:xfrm>
          <a:prstGeom prst="ellipse">
            <a:avLst/>
          </a:prstGeom>
          <a:solidFill>
            <a:srgbClr val="EAEEF1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64194C-7D49-B94B-47B0-2037EE1517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507537" y="6113852"/>
            <a:ext cx="607199" cy="607199"/>
          </a:xfrm>
          <a:prstGeom prst="rect">
            <a:avLst/>
          </a:prstGeom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94C6FFC5-C073-09D9-E117-B7E25429B3E2}"/>
              </a:ext>
            </a:extLst>
          </p:cNvPr>
          <p:cNvSpPr/>
          <p:nvPr/>
        </p:nvSpPr>
        <p:spPr>
          <a:xfrm>
            <a:off x="14402419" y="7793425"/>
            <a:ext cx="1102133" cy="1102133"/>
          </a:xfrm>
          <a:prstGeom prst="ellipse">
            <a:avLst/>
          </a:prstGeom>
          <a:solidFill>
            <a:srgbClr val="F3F3F5"/>
          </a:solidFill>
          <a:ln w="50800" cap="flat">
            <a:solidFill>
              <a:schemeClr val="accent6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ru-RU" sz="2800" b="1" i="0" u="none" strike="noStrike" cap="none" spc="0" normalizeH="0" baseline="0" dirty="0">
              <a:ln>
                <a:noFill/>
              </a:ln>
              <a:solidFill>
                <a:schemeClr val="accent2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23B1CC-E6F5-E8C4-D251-3BB8049523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674600" y="8040892"/>
            <a:ext cx="607199" cy="60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65905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01F23E-7C8E-FD76-E3A3-8CE5D4ABA14D}"/>
              </a:ext>
            </a:extLst>
          </p:cNvPr>
          <p:cNvSpPr txBox="1"/>
          <p:nvPr/>
        </p:nvSpPr>
        <p:spPr>
          <a:xfrm>
            <a:off x="2348971" y="4684432"/>
            <a:ext cx="9102800" cy="179126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 anchor="ctr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6000" b="1">
                <a:solidFill>
                  <a:schemeClr val="accent2"/>
                </a:solidFill>
                <a:latin typeface="Tinkoff Sans" panose="02000506050000020004" pitchFamily="2" charset="0"/>
              </a:defRPr>
            </a:lvl1pPr>
          </a:lstStyle>
          <a:p>
            <a:r>
              <a:rPr lang="ru-RU" sz="80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Что весит больше?</a:t>
            </a:r>
          </a:p>
          <a:p>
            <a:r>
              <a:rPr lang="en-US" sz="44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int[10][1000] </a:t>
            </a:r>
            <a:r>
              <a:rPr lang="en-US" sz="440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vs</a:t>
            </a:r>
            <a:r>
              <a:rPr lang="en-US" sz="4400" b="0" dirty="0">
                <a:solidFill>
                  <a:schemeClr val="tx1"/>
                </a:solidFill>
                <a:latin typeface="T-Sans" pitchFamily="2" charset="0"/>
                <a:ea typeface="T-Sans" pitchFamily="2" charset="0"/>
              </a:rPr>
              <a:t> int[1000][10]</a:t>
            </a:r>
            <a:endParaRPr lang="ru-RU" sz="4400" b="0" dirty="0">
              <a:solidFill>
                <a:schemeClr val="tx1"/>
              </a:solidFill>
              <a:latin typeface="T-Sans" pitchFamily="2" charset="0"/>
              <a:ea typeface="T-Sans" pitchFamily="2" charset="0"/>
            </a:endParaRPr>
          </a:p>
        </p:txBody>
      </p:sp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0C4232E5-EA00-F2E8-6C17-43DA0D86DB4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25</a:t>
            </a:fld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8CFE7BB-7760-6667-B867-8C5C07566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900000">
            <a:off x="9539489" y="698702"/>
            <a:ext cx="9404604" cy="94046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7F5B77-7A8F-2231-F722-5F93E2B0A6C4}"/>
              </a:ext>
            </a:extLst>
          </p:cNvPr>
          <p:cNvSpPr txBox="1"/>
          <p:nvPr/>
        </p:nvSpPr>
        <p:spPr>
          <a:xfrm>
            <a:off x="11145855" y="10050762"/>
            <a:ext cx="7286608" cy="46166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Давайте узнаем это с помощью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J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ava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O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bject </a:t>
            </a:r>
            <a:r>
              <a:rPr kumimoji="0" lang="en-US" sz="24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L</a:t>
            </a: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Tinkoff Sans"/>
                <a:ea typeface="Tinkoff Sans"/>
                <a:cs typeface="Tinkoff Sans"/>
                <a:sym typeface="Tinkoff Sans"/>
              </a:rPr>
              <a:t>ayout (JOL)!</a:t>
            </a:r>
            <a:endParaRPr kumimoji="0" lang="en-RU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nkoff Sans"/>
              <a:ea typeface="Tinkoff Sans"/>
              <a:cs typeface="Tinkoff Sans"/>
              <a:sym typeface="Tinkoff Sans"/>
            </a:endParaRPr>
          </a:p>
        </p:txBody>
      </p:sp>
    </p:spTree>
    <p:extLst>
      <p:ext uri="{BB962C8B-B14F-4D97-AF65-F5344CB8AC3E}">
        <p14:creationId xmlns:p14="http://schemas.microsoft.com/office/powerpoint/2010/main" val="26001356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513036B3-80E0-4378-42AA-E09684F42BE9}"/>
              </a:ext>
            </a:extLst>
          </p:cNvPr>
          <p:cNvGrpSpPr/>
          <p:nvPr/>
        </p:nvGrpSpPr>
        <p:grpSpPr>
          <a:xfrm>
            <a:off x="1943100" y="3075009"/>
            <a:ext cx="7302500" cy="4529976"/>
            <a:chOff x="1943100" y="2934186"/>
            <a:chExt cx="7302500" cy="452997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16822C-1161-C64B-5143-FB1B67D9D1BA}"/>
                </a:ext>
              </a:extLst>
            </p:cNvPr>
            <p:cNvSpPr txBox="1"/>
            <p:nvPr/>
          </p:nvSpPr>
          <p:spPr>
            <a:xfrm>
              <a:off x="1946564" y="2934186"/>
              <a:ext cx="7299036" cy="3019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90000"/>
                </a:lnSpc>
                <a:defRPr sz="6000" b="1">
                  <a:solidFill>
                    <a:schemeClr val="accent2"/>
                  </a:solidFill>
                  <a:latin typeface="Tinkoff Sans" panose="02000506050000020004" pitchFamily="2" charset="0"/>
                </a:defRPr>
              </a:lvl1pPr>
            </a:lstStyle>
            <a:p>
              <a:r>
                <a:rPr lang="ru-RU" sz="7200" dirty="0">
                  <a:latin typeface="T-Sans" pitchFamily="2" charset="0"/>
                  <a:ea typeface="T-Sans" pitchFamily="2" charset="0"/>
                </a:rPr>
                <a:t>Оставьте, пожалуйста, обратную связь!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5D8327-AB0B-6ED6-BC38-664C67DF128C}"/>
                </a:ext>
              </a:extLst>
            </p:cNvPr>
            <p:cNvSpPr txBox="1"/>
            <p:nvPr/>
          </p:nvSpPr>
          <p:spPr>
            <a:xfrm>
              <a:off x="1943100" y="6531599"/>
              <a:ext cx="7302500" cy="932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 lIns="0" tIns="0" rIns="0" bIns="0">
              <a:spAutoFit/>
            </a:bodyPr>
            <a:lstStyle>
              <a:defPPr marL="0" marR="0" indent="0" algn="l" defTabSz="90006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773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>
                <a:lnSpc>
                  <a:spcPct val="130000"/>
                </a:lnSpc>
                <a:defRPr sz="2400">
                  <a:solidFill>
                    <a:schemeClr val="tx2">
                      <a:lumMod val="75000"/>
                    </a:schemeClr>
                  </a:solidFill>
                  <a:latin typeface="Tinkoff Sans" panose="02000506050000020004" pitchFamily="2" charset="0"/>
                </a:defRPr>
              </a:lvl1pPr>
              <a:lvl2pPr marL="1199924" indent="-445133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2pPr>
              <a:lvl3pPr marL="2035650" indent="-52606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3pPr>
              <a:lvl4pPr marL="2863001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4pPr>
              <a:lvl5pPr marL="3617794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5pPr>
              <a:lvl6pPr marL="4372585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6pPr>
              <a:lvl7pPr marL="5127377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7pPr>
              <a:lvl8pPr marL="5882168" indent="-598628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8pPr>
              <a:lvl9pPr marL="6636960" indent="-598627" defTabSz="1509582">
                <a:lnSpc>
                  <a:spcPct val="90000"/>
                </a:lnSpc>
                <a:spcBef>
                  <a:spcPts val="1600"/>
                </a:spcBef>
                <a:buSzPct val="100000"/>
                <a:buFont typeface="Arial"/>
                <a:buChar char="•"/>
                <a:defRPr sz="4600"/>
              </a:lvl9pPr>
            </a:lstStyle>
            <a:p>
              <a:r>
                <a:rPr lang="ru-RU" dirty="0">
                  <a:solidFill>
                    <a:schemeClr val="tx2">
                      <a:lumMod val="50000"/>
                    </a:schemeClr>
                  </a:solidFill>
                  <a:latin typeface="T-Sans" pitchFamily="2" charset="0"/>
                  <a:ea typeface="T-Sans" pitchFamily="2" charset="0"/>
                </a:rPr>
                <a:t>Обратная связь позволяет нам самосовершенствоваться и делать курс лучше!</a:t>
              </a:r>
            </a:p>
          </p:txBody>
        </p:sp>
      </p:grp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31F5F82-6E5A-CBC1-4863-FF922E508B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" r="206"/>
          <a:stretch>
            <a:fillRect/>
          </a:stretch>
        </p:blipFill>
        <p:spPr/>
      </p:pic>
      <p:sp>
        <p:nvSpPr>
          <p:cNvPr id="3" name="Номер слайда">
            <a:extLst>
              <a:ext uri="{FF2B5EF4-FFF2-40B4-BE49-F238E27FC236}">
                <a16:creationId xmlns:a16="http://schemas.microsoft.com/office/drawing/2014/main" id="{F82FE40B-D930-B8C8-967E-4D55B74CFBE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8339469" y="10623147"/>
            <a:ext cx="1068946" cy="246221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 lang="ru-RU" sz="1600" smtClean="0"/>
            </a:lvl1pPr>
          </a:lstStyle>
          <a:p>
            <a:pPr algn="r">
              <a:buFont typeface="Wingdings" pitchFamily="2" charset="2"/>
              <a:buNone/>
            </a:pPr>
            <a:fld id="{9A07687F-D30E-1A4C-A0AB-5DD07EB6EB47}" type="slidenum">
              <a:rPr lang="ru-RU" smtClean="0"/>
              <a:pPr algn="r">
                <a:buFont typeface="Wingdings" pitchFamily="2" charset="2"/>
                <a:buNone/>
              </a:pPr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2984805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2230F0-CF79-107D-8823-9E107D8A6CF9}"/>
              </a:ext>
            </a:extLst>
          </p:cNvPr>
          <p:cNvSpPr txBox="1"/>
          <p:nvPr/>
        </p:nvSpPr>
        <p:spPr>
          <a:xfrm>
            <a:off x="1520526" y="6644006"/>
            <a:ext cx="10023773" cy="2920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spAutoFit/>
          </a:bodyPr>
          <a:lstStyle>
            <a:defPPr marL="0" marR="0" indent="0" algn="l" defTabSz="90006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773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lnSpc>
                <a:spcPct val="90000"/>
              </a:lnSpc>
              <a:defRPr sz="5400" b="1">
                <a:solidFill>
                  <a:srgbClr val="ADB0B4"/>
                </a:solidFill>
                <a:latin typeface="Tinkoff Sans" panose="02000506050000020004" pitchFamily="2" charset="0"/>
              </a:defRPr>
            </a:lvl1pPr>
          </a:lstStyle>
          <a:p>
            <a:pPr>
              <a:lnSpc>
                <a:spcPct val="80000"/>
              </a:lnSpc>
            </a:pP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Спасибо </a:t>
            </a:r>
            <a:b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</a:br>
            <a:r>
              <a:rPr lang="ru-RU" sz="11500" dirty="0">
                <a:solidFill>
                  <a:schemeClr val="accent2"/>
                </a:solidFill>
                <a:latin typeface="T-Sans" pitchFamily="2" charset="0"/>
                <a:ea typeface="T-Sans" pitchFamily="2" charset="0"/>
              </a:rPr>
              <a:t>за внимание! 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D588F52-4DD6-A73F-50AE-C643A67752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139738" y="647700"/>
            <a:ext cx="6045749" cy="9864725"/>
          </a:xfrm>
          <a:gradFill>
            <a:gsLst>
              <a:gs pos="0">
                <a:srgbClr val="E0E1E3"/>
              </a:gs>
              <a:gs pos="100000">
                <a:srgbClr val="F3F3F5"/>
              </a:gs>
            </a:gsLst>
            <a:lin ang="2700000" scaled="0"/>
          </a:gradFill>
        </p:spPr>
      </p:pic>
    </p:spTree>
    <p:extLst>
      <p:ext uri="{BB962C8B-B14F-4D97-AF65-F5344CB8AC3E}">
        <p14:creationId xmlns:p14="http://schemas.microsoft.com/office/powerpoint/2010/main" val="2758452886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5697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Пользовательские 13">
      <a:dk1>
        <a:srgbClr val="333333"/>
      </a:dk1>
      <a:lt1>
        <a:srgbClr val="333333"/>
      </a:lt1>
      <a:dk2>
        <a:srgbClr val="757675"/>
      </a:dk2>
      <a:lt2>
        <a:srgbClr val="585858"/>
      </a:lt2>
      <a:accent1>
        <a:srgbClr val="FFDD2C"/>
      </a:accent1>
      <a:accent2>
        <a:srgbClr val="333333"/>
      </a:accent2>
      <a:accent3>
        <a:srgbClr val="BFBFBF"/>
      </a:accent3>
      <a:accent4>
        <a:srgbClr val="E0E1E3"/>
      </a:accent4>
      <a:accent5>
        <a:srgbClr val="EFF0F1"/>
      </a:accent5>
      <a:accent6>
        <a:srgbClr val="FFFFFF"/>
      </a:accent6>
      <a:hlink>
        <a:srgbClr val="333333"/>
      </a:hlink>
      <a:folHlink>
        <a:srgbClr val="52545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>
          <a:gsLst>
            <a:gs pos="0">
              <a:srgbClr val="E0E1E3"/>
            </a:gs>
            <a:gs pos="100000">
              <a:srgbClr val="F3F3F5"/>
            </a:gs>
          </a:gsLst>
          <a:lin ang="2700000" scaled="0"/>
        </a:gradFill>
        <a:ln w="12700" cap="flat">
          <a:noFill/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algn="l" defTabSz="457200">
          <a:defRPr sz="1800" dirty="0">
            <a:latin typeface="T-Sans" pitchFamily="2" charset="0"/>
            <a:ea typeface="T-Sans" pitchFamily="2" charset="0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CC520"/>
      </a:accent1>
      <a:accent2>
        <a:srgbClr val="DEDEDE"/>
      </a:accent2>
      <a:accent3>
        <a:srgbClr val="585858"/>
      </a:accent3>
      <a:accent4>
        <a:srgbClr val="BCBCBC"/>
      </a:accent4>
      <a:accent5>
        <a:srgbClr val="B1C5FA"/>
      </a:accent5>
      <a:accent6>
        <a:srgbClr val="6236FF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nkoff Sans"/>
            <a:ea typeface="Tinkoff Sans"/>
            <a:cs typeface="Tinkoff Sans"/>
            <a:sym typeface="Tinkoff San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48142</TotalTime>
  <Words>2088</Words>
  <Application>Microsoft Macintosh PowerPoint</Application>
  <PresentationFormat>Custom</PresentationFormat>
  <Paragraphs>270</Paragraphs>
  <Slides>28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T-Sans</vt:lpstr>
      <vt:lpstr>Wingdings</vt:lpstr>
      <vt:lpstr>Tinkoff Sans</vt:lpstr>
      <vt:lpstr>Arial</vt:lpstr>
      <vt:lpstr>T-Sans Medium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Microsoft Office User</cp:lastModifiedBy>
  <cp:revision>1086</cp:revision>
  <dcterms:modified xsi:type="dcterms:W3CDTF">2026-09-01T07:57:27Z</dcterms:modified>
</cp:coreProperties>
</file>