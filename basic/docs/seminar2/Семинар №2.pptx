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147377429" r:id="rId2"/>
    <p:sldId id="752" r:id="rId3"/>
    <p:sldId id="2147377475" r:id="rId4"/>
    <p:sldId id="2147377481" r:id="rId5"/>
    <p:sldId id="2147377420" r:id="rId6"/>
    <p:sldId id="2147377482" r:id="rId7"/>
    <p:sldId id="2147377483" r:id="rId8"/>
    <p:sldId id="2147377484" r:id="rId9"/>
    <p:sldId id="2147377485" r:id="rId10"/>
    <p:sldId id="2147377486" r:id="rId11"/>
    <p:sldId id="808" r:id="rId12"/>
    <p:sldId id="2147377487" r:id="rId13"/>
    <p:sldId id="2147377479" r:id="rId14"/>
    <p:sldId id="2147377476" r:id="rId15"/>
    <p:sldId id="2147377192" r:id="rId16"/>
    <p:sldId id="2147377415" r:id="rId17"/>
    <p:sldId id="2147377505" r:id="rId18"/>
    <p:sldId id="2147377490" r:id="rId19"/>
    <p:sldId id="2147377488" r:id="rId20"/>
    <p:sldId id="2147377491" r:id="rId21"/>
    <p:sldId id="2147377492" r:id="rId22"/>
    <p:sldId id="2147377493" r:id="rId23"/>
    <p:sldId id="2147377494" r:id="rId24"/>
    <p:sldId id="2147377495" r:id="rId25"/>
    <p:sldId id="2147377496" r:id="rId26"/>
    <p:sldId id="2147377497" r:id="rId27"/>
    <p:sldId id="2147377498" r:id="rId28"/>
    <p:sldId id="2147377499" r:id="rId29"/>
    <p:sldId id="2147377500" r:id="rId30"/>
    <p:sldId id="2147377501" r:id="rId31"/>
    <p:sldId id="2147377502" r:id="rId32"/>
    <p:sldId id="2147377271" r:id="rId33"/>
    <p:sldId id="2147377478" r:id="rId34"/>
    <p:sldId id="2147377503" r:id="rId35"/>
    <p:sldId id="768" r:id="rId36"/>
    <p:sldId id="2147377504" r:id="rId37"/>
    <p:sldId id="2147377465" r:id="rId38"/>
    <p:sldId id="2147377466" r:id="rId39"/>
    <p:sldId id="2147377467" r:id="rId40"/>
  </p:sldIdLst>
  <p:sldSz cx="19799300" cy="11160125"/>
  <p:notesSz cx="6858000" cy="9144000"/>
  <p:embeddedFontLst>
    <p:embeddedFont>
      <p:font typeface="T-Sans" pitchFamily="2" charset="77"/>
      <p:regular r:id="rId43"/>
      <p:bold r:id="rId44"/>
    </p:embeddedFont>
    <p:embeddedFont>
      <p:font typeface="T-Sans Medium" pitchFamily="2" charset="77"/>
      <p:regular r:id="rId45"/>
    </p:embeddedFont>
    <p:embeddedFont>
      <p:font typeface="Tinkoff Sans" panose="02000506050000020004" pitchFamily="2" charset="77"/>
      <p:regular r:id="rId46"/>
      <p:bold r:id="rId47"/>
    </p:embeddedFont>
  </p:embeddedFontLst>
  <p:defaultTextStyle>
    <a:defPPr marL="0" marR="0" indent="0" algn="l" defTabSz="90006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1pPr>
    <a:lvl2pPr marL="0" marR="0" indent="450029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2pPr>
    <a:lvl3pPr marL="0" marR="0" indent="90006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3pPr>
    <a:lvl4pPr marL="0" marR="0" indent="135008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4pPr>
    <a:lvl5pPr marL="0" marR="0" indent="180012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5pPr>
    <a:lvl6pPr marL="0" marR="0" indent="225014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6pPr>
    <a:lvl7pPr marL="0" marR="0" indent="270017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7pPr>
    <a:lvl8pPr marL="0" marR="0" indent="315020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8pPr>
    <a:lvl9pPr marL="0" marR="0" indent="360023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9pPr>
  </p:defaultTextStyle>
  <p:extLst>
    <p:ext uri="{EFAFB233-063F-42B5-8137-9DF3F51BA10A}">
      <p15:sldGuideLst xmlns:p15="http://schemas.microsoft.com/office/powerpoint/2012/main">
        <p15:guide id="1" pos="861" userDrawn="1">
          <p15:clr>
            <a:srgbClr val="A4A3A4"/>
          </p15:clr>
        </p15:guide>
        <p15:guide id="2" orient="horz" pos="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459"/>
    <a:srgbClr val="EBEBEC"/>
    <a:srgbClr val="FFE45A"/>
    <a:srgbClr val="FFE45C"/>
    <a:srgbClr val="B5B1EF"/>
    <a:srgbClr val="EFF1F2"/>
    <a:srgbClr val="FFEE96"/>
    <a:srgbClr val="F1EFFB"/>
    <a:srgbClr val="FFE1D5"/>
    <a:srgbClr val="E6F3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ACB"/>
          </a:solidFill>
        </a:fill>
      </a:tcStyle>
    </a:wholeTbl>
    <a:band2H>
      <a:tcTxStyle/>
      <a:tcStyle>
        <a:tcBdr/>
        <a:fill>
          <a:solidFill>
            <a:srgbClr val="FEF5E7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0D0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CFF"/>
          </a:solidFill>
        </a:fill>
      </a:tcStyle>
    </a:wholeTbl>
    <a:band2H>
      <a:tcTxStyle/>
      <a:tcStyle>
        <a:tcBdr/>
        <a:fill>
          <a:solidFill>
            <a:srgbClr val="EAE7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lumOff val="3235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chemeClr val="accent2">
              <a:lumOff val="3235"/>
            </a:schemeClr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8"/>
    <p:restoredTop sz="93505"/>
  </p:normalViewPr>
  <p:slideViewPr>
    <p:cSldViewPr snapToGrid="0" snapToObjects="1" showGuides="1">
      <p:cViewPr varScale="1">
        <p:scale>
          <a:sx n="131" d="100"/>
          <a:sy n="131" d="100"/>
        </p:scale>
        <p:origin x="4512" y="192"/>
      </p:cViewPr>
      <p:guideLst>
        <p:guide pos="861"/>
        <p:guide orient="horz" pos="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font" Target="fonts/font5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83D989E-EF15-6F48-AA4B-731FAEF118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4CF683-EEF1-4645-87EB-D55DCC4953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06CE-BBC7-5648-9AD8-918B797FE8E8}" type="datetimeFigureOut">
              <a:rPr lang="ru-RU" smtClean="0">
                <a:latin typeface="T-Sans" pitchFamily="2" charset="0"/>
                <a:ea typeface="T-Sans" pitchFamily="2" charset="0"/>
              </a:rPr>
              <a:t>11.09.2026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9581FD-2C33-5D4D-8228-B60CABE32A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57F81C-FF75-FE4D-AA1C-3BDE570DF5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E2138-0C2A-DB4B-942A-F7E05EC66FCB}" type="slidenum">
              <a:rPr lang="ru-RU" smtClean="0">
                <a:latin typeface="T-Sans" pitchFamily="2" charset="0"/>
                <a:ea typeface="T-Sans" pitchFamily="2" charset="0"/>
              </a:rPr>
              <a:t>‹#›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716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defRPr sz="1378" b="0" i="0">
        <a:solidFill>
          <a:schemeClr val="tx1"/>
        </a:solidFill>
        <a:latin typeface="T-Sans" pitchFamily="2" charset="0"/>
        <a:ea typeface="+mj-ea"/>
        <a:cs typeface="+mj-cs"/>
        <a:sym typeface="Calibri"/>
      </a:defRPr>
    </a:lvl1pPr>
    <a:lvl2pPr indent="225015" latinLnBrk="0">
      <a:defRPr sz="1181">
        <a:latin typeface="+mj-lt"/>
        <a:ea typeface="+mj-ea"/>
        <a:cs typeface="+mj-cs"/>
        <a:sym typeface="Calibri"/>
      </a:defRPr>
    </a:lvl2pPr>
    <a:lvl3pPr indent="450029" latinLnBrk="0">
      <a:defRPr sz="1181">
        <a:latin typeface="+mj-lt"/>
        <a:ea typeface="+mj-ea"/>
        <a:cs typeface="+mj-cs"/>
        <a:sym typeface="Calibri"/>
      </a:defRPr>
    </a:lvl3pPr>
    <a:lvl4pPr indent="675045" latinLnBrk="0">
      <a:defRPr sz="1181">
        <a:latin typeface="+mj-lt"/>
        <a:ea typeface="+mj-ea"/>
        <a:cs typeface="+mj-cs"/>
        <a:sym typeface="Calibri"/>
      </a:defRPr>
    </a:lvl4pPr>
    <a:lvl5pPr indent="900060" latinLnBrk="0">
      <a:defRPr sz="1181">
        <a:latin typeface="+mj-lt"/>
        <a:ea typeface="+mj-ea"/>
        <a:cs typeface="+mj-cs"/>
        <a:sym typeface="Calibri"/>
      </a:defRPr>
    </a:lvl5pPr>
    <a:lvl6pPr indent="1125075" latinLnBrk="0">
      <a:defRPr sz="1181">
        <a:latin typeface="+mj-lt"/>
        <a:ea typeface="+mj-ea"/>
        <a:cs typeface="+mj-cs"/>
        <a:sym typeface="Calibri"/>
      </a:defRPr>
    </a:lvl6pPr>
    <a:lvl7pPr indent="1350086" latinLnBrk="0">
      <a:defRPr sz="1181">
        <a:latin typeface="+mj-lt"/>
        <a:ea typeface="+mj-ea"/>
        <a:cs typeface="+mj-cs"/>
        <a:sym typeface="Calibri"/>
      </a:defRPr>
    </a:lvl7pPr>
    <a:lvl8pPr indent="1575102" latinLnBrk="0">
      <a:defRPr sz="1181">
        <a:latin typeface="+mj-lt"/>
        <a:ea typeface="+mj-ea"/>
        <a:cs typeface="+mj-cs"/>
        <a:sym typeface="Calibri"/>
      </a:defRPr>
    </a:lvl8pPr>
    <a:lvl9pPr indent="1800120" latinLnBrk="0">
      <a:defRPr sz="1181">
        <a:latin typeface="+mj-lt"/>
        <a:ea typeface="+mj-ea"/>
        <a:cs typeface="+mj-cs"/>
        <a:sym typeface="Calibri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239111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9735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0073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370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0464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4471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3139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0754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678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0718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3142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7339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70000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98998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185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DF84A1A-3892-BEBC-E3CB-B413F84BF63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409919"/>
            <a:ext cx="1068946" cy="246221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 b="0" i="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125966-8232-9AC4-8683-EE4F730CA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5759176" cy="1116012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5D350B-6697-71DD-45DA-AAE4591C9E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224688" y="1779477"/>
            <a:ext cx="4394057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303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pos="5170" userDrawn="1">
          <p15:clr>
            <a:srgbClr val="FBAE40"/>
          </p15:clr>
        </p15:guide>
        <p15:guide id="24" orient="horz" pos="1111" userDrawn="1">
          <p15:clr>
            <a:srgbClr val="FBAE40"/>
          </p15:clr>
        </p15:guide>
        <p15:guide id="26" orient="horz" pos="1542" userDrawn="1">
          <p15:clr>
            <a:srgbClr val="FBAE40"/>
          </p15:clr>
        </p15:guide>
        <p15:guide id="30" orient="horz" pos="2653" userDrawn="1">
          <p15:clr>
            <a:srgbClr val="FBAE40"/>
          </p15:clr>
        </p15:guide>
        <p15:guide id="39" orient="horz" pos="4422" userDrawn="1">
          <p15:clr>
            <a:srgbClr val="FBAE40"/>
          </p15:clr>
        </p15:guide>
        <p15:guide id="43" orient="horz" pos="5533" userDrawn="1">
          <p15:clr>
            <a:srgbClr val="FBAE40"/>
          </p15:clr>
        </p15:guide>
        <p15:guide id="44" orient="horz" pos="591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A8CCF61-34E1-A7FE-253D-38968BB9DED6}"/>
              </a:ext>
            </a:extLst>
          </p:cNvPr>
          <p:cNvSpPr/>
          <p:nvPr userDrawn="1"/>
        </p:nvSpPr>
        <p:spPr>
          <a:xfrm>
            <a:off x="611188" y="647699"/>
            <a:ext cx="18576925" cy="9864725"/>
          </a:xfrm>
          <a:prstGeom prst="roundRect">
            <a:avLst>
              <a:gd name="adj" fmla="val 5394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solidFill>
                <a:srgbClr val="000000"/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189F2E-9007-1111-5F2A-7177336F66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427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9E0DDE-5486-2C50-C638-7E159326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C97689-0B14-BAB4-075D-08F8243A70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12104" y="1510158"/>
            <a:ext cx="488228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2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925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AC7EC11E-6AF4-DD27-3F92-218937F2CF6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46144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Желт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AE3D09BE-CDCC-BEAE-26D7-66AC1CF209B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3380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2FBF9586-44EC-4E13-AED7-14C258C34A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423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B69617-8869-9649-F99C-69FDA9C1E2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11C91763-0915-F4BA-6A23-BA87B1885B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37695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24" orient="horz" pos="616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бел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00FDC96-810D-CFD9-6E58-04A3A2505C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8540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ер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00516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желт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8B3D8D3C-755C-BEF7-93C5-FD572759185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388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56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B31166E-5B2E-161F-80C4-671886F8EC5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45535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паттерном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0F91C1-1A78-58C6-CB42-CC30A05BA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96DED21-0FBB-16BD-4DC9-B015EE6354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1823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черн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1BCFD17-C1D9-8EDD-22C9-22186C3311D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63944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4BFEFE7-FB2B-3859-C2EE-78C10CF7D7A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9454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F15F1DD-95F6-4971-D888-6A6491841E9A}"/>
              </a:ext>
            </a:extLst>
          </p:cNvPr>
          <p:cNvGrpSpPr/>
          <p:nvPr userDrawn="1"/>
        </p:nvGrpSpPr>
        <p:grpSpPr>
          <a:xfrm>
            <a:off x="611187" y="2861734"/>
            <a:ext cx="18396000" cy="9864725"/>
            <a:chOff x="7477169" y="647700"/>
            <a:chExt cx="18396000" cy="9864725"/>
          </a:xfrm>
        </p:grpSpPr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38B58920-520D-ECD2-F228-4BCC7CF3CE49}"/>
                </a:ext>
              </a:extLst>
            </p:cNvPr>
            <p:cNvSpPr/>
            <p:nvPr/>
          </p:nvSpPr>
          <p:spPr>
            <a:xfrm>
              <a:off x="7477169" y="647700"/>
              <a:ext cx="18396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2B7D3A56-805B-13E2-7063-6B9B4EC8AA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A30C1799-08EA-B949-D626-A8CCD88143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048CF9FC-F84E-B682-74A5-DBD5C6B0F2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9B1BD348-2498-84F2-C965-C41594850914}"/>
                </a:ext>
              </a:extLst>
            </p:cNvPr>
            <p:cNvSpPr/>
            <p:nvPr/>
          </p:nvSpPr>
          <p:spPr>
            <a:xfrm>
              <a:off x="7621169" y="1245510"/>
              <a:ext cx="18108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5771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1F21671-BB96-2971-101E-D1089DBA17F8}"/>
              </a:ext>
            </a:extLst>
          </p:cNvPr>
          <p:cNvGrpSpPr/>
          <p:nvPr userDrawn="1"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83E92DA5-6108-6ED0-6D68-5064067EF090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DC590063-5A42-FB1A-E53B-185C753C31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6828266-A2B8-ABD5-B32A-F0002CFDC0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C4F931CE-FB41-24EA-227F-5FDF32D136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5862E01E-E516-3B53-62A9-B59CBE13424B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75024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аттерн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65FB45-97BD-7225-E420-C825F595E3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178"/>
          <a:stretch/>
        </p:blipFill>
        <p:spPr>
          <a:xfrm>
            <a:off x="611186" y="4619298"/>
            <a:ext cx="18576000" cy="5881729"/>
          </a:xfrm>
          <a:prstGeom prst="roundRect">
            <a:avLst>
              <a:gd name="adj" fmla="val 10384"/>
            </a:avLst>
          </a:prstGeom>
        </p:spPr>
      </p:pic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CDC5362-4493-F8E4-812F-FB74B566680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29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E61101-FB36-7188-BEAF-FDF7940DFCCF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584EAB4-0304-4FEF-C52A-A2CB0150F1FC}"/>
              </a:ext>
            </a:extLst>
          </p:cNvPr>
          <p:cNvSpPr/>
          <p:nvPr userDrawn="1"/>
        </p:nvSpPr>
        <p:spPr>
          <a:xfrm>
            <a:off x="2207516" y="-2112072"/>
            <a:ext cx="15384268" cy="15384268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13E127B-8DEA-CC96-30EA-8B45282E4E78}"/>
              </a:ext>
            </a:extLst>
          </p:cNvPr>
          <p:cNvSpPr/>
          <p:nvPr userDrawn="1"/>
        </p:nvSpPr>
        <p:spPr>
          <a:xfrm>
            <a:off x="4645819" y="326231"/>
            <a:ext cx="10507662" cy="10507662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079FC53-DDC0-CA9F-5B63-3CAEBFE2C5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894602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47CB827-92DF-1E19-4556-7F26AEF2ED94}"/>
              </a:ext>
            </a:extLst>
          </p:cNvPr>
          <p:cNvGrpSpPr/>
          <p:nvPr userDrawn="1"/>
        </p:nvGrpSpPr>
        <p:grpSpPr>
          <a:xfrm>
            <a:off x="7355366" y="-719938"/>
            <a:ext cx="12600000" cy="12600000"/>
            <a:chOff x="7355366" y="-719938"/>
            <a:chExt cx="12600000" cy="12600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8A5DABA1-1DC3-E38B-4750-89870BC3EFA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355366" y="-719938"/>
              <a:ext cx="12600000" cy="12600000"/>
            </a:xfrm>
            <a:prstGeom prst="ellipse">
              <a:avLst/>
            </a:prstGeom>
            <a:solidFill>
              <a:srgbClr val="212020">
                <a:alpha val="2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9D503385-2B01-BB65-0260-EAC7605709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585879" y="510575"/>
              <a:ext cx="10138974" cy="10138974"/>
            </a:xfrm>
            <a:prstGeom prst="ellipse">
              <a:avLst/>
            </a:prstGeom>
            <a:solidFill>
              <a:srgbClr val="212020">
                <a:alpha val="3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D702DD45-F95F-F325-33A5-6B018D62D0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846586" y="1771282"/>
              <a:ext cx="7617561" cy="7617561"/>
            </a:xfrm>
            <a:prstGeom prst="ellipse">
              <a:avLst/>
            </a:prstGeom>
            <a:solidFill>
              <a:srgbClr val="212020">
                <a:alpha val="4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</p:grp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74F8FCCF-EC84-FD71-19BC-21BC6FE5EE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316613" y="3241309"/>
            <a:ext cx="4677507" cy="4677507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BAC04F5-2F11-88B0-A40D-7E022C490DC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426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3A67B3-FB4F-3CB2-6C6A-D1F535CF10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0F3C1F4A-9CD7-F8ED-CE66-6400EF28413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929677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6B5DC0-C588-DA97-CCB3-A681ADD9E7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126BD4C-C383-9301-0090-1D4E13EA6FA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61704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1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cxnSp>
        <p:nvCxnSpPr>
          <p:cNvPr id="51" name="Соединительная линия уступом 50">
            <a:extLst>
              <a:ext uri="{FF2B5EF4-FFF2-40B4-BE49-F238E27FC236}">
                <a16:creationId xmlns:a16="http://schemas.microsoft.com/office/drawing/2014/main" id="{3329BF57-8247-BE21-5523-C8E3F8A144D2}"/>
              </a:ext>
            </a:extLst>
          </p:cNvPr>
          <p:cNvCxnSpPr>
            <a:cxnSpLocks/>
            <a:stCxn id="36" idx="3"/>
            <a:endCxn id="31" idx="0"/>
          </p:cNvCxnSpPr>
          <p:nvPr userDrawn="1"/>
        </p:nvCxnSpPr>
        <p:spPr>
          <a:xfrm>
            <a:off x="12151144" y="4294991"/>
            <a:ext cx="4458796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Соединительная линия уступом 53">
            <a:extLst>
              <a:ext uri="{FF2B5EF4-FFF2-40B4-BE49-F238E27FC236}">
                <a16:creationId xmlns:a16="http://schemas.microsoft.com/office/drawing/2014/main" id="{04558508-EE6A-D763-E9A4-260659A92926}"/>
              </a:ext>
            </a:extLst>
          </p:cNvPr>
          <p:cNvCxnSpPr>
            <a:stCxn id="36" idx="1"/>
            <a:endCxn id="21" idx="0"/>
          </p:cNvCxnSpPr>
          <p:nvPr userDrawn="1"/>
        </p:nvCxnSpPr>
        <p:spPr>
          <a:xfrm rot="10800000" flipV="1">
            <a:off x="3189361" y="4294991"/>
            <a:ext cx="4458794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C6D2594A-1FA6-F933-CFE2-93DB69279023}"/>
              </a:ext>
            </a:extLst>
          </p:cNvPr>
          <p:cNvCxnSpPr>
            <a:endCxn id="26" idx="0"/>
          </p:cNvCxnSpPr>
          <p:nvPr userDrawn="1"/>
        </p:nvCxnSpPr>
        <p:spPr>
          <a:xfrm>
            <a:off x="9899650" y="5373293"/>
            <a:ext cx="0" cy="2584208"/>
          </a:xfrm>
          <a:prstGeom prst="line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D4243908-EBE6-D74B-9B81-D2D458B76874}"/>
              </a:ext>
            </a:extLst>
          </p:cNvPr>
          <p:cNvSpPr/>
          <p:nvPr/>
        </p:nvSpPr>
        <p:spPr>
          <a:xfrm>
            <a:off x="937866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26194E7-DE29-A96E-FDA8-40CFCD3F6B45}"/>
              </a:ext>
            </a:extLst>
          </p:cNvPr>
          <p:cNvSpPr/>
          <p:nvPr/>
        </p:nvSpPr>
        <p:spPr>
          <a:xfrm>
            <a:off x="764815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1DF6D686-21DA-23E3-2D02-5BE4F58DB73E}"/>
              </a:ext>
            </a:extLst>
          </p:cNvPr>
          <p:cNvSpPr/>
          <p:nvPr/>
        </p:nvSpPr>
        <p:spPr>
          <a:xfrm>
            <a:off x="1435844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652039D-D3E9-0FE2-7C76-04F1BDC0CEFA}"/>
              </a:ext>
            </a:extLst>
          </p:cNvPr>
          <p:cNvSpPr/>
          <p:nvPr/>
        </p:nvSpPr>
        <p:spPr>
          <a:xfrm>
            <a:off x="937866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F8517EF7-A9CB-6060-9B5B-9284F8008B5A}"/>
              </a:ext>
            </a:extLst>
          </p:cNvPr>
          <p:cNvSpPr/>
          <p:nvPr/>
        </p:nvSpPr>
        <p:spPr>
          <a:xfrm>
            <a:off x="764815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CF12E7D5-8E67-5FD6-7DFB-40783541066C}"/>
              </a:ext>
            </a:extLst>
          </p:cNvPr>
          <p:cNvSpPr/>
          <p:nvPr/>
        </p:nvSpPr>
        <p:spPr>
          <a:xfrm>
            <a:off x="1435844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3523BD01-495C-0508-6528-37435F16CD29}"/>
              </a:ext>
            </a:extLst>
          </p:cNvPr>
          <p:cNvSpPr/>
          <p:nvPr/>
        </p:nvSpPr>
        <p:spPr>
          <a:xfrm>
            <a:off x="7648155" y="3216689"/>
            <a:ext cx="4502989" cy="2156604"/>
          </a:xfrm>
          <a:prstGeom prst="roundRect">
            <a:avLst>
              <a:gd name="adj" fmla="val 23232"/>
            </a:avLst>
          </a:prstGeom>
          <a:gradFill>
            <a:gsLst>
              <a:gs pos="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97CAB214-D26D-6764-37C0-88A38712D8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922557" y="4131330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2" name="Рисунок 40">
            <a:extLst>
              <a:ext uri="{FF2B5EF4-FFF2-40B4-BE49-F238E27FC236}">
                <a16:creationId xmlns:a16="http://schemas.microsoft.com/office/drawing/2014/main" id="{4E271671-026B-BC66-8298-F846D467F5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22557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3" name="Рисунок 40">
            <a:extLst>
              <a:ext uri="{FF2B5EF4-FFF2-40B4-BE49-F238E27FC236}">
                <a16:creationId xmlns:a16="http://schemas.microsoft.com/office/drawing/2014/main" id="{E8008964-7207-DFFA-6167-432E9AD5B68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557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40">
            <a:extLst>
              <a:ext uri="{FF2B5EF4-FFF2-40B4-BE49-F238E27FC236}">
                <a16:creationId xmlns:a16="http://schemas.microsoft.com/office/drawing/2014/main" id="{5E4B7693-F81F-64E5-BB12-AAC0176AB5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07432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40">
            <a:extLst>
              <a:ext uri="{FF2B5EF4-FFF2-40B4-BE49-F238E27FC236}">
                <a16:creationId xmlns:a16="http://schemas.microsoft.com/office/drawing/2014/main" id="{3985D896-4BC0-FE98-0455-E62069DEA7E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07432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40">
            <a:extLst>
              <a:ext uri="{FF2B5EF4-FFF2-40B4-BE49-F238E27FC236}">
                <a16:creationId xmlns:a16="http://schemas.microsoft.com/office/drawing/2014/main" id="{AF4B2BA9-A809-F832-C663-0BECDCD782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623395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40">
            <a:extLst>
              <a:ext uri="{FF2B5EF4-FFF2-40B4-BE49-F238E27FC236}">
                <a16:creationId xmlns:a16="http://schemas.microsoft.com/office/drawing/2014/main" id="{923EEA1F-8180-AACE-C114-19FA98CFD42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623395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F6424D5-BD53-B501-EFCF-A7094B14AA1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566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42" name="Рисунок 3">
            <a:extLst>
              <a:ext uri="{FF2B5EF4-FFF2-40B4-BE49-F238E27FC236}">
                <a16:creationId xmlns:a16="http://schemas.microsoft.com/office/drawing/2014/main" id="{7ADDD9D5-E467-DCAB-F59E-6F8A5FFA3F89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0084662" y="1392537"/>
            <a:ext cx="1332000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sz="24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Ф</a:t>
            </a:r>
            <a:r>
              <a:rPr lang="ru-RU" dirty="0"/>
              <a:t>ото</a:t>
            </a:r>
          </a:p>
        </p:txBody>
      </p:sp>
      <p:sp>
        <p:nvSpPr>
          <p:cNvPr id="43" name="Рисунок 4">
            <a:extLst>
              <a:ext uri="{FF2B5EF4-FFF2-40B4-BE49-F238E27FC236}">
                <a16:creationId xmlns:a16="http://schemas.microsoft.com/office/drawing/2014/main" id="{547DBDDA-3E5E-2E2A-CA25-69A84B4606A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512153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5">
            <a:extLst>
              <a:ext uri="{FF2B5EF4-FFF2-40B4-BE49-F238E27FC236}">
                <a16:creationId xmlns:a16="http://schemas.microsoft.com/office/drawing/2014/main" id="{68BEC38C-6C26-D162-9776-6CB9B0E4BD67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087409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30">
            <a:extLst>
              <a:ext uri="{FF2B5EF4-FFF2-40B4-BE49-F238E27FC236}">
                <a16:creationId xmlns:a16="http://schemas.microsoft.com/office/drawing/2014/main" id="{6C42DA80-BE83-D5E0-8D52-5405B0A37A2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4591911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31">
            <a:extLst>
              <a:ext uri="{FF2B5EF4-FFF2-40B4-BE49-F238E27FC236}">
                <a16:creationId xmlns:a16="http://schemas.microsoft.com/office/drawing/2014/main" id="{870F61A5-CF3B-2E6C-40A1-0A664B10706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45534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32">
            <a:extLst>
              <a:ext uri="{FF2B5EF4-FFF2-40B4-BE49-F238E27FC236}">
                <a16:creationId xmlns:a16="http://schemas.microsoft.com/office/drawing/2014/main" id="{4AC76CDA-79C5-A6DB-DBD5-E05F8652ABD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102130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8" name="Рисунок 33">
            <a:extLst>
              <a:ext uri="{FF2B5EF4-FFF2-40B4-BE49-F238E27FC236}">
                <a16:creationId xmlns:a16="http://schemas.microsoft.com/office/drawing/2014/main" id="{4FAB1FFA-D21B-3AC7-A1F0-371662B3291C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5589437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9" name="Рисунок 34">
            <a:extLst>
              <a:ext uri="{FF2B5EF4-FFF2-40B4-BE49-F238E27FC236}">
                <a16:creationId xmlns:a16="http://schemas.microsoft.com/office/drawing/2014/main" id="{ABA1AF5F-8612-0C40-322D-391C28D2DD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46377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0" name="Рисунок 35">
            <a:extLst>
              <a:ext uri="{FF2B5EF4-FFF2-40B4-BE49-F238E27FC236}">
                <a16:creationId xmlns:a16="http://schemas.microsoft.com/office/drawing/2014/main" id="{2D939B1D-098B-DEB9-E778-BA6A389EACE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1021306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1" name="Рисунок 36">
            <a:extLst>
              <a:ext uri="{FF2B5EF4-FFF2-40B4-BE49-F238E27FC236}">
                <a16:creationId xmlns:a16="http://schemas.microsoft.com/office/drawing/2014/main" id="{02B9D7DE-05FA-09CF-FF40-CD53D77312E8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558854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2" name="Рисунок 37">
            <a:extLst>
              <a:ext uri="{FF2B5EF4-FFF2-40B4-BE49-F238E27FC236}">
                <a16:creationId xmlns:a16="http://schemas.microsoft.com/office/drawing/2014/main" id="{8054396C-013F-A853-A3BA-AA5324B50A69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46377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3" name="Рисунок 38">
            <a:extLst>
              <a:ext uri="{FF2B5EF4-FFF2-40B4-BE49-F238E27FC236}">
                <a16:creationId xmlns:a16="http://schemas.microsoft.com/office/drawing/2014/main" id="{A044A316-30D4-CB52-3155-96A21134363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1026533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4" name="Рисунок 39">
            <a:extLst>
              <a:ext uri="{FF2B5EF4-FFF2-40B4-BE49-F238E27FC236}">
                <a16:creationId xmlns:a16="http://schemas.microsoft.com/office/drawing/2014/main" id="{89AE198D-E9CE-6294-4035-0F86E63F6B9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1559340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2F7E8D1-0C8D-E16D-7364-33B86D9E005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51339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rgbClr val="FFEE9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B84011A-5000-94AF-6126-2744109098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3869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ACEFA16-0A2C-CC3C-97F3-2BF76F5270A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331410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724B0A02-5030-1F59-1E9F-B3ECF5EEC6C4}"/>
              </a:ext>
            </a:extLst>
          </p:cNvPr>
          <p:cNvSpPr/>
          <p:nvPr userDrawn="1"/>
        </p:nvSpPr>
        <p:spPr>
          <a:xfrm>
            <a:off x="13175044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688013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40525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9A8E54B-CAB1-51F3-2D62-9BBAE2D25F7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67927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33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блоков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920BB3-B504-FDE4-54A6-D08E9D591175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56291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35DBF272-939B-8648-6910-34827077F523}"/>
              </a:ext>
            </a:extLst>
          </p:cNvPr>
          <p:cNvSpPr/>
          <p:nvPr userDrawn="1"/>
        </p:nvSpPr>
        <p:spPr>
          <a:xfrm>
            <a:off x="13159266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7D1BFEE7-0825-0753-4E97-E04E80E683BC}"/>
              </a:ext>
            </a:extLst>
          </p:cNvPr>
          <p:cNvSpPr/>
          <p:nvPr userDrawn="1"/>
        </p:nvSpPr>
        <p:spPr>
          <a:xfrm>
            <a:off x="13159266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0F8788BB-1EFA-9E1C-ECD6-6E922EA133F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4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полнители с вырез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>
            <a:extLst>
              <a:ext uri="{FF2B5EF4-FFF2-40B4-BE49-F238E27FC236}">
                <a16:creationId xmlns:a16="http://schemas.microsoft.com/office/drawing/2014/main" id="{E3195EB8-BAA6-98A2-ED4A-761390F89227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14887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4" name="Рисунок 10">
            <a:extLst>
              <a:ext uri="{FF2B5EF4-FFF2-40B4-BE49-F238E27FC236}">
                <a16:creationId xmlns:a16="http://schemas.microsoft.com/office/drawing/2014/main" id="{1736C7D4-7D97-6FF3-B2A9-90EFA450F879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6875010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82A0538B-EBA4-07B0-F30A-251A02B76DDF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3135133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2D17354B-548F-4A7B-2533-BB9F942475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74360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3">
            <a:extLst>
              <a:ext uri="{FF2B5EF4-FFF2-40B4-BE49-F238E27FC236}">
                <a16:creationId xmlns:a16="http://schemas.microsoft.com/office/drawing/2014/main" id="{01515A73-04C3-20AC-0CFB-39D743234689}"/>
              </a:ext>
            </a:extLst>
          </p:cNvPr>
          <p:cNvSpPr/>
          <p:nvPr/>
        </p:nvSpPr>
        <p:spPr>
          <a:xfrm>
            <a:off x="615403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DE8C40DE-1372-D837-6A2D-7DED59BAD1C0}"/>
              </a:ext>
            </a:extLst>
          </p:cNvPr>
          <p:cNvSpPr/>
          <p:nvPr userDrawn="1"/>
        </p:nvSpPr>
        <p:spPr>
          <a:xfrm>
            <a:off x="6890697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" name="Рисунок 3">
            <a:extLst>
              <a:ext uri="{FF2B5EF4-FFF2-40B4-BE49-F238E27FC236}">
                <a16:creationId xmlns:a16="http://schemas.microsoft.com/office/drawing/2014/main" id="{AC10503E-8046-7476-D9B2-778878EE1D11}"/>
              </a:ext>
            </a:extLst>
          </p:cNvPr>
          <p:cNvSpPr/>
          <p:nvPr userDrawn="1"/>
        </p:nvSpPr>
        <p:spPr>
          <a:xfrm>
            <a:off x="13165992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BE82D4E0-C7D9-F4C5-5F35-AEA5153AC6D4}"/>
              </a:ext>
            </a:extLst>
          </p:cNvPr>
          <p:cNvSpPr/>
          <p:nvPr userDrawn="1"/>
        </p:nvSpPr>
        <p:spPr>
          <a:xfrm>
            <a:off x="615403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FABD9EAD-22E6-5B1C-D342-6F9320852561}"/>
              </a:ext>
            </a:extLst>
          </p:cNvPr>
          <p:cNvSpPr/>
          <p:nvPr userDrawn="1"/>
        </p:nvSpPr>
        <p:spPr>
          <a:xfrm>
            <a:off x="6890697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F2FF0358-5E97-8E4F-7D36-C076A812679C}"/>
              </a:ext>
            </a:extLst>
          </p:cNvPr>
          <p:cNvSpPr/>
          <p:nvPr userDrawn="1"/>
        </p:nvSpPr>
        <p:spPr>
          <a:xfrm>
            <a:off x="13165992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ACB921E-34F4-B39F-CB56-695B4094A79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322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55B62F-4A6E-2A82-8A84-5903ADA9D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646767"/>
            <a:ext cx="4462572" cy="48206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351C10-78BB-5B20-4FF5-0DB0E767E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646767"/>
            <a:ext cx="4462572" cy="48206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2FB24B-11AB-60BA-2CC4-A900838138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5707498"/>
            <a:ext cx="4462572" cy="482068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0D87DE-52A9-9D4F-8F6F-A0E7DE0FD1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5707498"/>
            <a:ext cx="4462572" cy="482068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16BD939-3B26-76D5-C800-C54CAF8335E2}"/>
              </a:ext>
            </a:extLst>
          </p:cNvPr>
          <p:cNvSpPr/>
          <p:nvPr userDrawn="1"/>
        </p:nvSpPr>
        <p:spPr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BF3750D-2DFD-F99F-B82A-E3DC5B9FF4B2}"/>
              </a:ext>
            </a:extLst>
          </p:cNvPr>
          <p:cNvSpPr/>
          <p:nvPr userDrawn="1"/>
        </p:nvSpPr>
        <p:spPr>
          <a:xfrm>
            <a:off x="13574110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82D75B98-C8BD-7E80-EB35-404F3A4E5085}"/>
              </a:ext>
            </a:extLst>
          </p:cNvPr>
          <p:cNvSpPr/>
          <p:nvPr userDrawn="1"/>
        </p:nvSpPr>
        <p:spPr>
          <a:xfrm>
            <a:off x="18249627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0B3A63ED-36B1-28D9-148F-2B61F8224B1E}"/>
              </a:ext>
            </a:extLst>
          </p:cNvPr>
          <p:cNvSpPr/>
          <p:nvPr userDrawn="1"/>
        </p:nvSpPr>
        <p:spPr>
          <a:xfrm>
            <a:off x="13574110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454C450-F9B0-9EAD-A161-CF618C3A67C7}"/>
              </a:ext>
            </a:extLst>
          </p:cNvPr>
          <p:cNvSpPr/>
          <p:nvPr userDrawn="1"/>
        </p:nvSpPr>
        <p:spPr>
          <a:xfrm>
            <a:off x="18249627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2" name="Номер слайда">
            <a:extLst>
              <a:ext uri="{FF2B5EF4-FFF2-40B4-BE49-F238E27FC236}">
                <a16:creationId xmlns:a16="http://schemas.microsoft.com/office/drawing/2014/main" id="{D1B6CA6C-26DC-2726-A85C-C4574E4DC18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1046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A7209C-701D-EFF1-D053-EF206B5C7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352" y="62"/>
            <a:ext cx="19840004" cy="11160000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75CAD5DB-3636-72FD-E8CC-C6F5AF1416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8313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16979B78-5F90-43E6-DDA5-D62A47926D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68573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-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385ED10-9BB3-A085-119F-84355A318DF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10488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2 го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4D4F7591-5947-6E56-E200-33ABEB45DD29}"/>
              </a:ext>
            </a:extLst>
          </p:cNvPr>
          <p:cNvSpPr/>
          <p:nvPr userDrawn="1"/>
        </p:nvSpPr>
        <p:spPr>
          <a:xfrm>
            <a:off x="611188" y="3167064"/>
            <a:ext cx="18576925" cy="7345362"/>
          </a:xfrm>
          <a:prstGeom prst="roundRect">
            <a:avLst>
              <a:gd name="adj" fmla="val 654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4C91BC5-2FEE-6EFE-0AB5-DC32049551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556266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2 плашк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2686D7D-2C5B-7C59-DE64-DB7826C86F4C}"/>
              </a:ext>
            </a:extLst>
          </p:cNvPr>
          <p:cNvSpPr/>
          <p:nvPr userDrawn="1"/>
        </p:nvSpPr>
        <p:spPr>
          <a:xfrm>
            <a:off x="611189" y="3167064"/>
            <a:ext cx="9180512" cy="7345362"/>
          </a:xfrm>
          <a:prstGeom prst="roundRect">
            <a:avLst>
              <a:gd name="adj" fmla="val 725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15A0197-1B36-BE20-0422-B841D0AD33C5}"/>
              </a:ext>
            </a:extLst>
          </p:cNvPr>
          <p:cNvSpPr/>
          <p:nvPr userDrawn="1"/>
        </p:nvSpPr>
        <p:spPr>
          <a:xfrm>
            <a:off x="10048487" y="3167064"/>
            <a:ext cx="9139624" cy="7345362"/>
          </a:xfrm>
          <a:prstGeom prst="roundRect">
            <a:avLst>
              <a:gd name="adj" fmla="val 701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DEE51519-DF49-690F-5A20-FF1251D62E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37873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orient="horz" pos="199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6024128-7667-9EE3-6AEF-FBE898BBBA29}"/>
              </a:ext>
            </a:extLst>
          </p:cNvPr>
          <p:cNvSpPr/>
          <p:nvPr userDrawn="1"/>
        </p:nvSpPr>
        <p:spPr>
          <a:xfrm>
            <a:off x="6893719" y="647700"/>
            <a:ext cx="12294394" cy="9864725"/>
          </a:xfrm>
          <a:prstGeom prst="roundRect">
            <a:avLst>
              <a:gd name="adj" fmla="val 502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32AD7565-3801-157D-ECCD-DA0A097572B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6011862" cy="9864725"/>
          </a:xfrm>
          <a:prstGeom prst="roundRect">
            <a:avLst>
              <a:gd name="adj" fmla="val 8632"/>
            </a:avLst>
          </a:prstGeom>
          <a:solidFill>
            <a:schemeClr val="accent6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CCA51760-F1E4-DA5E-F681-1C48225929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839106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106D8025-2673-9F76-9704-0B62B7C9F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188" y="2319229"/>
            <a:ext cx="18576925" cy="4845159"/>
          </a:xfrm>
          <a:prstGeom prst="roundRect">
            <a:avLst>
              <a:gd name="adj" fmla="val 10175"/>
            </a:avLst>
          </a:prstGeom>
          <a:solidFill>
            <a:srgbClr val="E0E1E3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D415FCC-F8A2-1C2F-AB16-D14F96D831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9839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6" orient="horz" pos="1451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6" name="Рисунок 5">
            <a:extLst>
              <a:ext uri="{FF2B5EF4-FFF2-40B4-BE49-F238E27FC236}">
                <a16:creationId xmlns:a16="http://schemas.microsoft.com/office/drawing/2014/main" id="{680A0F9C-C6DA-ED07-DC42-9B1392F55F9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59788" y="647700"/>
            <a:ext cx="10725699" cy="9864725"/>
          </a:xfrm>
          <a:prstGeom prst="roundRect">
            <a:avLst>
              <a:gd name="adj" fmla="val 548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74D0E89C-6459-1FB5-B952-0CABBE20CC35}"/>
              </a:ext>
            </a:extLst>
          </p:cNvPr>
          <p:cNvSpPr/>
          <p:nvPr userDrawn="1"/>
        </p:nvSpPr>
        <p:spPr>
          <a:xfrm>
            <a:off x="613813" y="652653"/>
            <a:ext cx="7593562" cy="9859772"/>
          </a:xfrm>
          <a:prstGeom prst="roundRect">
            <a:avLst>
              <a:gd name="adj" fmla="val 644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F108BE3-E3A8-7336-4912-8058FF96306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088783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161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6">
            <a:extLst>
              <a:ext uri="{FF2B5EF4-FFF2-40B4-BE49-F238E27FC236}">
                <a16:creationId xmlns:a16="http://schemas.microsoft.com/office/drawing/2014/main" id="{62235652-E410-14E7-3325-0B78EE2EEA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7596187" cy="6516688"/>
          </a:xfrm>
          <a:prstGeom prst="roundRect">
            <a:avLst>
              <a:gd name="adj" fmla="val 8943"/>
            </a:avLst>
          </a:prstGeom>
          <a:solidFill>
            <a:schemeClr val="accent5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19E53CE-B623-6004-1366-6FDE2EE962AF}"/>
              </a:ext>
            </a:extLst>
          </p:cNvPr>
          <p:cNvSpPr/>
          <p:nvPr userDrawn="1"/>
        </p:nvSpPr>
        <p:spPr>
          <a:xfrm>
            <a:off x="611188" y="7416800"/>
            <a:ext cx="7596187" cy="3095625"/>
          </a:xfrm>
          <a:prstGeom prst="roundRect">
            <a:avLst>
              <a:gd name="adj" fmla="val 1976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26B087EB-98BE-198C-78E9-848208EC6FF9}"/>
              </a:ext>
            </a:extLst>
          </p:cNvPr>
          <p:cNvSpPr/>
          <p:nvPr userDrawn="1"/>
        </p:nvSpPr>
        <p:spPr>
          <a:xfrm>
            <a:off x="8459788" y="647700"/>
            <a:ext cx="10725698" cy="9864725"/>
          </a:xfrm>
          <a:prstGeom prst="roundRect">
            <a:avLst>
              <a:gd name="adj" fmla="val 536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847AE31-56A8-C4CA-4584-F00061C3F0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95448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702" userDrawn="1">
          <p15:clr>
            <a:srgbClr val="FBAE40"/>
          </p15:clr>
        </p15:guide>
        <p15:guide id="2" pos="11611">
          <p15:clr>
            <a:srgbClr val="FBAE40"/>
          </p15:clr>
        </p15:guide>
        <p15:guide id="45" pos="573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>
            <a:extLst>
              <a:ext uri="{FF2B5EF4-FFF2-40B4-BE49-F238E27FC236}">
                <a16:creationId xmlns:a16="http://schemas.microsoft.com/office/drawing/2014/main" id="{FFD35A26-9840-8880-8120-6C5FC4EAA5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9799300" cy="11160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В</a:t>
            </a:r>
            <a:r>
              <a:rPr lang="ru-RU" dirty="0"/>
              <a:t>ставка фото</a:t>
            </a:r>
          </a:p>
        </p:txBody>
      </p:sp>
    </p:spTree>
    <p:extLst>
      <p:ext uri="{BB962C8B-B14F-4D97-AF65-F5344CB8AC3E}">
        <p14:creationId xmlns:p14="http://schemas.microsoft.com/office/powerpoint/2010/main" val="8869638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2924A27-D394-98E3-CF54-68EDEDD5F64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343565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3E37D892-9D21-89E3-C92D-1E02B16D5AF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0256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66B64EF-05C5-D58D-EA19-37B38FD87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0B4E9C-0298-57CE-4900-265B14F9D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9740" y="155779"/>
            <a:ext cx="5659820" cy="10603499"/>
          </a:xfrm>
          <a:prstGeom prst="rect">
            <a:avLst/>
          </a:prstGeom>
        </p:spPr>
      </p:pic>
      <p:sp>
        <p:nvSpPr>
          <p:cNvPr id="8" name="Рисунок 11">
            <a:extLst>
              <a:ext uri="{FF2B5EF4-FFF2-40B4-BE49-F238E27FC236}">
                <a16:creationId xmlns:a16="http://schemas.microsoft.com/office/drawing/2014/main" id="{5EFFCDDF-1F21-226F-65C3-03CF23E901E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721650" y="855970"/>
            <a:ext cx="4356000" cy="9432255"/>
          </a:xfrm>
          <a:prstGeom prst="roundRect">
            <a:avLst>
              <a:gd name="adj" fmla="val 12642"/>
            </a:avLst>
          </a:prstGeom>
          <a:solidFill>
            <a:schemeClr val="accent6"/>
          </a:solidFill>
        </p:spPr>
        <p:txBody>
          <a:bodyPr/>
          <a:lstStyle>
            <a:lvl1pPr>
              <a:defRPr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1265689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16ECE12F-E94E-5DF9-C802-07CB291461A7}"/>
              </a:ext>
            </a:extLst>
          </p:cNvPr>
          <p:cNvSpPr/>
          <p:nvPr userDrawn="1"/>
        </p:nvSpPr>
        <p:spPr>
          <a:xfrm>
            <a:off x="611188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Прямоугольник с двумя скругленными противолежащими углами 3">
            <a:extLst>
              <a:ext uri="{FF2B5EF4-FFF2-40B4-BE49-F238E27FC236}">
                <a16:creationId xmlns:a16="http://schemas.microsoft.com/office/drawing/2014/main" id="{177F3DFA-214B-31F0-477D-973A9FB2B4D2}"/>
              </a:ext>
            </a:extLst>
          </p:cNvPr>
          <p:cNvSpPr/>
          <p:nvPr userDrawn="1"/>
        </p:nvSpPr>
        <p:spPr>
          <a:xfrm>
            <a:off x="611188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16E0473F-DC3B-EB5F-D6CB-70E3142AA8D0}"/>
              </a:ext>
            </a:extLst>
          </p:cNvPr>
          <p:cNvSpPr/>
          <p:nvPr userDrawn="1"/>
        </p:nvSpPr>
        <p:spPr>
          <a:xfrm>
            <a:off x="6881359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E0A1433B-30EB-EFDC-0992-2C3BB276A930}"/>
              </a:ext>
            </a:extLst>
          </p:cNvPr>
          <p:cNvSpPr/>
          <p:nvPr userDrawn="1"/>
        </p:nvSpPr>
        <p:spPr>
          <a:xfrm>
            <a:off x="6881359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Прямоугольник с двумя скругленными противолежащими углами 6">
            <a:extLst>
              <a:ext uri="{FF2B5EF4-FFF2-40B4-BE49-F238E27FC236}">
                <a16:creationId xmlns:a16="http://schemas.microsoft.com/office/drawing/2014/main" id="{32F60909-E504-EC34-C0C7-D5EE3AE8BB78}"/>
              </a:ext>
            </a:extLst>
          </p:cNvPr>
          <p:cNvSpPr/>
          <p:nvPr userDrawn="1"/>
        </p:nvSpPr>
        <p:spPr>
          <a:xfrm>
            <a:off x="13170192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Прямоугольник с двумя скругленными противолежащими углами 7">
            <a:extLst>
              <a:ext uri="{FF2B5EF4-FFF2-40B4-BE49-F238E27FC236}">
                <a16:creationId xmlns:a16="http://schemas.microsoft.com/office/drawing/2014/main" id="{88323E56-13FA-8C59-3760-10F1E812EC2A}"/>
              </a:ext>
            </a:extLst>
          </p:cNvPr>
          <p:cNvSpPr/>
          <p:nvPr userDrawn="1"/>
        </p:nvSpPr>
        <p:spPr>
          <a:xfrm>
            <a:off x="13170192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BC41D6-7FF2-E141-BD24-D68D3A216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84459" y="3785793"/>
            <a:ext cx="3626535" cy="5323282"/>
          </a:xfrm>
          <a:prstGeom prst="rect">
            <a:avLst/>
          </a:prstGeom>
        </p:spPr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445A317-693C-BA35-F9FD-0B38D53916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26273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4F36A5-A931-90F9-DC15-681991E82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6075" y="3785793"/>
            <a:ext cx="3626535" cy="5323282"/>
          </a:xfrm>
          <a:prstGeom prst="rect">
            <a:avLst/>
          </a:prstGeom>
        </p:spPr>
      </p:pic>
      <p:sp>
        <p:nvSpPr>
          <p:cNvPr id="12" name="Рисунок 9">
            <a:extLst>
              <a:ext uri="{FF2B5EF4-FFF2-40B4-BE49-F238E27FC236}">
                <a16:creationId xmlns:a16="http://schemas.microsoft.com/office/drawing/2014/main" id="{53343718-A296-C12B-FA60-5A585FE120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437889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6E59DDE-998C-8E98-753D-CF60D7FFD4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19838" y="3785793"/>
            <a:ext cx="3626535" cy="5323282"/>
          </a:xfrm>
          <a:prstGeom prst="rect">
            <a:avLst/>
          </a:prstGeom>
        </p:spPr>
      </p:pic>
      <p:sp>
        <p:nvSpPr>
          <p:cNvPr id="14" name="Рисунок 9">
            <a:extLst>
              <a:ext uri="{FF2B5EF4-FFF2-40B4-BE49-F238E27FC236}">
                <a16:creationId xmlns:a16="http://schemas.microsoft.com/office/drawing/2014/main" id="{F525E12E-69F5-046C-095E-1760440BDA8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4662391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id="{2D44E80A-C031-2044-8ECC-DF913BC174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38716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компьют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FD5FB0-9A81-3A7C-DAA4-91299088F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9400" y="-118551"/>
            <a:ext cx="13169900" cy="11703072"/>
          </a:xfrm>
          <a:prstGeom prst="rect">
            <a:avLst/>
          </a:prstGeom>
        </p:spPr>
      </p:pic>
      <p:sp>
        <p:nvSpPr>
          <p:cNvPr id="9" name="Рисунок 18">
            <a:extLst>
              <a:ext uri="{FF2B5EF4-FFF2-40B4-BE49-F238E27FC236}">
                <a16:creationId xmlns:a16="http://schemas.microsoft.com/office/drawing/2014/main" id="{E85B5318-DE9B-9E64-A615-755452FB57B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81569" y="1274243"/>
            <a:ext cx="11229161" cy="7650999"/>
          </a:xfrm>
          <a:custGeom>
            <a:avLst/>
            <a:gdLst>
              <a:gd name="connsiteX0" fmla="*/ 208174 w 9461500"/>
              <a:gd name="connsiteY0" fmla="*/ 0 h 6446602"/>
              <a:gd name="connsiteX1" fmla="*/ 9461500 w 9461500"/>
              <a:gd name="connsiteY1" fmla="*/ 0 h 6446602"/>
              <a:gd name="connsiteX2" fmla="*/ 9461500 w 9461500"/>
              <a:gd name="connsiteY2" fmla="*/ 6446602 h 6446602"/>
              <a:gd name="connsiteX3" fmla="*/ 0 w 9461500"/>
              <a:gd name="connsiteY3" fmla="*/ 6446602 h 6446602"/>
              <a:gd name="connsiteX4" fmla="*/ 0 w 9461500"/>
              <a:gd name="connsiteY4" fmla="*/ 208291 h 6446602"/>
              <a:gd name="connsiteX5" fmla="*/ 208174 w 9461500"/>
              <a:gd name="connsiteY5" fmla="*/ 0 h 644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61500" h="6446602">
                <a:moveTo>
                  <a:pt x="208174" y="0"/>
                </a:moveTo>
                <a:lnTo>
                  <a:pt x="9461500" y="0"/>
                </a:lnTo>
                <a:lnTo>
                  <a:pt x="9461500" y="6446602"/>
                </a:lnTo>
                <a:lnTo>
                  <a:pt x="0" y="6446602"/>
                </a:lnTo>
                <a:lnTo>
                  <a:pt x="0" y="208291"/>
                </a:lnTo>
                <a:cubicBezTo>
                  <a:pt x="0" y="93255"/>
                  <a:pt x="93203" y="0"/>
                  <a:pt x="20817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B433A600-8A53-F440-CF3F-CC91E1C6FAE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0401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qr код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5706C0-6A13-4923-6574-EDE169364610}"/>
              </a:ext>
            </a:extLst>
          </p:cNvPr>
          <p:cNvSpPr/>
          <p:nvPr userDrawn="1"/>
        </p:nvSpPr>
        <p:spPr>
          <a:xfrm>
            <a:off x="10557164" y="1842655"/>
            <a:ext cx="7495309" cy="7481454"/>
          </a:xfrm>
          <a:prstGeom prst="roundRect">
            <a:avLst>
              <a:gd name="adj" fmla="val 814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7">
            <a:extLst>
              <a:ext uri="{FF2B5EF4-FFF2-40B4-BE49-F238E27FC236}">
                <a16:creationId xmlns:a16="http://schemas.microsoft.com/office/drawing/2014/main" id="{A53F8555-2432-3EC8-BA86-230CA1B7571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44143" y="2722707"/>
            <a:ext cx="5721350" cy="5721350"/>
          </a:xfrm>
          <a:prstGeom prst="rect">
            <a:avLst/>
          </a:prstGeom>
          <a:solidFill>
            <a:schemeClr val="accent5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Место для </a:t>
            </a:r>
            <a:r>
              <a:rPr lang="ru-RU" dirty="0" err="1"/>
              <a:t>Q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FF5EF554-4206-B400-460C-2445949829A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2962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66C56D-6598-4535-7307-3F3BBAC1A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9312" y="5134647"/>
            <a:ext cx="6040677" cy="89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66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44" orient="horz" pos="6169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353CD5-1AE7-9078-EC33-FEC734B296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1665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99E0437-D66B-F092-7B3D-AE4F22893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574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2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420B71-BE2A-77F8-6142-EABEC83248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10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D6ABF4-FA5E-C290-265D-F03687E871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87019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3">
    <p:bg>
      <p:bg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51D5F1-2AF4-9D4F-5EDA-3B14ECB84BB3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936FF7C-912E-C469-CC6F-F4D6C411C6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281306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4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27BB1A-232A-915D-0822-9E971DAD31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3F4BB79-CBF9-9F96-D712-095F36FD85C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945998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C0AF5F-F272-25C3-6AE1-16E696AAA311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DE8B3DF-6BA0-8D54-AF33-0EE7727168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93709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63B56008-A337-B822-0430-FAE6377E5C0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45" r:id="rId2"/>
    <p:sldLayoutId id="2147483854" r:id="rId3"/>
    <p:sldLayoutId id="2147483782" r:id="rId4"/>
    <p:sldLayoutId id="2147483837" r:id="rId5"/>
    <p:sldLayoutId id="2147483776" r:id="rId6"/>
    <p:sldLayoutId id="2147483836" r:id="rId7"/>
    <p:sldLayoutId id="2147483789" r:id="rId8"/>
    <p:sldLayoutId id="2147483799" r:id="rId9"/>
    <p:sldLayoutId id="2147483769" r:id="rId10"/>
    <p:sldLayoutId id="2147483784" r:id="rId11"/>
    <p:sldLayoutId id="2147483786" r:id="rId12"/>
    <p:sldLayoutId id="2147483772" r:id="rId13"/>
    <p:sldLayoutId id="2147483785" r:id="rId14"/>
    <p:sldLayoutId id="2147483859" r:id="rId15"/>
    <p:sldLayoutId id="2147483860" r:id="rId16"/>
    <p:sldLayoutId id="2147483783" r:id="rId17"/>
    <p:sldLayoutId id="2147483852" r:id="rId18"/>
    <p:sldLayoutId id="2147483820" r:id="rId19"/>
    <p:sldLayoutId id="2147483777" r:id="rId20"/>
    <p:sldLayoutId id="2147483823" r:id="rId21"/>
    <p:sldLayoutId id="2147483813" r:id="rId22"/>
    <p:sldLayoutId id="2147483814" r:id="rId23"/>
    <p:sldLayoutId id="2147483787" r:id="rId24"/>
    <p:sldLayoutId id="2147483846" r:id="rId25"/>
    <p:sldLayoutId id="2147483790" r:id="rId26"/>
    <p:sldLayoutId id="2147483791" r:id="rId27"/>
    <p:sldLayoutId id="2147483849" r:id="rId28"/>
    <p:sldLayoutId id="2147483792" r:id="rId29"/>
    <p:sldLayoutId id="2147483839" r:id="rId30"/>
    <p:sldLayoutId id="2147483840" r:id="rId31"/>
    <p:sldLayoutId id="2147483810" r:id="rId32"/>
    <p:sldLayoutId id="2147483829" r:id="rId33"/>
    <p:sldLayoutId id="2147483830" r:id="rId34"/>
    <p:sldLayoutId id="2147483831" r:id="rId35"/>
    <p:sldLayoutId id="2147483838" r:id="rId36"/>
    <p:sldLayoutId id="2147483800" r:id="rId37"/>
    <p:sldLayoutId id="2147483825" r:id="rId38"/>
    <p:sldLayoutId id="2147483826" r:id="rId39"/>
    <p:sldLayoutId id="2147483828" r:id="rId40"/>
    <p:sldLayoutId id="2147483801" r:id="rId41"/>
    <p:sldLayoutId id="2147483802" r:id="rId42"/>
    <p:sldLayoutId id="2147483858" r:id="rId43"/>
    <p:sldLayoutId id="2147483851" r:id="rId44"/>
    <p:sldLayoutId id="2147483809" r:id="rId45"/>
    <p:sldLayoutId id="2147483841" r:id="rId46"/>
    <p:sldLayoutId id="2147483847" r:id="rId47"/>
    <p:sldLayoutId id="2147483863" r:id="rId48"/>
    <p:sldLayoutId id="2147483834" r:id="rId49"/>
    <p:sldLayoutId id="2147483832" r:id="rId50"/>
    <p:sldLayoutId id="2147483835" r:id="rId51"/>
    <p:sldLayoutId id="2147483833" r:id="rId52"/>
    <p:sldLayoutId id="2147483843" r:id="rId53"/>
  </p:sldLayoutIdLst>
  <p:transition spd="med"/>
  <p:hf hdr="0" ftr="0" dt="0"/>
  <p:txStyles>
    <p:titleStyle>
      <a:lvl1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titleStyle>
    <p:bodyStyle>
      <a:lvl1pPr marL="0" marR="0" indent="0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None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708566" marR="0" indent="-438064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1417132" marR="0" indent="-517712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2125697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3560341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4303145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5045952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5788754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6531561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bodyStyle>
    <p:otherStyle>
      <a:lvl1pPr marL="0" marR="0" indent="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1pPr>
      <a:lvl2pPr marL="0" marR="0" indent="44993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2pPr>
      <a:lvl3pPr marL="0" marR="0" indent="89988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3pPr>
      <a:lvl4pPr marL="0" marR="0" indent="1349818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4pPr>
      <a:lvl5pPr marL="0" marR="0" indent="179975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5pPr>
      <a:lvl6pPr marL="0" marR="0" indent="224969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6pPr>
      <a:lvl7pPr marL="0" marR="0" indent="269963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7pPr>
      <a:lvl8pPr marL="0" marR="0" indent="314957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8pPr>
      <a:lvl9pPr marL="0" marR="0" indent="359951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9pPr>
    </p:otherStyle>
  </p:txStyles>
  <p:extLst>
    <p:ext uri="{27BBF7A9-308A-43DC-89C8-2F10F3537804}">
      <p15:sldGuideLst xmlns:p15="http://schemas.microsoft.com/office/powerpoint/2012/main">
        <p15:guide id="1" pos="385" userDrawn="1">
          <p15:clr>
            <a:srgbClr val="F26B43"/>
          </p15:clr>
        </p15:guide>
        <p15:guide id="2" orient="horz" pos="408" userDrawn="1">
          <p15:clr>
            <a:srgbClr val="F26B43"/>
          </p15:clr>
        </p15:guide>
        <p15:guide id="3" pos="12087" userDrawn="1">
          <p15:clr>
            <a:srgbClr val="F26B43"/>
          </p15:clr>
        </p15:guide>
        <p15:guide id="4" orient="horz" pos="66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799E05-1C06-249F-F018-346FCB4EB48C}"/>
              </a:ext>
            </a:extLst>
          </p:cNvPr>
          <p:cNvSpPr txBox="1"/>
          <p:nvPr/>
        </p:nvSpPr>
        <p:spPr>
          <a:xfrm>
            <a:off x="8213892" y="4078900"/>
            <a:ext cx="10992150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80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Принципы и паттерны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C5504A-1512-3B53-17F3-B6E78F652625}"/>
              </a:ext>
            </a:extLst>
          </p:cNvPr>
          <p:cNvSpPr txBox="1"/>
          <p:nvPr/>
        </p:nvSpPr>
        <p:spPr>
          <a:xfrm>
            <a:off x="9059105" y="8905360"/>
            <a:ext cx="1012900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400"/>
              </a:lnSpc>
              <a:defRPr sz="2400">
                <a:solidFill>
                  <a:schemeClr val="accent6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Сергей Хватов | Ведущий разработчик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B43444-2599-EB79-10A9-817AC955C359}"/>
              </a:ext>
            </a:extLst>
          </p:cNvPr>
          <p:cNvSpPr txBox="1"/>
          <p:nvPr/>
        </p:nvSpPr>
        <p:spPr>
          <a:xfrm>
            <a:off x="8213892" y="5331551"/>
            <a:ext cx="10992150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T-Sans" pitchFamily="2" charset="77"/>
                <a:ea typeface="T-Sans" pitchFamily="2" charset="77"/>
              </a:rPr>
              <a:t>SOLID, </a:t>
            </a:r>
            <a:r>
              <a:rPr lang="en-US" sz="3200" dirty="0" err="1">
                <a:latin typeface="T-Sans" pitchFamily="2" charset="77"/>
                <a:ea typeface="T-Sans" pitchFamily="2" charset="77"/>
              </a:rPr>
              <a:t>GoF</a:t>
            </a:r>
            <a:r>
              <a:rPr lang="en-US" sz="3200" dirty="0">
                <a:latin typeface="T-Sans" pitchFamily="2" charset="77"/>
                <a:ea typeface="T-Sans" pitchFamily="2" charset="77"/>
              </a:rPr>
              <a:t>, KISS, DRY </a:t>
            </a:r>
            <a:r>
              <a:rPr lang="en-US" sz="3200" dirty="0" err="1">
                <a:latin typeface="T-Sans" pitchFamily="2" charset="77"/>
                <a:ea typeface="T-Sans" pitchFamily="2" charset="77"/>
              </a:rPr>
              <a:t>и</a:t>
            </a:r>
            <a:r>
              <a:rPr lang="ru-RU" sz="3200" dirty="0">
                <a:latin typeface="T-Sans" pitchFamily="2" charset="77"/>
                <a:ea typeface="T-Sans" pitchFamily="2" charset="77"/>
              </a:rPr>
              <a:t> другие оригинальные аббревиатуры</a:t>
            </a:r>
            <a:endParaRPr lang="ru-RU" sz="200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D8C7919-13E5-E761-9B17-11242C460C9D}"/>
              </a:ext>
            </a:extLst>
          </p:cNvPr>
          <p:cNvGrpSpPr/>
          <p:nvPr/>
        </p:nvGrpSpPr>
        <p:grpSpPr>
          <a:xfrm>
            <a:off x="8207375" y="8783638"/>
            <a:ext cx="612776" cy="612776"/>
            <a:chOff x="6884958" y="8711671"/>
            <a:chExt cx="921394" cy="921394"/>
          </a:xfrm>
        </p:grpSpPr>
        <p:sp>
          <p:nvSpPr>
            <p:cNvPr id="3" name="Овал 2">
              <a:extLst>
                <a:ext uri="{FF2B5EF4-FFF2-40B4-BE49-F238E27FC236}">
                  <a16:creationId xmlns:a16="http://schemas.microsoft.com/office/drawing/2014/main" id="{FBC5EDC0-76AA-4A7A-59AB-9485EFEBB772}"/>
                </a:ext>
              </a:extLst>
            </p:cNvPr>
            <p:cNvSpPr/>
            <p:nvPr/>
          </p:nvSpPr>
          <p:spPr>
            <a:xfrm>
              <a:off x="6884958" y="8711671"/>
              <a:ext cx="921394" cy="921394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36EC14B0-942F-78BF-DB33-FDDDCBEE2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21611" y="8948324"/>
              <a:ext cx="448089" cy="4480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6130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215C97-89F0-8726-9B74-20C91248E24D}"/>
              </a:ext>
            </a:extLst>
          </p:cNvPr>
          <p:cNvSpPr txBox="1"/>
          <p:nvPr/>
        </p:nvSpPr>
        <p:spPr>
          <a:xfrm>
            <a:off x="1366838" y="1281545"/>
            <a:ext cx="5935475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9400"/>
              </a:lnSpc>
              <a:defRPr sz="8800" b="1">
                <a:solidFill>
                  <a:schemeClr val="accent6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ru-RU" sz="60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План семинара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9F034E-A4C6-7F11-4102-9F92DDB39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08566" y="3484973"/>
            <a:ext cx="720000" cy="72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77DA60-DE8D-9857-D423-7CEAD2E0826D}"/>
              </a:ext>
            </a:extLst>
          </p:cNvPr>
          <p:cNvSpPr txBox="1"/>
          <p:nvPr/>
        </p:nvSpPr>
        <p:spPr>
          <a:xfrm>
            <a:off x="2274327" y="2524454"/>
            <a:ext cx="4998850" cy="9605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Обсудим, что такое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SOLID</a:t>
            </a:r>
            <a:r>
              <a:rPr lang="ru-RU" dirty="0">
                <a:latin typeface="T-Sans" pitchFamily="2" charset="0"/>
                <a:ea typeface="T-Sans" pitchFamily="2" charset="0"/>
              </a:rPr>
              <a:t> и за что отвечает каждая из букв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8B5016-6544-D4A3-E45C-B132B4619EFB}"/>
              </a:ext>
            </a:extLst>
          </p:cNvPr>
          <p:cNvSpPr txBox="1"/>
          <p:nvPr/>
        </p:nvSpPr>
        <p:spPr>
          <a:xfrm>
            <a:off x="2274327" y="3608370"/>
            <a:ext cx="4998850" cy="9605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Изучим и применим в проекте несколько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паттернов</a:t>
            </a:r>
            <a:r>
              <a:rPr lang="ru-RU" dirty="0">
                <a:latin typeface="T-Sans" pitchFamily="2" charset="0"/>
                <a:ea typeface="T-Sans" pitchFamily="2" charset="0"/>
              </a:rPr>
              <a:t> </a:t>
            </a:r>
            <a:r>
              <a:rPr lang="en-US" b="1" dirty="0" err="1">
                <a:latin typeface="T-Sans" pitchFamily="2" charset="0"/>
                <a:ea typeface="T-Sans" pitchFamily="2" charset="0"/>
              </a:rPr>
              <a:t>GoF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0049181-FE17-E34C-3DB1-22CDF715B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08566" y="2401057"/>
            <a:ext cx="720000" cy="720000"/>
          </a:xfrm>
          <a:prstGeom prst="rect">
            <a:avLst/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CEC6BBCA-AFFC-1FCD-904C-9C83D81E63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1FA0B44-C9E0-D08B-A2C5-C053481BDF6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79860" y="647700"/>
            <a:ext cx="10619440" cy="9864725"/>
          </a:xfrm>
        </p:spPr>
      </p:pic>
      <p:pic>
        <p:nvPicPr>
          <p:cNvPr id="2" name="Рисунок 7">
            <a:extLst>
              <a:ext uri="{FF2B5EF4-FFF2-40B4-BE49-F238E27FC236}">
                <a16:creationId xmlns:a16="http://schemas.microsoft.com/office/drawing/2014/main" id="{42945E71-CFFF-DF7D-A5AC-59D613D71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37702" y="4692286"/>
            <a:ext cx="720000" cy="72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E9CF12-BD7F-234A-44A9-6F497CFD8CDC}"/>
              </a:ext>
            </a:extLst>
          </p:cNvPr>
          <p:cNvSpPr txBox="1"/>
          <p:nvPr/>
        </p:nvSpPr>
        <p:spPr>
          <a:xfrm>
            <a:off x="2303463" y="4815683"/>
            <a:ext cx="4998850" cy="1935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Наконец-то добавим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интерфейс командной строки </a:t>
            </a:r>
            <a:r>
              <a:rPr lang="ru-RU" dirty="0">
                <a:latin typeface="T-Sans" pitchFamily="2" charset="0"/>
                <a:ea typeface="T-Sans" pitchFamily="2" charset="0"/>
              </a:rPr>
              <a:t>в наше приложение и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реализуем</a:t>
            </a:r>
            <a:r>
              <a:rPr lang="ru-RU" dirty="0">
                <a:latin typeface="T-Sans" pitchFamily="2" charset="0"/>
                <a:ea typeface="T-Sans" pitchFamily="2" charset="0"/>
              </a:rPr>
              <a:t>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несколько базовых команд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BFE290-4DB9-854C-DD34-5D39E3ADD914}"/>
              </a:ext>
            </a:extLst>
          </p:cNvPr>
          <p:cNvSpPr txBox="1"/>
          <p:nvPr/>
        </p:nvSpPr>
        <p:spPr>
          <a:xfrm>
            <a:off x="2332598" y="6866393"/>
            <a:ext cx="5167427" cy="14478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Кратко обсудим, что такое 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Maven</a:t>
            </a:r>
            <a:r>
              <a:rPr lang="en-US" dirty="0">
                <a:latin typeface="T-Sans" pitchFamily="2" charset="0"/>
                <a:ea typeface="T-Sans" pitchFamily="2" charset="0"/>
              </a:rPr>
              <a:t>, </a:t>
            </a:r>
            <a:r>
              <a:rPr lang="ru-RU" dirty="0">
                <a:latin typeface="T-Sans" pitchFamily="2" charset="0"/>
                <a:ea typeface="T-Sans" pitchFamily="2" charset="0"/>
              </a:rPr>
              <a:t>для чего он нужен и как было бы без него?</a:t>
            </a:r>
          </a:p>
        </p:txBody>
      </p:sp>
      <p:pic>
        <p:nvPicPr>
          <p:cNvPr id="7" name="Рисунок 17">
            <a:extLst>
              <a:ext uri="{FF2B5EF4-FFF2-40B4-BE49-F238E27FC236}">
                <a16:creationId xmlns:a16="http://schemas.microsoft.com/office/drawing/2014/main" id="{FB1CA2CD-C3B7-B9DC-F403-E3642D0BD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838" y="6742996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93270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834621" y="2090474"/>
            <a:ext cx="16504848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80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SOLID</a:t>
            </a:r>
            <a:endParaRPr lang="ru-RU" sz="800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834621" y="3405166"/>
            <a:ext cx="16504847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5 </a:t>
            </a: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заветных букв, собранных воедино Дядюшкой Бобом</a:t>
            </a:r>
          </a:p>
        </p:txBody>
      </p:sp>
    </p:spTree>
    <p:extLst>
      <p:ext uri="{BB962C8B-B14F-4D97-AF65-F5344CB8AC3E}">
        <p14:creationId xmlns:p14="http://schemas.microsoft.com/office/powerpoint/2010/main" val="423098792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E8557AB1-A44B-A62D-CE03-F924610893E1}"/>
              </a:ext>
            </a:extLst>
          </p:cNvPr>
          <p:cNvSpPr/>
          <p:nvPr/>
        </p:nvSpPr>
        <p:spPr>
          <a:xfrm>
            <a:off x="6898416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1" name="Полилиния 50">
            <a:extLst>
              <a:ext uri="{FF2B5EF4-FFF2-40B4-BE49-F238E27FC236}">
                <a16:creationId xmlns:a16="http://schemas.microsoft.com/office/drawing/2014/main" id="{BB633411-7080-EA12-C0FC-B029DB899106}"/>
              </a:ext>
            </a:extLst>
          </p:cNvPr>
          <p:cNvSpPr/>
          <p:nvPr/>
        </p:nvSpPr>
        <p:spPr>
          <a:xfrm>
            <a:off x="13186325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2" name="Полилиния 51">
            <a:extLst>
              <a:ext uri="{FF2B5EF4-FFF2-40B4-BE49-F238E27FC236}">
                <a16:creationId xmlns:a16="http://schemas.microsoft.com/office/drawing/2014/main" id="{16F30D3A-F479-A731-AAFF-9E73DDBE86FA}"/>
              </a:ext>
            </a:extLst>
          </p:cNvPr>
          <p:cNvSpPr/>
          <p:nvPr/>
        </p:nvSpPr>
        <p:spPr>
          <a:xfrm>
            <a:off x="622121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3" name="Полилиния 52">
            <a:extLst>
              <a:ext uri="{FF2B5EF4-FFF2-40B4-BE49-F238E27FC236}">
                <a16:creationId xmlns:a16="http://schemas.microsoft.com/office/drawing/2014/main" id="{7C04E510-C23C-CA1D-320B-22FE4DBD2E09}"/>
              </a:ext>
            </a:extLst>
          </p:cNvPr>
          <p:cNvSpPr/>
          <p:nvPr/>
        </p:nvSpPr>
        <p:spPr>
          <a:xfrm>
            <a:off x="6898416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4" name="Полилиния 53">
            <a:extLst>
              <a:ext uri="{FF2B5EF4-FFF2-40B4-BE49-F238E27FC236}">
                <a16:creationId xmlns:a16="http://schemas.microsoft.com/office/drawing/2014/main" id="{859E29D1-94FF-3F52-A4D6-74EF7ED4B8C1}"/>
              </a:ext>
            </a:extLst>
          </p:cNvPr>
          <p:cNvSpPr/>
          <p:nvPr/>
        </p:nvSpPr>
        <p:spPr>
          <a:xfrm>
            <a:off x="13186325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1765C96E-8E4A-3C5C-5B68-264CAD476D46}"/>
              </a:ext>
            </a:extLst>
          </p:cNvPr>
          <p:cNvSpPr/>
          <p:nvPr/>
        </p:nvSpPr>
        <p:spPr>
          <a:xfrm>
            <a:off x="622121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A98B9172-6F1E-E555-014D-7C15E560C6D9}"/>
              </a:ext>
            </a:extLst>
          </p:cNvPr>
          <p:cNvSpPr/>
          <p:nvPr/>
        </p:nvSpPr>
        <p:spPr>
          <a:xfrm>
            <a:off x="11862077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A0B362B-CB57-A518-E4EB-7726C0EF2CD9}"/>
              </a:ext>
            </a:extLst>
          </p:cNvPr>
          <p:cNvSpPr/>
          <p:nvPr/>
        </p:nvSpPr>
        <p:spPr>
          <a:xfrm>
            <a:off x="5589816" y="440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644D69E-11CD-4736-F7D5-B88CA730F17B}"/>
              </a:ext>
            </a:extLst>
          </p:cNvPr>
          <p:cNvSpPr/>
          <p:nvPr/>
        </p:nvSpPr>
        <p:spPr>
          <a:xfrm>
            <a:off x="18154020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BC21E72B-AAD0-52C0-63DE-8CC93AC9CDAE}"/>
              </a:ext>
            </a:extLst>
          </p:cNvPr>
          <p:cNvSpPr/>
          <p:nvPr/>
        </p:nvSpPr>
        <p:spPr>
          <a:xfrm>
            <a:off x="11866111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4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FBF91FF1-F28B-017B-C8AD-9FC8973B295B}"/>
              </a:ext>
            </a:extLst>
          </p:cNvPr>
          <p:cNvSpPr/>
          <p:nvPr/>
        </p:nvSpPr>
        <p:spPr>
          <a:xfrm>
            <a:off x="5589816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5B745D41-4F8D-EE03-6E21-23AB5EC2B37B}"/>
              </a:ext>
            </a:extLst>
          </p:cNvPr>
          <p:cNvSpPr/>
          <p:nvPr/>
        </p:nvSpPr>
        <p:spPr>
          <a:xfrm>
            <a:off x="18154020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7B34E-1C8B-D35B-64CF-458FB807BCE1}"/>
              </a:ext>
            </a:extLst>
          </p:cNvPr>
          <p:cNvSpPr txBox="1"/>
          <p:nvPr/>
        </p:nvSpPr>
        <p:spPr>
          <a:xfrm>
            <a:off x="1140408" y="1142239"/>
            <a:ext cx="5281265" cy="1348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800" dirty="0">
                <a:latin typeface="T-Sans" pitchFamily="2" charset="0"/>
                <a:ea typeface="T-Sans" pitchFamily="2" charset="0"/>
              </a:rPr>
              <a:t>Признаки «не лучшего» дизайна</a:t>
            </a:r>
            <a:endParaRPr lang="en-US" sz="4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A91081-B026-FC0C-D330-C90C20545CCA}"/>
              </a:ext>
            </a:extLst>
          </p:cNvPr>
          <p:cNvSpPr txBox="1"/>
          <p:nvPr/>
        </p:nvSpPr>
        <p:spPr>
          <a:xfrm>
            <a:off x="7432451" y="6987582"/>
            <a:ext cx="5164868" cy="21752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Гораздо проще </a:t>
            </a:r>
            <a:r>
              <a:rPr lang="en-US" dirty="0">
                <a:latin typeface="T-Sans" pitchFamily="2" charset="0"/>
                <a:ea typeface="T-Sans" pitchFamily="2" charset="0"/>
              </a:rPr>
              <a:t>“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накостылить</a:t>
            </a:r>
            <a:r>
              <a:rPr lang="en-US" dirty="0">
                <a:latin typeface="T-Sans" pitchFamily="2" charset="0"/>
                <a:ea typeface="T-Sans" pitchFamily="2" charset="0"/>
              </a:rPr>
              <a:t>”</a:t>
            </a:r>
            <a:r>
              <a:rPr lang="ru-RU" dirty="0">
                <a:latin typeface="T-Sans" pitchFamily="2" charset="0"/>
                <a:ea typeface="T-Sans" pitchFamily="2" charset="0"/>
              </a:rPr>
              <a:t>, чем сделать правильно, сохраняя архитектурный подход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Пока запустится или скомпилируется ваша программа, вы успеете постареть</a:t>
            </a: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4A4C991-1C43-14C1-2612-95EBCB75D9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4</a:t>
            </a:fld>
            <a:endParaRPr lang="ru-RU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A550CC-0BEC-048F-1C10-3012233E1BB9}"/>
              </a:ext>
            </a:extLst>
          </p:cNvPr>
          <p:cNvSpPr txBox="1"/>
          <p:nvPr/>
        </p:nvSpPr>
        <p:spPr>
          <a:xfrm>
            <a:off x="1146294" y="6987582"/>
            <a:ext cx="5040217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Низкая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переиспользуемость</a:t>
            </a:r>
            <a:r>
              <a:rPr lang="ru-RU" dirty="0">
                <a:latin typeface="T-Sans" pitchFamily="2" charset="0"/>
                <a:ea typeface="T-Sans" pitchFamily="2" charset="0"/>
              </a:rPr>
              <a:t> кода. Каждый раз приходится писать все с нуля, иногда даже дублируя уже реализованную логику.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2734" y="4607594"/>
            <a:ext cx="628939" cy="62893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670A4AC-0CF3-AEE6-BA66-97F14ACEDA8D}"/>
              </a:ext>
            </a:extLst>
          </p:cNvPr>
          <p:cNvSpPr txBox="1"/>
          <p:nvPr/>
        </p:nvSpPr>
        <p:spPr>
          <a:xfrm>
            <a:off x="1150938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en-GB" dirty="0">
                <a:latin typeface="T-Sans Medium" pitchFamily="2" charset="0"/>
                <a:ea typeface="T-Sans" pitchFamily="2" charset="0"/>
              </a:rPr>
              <a:t>Immobility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62EC7B-E9D3-B31D-F8C6-4064555A970E}"/>
              </a:ext>
            </a:extLst>
          </p:cNvPr>
          <p:cNvSpPr txBox="1"/>
          <p:nvPr/>
        </p:nvSpPr>
        <p:spPr>
          <a:xfrm>
            <a:off x="7432451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en-US" dirty="0">
                <a:latin typeface="T-Sans Medium" pitchFamily="2" charset="0"/>
                <a:ea typeface="T-Sans" pitchFamily="2" charset="0"/>
              </a:rPr>
              <a:t>Viscosity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4E5F2C-A821-A958-3857-67001BE46CE3}"/>
              </a:ext>
            </a:extLst>
          </p:cNvPr>
          <p:cNvSpPr txBox="1"/>
          <p:nvPr/>
        </p:nvSpPr>
        <p:spPr>
          <a:xfrm>
            <a:off x="7432451" y="1890648"/>
            <a:ext cx="5164868" cy="1735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Сильная связность между компонентами. Любое, даже самое простое изменение в коде требует больших трудозатрат и влечет за собой множество изменений.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8EEB4E-1515-4CDC-57A3-F5AFD6829730}"/>
              </a:ext>
            </a:extLst>
          </p:cNvPr>
          <p:cNvSpPr txBox="1"/>
          <p:nvPr/>
        </p:nvSpPr>
        <p:spPr>
          <a:xfrm>
            <a:off x="13773150" y="1890648"/>
            <a:ext cx="5040217" cy="21752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Изменения в коде часто приводят к возникновению багов, причем, чаще всего баги возникают в функциональности, никак не связанной с той, в которую вносились изменения.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4D9D18-89DB-7DD2-4510-8FA61229FFB1}"/>
              </a:ext>
            </a:extLst>
          </p:cNvPr>
          <p:cNvSpPr txBox="1"/>
          <p:nvPr/>
        </p:nvSpPr>
        <p:spPr>
          <a:xfrm>
            <a:off x="7432451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en-GB" dirty="0">
                <a:latin typeface="T-Sans Medium" pitchFamily="2" charset="0"/>
                <a:ea typeface="T-Sans" pitchFamily="2" charset="0"/>
              </a:rPr>
              <a:t>Rigidity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F23360-F188-CB15-1456-79619AAC14FA}"/>
              </a:ext>
            </a:extLst>
          </p:cNvPr>
          <p:cNvSpPr txBox="1"/>
          <p:nvPr/>
        </p:nvSpPr>
        <p:spPr>
          <a:xfrm>
            <a:off x="13773150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en-US" dirty="0">
                <a:latin typeface="T-Sans Medium" pitchFamily="2" charset="0"/>
                <a:ea typeface="T-Sans" pitchFamily="2" charset="0"/>
              </a:rPr>
              <a:t>Fragility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11FD6-6AFD-98C0-FDE9-F7529AD9C47E}"/>
              </a:ext>
            </a:extLst>
          </p:cNvPr>
          <p:cNvSpPr txBox="1"/>
          <p:nvPr/>
        </p:nvSpPr>
        <p:spPr>
          <a:xfrm>
            <a:off x="1144085" y="2783100"/>
            <a:ext cx="5040217" cy="1735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Как понять, что с вашим исходным кодом что-то не так? Или, как сказал бы Дядюшка Боб – Как понять, что ваш код попахивает и уже давно </a:t>
            </a:r>
            <a:r>
              <a:rPr lang="en-US" dirty="0">
                <a:latin typeface="T-Sans" pitchFamily="2" charset="0"/>
                <a:ea typeface="T-Sans" pitchFamily="2" charset="0"/>
              </a:rPr>
              <a:t>“</a:t>
            </a:r>
            <a:r>
              <a:rPr lang="ru-RU" dirty="0">
                <a:latin typeface="T-Sans" pitchFamily="2" charset="0"/>
                <a:ea typeface="T-Sans" pitchFamily="2" charset="0"/>
              </a:rPr>
              <a:t>прогнил</a:t>
            </a:r>
            <a:r>
              <a:rPr lang="en-US" dirty="0">
                <a:latin typeface="T-Sans" pitchFamily="2" charset="0"/>
                <a:ea typeface="T-Sans" pitchFamily="2" charset="0"/>
              </a:rPr>
              <a:t>”</a:t>
            </a:r>
            <a:r>
              <a:rPr lang="ru-RU" dirty="0">
                <a:latin typeface="T-Sans" pitchFamily="2" charset="0"/>
                <a:ea typeface="T-Sans" pitchFamily="2" charset="0"/>
              </a:rPr>
              <a:t>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449EEF6-7969-69BB-D168-973F111853AD}"/>
              </a:ext>
            </a:extLst>
          </p:cNvPr>
          <p:cNvSpPr/>
          <p:nvPr/>
        </p:nvSpPr>
        <p:spPr>
          <a:xfrm>
            <a:off x="13577826" y="5972783"/>
            <a:ext cx="4116788" cy="4404891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l" defTabSz="457200"/>
            <a:endParaRPr lang="en-RU" sz="1800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15158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E8557AB1-A44B-A62D-CE03-F924610893E1}"/>
              </a:ext>
            </a:extLst>
          </p:cNvPr>
          <p:cNvSpPr/>
          <p:nvPr/>
        </p:nvSpPr>
        <p:spPr>
          <a:xfrm>
            <a:off x="6898416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1" name="Полилиния 50">
            <a:extLst>
              <a:ext uri="{FF2B5EF4-FFF2-40B4-BE49-F238E27FC236}">
                <a16:creationId xmlns:a16="http://schemas.microsoft.com/office/drawing/2014/main" id="{BB633411-7080-EA12-C0FC-B029DB899106}"/>
              </a:ext>
            </a:extLst>
          </p:cNvPr>
          <p:cNvSpPr/>
          <p:nvPr/>
        </p:nvSpPr>
        <p:spPr>
          <a:xfrm>
            <a:off x="13186325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2" name="Полилиния 51">
            <a:extLst>
              <a:ext uri="{FF2B5EF4-FFF2-40B4-BE49-F238E27FC236}">
                <a16:creationId xmlns:a16="http://schemas.microsoft.com/office/drawing/2014/main" id="{16F30D3A-F479-A731-AAFF-9E73DDBE86FA}"/>
              </a:ext>
            </a:extLst>
          </p:cNvPr>
          <p:cNvSpPr/>
          <p:nvPr/>
        </p:nvSpPr>
        <p:spPr>
          <a:xfrm>
            <a:off x="622121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3" name="Полилиния 52">
            <a:extLst>
              <a:ext uri="{FF2B5EF4-FFF2-40B4-BE49-F238E27FC236}">
                <a16:creationId xmlns:a16="http://schemas.microsoft.com/office/drawing/2014/main" id="{7C04E510-C23C-CA1D-320B-22FE4DBD2E09}"/>
              </a:ext>
            </a:extLst>
          </p:cNvPr>
          <p:cNvSpPr/>
          <p:nvPr/>
        </p:nvSpPr>
        <p:spPr>
          <a:xfrm>
            <a:off x="6898416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4" name="Полилиния 53">
            <a:extLst>
              <a:ext uri="{FF2B5EF4-FFF2-40B4-BE49-F238E27FC236}">
                <a16:creationId xmlns:a16="http://schemas.microsoft.com/office/drawing/2014/main" id="{859E29D1-94FF-3F52-A4D6-74EF7ED4B8C1}"/>
              </a:ext>
            </a:extLst>
          </p:cNvPr>
          <p:cNvSpPr/>
          <p:nvPr/>
        </p:nvSpPr>
        <p:spPr>
          <a:xfrm>
            <a:off x="13186325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1765C96E-8E4A-3C5C-5B68-264CAD476D46}"/>
              </a:ext>
            </a:extLst>
          </p:cNvPr>
          <p:cNvSpPr/>
          <p:nvPr/>
        </p:nvSpPr>
        <p:spPr>
          <a:xfrm>
            <a:off x="622121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A98B9172-6F1E-E555-014D-7C15E560C6D9}"/>
              </a:ext>
            </a:extLst>
          </p:cNvPr>
          <p:cNvSpPr/>
          <p:nvPr/>
        </p:nvSpPr>
        <p:spPr>
          <a:xfrm>
            <a:off x="11862077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A0B362B-CB57-A518-E4EB-7726C0EF2CD9}"/>
              </a:ext>
            </a:extLst>
          </p:cNvPr>
          <p:cNvSpPr/>
          <p:nvPr/>
        </p:nvSpPr>
        <p:spPr>
          <a:xfrm>
            <a:off x="5589816" y="440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644D69E-11CD-4736-F7D5-B88CA730F17B}"/>
              </a:ext>
            </a:extLst>
          </p:cNvPr>
          <p:cNvSpPr/>
          <p:nvPr/>
        </p:nvSpPr>
        <p:spPr>
          <a:xfrm>
            <a:off x="18154020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BC21E72B-AAD0-52C0-63DE-8CC93AC9CDAE}"/>
              </a:ext>
            </a:extLst>
          </p:cNvPr>
          <p:cNvSpPr/>
          <p:nvPr/>
        </p:nvSpPr>
        <p:spPr>
          <a:xfrm>
            <a:off x="11866111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4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FBF91FF1-F28B-017B-C8AD-9FC8973B295B}"/>
              </a:ext>
            </a:extLst>
          </p:cNvPr>
          <p:cNvSpPr/>
          <p:nvPr/>
        </p:nvSpPr>
        <p:spPr>
          <a:xfrm>
            <a:off x="5589816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5B745D41-4F8D-EE03-6E21-23AB5EC2B37B}"/>
              </a:ext>
            </a:extLst>
          </p:cNvPr>
          <p:cNvSpPr/>
          <p:nvPr/>
        </p:nvSpPr>
        <p:spPr>
          <a:xfrm>
            <a:off x="18154020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7B34E-1C8B-D35B-64CF-458FB807BCE1}"/>
              </a:ext>
            </a:extLst>
          </p:cNvPr>
          <p:cNvSpPr txBox="1"/>
          <p:nvPr/>
        </p:nvSpPr>
        <p:spPr>
          <a:xfrm>
            <a:off x="1140408" y="1142239"/>
            <a:ext cx="5047573" cy="1348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800" dirty="0">
                <a:latin typeface="T-Sans" pitchFamily="2" charset="0"/>
                <a:ea typeface="T-Sans" pitchFamily="2" charset="0"/>
              </a:rPr>
              <a:t>Что означает эта аббревиатура?</a:t>
            </a:r>
            <a:endParaRPr lang="en-US" sz="4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A91081-B026-FC0C-D330-C90C20545CCA}"/>
              </a:ext>
            </a:extLst>
          </p:cNvPr>
          <p:cNvSpPr txBox="1"/>
          <p:nvPr/>
        </p:nvSpPr>
        <p:spPr>
          <a:xfrm>
            <a:off x="7432451" y="6987582"/>
            <a:ext cx="5040217" cy="854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en-GB" dirty="0">
                <a:latin typeface="T-Sans" pitchFamily="2" charset="0"/>
                <a:ea typeface="T-Sans" pitchFamily="2" charset="0"/>
              </a:rPr>
              <a:t>Subclasses should be substitutable for their base classes.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E58C80-4FF5-5303-013A-16FD305E3C26}"/>
              </a:ext>
            </a:extLst>
          </p:cNvPr>
          <p:cNvSpPr txBox="1"/>
          <p:nvPr/>
        </p:nvSpPr>
        <p:spPr>
          <a:xfrm>
            <a:off x="13773150" y="6987582"/>
            <a:ext cx="5040217" cy="854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en-GB" dirty="0">
                <a:latin typeface="T-Sans" pitchFamily="2" charset="0"/>
                <a:ea typeface="T-Sans" pitchFamily="2" charset="0"/>
              </a:rPr>
              <a:t>Depend upon Abstractions. Do not depend upon concretions.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4A4C991-1C43-14C1-2612-95EBCB75D9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5</a:t>
            </a:fld>
            <a:endParaRPr lang="ru-RU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A550CC-0BEC-048F-1C10-3012233E1BB9}"/>
              </a:ext>
            </a:extLst>
          </p:cNvPr>
          <p:cNvSpPr txBox="1"/>
          <p:nvPr/>
        </p:nvSpPr>
        <p:spPr>
          <a:xfrm>
            <a:off x="1146294" y="6987582"/>
            <a:ext cx="5040217" cy="854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en-GB" dirty="0">
                <a:latin typeface="T-Sans" pitchFamily="2" charset="0"/>
                <a:ea typeface="T-Sans" pitchFamily="2" charset="0"/>
              </a:rPr>
              <a:t>Many client specific interfaces are better than one general purpose interface</a:t>
            </a:r>
            <a:r>
              <a:rPr lang="ru-RU" dirty="0">
                <a:latin typeface="T-Sans" pitchFamily="2" charset="0"/>
                <a:ea typeface="T-Sans" pitchFamily="2" charset="0"/>
              </a:rPr>
              <a:t>. 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2734" y="4607594"/>
            <a:ext cx="628939" cy="62893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670A4AC-0CF3-AEE6-BA66-97F14ACEDA8D}"/>
              </a:ext>
            </a:extLst>
          </p:cNvPr>
          <p:cNvSpPr txBox="1"/>
          <p:nvPr/>
        </p:nvSpPr>
        <p:spPr>
          <a:xfrm>
            <a:off x="1150938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en-US" dirty="0">
                <a:latin typeface="T-Sans Medium" pitchFamily="2" charset="0"/>
                <a:ea typeface="T-Sans" pitchFamily="2" charset="0"/>
              </a:rPr>
              <a:t>Interface Segregation Pr. 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62EC7B-E9D3-B31D-F8C6-4064555A970E}"/>
              </a:ext>
            </a:extLst>
          </p:cNvPr>
          <p:cNvSpPr txBox="1"/>
          <p:nvPr/>
        </p:nvSpPr>
        <p:spPr>
          <a:xfrm>
            <a:off x="7432451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en-US" dirty="0" err="1">
                <a:latin typeface="T-Sans Medium" pitchFamily="2" charset="0"/>
                <a:ea typeface="T-Sans" pitchFamily="2" charset="0"/>
              </a:rPr>
              <a:t>Liskov</a:t>
            </a:r>
            <a:r>
              <a:rPr lang="en-US" dirty="0">
                <a:latin typeface="T-Sans Medium" pitchFamily="2" charset="0"/>
                <a:ea typeface="T-Sans" pitchFamily="2" charset="0"/>
              </a:rPr>
              <a:t> Substitution Pr. 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10B84-B0EB-E207-3247-55F10C2DCA09}"/>
              </a:ext>
            </a:extLst>
          </p:cNvPr>
          <p:cNvSpPr txBox="1"/>
          <p:nvPr/>
        </p:nvSpPr>
        <p:spPr>
          <a:xfrm>
            <a:off x="13773150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en-US" dirty="0">
                <a:latin typeface="T-Sans Medium" pitchFamily="2" charset="0"/>
                <a:ea typeface="T-Sans" pitchFamily="2" charset="0"/>
              </a:rPr>
              <a:t>Dependency Inversion Pr. 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4E5F2C-A821-A958-3857-67001BE46CE3}"/>
              </a:ext>
            </a:extLst>
          </p:cNvPr>
          <p:cNvSpPr txBox="1"/>
          <p:nvPr/>
        </p:nvSpPr>
        <p:spPr>
          <a:xfrm>
            <a:off x="7432451" y="1890648"/>
            <a:ext cx="5164868" cy="4147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en-GB" dirty="0">
                <a:latin typeface="T-Sans" pitchFamily="2" charset="0"/>
                <a:ea typeface="T-Sans" pitchFamily="2" charset="0"/>
              </a:rPr>
              <a:t>A class should have only one reason to change. 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8EEB4E-1515-4CDC-57A3-F5AFD6829730}"/>
              </a:ext>
            </a:extLst>
          </p:cNvPr>
          <p:cNvSpPr txBox="1"/>
          <p:nvPr/>
        </p:nvSpPr>
        <p:spPr>
          <a:xfrm>
            <a:off x="13773150" y="1890648"/>
            <a:ext cx="5040217" cy="854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en-GB" dirty="0">
                <a:latin typeface="T-Sans" pitchFamily="2" charset="0"/>
                <a:ea typeface="T-Sans" pitchFamily="2" charset="0"/>
              </a:rPr>
              <a:t>A module should be open for extension but closed for modification.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4D9D18-89DB-7DD2-4510-8FA61229FFB1}"/>
              </a:ext>
            </a:extLst>
          </p:cNvPr>
          <p:cNvSpPr txBox="1"/>
          <p:nvPr/>
        </p:nvSpPr>
        <p:spPr>
          <a:xfrm>
            <a:off x="7432451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en-US" dirty="0">
                <a:latin typeface="T-Sans Medium" pitchFamily="2" charset="0"/>
                <a:ea typeface="T-Sans" pitchFamily="2" charset="0"/>
              </a:rPr>
              <a:t>Single Responsibility Pr. 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F23360-F188-CB15-1456-79619AAC14FA}"/>
              </a:ext>
            </a:extLst>
          </p:cNvPr>
          <p:cNvSpPr txBox="1"/>
          <p:nvPr/>
        </p:nvSpPr>
        <p:spPr>
          <a:xfrm>
            <a:off x="13773150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en-US" dirty="0">
                <a:latin typeface="T-Sans Medium" pitchFamily="2" charset="0"/>
                <a:ea typeface="T-Sans" pitchFamily="2" charset="0"/>
              </a:rPr>
              <a:t>Open-Closed Pr. 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11FD6-6AFD-98C0-FDE9-F7529AD9C47E}"/>
              </a:ext>
            </a:extLst>
          </p:cNvPr>
          <p:cNvSpPr txBox="1"/>
          <p:nvPr/>
        </p:nvSpPr>
        <p:spPr>
          <a:xfrm>
            <a:off x="1144085" y="2783100"/>
            <a:ext cx="5040217" cy="1735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Дядюшка Боб (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Роберт Мартин</a:t>
            </a:r>
            <a:r>
              <a:rPr lang="ru-RU" dirty="0">
                <a:latin typeface="T-Sans" pitchFamily="2" charset="0"/>
                <a:ea typeface="T-Sans" pitchFamily="2" charset="0"/>
              </a:rPr>
              <a:t>) собрал описанные на этом слайде принципы еще в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2000-м году</a:t>
            </a:r>
            <a:r>
              <a:rPr lang="ru-RU" dirty="0">
                <a:latin typeface="T-Sans" pitchFamily="2" charset="0"/>
                <a:ea typeface="T-Sans" pitchFamily="2" charset="0"/>
              </a:rPr>
              <a:t>, но даже спустя более 20 лет они актуальны как никогда!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BCB6F-86A7-B35C-F20D-C4F4B0890A64}"/>
              </a:ext>
            </a:extLst>
          </p:cNvPr>
          <p:cNvSpPr txBox="1"/>
          <p:nvPr/>
        </p:nvSpPr>
        <p:spPr>
          <a:xfrm>
            <a:off x="16533023" y="10869368"/>
            <a:ext cx="326627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b="1" dirty="0"/>
              <a:t>Обсудим каждый из принципов!</a:t>
            </a:r>
            <a:endParaRPr kumimoji="0" lang="en-RU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63235233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6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96F826-89E5-D916-469A-977BE872DF8A}"/>
              </a:ext>
            </a:extLst>
          </p:cNvPr>
          <p:cNvSpPr txBox="1"/>
          <p:nvPr/>
        </p:nvSpPr>
        <p:spPr>
          <a:xfrm>
            <a:off x="1484382" y="5448379"/>
            <a:ext cx="4521708" cy="1692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Чем больше делает класс, тем больше в нем строк исходного кода и тем чаще приходится его изменять. Оба фактора чисто статистически влияют на кол-во багов в системе!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2" y="3431030"/>
            <a:ext cx="4521708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У класса должна быть ровно одна причина для изменения!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3431030"/>
            <a:ext cx="612000" cy="6120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5807939-D90B-4638-A99E-4291645C2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5448379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dirty="0">
                <a:latin typeface="T-Sans" pitchFamily="2" charset="77"/>
                <a:ea typeface="T-Sans" pitchFamily="2" charset="77"/>
              </a:rPr>
              <a:t>Single Responsibility</a:t>
            </a:r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4D8480BA-7AD9-54AD-45F6-8824EB5E46B0}"/>
              </a:ext>
            </a:extLst>
          </p:cNvPr>
          <p:cNvSpPr txBox="1"/>
          <p:nvPr/>
        </p:nvSpPr>
        <p:spPr>
          <a:xfrm>
            <a:off x="1484382" y="4270427"/>
            <a:ext cx="4521708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Нарушение этого принципа влечет повышение связности и </a:t>
            </a:r>
            <a:r>
              <a:rPr lang="en-US" dirty="0">
                <a:latin typeface="T-Sans" pitchFamily="2" charset="77"/>
                <a:ea typeface="T-Sans" pitchFamily="2" charset="77"/>
              </a:rPr>
              <a:t>“</a:t>
            </a:r>
            <a:r>
              <a:rPr lang="ru-RU" dirty="0">
                <a:latin typeface="T-Sans" pitchFamily="2" charset="77"/>
                <a:ea typeface="T-Sans" pitchFamily="2" charset="77"/>
              </a:rPr>
              <a:t>хрупкости</a:t>
            </a:r>
            <a:r>
              <a:rPr lang="en-US" dirty="0">
                <a:latin typeface="T-Sans" pitchFamily="2" charset="77"/>
                <a:ea typeface="T-Sans" pitchFamily="2" charset="77"/>
              </a:rPr>
              <a:t>” </a:t>
            </a:r>
            <a:r>
              <a:rPr lang="ru-RU" dirty="0">
                <a:latin typeface="T-Sans" pitchFamily="2" charset="77"/>
                <a:ea typeface="T-Sans" pitchFamily="2" charset="77"/>
              </a:rPr>
              <a:t> исходного кода.</a:t>
            </a:r>
          </a:p>
        </p:txBody>
      </p:sp>
      <p:pic>
        <p:nvPicPr>
          <p:cNvPr id="53" name="Рисунок 20">
            <a:extLst>
              <a:ext uri="{FF2B5EF4-FFF2-40B4-BE49-F238E27FC236}">
                <a16:creationId xmlns:a16="http://schemas.microsoft.com/office/drawing/2014/main" id="{9341772A-FBF2-5A18-0679-19F4C4C40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4270427"/>
            <a:ext cx="612000" cy="612000"/>
          </a:xfrm>
          <a:prstGeom prst="rect">
            <a:avLst/>
          </a:prstGeom>
        </p:spPr>
      </p:pic>
      <p:pic>
        <p:nvPicPr>
          <p:cNvPr id="1028" name="Picture 4" descr="SOLID: Single Responsibility Principle | Coding Journeyman">
            <a:extLst>
              <a:ext uri="{FF2B5EF4-FFF2-40B4-BE49-F238E27FC236}">
                <a16:creationId xmlns:a16="http://schemas.microsoft.com/office/drawing/2014/main" id="{F70D5674-BC48-E94A-CB51-6B1D31E0C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0" y="9021299"/>
            <a:ext cx="2705235" cy="213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A2E84B-2BF0-85A5-3A91-2079FD793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204" y="1978896"/>
            <a:ext cx="10801409" cy="740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7426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7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96F826-89E5-D916-469A-977BE872DF8A}"/>
              </a:ext>
            </a:extLst>
          </p:cNvPr>
          <p:cNvSpPr txBox="1"/>
          <p:nvPr/>
        </p:nvSpPr>
        <p:spPr>
          <a:xfrm>
            <a:off x="1484382" y="5109824"/>
            <a:ext cx="4521708" cy="13542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И снова, статистика с багами работает и в данном случае – чем больше мы меняем класс, тем больше вероятность, что мы пропустим баг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1" y="3431030"/>
            <a:ext cx="4945601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Класс должен быть открыт для расширения, но закрыт для модификации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3431030"/>
            <a:ext cx="612000" cy="6120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5807939-D90B-4638-A99E-4291645C2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5109824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dirty="0">
                <a:latin typeface="T-Sans" pitchFamily="2" charset="77"/>
                <a:ea typeface="T-Sans" pitchFamily="2" charset="77"/>
              </a:rPr>
              <a:t>Open-Closed</a:t>
            </a:r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4D8480BA-7AD9-54AD-45F6-8824EB5E46B0}"/>
              </a:ext>
            </a:extLst>
          </p:cNvPr>
          <p:cNvSpPr txBox="1"/>
          <p:nvPr/>
        </p:nvSpPr>
        <p:spPr>
          <a:xfrm>
            <a:off x="1484382" y="4270427"/>
            <a:ext cx="4521708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Снова же – мы повышаем и связность, и хрупкость кода!</a:t>
            </a:r>
          </a:p>
        </p:txBody>
      </p:sp>
      <p:pic>
        <p:nvPicPr>
          <p:cNvPr id="53" name="Рисунок 20">
            <a:extLst>
              <a:ext uri="{FF2B5EF4-FFF2-40B4-BE49-F238E27FC236}">
                <a16:creationId xmlns:a16="http://schemas.microsoft.com/office/drawing/2014/main" id="{9341772A-FBF2-5A18-0679-19F4C4C40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4270427"/>
            <a:ext cx="612000" cy="612000"/>
          </a:xfrm>
          <a:prstGeom prst="rect">
            <a:avLst/>
          </a:prstGeom>
        </p:spPr>
      </p:pic>
      <p:pic>
        <p:nvPicPr>
          <p:cNvPr id="3074" name="Picture 2" descr="SOLID — OCP (Open Closed Principle) using NodeJS + Typescript | by Emidium  Science | Medium">
            <a:extLst>
              <a:ext uri="{FF2B5EF4-FFF2-40B4-BE49-F238E27FC236}">
                <a16:creationId xmlns:a16="http://schemas.microsoft.com/office/drawing/2014/main" id="{DAC164A4-CACA-7700-CA1F-510959487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969476"/>
            <a:ext cx="3344502" cy="219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DD5C10-B57F-F351-1E65-49D845D04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152" y="3488259"/>
            <a:ext cx="10833606" cy="446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33266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8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2" y="3431030"/>
            <a:ext cx="4521708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Поведение наследников не должно противоречить поведению родителя!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3431030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dirty="0" err="1">
                <a:latin typeface="T-Sans" pitchFamily="2" charset="77"/>
                <a:ea typeface="T-Sans" pitchFamily="2" charset="77"/>
              </a:rPr>
              <a:t>Liskov</a:t>
            </a:r>
            <a:r>
              <a:rPr lang="en-US" dirty="0">
                <a:latin typeface="T-Sans" pitchFamily="2" charset="77"/>
                <a:ea typeface="T-Sans" pitchFamily="2" charset="77"/>
              </a:rPr>
              <a:t> Substitution</a:t>
            </a:r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4D8480BA-7AD9-54AD-45F6-8824EB5E46B0}"/>
              </a:ext>
            </a:extLst>
          </p:cNvPr>
          <p:cNvSpPr txBox="1"/>
          <p:nvPr/>
        </p:nvSpPr>
        <p:spPr>
          <a:xfrm>
            <a:off x="1484382" y="4270427"/>
            <a:ext cx="4521708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Вы больше не можете доверять контракту взаимодействия с объектами этого класса!</a:t>
            </a:r>
          </a:p>
        </p:txBody>
      </p:sp>
      <p:pic>
        <p:nvPicPr>
          <p:cNvPr id="53" name="Рисунок 20">
            <a:extLst>
              <a:ext uri="{FF2B5EF4-FFF2-40B4-BE49-F238E27FC236}">
                <a16:creationId xmlns:a16="http://schemas.microsoft.com/office/drawing/2014/main" id="{9341772A-FBF2-5A18-0679-19F4C4C40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4270427"/>
            <a:ext cx="612000" cy="61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C5F630-8FFD-A5A8-DB60-B66DBE4B0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356" y="1919724"/>
            <a:ext cx="10591628" cy="7795571"/>
          </a:xfrm>
          <a:prstGeom prst="rect">
            <a:avLst/>
          </a:prstGeom>
        </p:spPr>
      </p:pic>
      <p:pic>
        <p:nvPicPr>
          <p:cNvPr id="3074" name="Picture 2" descr="Liskov Substitution Principle in Python | by shailesh jadhav | nonstopio">
            <a:extLst>
              <a:ext uri="{FF2B5EF4-FFF2-40B4-BE49-F238E27FC236}">
                <a16:creationId xmlns:a16="http://schemas.microsoft.com/office/drawing/2014/main" id="{3363CD6D-D779-BE2E-1731-7235C4057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715295"/>
            <a:ext cx="3333904" cy="1442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C3E286-9D9C-5DE5-5575-92FA1105429E}"/>
              </a:ext>
            </a:extLst>
          </p:cNvPr>
          <p:cNvSpPr txBox="1"/>
          <p:nvPr/>
        </p:nvSpPr>
        <p:spPr>
          <a:xfrm>
            <a:off x="-14741" y="9345965"/>
            <a:ext cx="228043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If it quacks – it’s a duck!</a:t>
            </a:r>
          </a:p>
        </p:txBody>
      </p:sp>
    </p:spTree>
    <p:extLst>
      <p:ext uri="{BB962C8B-B14F-4D97-AF65-F5344CB8AC3E}">
        <p14:creationId xmlns:p14="http://schemas.microsoft.com/office/powerpoint/2010/main" val="278757175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9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96F826-89E5-D916-469A-977BE872DF8A}"/>
              </a:ext>
            </a:extLst>
          </p:cNvPr>
          <p:cNvSpPr txBox="1"/>
          <p:nvPr/>
        </p:nvSpPr>
        <p:spPr>
          <a:xfrm>
            <a:off x="1484382" y="4293820"/>
            <a:ext cx="4521708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Потенциально можем нарушить все те принципы, что мы обсуждали ранее, так что рисковать не стоит!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2" y="3431030"/>
            <a:ext cx="4521708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Лучше много маленьких интерфейсов, чем один большой.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3431030"/>
            <a:ext cx="612000" cy="6120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5807939-D90B-4638-A99E-4291645C2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4293820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dirty="0">
                <a:latin typeface="T-Sans" pitchFamily="2" charset="77"/>
                <a:ea typeface="T-Sans" pitchFamily="2" charset="77"/>
              </a:rPr>
              <a:t>Interface Segregation</a:t>
            </a:r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pic>
        <p:nvPicPr>
          <p:cNvPr id="5122" name="Picture 2" descr="SOLID principles in a nutshell. SOLID is an acronym that stands for… | by  Azraar Azward | Medium">
            <a:extLst>
              <a:ext uri="{FF2B5EF4-FFF2-40B4-BE49-F238E27FC236}">
                <a16:creationId xmlns:a16="http://schemas.microsoft.com/office/drawing/2014/main" id="{A9CED634-9E8F-00D9-18D2-FF876CC43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8628434"/>
            <a:ext cx="3642155" cy="253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712792-4215-8C44-D21D-34B002739122}"/>
              </a:ext>
            </a:extLst>
          </p:cNvPr>
          <p:cNvSpPr txBox="1"/>
          <p:nvPr/>
        </p:nvSpPr>
        <p:spPr>
          <a:xfrm>
            <a:off x="1484382" y="5495165"/>
            <a:ext cx="4521708" cy="13542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Но и мельчить тоже не стоит. Интерфейс должен быть осмысленным с точки зрения домена, в котором он существует. </a:t>
            </a:r>
          </a:p>
        </p:txBody>
      </p:sp>
      <p:pic>
        <p:nvPicPr>
          <p:cNvPr id="8" name="Рисунок 20">
            <a:extLst>
              <a:ext uri="{FF2B5EF4-FFF2-40B4-BE49-F238E27FC236}">
                <a16:creationId xmlns:a16="http://schemas.microsoft.com/office/drawing/2014/main" id="{B0E1B41A-9090-2B4C-4BED-CAD801987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5495165"/>
            <a:ext cx="612000" cy="61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25837C-F31E-6422-98F1-31A05DC20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930" y="1716220"/>
            <a:ext cx="10390480" cy="835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3530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10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96F826-89E5-D916-469A-977BE872DF8A}"/>
              </a:ext>
            </a:extLst>
          </p:cNvPr>
          <p:cNvSpPr txBox="1"/>
          <p:nvPr/>
        </p:nvSpPr>
        <p:spPr>
          <a:xfrm>
            <a:off x="1484382" y="4904082"/>
            <a:ext cx="4521708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Как тестировать такое решение? Как его расширять или изменять?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2" y="3431030"/>
            <a:ext cx="4521708" cy="13542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 err="1">
                <a:latin typeface="T-Sans" pitchFamily="2" charset="77"/>
                <a:ea typeface="T-Sans" pitchFamily="2" charset="77"/>
              </a:rPr>
              <a:t>Верхнеуровневая</a:t>
            </a:r>
            <a:r>
              <a:rPr lang="ru-RU" dirty="0">
                <a:latin typeface="T-Sans" pitchFamily="2" charset="77"/>
                <a:ea typeface="T-Sans" pitchFamily="2" charset="77"/>
              </a:rPr>
              <a:t> бизнес-логика не должна зависеть от низкоуровневых деталей реализации. И то, и другое должно зависеть от абстракций!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3431030"/>
            <a:ext cx="612000" cy="6120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5807939-D90B-4638-A99E-4291645C2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4904082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dirty="0">
                <a:latin typeface="T-Sans" pitchFamily="2" charset="77"/>
                <a:ea typeface="T-Sans" pitchFamily="2" charset="77"/>
              </a:rPr>
              <a:t>Dependency Inversion</a:t>
            </a:r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FA1F752-B632-1599-D28A-FDB51137733D}"/>
              </a:ext>
            </a:extLst>
          </p:cNvPr>
          <p:cNvSpPr txBox="1"/>
          <p:nvPr/>
        </p:nvSpPr>
        <p:spPr>
          <a:xfrm>
            <a:off x="1484382" y="5762878"/>
            <a:ext cx="4521708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Нарушение принципа повышает связность компонентов, что не есть хорошо!</a:t>
            </a:r>
          </a:p>
        </p:txBody>
      </p:sp>
      <p:pic>
        <p:nvPicPr>
          <p:cNvPr id="8" name="Рисунок 20">
            <a:extLst>
              <a:ext uri="{FF2B5EF4-FFF2-40B4-BE49-F238E27FC236}">
                <a16:creationId xmlns:a16="http://schemas.microsoft.com/office/drawing/2014/main" id="{B74AE93B-203D-DA32-83CF-3422AAFCE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5762878"/>
            <a:ext cx="612000" cy="612000"/>
          </a:xfrm>
          <a:prstGeom prst="rect">
            <a:avLst/>
          </a:prstGeom>
        </p:spPr>
      </p:pic>
      <p:pic>
        <p:nvPicPr>
          <p:cNvPr id="8196" name="Picture 4" descr="SOLID Principles With Real World Examples in TypeScript | by Wanuja  Ranasinghe | Dev Genius">
            <a:extLst>
              <a:ext uri="{FF2B5EF4-FFF2-40B4-BE49-F238E27FC236}">
                <a16:creationId xmlns:a16="http://schemas.microsoft.com/office/drawing/2014/main" id="{515B6341-71B3-6572-2446-5B5D664E4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17964"/>
            <a:ext cx="3813243" cy="254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373645-688F-9884-46B1-F3DB5E894EE1}"/>
              </a:ext>
            </a:extLst>
          </p:cNvPr>
          <p:cNvSpPr txBox="1"/>
          <p:nvPr/>
        </p:nvSpPr>
        <p:spPr>
          <a:xfrm>
            <a:off x="1484382" y="6899147"/>
            <a:ext cx="4186844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Не путайте с </a:t>
            </a:r>
            <a:r>
              <a:rPr lang="en-US" dirty="0">
                <a:latin typeface="T-Sans" pitchFamily="2" charset="77"/>
                <a:ea typeface="T-Sans" pitchFamily="2" charset="77"/>
              </a:rPr>
              <a:t>Dependency Injection! </a:t>
            </a:r>
            <a:r>
              <a:rPr lang="ru-RU" dirty="0">
                <a:latin typeface="T-Sans" pitchFamily="2" charset="77"/>
                <a:ea typeface="T-Sans" pitchFamily="2" charset="77"/>
              </a:rPr>
              <a:t>Это связанные понятия, но не взаимозаменяемые!</a:t>
            </a:r>
          </a:p>
        </p:txBody>
      </p:sp>
      <p:pic>
        <p:nvPicPr>
          <p:cNvPr id="13" name="Рисунок 20">
            <a:extLst>
              <a:ext uri="{FF2B5EF4-FFF2-40B4-BE49-F238E27FC236}">
                <a16:creationId xmlns:a16="http://schemas.microsoft.com/office/drawing/2014/main" id="{6A84C977-E0C1-7C55-B713-01F646867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6899147"/>
            <a:ext cx="612000" cy="61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107218-2FCA-B88C-7D95-2BE00B0D9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788" y="3624813"/>
            <a:ext cx="10162763" cy="488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05735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8549C0-68A8-F77C-4806-B56A70B21CE9}"/>
              </a:ext>
            </a:extLst>
          </p:cNvPr>
          <p:cNvSpPr txBox="1"/>
          <p:nvPr/>
        </p:nvSpPr>
        <p:spPr>
          <a:xfrm>
            <a:off x="1484382" y="6390469"/>
            <a:ext cx="4521708" cy="16081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Принципы </a:t>
            </a:r>
            <a:r>
              <a:rPr lang="en-US" dirty="0">
                <a:latin typeface="T-Sans" pitchFamily="2" charset="0"/>
                <a:ea typeface="T-Sans" pitchFamily="2" charset="0"/>
              </a:rPr>
              <a:t>SOLID </a:t>
            </a:r>
            <a:r>
              <a:rPr lang="ru-RU" dirty="0">
                <a:latin typeface="T-Sans" pitchFamily="2" charset="0"/>
                <a:ea typeface="T-Sans" pitchFamily="2" charset="0"/>
              </a:rPr>
              <a:t>взаимодополняют друг друга, и часто нарушение одного влечет за собой нарушение других принципов.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4285F-AB4F-0724-373B-5750AF160F80}"/>
              </a:ext>
            </a:extLst>
          </p:cNvPr>
          <p:cNvSpPr txBox="1"/>
          <p:nvPr/>
        </p:nvSpPr>
        <p:spPr>
          <a:xfrm>
            <a:off x="1484382" y="4545332"/>
            <a:ext cx="4521708" cy="16081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en-US" dirty="0">
                <a:latin typeface="T-Sans" pitchFamily="2" charset="0"/>
                <a:ea typeface="T-Sans" pitchFamily="2" charset="0"/>
              </a:rPr>
              <a:t>SOLID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набор очевидных, но очень важных рекомендаций, которые делают код легко расширяем, тестируемым и поддерживаемым.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B8A18F2-BC2C-669C-EAA3-8E10421BA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4545332"/>
            <a:ext cx="612000" cy="612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14F5B0B-43E7-2F2E-5A02-A31E574B3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6390469"/>
            <a:ext cx="612000" cy="612000"/>
          </a:xfrm>
          <a:prstGeom prst="rect">
            <a:avLst/>
          </a:prstGeom>
        </p:spPr>
      </p:pic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80F3AA8-590A-F4FD-93A4-8847CAF79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11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B6A30-D262-3493-ACFB-C568E10FCB79}"/>
              </a:ext>
            </a:extLst>
          </p:cNvPr>
          <p:cNvSpPr txBox="1"/>
          <p:nvPr/>
        </p:nvSpPr>
        <p:spPr>
          <a:xfrm>
            <a:off x="611188" y="1321118"/>
            <a:ext cx="5650934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Подведем итоги!</a:t>
            </a:r>
          </a:p>
        </p:txBody>
      </p:sp>
      <p:pic>
        <p:nvPicPr>
          <p:cNvPr id="3" name="Picture 6" descr="Building Bulletproof Code: SOLID Principles to Level Up Your Skills">
            <a:extLst>
              <a:ext uri="{FF2B5EF4-FFF2-40B4-BE49-F238E27FC236}">
                <a16:creationId xmlns:a16="http://schemas.microsoft.com/office/drawing/2014/main" id="{07AE5D97-0DC4-70EA-34DB-7B192710B04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19" t="-613" r="2395" b="613"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262427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F9F53D-12DD-F728-FBAF-6F896C8C6E9F}"/>
              </a:ext>
            </a:extLst>
          </p:cNvPr>
          <p:cNvSpPr txBox="1"/>
          <p:nvPr/>
        </p:nvSpPr>
        <p:spPr>
          <a:xfrm>
            <a:off x="611188" y="556966"/>
            <a:ext cx="5879259" cy="22644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5400" dirty="0">
                <a:latin typeface="T-Sans" pitchFamily="2" charset="0"/>
                <a:ea typeface="T-Sans" pitchFamily="2" charset="0"/>
              </a:rPr>
              <a:t>Принципы, заслуживающие упоминания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BBC81-665B-182C-8A88-4B0F8FFA52A2}"/>
              </a:ext>
            </a:extLst>
          </p:cNvPr>
          <p:cNvSpPr txBox="1"/>
          <p:nvPr/>
        </p:nvSpPr>
        <p:spPr>
          <a:xfrm>
            <a:off x="611188" y="3743325"/>
            <a:ext cx="4716462" cy="36933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0"/>
                <a:ea typeface="T-Sans" pitchFamily="2" charset="0"/>
              </a:rPr>
              <a:t>Помимо </a:t>
            </a:r>
            <a:r>
              <a:rPr lang="en-US" dirty="0">
                <a:latin typeface="T-Sans" pitchFamily="2" charset="0"/>
                <a:ea typeface="T-Sans" pitchFamily="2" charset="0"/>
              </a:rPr>
              <a:t>SOLID, </a:t>
            </a:r>
            <a:r>
              <a:rPr lang="ru-RU" dirty="0">
                <a:latin typeface="T-Sans" pitchFamily="2" charset="0"/>
                <a:ea typeface="T-Sans" pitchFamily="2" charset="0"/>
              </a:rPr>
              <a:t>существует множество и других очень важных и полезных принципов – </a:t>
            </a:r>
            <a:r>
              <a:rPr lang="en-US" dirty="0">
                <a:latin typeface="T-Sans" pitchFamily="2" charset="0"/>
                <a:ea typeface="T-Sans" pitchFamily="2" charset="0"/>
              </a:rPr>
              <a:t>KISS, DRY, GRASP, </a:t>
            </a:r>
            <a:r>
              <a:rPr lang="ru-RU" dirty="0">
                <a:latin typeface="T-Sans" pitchFamily="2" charset="0"/>
                <a:ea typeface="T-Sans" pitchFamily="2" charset="0"/>
              </a:rPr>
              <a:t>и так далее. </a:t>
            </a:r>
          </a:p>
          <a:p>
            <a:pPr>
              <a:lnSpc>
                <a:spcPct val="100000"/>
              </a:lnSpc>
            </a:pPr>
            <a:endParaRPr lang="ru-RU" dirty="0">
              <a:latin typeface="T-Sans" pitchFamily="2" charset="0"/>
              <a:ea typeface="T-Sans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0"/>
                <a:ea typeface="T-Sans" pitchFamily="2" charset="0"/>
              </a:rPr>
              <a:t>Все они являются обобщением здравого смысла. Их желательно знать, и лучше их придерживаться, но не стоит воспринимать их как истину в последней инстанции!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811FD-CFB6-AA9B-18BE-0A3E8DAAB793}"/>
              </a:ext>
            </a:extLst>
          </p:cNvPr>
          <p:cNvSpPr txBox="1"/>
          <p:nvPr/>
        </p:nvSpPr>
        <p:spPr>
          <a:xfrm>
            <a:off x="7359458" y="2809908"/>
            <a:ext cx="5040000" cy="2954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en-GB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Keep It Simple, Stupid</a:t>
            </a:r>
          </a:p>
          <a:p>
            <a:pPr>
              <a:lnSpc>
                <a:spcPct val="100000"/>
              </a:lnSpc>
            </a:pPr>
            <a:endParaRPr lang="en-GB" b="1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Чем проще решение – тем лучше!  </a:t>
            </a:r>
          </a:p>
          <a:p>
            <a:pPr>
              <a:lnSpc>
                <a:spcPct val="100000"/>
              </a:lnSpc>
            </a:pPr>
            <a:endParaRPr lang="ru-RU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Не стоит </a:t>
            </a:r>
            <a:r>
              <a:rPr lang="ru-RU" dirty="0" err="1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оверинженерить</a:t>
            </a: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 и строить космолеты там, где этого не требуется!</a:t>
            </a:r>
            <a:r>
              <a:rPr lang="en-US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Через пару месяцев вы сами скажите спасибо себе за это. </a:t>
            </a:r>
            <a:endParaRPr lang="en-US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6D5E15-7B2B-0E7F-A749-E209A7A2AB9D}"/>
              </a:ext>
            </a:extLst>
          </p:cNvPr>
          <p:cNvSpPr txBox="1"/>
          <p:nvPr/>
        </p:nvSpPr>
        <p:spPr>
          <a:xfrm>
            <a:off x="13668820" y="2809908"/>
            <a:ext cx="5040000" cy="36933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Don’t Repeat Yourself!</a:t>
            </a:r>
          </a:p>
          <a:p>
            <a:pPr>
              <a:lnSpc>
                <a:spcPct val="100000"/>
              </a:lnSpc>
            </a:pPr>
            <a:endParaRPr lang="en-US" b="1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Принцип, в первую очередь, про </a:t>
            </a:r>
            <a:r>
              <a:rPr lang="ru-RU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дублирование логики</a:t>
            </a: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, а не похожих участков кода!</a:t>
            </a:r>
          </a:p>
          <a:p>
            <a:pPr>
              <a:lnSpc>
                <a:spcPct val="100000"/>
              </a:lnSpc>
            </a:pPr>
            <a:endParaRPr lang="ru-RU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00000"/>
              </a:lnSpc>
            </a:pPr>
            <a:r>
              <a:rPr lang="ru-RU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Основная идея</a:t>
            </a: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 – стоит выносить </a:t>
            </a:r>
            <a:r>
              <a:rPr lang="ru-RU" dirty="0" err="1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дублирующуюся</a:t>
            </a: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 логику в методы, и </a:t>
            </a:r>
            <a:r>
              <a:rPr lang="ru-RU" dirty="0" err="1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переиспользовать</a:t>
            </a: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 их по мере возможности. 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9345203A-FEDA-E10B-7BB8-6EE5751038A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12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E54BE0-375F-C558-497F-B2B95696D3B3}"/>
              </a:ext>
            </a:extLst>
          </p:cNvPr>
          <p:cNvSpPr txBox="1"/>
          <p:nvPr/>
        </p:nvSpPr>
        <p:spPr>
          <a:xfrm>
            <a:off x="7359460" y="1132518"/>
            <a:ext cx="5024628" cy="503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3600" dirty="0">
                <a:latin typeface="T-Sans Medium" pitchFamily="2" charset="0"/>
                <a:ea typeface="T-Sans" pitchFamily="2" charset="0"/>
              </a:rPr>
              <a:t>KISS</a:t>
            </a:r>
            <a:endParaRPr lang="ru-RU" sz="3600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6BAA70-043A-64F3-C6D7-8E99ECA6F4EB}"/>
              </a:ext>
            </a:extLst>
          </p:cNvPr>
          <p:cNvSpPr txBox="1"/>
          <p:nvPr/>
        </p:nvSpPr>
        <p:spPr>
          <a:xfrm>
            <a:off x="13668820" y="1132518"/>
            <a:ext cx="5052568" cy="503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  <a:latin typeface="T-Sans Medium" pitchFamily="2" charset="0"/>
                <a:ea typeface="T-Sans" pitchFamily="2" charset="0"/>
              </a:rPr>
              <a:t>DRY</a:t>
            </a:r>
            <a:endParaRPr lang="ru-RU" sz="3600" dirty="0">
              <a:solidFill>
                <a:schemeClr val="bg1"/>
              </a:solidFill>
              <a:latin typeface="T-Sans Medium" pitchFamily="2" charset="0"/>
              <a:ea typeface="T-Sans" pitchFamily="2" charset="0"/>
            </a:endParaRPr>
          </a:p>
        </p:txBody>
      </p:sp>
      <p:pic>
        <p:nvPicPr>
          <p:cNvPr id="10242" name="Picture 2" descr="Senior Devs... · ProgrammerHumor.io">
            <a:extLst>
              <a:ext uri="{FF2B5EF4-FFF2-40B4-BE49-F238E27FC236}">
                <a16:creationId xmlns:a16="http://schemas.microsoft.com/office/drawing/2014/main" id="{629E704C-A7BD-7DF0-AFDD-CE3103CBF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846" y="6503227"/>
            <a:ext cx="5199856" cy="370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F99D8F-C621-421E-191C-6C819DA65B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5" t="28621" r="37259" b="34241"/>
          <a:stretch/>
        </p:blipFill>
        <p:spPr>
          <a:xfrm rot="5400000">
            <a:off x="14445804" y="6701768"/>
            <a:ext cx="3486030" cy="33054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3F111FB-8626-1488-EF5F-94EDC4B5C935}"/>
              </a:ext>
            </a:extLst>
          </p:cNvPr>
          <p:cNvSpPr txBox="1"/>
          <p:nvPr/>
        </p:nvSpPr>
        <p:spPr>
          <a:xfrm>
            <a:off x="14961240" y="10114089"/>
            <a:ext cx="245515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dirty="0"/>
              <a:t>Мем из реальной жизни!</a:t>
            </a: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88770598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13036B3-80E0-4378-42AA-E09684F42BE9}"/>
              </a:ext>
            </a:extLst>
          </p:cNvPr>
          <p:cNvGrpSpPr/>
          <p:nvPr/>
        </p:nvGrpSpPr>
        <p:grpSpPr>
          <a:xfrm>
            <a:off x="1943100" y="3075009"/>
            <a:ext cx="7302500" cy="6450502"/>
            <a:chOff x="1943100" y="2934186"/>
            <a:chExt cx="7302500" cy="645050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16822C-1161-C64B-5143-FB1B67D9D1BA}"/>
                </a:ext>
              </a:extLst>
            </p:cNvPr>
            <p:cNvSpPr txBox="1"/>
            <p:nvPr/>
          </p:nvSpPr>
          <p:spPr>
            <a:xfrm>
              <a:off x="1946564" y="2934186"/>
              <a:ext cx="7299036" cy="20220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 panose="02000506050000020004" pitchFamily="2" charset="0"/>
                </a:defRPr>
              </a:lvl1pPr>
            </a:lstStyle>
            <a:p>
              <a:r>
                <a:rPr lang="ru-RU" sz="7200" dirty="0">
                  <a:latin typeface="T-Sans" pitchFamily="2" charset="0"/>
                  <a:ea typeface="T-Sans" pitchFamily="2" charset="0"/>
                </a:rPr>
                <a:t>Оригинальная статья из 2000-х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5D8327-AB0B-6ED6-BC38-664C67DF128C}"/>
                </a:ext>
              </a:extLst>
            </p:cNvPr>
            <p:cNvSpPr txBox="1"/>
            <p:nvPr/>
          </p:nvSpPr>
          <p:spPr>
            <a:xfrm>
              <a:off x="1943100" y="6531599"/>
              <a:ext cx="7302500" cy="28530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3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В статье Дядюшка Боб пишет не только о принципах </a:t>
              </a:r>
              <a:r>
                <a:rPr lang="en-US" b="1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SOLID</a:t>
              </a:r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, но и рассуждает о причинах, </a:t>
              </a:r>
              <a:r>
                <a:rPr lang="ru-RU" b="1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почему ПО деградирует и становится сложным в разработке и поддержке</a:t>
              </a:r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, а так же описывает, как, по его мнению, стоит управлять более </a:t>
              </a:r>
              <a:r>
                <a:rPr lang="ru-RU" dirty="0" err="1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верхнеуровневыми</a:t>
              </a:r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 абстракциями, такими как </a:t>
              </a:r>
              <a:r>
                <a:rPr lang="ru-RU" b="1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пакеты и зависимости</a:t>
              </a:r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. </a:t>
              </a:r>
            </a:p>
          </p:txBody>
        </p:sp>
      </p:grp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82FE40B-D930-B8C8-967E-4D55B74CFBE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13</a:t>
            </a:fld>
            <a:endParaRPr lang="ru-RU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149A728-9D26-A17F-095D-2883558488D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" r="37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9279743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14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834621" y="2090474"/>
            <a:ext cx="16504848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8000" dirty="0" err="1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GoF</a:t>
            </a:r>
            <a:endParaRPr lang="ru-RU" sz="800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834621" y="3405166"/>
            <a:ext cx="16504847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Шаблоны на все случаи жизни?</a:t>
            </a:r>
          </a:p>
        </p:txBody>
      </p:sp>
    </p:spTree>
    <p:extLst>
      <p:ext uri="{BB962C8B-B14F-4D97-AF65-F5344CB8AC3E}">
        <p14:creationId xmlns:p14="http://schemas.microsoft.com/office/powerpoint/2010/main" val="180711617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F251D3-19F3-F160-6D06-334796F6236F}"/>
              </a:ext>
            </a:extLst>
          </p:cNvPr>
          <p:cNvSpPr txBox="1"/>
          <p:nvPr/>
        </p:nvSpPr>
        <p:spPr>
          <a:xfrm>
            <a:off x="611188" y="556966"/>
            <a:ext cx="5497004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Что это такое?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86EDFB-1B06-9996-436F-0569D00F521A}"/>
              </a:ext>
            </a:extLst>
          </p:cNvPr>
          <p:cNvSpPr txBox="1"/>
          <p:nvPr/>
        </p:nvSpPr>
        <p:spPr>
          <a:xfrm>
            <a:off x="611187" y="1834343"/>
            <a:ext cx="5682939" cy="38133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Паттерны </a:t>
            </a:r>
            <a:r>
              <a:rPr lang="en-US" b="1" dirty="0" err="1">
                <a:latin typeface="T-Sans" pitchFamily="2" charset="0"/>
                <a:ea typeface="T-Sans" pitchFamily="2" charset="0"/>
              </a:rPr>
              <a:t>GoF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 </a:t>
            </a:r>
            <a:r>
              <a:rPr lang="en-US" dirty="0">
                <a:latin typeface="T-Sans" pitchFamily="2" charset="0"/>
                <a:ea typeface="T-Sans" pitchFamily="2" charset="0"/>
              </a:rPr>
              <a:t>(Gang Of Four) – </a:t>
            </a:r>
            <a:r>
              <a:rPr lang="ru-RU" dirty="0">
                <a:latin typeface="T-Sans" pitchFamily="2" charset="0"/>
                <a:ea typeface="T-Sans" pitchFamily="2" charset="0"/>
              </a:rPr>
              <a:t>это набор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готовых</a:t>
            </a:r>
            <a:r>
              <a:rPr lang="ru-RU" dirty="0">
                <a:latin typeface="T-Sans" pitchFamily="2" charset="0"/>
                <a:ea typeface="T-Sans" pitchFamily="2" charset="0"/>
              </a:rPr>
              <a:t> архитектурных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решений</a:t>
            </a:r>
            <a:r>
              <a:rPr lang="ru-RU" dirty="0">
                <a:latin typeface="T-Sans" pitchFamily="2" charset="0"/>
                <a:ea typeface="T-Sans" pitchFamily="2" charset="0"/>
              </a:rPr>
              <a:t> для абстрактных типовых задач. </a:t>
            </a:r>
          </a:p>
          <a:p>
            <a:endParaRPr lang="ru-RU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Каждый</a:t>
            </a:r>
            <a:r>
              <a:rPr lang="ru-RU" dirty="0">
                <a:latin typeface="T-Sans" pitchFamily="2" charset="0"/>
                <a:ea typeface="T-Sans" pitchFamily="2" charset="0"/>
              </a:rPr>
              <a:t>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паттерн</a:t>
            </a:r>
            <a:r>
              <a:rPr lang="ru-RU" dirty="0">
                <a:latin typeface="T-Sans" pitchFamily="2" charset="0"/>
                <a:ea typeface="T-Sans" pitchFamily="2" charset="0"/>
              </a:rPr>
              <a:t> – это не рецепт решения конкретной задачи, а шаблон, который задаёт структуру и роли, улучшает понимание и ускоряет разработку.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B13FB85-896E-2444-CF89-EFDA5C89D5D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15</a:t>
            </a:fld>
            <a:endParaRPr lang="ru-RU" dirty="0"/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85E20B74-1B17-60E0-D802-6E56BD1B5166}"/>
              </a:ext>
            </a:extLst>
          </p:cNvPr>
          <p:cNvSpPr/>
          <p:nvPr/>
        </p:nvSpPr>
        <p:spPr>
          <a:xfrm>
            <a:off x="7372857" y="2286884"/>
            <a:ext cx="8194433" cy="7102247"/>
          </a:xfrm>
          <a:custGeom>
            <a:avLst/>
            <a:gdLst>
              <a:gd name="connsiteX0" fmla="*/ 3352364 w 8194433"/>
              <a:gd name="connsiteY0" fmla="*/ 256787 h 7102247"/>
              <a:gd name="connsiteX1" fmla="*/ 4242286 w 8194433"/>
              <a:gd name="connsiteY1" fmla="*/ 256787 h 7102247"/>
              <a:gd name="connsiteX2" fmla="*/ 8194434 w 8194433"/>
              <a:gd name="connsiteY2" fmla="*/ 7102248 h 7102247"/>
              <a:gd name="connsiteX3" fmla="*/ 823112 w 8194433"/>
              <a:gd name="connsiteY3" fmla="*/ 7102248 h 7102247"/>
              <a:gd name="connsiteX4" fmla="*/ 111174 w 8194433"/>
              <a:gd name="connsiteY4" fmla="*/ 5870798 h 7102247"/>
              <a:gd name="connsiteX5" fmla="*/ 3352364 w 8194433"/>
              <a:gd name="connsiteY5" fmla="*/ 256787 h 7102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94433" h="7102247">
                <a:moveTo>
                  <a:pt x="3352364" y="256787"/>
                </a:moveTo>
                <a:cubicBezTo>
                  <a:pt x="3550028" y="-85596"/>
                  <a:pt x="4044621" y="-85596"/>
                  <a:pt x="4242286" y="256787"/>
                </a:cubicBezTo>
                <a:lnTo>
                  <a:pt x="8194434" y="7102248"/>
                </a:lnTo>
                <a:lnTo>
                  <a:pt x="823112" y="7102248"/>
                </a:lnTo>
                <a:cubicBezTo>
                  <a:pt x="190569" y="7102248"/>
                  <a:pt x="-204881" y="6418239"/>
                  <a:pt x="111174" y="5870798"/>
                </a:cubicBezTo>
                <a:lnTo>
                  <a:pt x="3352364" y="256787"/>
                </a:lnTo>
                <a:close/>
              </a:path>
            </a:pathLst>
          </a:custGeom>
          <a:solidFill>
            <a:srgbClr val="F5F5F6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AEA1082-F788-1816-878F-1DFB099E1E8B}"/>
              </a:ext>
            </a:extLst>
          </p:cNvPr>
          <p:cNvSpPr/>
          <p:nvPr/>
        </p:nvSpPr>
        <p:spPr>
          <a:xfrm>
            <a:off x="8451542" y="2286928"/>
            <a:ext cx="6037018" cy="5234084"/>
          </a:xfrm>
          <a:custGeom>
            <a:avLst/>
            <a:gdLst>
              <a:gd name="connsiteX0" fmla="*/ 2273668 w 6037018"/>
              <a:gd name="connsiteY0" fmla="*/ 256798 h 5234084"/>
              <a:gd name="connsiteX1" fmla="*/ 3163610 w 6037018"/>
              <a:gd name="connsiteY1" fmla="*/ 256799 h 5234084"/>
              <a:gd name="connsiteX2" fmla="*/ 6037018 w 6037018"/>
              <a:gd name="connsiteY2" fmla="*/ 5234085 h 5234084"/>
              <a:gd name="connsiteX3" fmla="*/ 823115 w 6037018"/>
              <a:gd name="connsiteY3" fmla="*/ 5234085 h 5234084"/>
              <a:gd name="connsiteX4" fmla="*/ 111164 w 6037018"/>
              <a:gd name="connsiteY4" fmla="*/ 4002656 h 5234084"/>
              <a:gd name="connsiteX5" fmla="*/ 2273668 w 6037018"/>
              <a:gd name="connsiteY5" fmla="*/ 256798 h 523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7018" h="5234084">
                <a:moveTo>
                  <a:pt x="2273668" y="256798"/>
                </a:moveTo>
                <a:cubicBezTo>
                  <a:pt x="2471343" y="-85600"/>
                  <a:pt x="2965946" y="-85599"/>
                  <a:pt x="3163610" y="256799"/>
                </a:cubicBezTo>
                <a:lnTo>
                  <a:pt x="6037018" y="5234085"/>
                </a:lnTo>
                <a:lnTo>
                  <a:pt x="823115" y="5234085"/>
                </a:lnTo>
                <a:cubicBezTo>
                  <a:pt x="190579" y="5234085"/>
                  <a:pt x="-204873" y="4550097"/>
                  <a:pt x="111164" y="4002656"/>
                </a:cubicBezTo>
                <a:lnTo>
                  <a:pt x="2273668" y="256798"/>
                </a:lnTo>
                <a:close/>
              </a:path>
            </a:pathLst>
          </a:custGeom>
          <a:gradFill>
            <a:gsLst>
              <a:gs pos="0">
                <a:srgbClr val="E2E6EA"/>
              </a:gs>
              <a:gs pos="79500">
                <a:srgbClr val="EEF0F3"/>
              </a:gs>
            </a:gsLst>
            <a:lin ang="19284413" scaled="1"/>
          </a:gradFill>
          <a:ln w="9508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4B1145C8-369F-AF35-A722-1F5E430709C1}"/>
              </a:ext>
            </a:extLst>
          </p:cNvPr>
          <p:cNvSpPr/>
          <p:nvPr/>
        </p:nvSpPr>
        <p:spPr>
          <a:xfrm>
            <a:off x="9606544" y="1975939"/>
            <a:ext cx="3700549" cy="3502460"/>
          </a:xfrm>
          <a:custGeom>
            <a:avLst/>
            <a:gdLst>
              <a:gd name="connsiteX0" fmla="*/ 1389592 w 3700549"/>
              <a:gd name="connsiteY0" fmla="*/ 101149 h 3502460"/>
              <a:gd name="connsiteX1" fmla="*/ 1744802 w 3700549"/>
              <a:gd name="connsiteY1" fmla="*/ 102986 h 3502460"/>
              <a:gd name="connsiteX2" fmla="*/ 3700550 w 3700549"/>
              <a:gd name="connsiteY2" fmla="*/ 3502461 h 3502460"/>
              <a:gd name="connsiteX3" fmla="*/ 823135 w 3700549"/>
              <a:gd name="connsiteY3" fmla="*/ 3502461 h 3502460"/>
              <a:gd name="connsiteX4" fmla="*/ 114851 w 3700549"/>
              <a:gd name="connsiteY4" fmla="*/ 2264750 h 3502460"/>
              <a:gd name="connsiteX5" fmla="*/ 1389592 w 3700549"/>
              <a:gd name="connsiteY5" fmla="*/ 101149 h 3502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0549" h="3502460">
                <a:moveTo>
                  <a:pt x="1389592" y="101149"/>
                </a:moveTo>
                <a:cubicBezTo>
                  <a:pt x="1469520" y="-34527"/>
                  <a:pt x="1666270" y="-33510"/>
                  <a:pt x="1744802" y="102986"/>
                </a:cubicBezTo>
                <a:lnTo>
                  <a:pt x="3700550" y="3502461"/>
                </a:lnTo>
                <a:lnTo>
                  <a:pt x="823135" y="3502461"/>
                </a:lnTo>
                <a:cubicBezTo>
                  <a:pt x="187362" y="3502461"/>
                  <a:pt x="-207668" y="2812160"/>
                  <a:pt x="114851" y="2264750"/>
                </a:cubicBezTo>
                <a:lnTo>
                  <a:pt x="1389592" y="10114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3B850D-795A-F3FD-81B8-2250AFF0BF84}"/>
              </a:ext>
            </a:extLst>
          </p:cNvPr>
          <p:cNvSpPr txBox="1"/>
          <p:nvPr/>
        </p:nvSpPr>
        <p:spPr>
          <a:xfrm>
            <a:off x="10313457" y="3883430"/>
            <a:ext cx="1784918" cy="9759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4200"/>
              </a:lnSpc>
              <a:defRPr sz="36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algn="ctr">
              <a:lnSpc>
                <a:spcPts val="3800"/>
              </a:lnSpc>
            </a:pPr>
            <a:r>
              <a:rPr lang="ru-RU" sz="3200" dirty="0">
                <a:latin typeface="T-Sans Medium" pitchFamily="2" charset="0"/>
                <a:ea typeface="T-Sans" pitchFamily="2" charset="0"/>
              </a:rPr>
              <a:t>Порождающие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A57431-739A-B96E-B66C-B2236E3DFBFC}"/>
              </a:ext>
            </a:extLst>
          </p:cNvPr>
          <p:cNvSpPr txBox="1"/>
          <p:nvPr/>
        </p:nvSpPr>
        <p:spPr>
          <a:xfrm>
            <a:off x="9944007" y="6113852"/>
            <a:ext cx="2570202" cy="4885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4200"/>
              </a:lnSpc>
              <a:defRPr sz="36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algn="ctr">
              <a:lnSpc>
                <a:spcPts val="3800"/>
              </a:lnSpc>
            </a:pPr>
            <a:r>
              <a:rPr lang="ru-RU" sz="3200" dirty="0">
                <a:solidFill>
                  <a:schemeClr val="bg1"/>
                </a:solidFill>
                <a:latin typeface="T-Sans Medium" pitchFamily="2" charset="0"/>
                <a:ea typeface="T-Sans" pitchFamily="2" charset="0"/>
              </a:rPr>
              <a:t>Структурные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D36A8E-123F-2808-085F-BB0F69C7CC9E}"/>
              </a:ext>
            </a:extLst>
          </p:cNvPr>
          <p:cNvSpPr txBox="1"/>
          <p:nvPr/>
        </p:nvSpPr>
        <p:spPr>
          <a:xfrm>
            <a:off x="9747936" y="8210774"/>
            <a:ext cx="2915959" cy="4885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4200"/>
              </a:lnSpc>
              <a:defRPr sz="36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algn="ctr">
              <a:lnSpc>
                <a:spcPts val="3800"/>
              </a:lnSpc>
            </a:pPr>
            <a:r>
              <a:rPr lang="ru-RU" sz="3200" dirty="0">
                <a:latin typeface="T-Sans Medium" pitchFamily="2" charset="0"/>
                <a:ea typeface="T-Sans" pitchFamily="2" charset="0"/>
              </a:rPr>
              <a:t>Поведенческие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56670E96-8409-5CBD-6825-1DE3D01AD969}"/>
              </a:ext>
            </a:extLst>
          </p:cNvPr>
          <p:cNvSpPr/>
          <p:nvPr/>
        </p:nvSpPr>
        <p:spPr>
          <a:xfrm>
            <a:off x="11854023" y="3345451"/>
            <a:ext cx="1102133" cy="1102133"/>
          </a:xfrm>
          <a:prstGeom prst="ellipse">
            <a:avLst/>
          </a:prstGeom>
          <a:solidFill>
            <a:schemeClr val="accent1"/>
          </a:solidFill>
          <a:ln w="50800" cap="flat">
            <a:solidFill>
              <a:schemeClr val="accent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40EC3-68F0-B210-69D7-C897BF7C04B8}"/>
              </a:ext>
            </a:extLst>
          </p:cNvPr>
          <p:cNvSpPr txBox="1"/>
          <p:nvPr/>
        </p:nvSpPr>
        <p:spPr>
          <a:xfrm>
            <a:off x="13456394" y="3485610"/>
            <a:ext cx="4552597" cy="3308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10000"/>
              </a:lnSpc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Как создавать объекты?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42C829-0655-DEEA-02CD-9240E550E81C}"/>
              </a:ext>
            </a:extLst>
          </p:cNvPr>
          <p:cNvSpPr txBox="1"/>
          <p:nvPr/>
        </p:nvSpPr>
        <p:spPr>
          <a:xfrm>
            <a:off x="14794410" y="5832384"/>
            <a:ext cx="3437029" cy="100796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10000"/>
              </a:lnSpc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Как построить наглядную и удобную в поддержке иерархию классов?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27C43ED-894D-DCCD-36A1-306ACA8DF8CB}"/>
              </a:ext>
            </a:extLst>
          </p:cNvPr>
          <p:cNvSpPr txBox="1"/>
          <p:nvPr/>
        </p:nvSpPr>
        <p:spPr>
          <a:xfrm>
            <a:off x="15990339" y="7659182"/>
            <a:ext cx="2901624" cy="13465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10000"/>
              </a:lnSpc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Как эффективно и безопасно организовать взаимодействие между классами?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A3D8BA4E-8AE3-18D5-1F4C-CFC8287D886A}"/>
              </a:ext>
            </a:extLst>
          </p:cNvPr>
          <p:cNvSpPr/>
          <p:nvPr/>
        </p:nvSpPr>
        <p:spPr>
          <a:xfrm>
            <a:off x="13260070" y="5832631"/>
            <a:ext cx="1102133" cy="1102133"/>
          </a:xfrm>
          <a:prstGeom prst="ellipse">
            <a:avLst/>
          </a:prstGeom>
          <a:solidFill>
            <a:srgbClr val="EAEEF1"/>
          </a:solidFill>
          <a:ln w="50800" cap="flat">
            <a:solidFill>
              <a:schemeClr val="accent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800" b="1" i="0" u="none" strike="noStrike" cap="none" spc="0" normalizeH="0" baseline="0" dirty="0">
              <a:ln>
                <a:noFill/>
              </a:ln>
              <a:solidFill>
                <a:schemeClr val="accent2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4C6FFC5-C073-09D9-E117-B7E25429B3E2}"/>
              </a:ext>
            </a:extLst>
          </p:cNvPr>
          <p:cNvSpPr/>
          <p:nvPr/>
        </p:nvSpPr>
        <p:spPr>
          <a:xfrm>
            <a:off x="14402419" y="7793425"/>
            <a:ext cx="1102133" cy="1102133"/>
          </a:xfrm>
          <a:prstGeom prst="ellipse">
            <a:avLst/>
          </a:prstGeom>
          <a:solidFill>
            <a:srgbClr val="F3F3F5"/>
          </a:solidFill>
          <a:ln w="50800" cap="flat">
            <a:solidFill>
              <a:schemeClr val="accent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800" b="1" i="0" u="none" strike="noStrike" cap="none" spc="0" normalizeH="0" baseline="0" dirty="0">
              <a:ln>
                <a:noFill/>
              </a:ln>
              <a:solidFill>
                <a:schemeClr val="accent2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11266" name="Picture 2" descr="Gang of Four Design Patterns - Spring Framework Guru">
            <a:extLst>
              <a:ext uri="{FF2B5EF4-FFF2-40B4-BE49-F238E27FC236}">
                <a16:creationId xmlns:a16="http://schemas.microsoft.com/office/drawing/2014/main" id="{C9BDA849-BCBE-FDF7-3844-1DCF4104A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487" y="6077313"/>
            <a:ext cx="3424072" cy="4266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239">
            <a:extLst>
              <a:ext uri="{FF2B5EF4-FFF2-40B4-BE49-F238E27FC236}">
                <a16:creationId xmlns:a16="http://schemas.microsoft.com/office/drawing/2014/main" id="{576641CF-D712-6AAF-0313-66FF728664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36077" y="7984491"/>
            <a:ext cx="720000" cy="720000"/>
          </a:xfrm>
          <a:prstGeom prst="rect">
            <a:avLst/>
          </a:prstGeom>
        </p:spPr>
      </p:pic>
      <p:pic>
        <p:nvPicPr>
          <p:cNvPr id="10" name="Рисунок 132">
            <a:extLst>
              <a:ext uri="{FF2B5EF4-FFF2-40B4-BE49-F238E27FC236}">
                <a16:creationId xmlns:a16="http://schemas.microsoft.com/office/drawing/2014/main" id="{D52EF773-FB47-3AEE-A696-75F0C012AE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75059" y="5998149"/>
            <a:ext cx="720000" cy="720000"/>
          </a:xfrm>
          <a:prstGeom prst="rect">
            <a:avLst/>
          </a:prstGeom>
        </p:spPr>
      </p:pic>
      <p:pic>
        <p:nvPicPr>
          <p:cNvPr id="11" name="Рисунок 197">
            <a:extLst>
              <a:ext uri="{FF2B5EF4-FFF2-40B4-BE49-F238E27FC236}">
                <a16:creationId xmlns:a16="http://schemas.microsoft.com/office/drawing/2014/main" id="{79F9EEE2-5B5C-D432-E3FC-D3E6E2F9A6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51625" y="3539003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947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16</a:t>
            </a:fld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2" y="4545332"/>
            <a:ext cx="4521708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Не лучшее решение, написанное за пару минут на коленке. Еще хуже, когда на поиск решения уходят часы.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6587280" cy="2516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Для чего нужны шаблоны проектирования?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DDA79CC-A5DA-B1AB-E539-67A487E01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6635" y="1440637"/>
            <a:ext cx="8569069" cy="8753746"/>
          </a:xfrm>
          <a:prstGeom prst="rect">
            <a:avLst/>
          </a:prstGeom>
        </p:spPr>
      </p:pic>
      <p:pic>
        <p:nvPicPr>
          <p:cNvPr id="7" name="Рисунок 163">
            <a:extLst>
              <a:ext uri="{FF2B5EF4-FFF2-40B4-BE49-F238E27FC236}">
                <a16:creationId xmlns:a16="http://schemas.microsoft.com/office/drawing/2014/main" id="{4DE06A94-08A4-7F2C-D254-AB9B5329F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188" y="4550547"/>
            <a:ext cx="720000" cy="72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D558BC-A770-080A-90CF-0165E3416AD3}"/>
              </a:ext>
            </a:extLst>
          </p:cNvPr>
          <p:cNvSpPr txBox="1"/>
          <p:nvPr/>
        </p:nvSpPr>
        <p:spPr>
          <a:xfrm>
            <a:off x="1484382" y="5889578"/>
            <a:ext cx="4521708" cy="795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Сложно объяснить коллегам на словах, как работает ваш код. </a:t>
            </a:r>
          </a:p>
        </p:txBody>
      </p:sp>
      <p:pic>
        <p:nvPicPr>
          <p:cNvPr id="9" name="Рисунок 163">
            <a:extLst>
              <a:ext uri="{FF2B5EF4-FFF2-40B4-BE49-F238E27FC236}">
                <a16:creationId xmlns:a16="http://schemas.microsoft.com/office/drawing/2014/main" id="{EBDBDB92-90B8-04EE-5BA0-C5E0BC330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188" y="5894793"/>
            <a:ext cx="720000" cy="72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8338FD-B28D-970C-526D-ECD655EB2F33}"/>
              </a:ext>
            </a:extLst>
          </p:cNvPr>
          <p:cNvSpPr txBox="1"/>
          <p:nvPr/>
        </p:nvSpPr>
        <p:spPr>
          <a:xfrm>
            <a:off x="1484382" y="6919093"/>
            <a:ext cx="4521708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Решение не без изъянов. Какие нарушения </a:t>
            </a:r>
            <a:r>
              <a:rPr lang="en-US" dirty="0">
                <a:latin typeface="T-Sans" pitchFamily="2" charset="0"/>
                <a:ea typeface="T-Sans" pitchFamily="2" charset="0"/>
              </a:rPr>
              <a:t>SOLID </a:t>
            </a:r>
            <a:r>
              <a:rPr lang="ru-RU" dirty="0">
                <a:latin typeface="T-Sans" pitchFamily="2" charset="0"/>
                <a:ea typeface="T-Sans" pitchFamily="2" charset="0"/>
              </a:rPr>
              <a:t>вы видите в этом коде?</a:t>
            </a:r>
          </a:p>
        </p:txBody>
      </p:sp>
      <p:pic>
        <p:nvPicPr>
          <p:cNvPr id="14" name="Рисунок 163">
            <a:extLst>
              <a:ext uri="{FF2B5EF4-FFF2-40B4-BE49-F238E27FC236}">
                <a16:creationId xmlns:a16="http://schemas.microsoft.com/office/drawing/2014/main" id="{422885CE-EAD1-8FF2-6BA8-A6D2FC3CF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188" y="6924308"/>
            <a:ext cx="720000" cy="720000"/>
          </a:xfrm>
          <a:prstGeom prst="rect">
            <a:avLst/>
          </a:prstGeom>
        </p:spPr>
      </p:pic>
      <p:pic>
        <p:nvPicPr>
          <p:cNvPr id="5122" name="Picture 2" descr="Swole Doge vs. Cheems Meme Generator | MagicMeme">
            <a:extLst>
              <a:ext uri="{FF2B5EF4-FFF2-40B4-BE49-F238E27FC236}">
                <a16:creationId xmlns:a16="http://schemas.microsoft.com/office/drawing/2014/main" id="{D3D6E3B3-D539-7FC3-98F7-EA77FC1791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57" t="47163" r="8399" b="15853"/>
          <a:stretch/>
        </p:blipFill>
        <p:spPr bwMode="auto">
          <a:xfrm>
            <a:off x="17629704" y="9196068"/>
            <a:ext cx="981414" cy="1193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08390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17</a:t>
            </a:fld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2" y="4545332"/>
            <a:ext cx="4521708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Эталонное, проверенное временем, отточенное поколениями разработчиков решение.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6587280" cy="2516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Для чего нужны шаблоны проектирования?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C8338FD-B28D-970C-526D-ECD655EB2F33}"/>
              </a:ext>
            </a:extLst>
          </p:cNvPr>
          <p:cNvSpPr txBox="1"/>
          <p:nvPr/>
        </p:nvSpPr>
        <p:spPr>
          <a:xfrm>
            <a:off x="1484382" y="5888586"/>
            <a:ext cx="4521708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Не нужно изобретать велосипед для стандартных задач</a:t>
            </a:r>
            <a:r>
              <a:rPr lang="en-US" dirty="0">
                <a:latin typeface="T-Sans" pitchFamily="2" charset="0"/>
                <a:ea typeface="T-Sans" pitchFamily="2" charset="0"/>
              </a:rPr>
              <a:t>. </a:t>
            </a:r>
            <a:r>
              <a:rPr lang="ru-RU" dirty="0">
                <a:latin typeface="T-Sans" pitchFamily="2" charset="0"/>
                <a:ea typeface="T-Sans" pitchFamily="2" charset="0"/>
              </a:rPr>
              <a:t>Тем самым мы экономим и время, и силы.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6646C2A-7BEF-F9FB-0961-6FE93717B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1480" y="1427501"/>
            <a:ext cx="8239380" cy="8924153"/>
          </a:xfrm>
          <a:prstGeom prst="rect">
            <a:avLst/>
          </a:prstGeom>
        </p:spPr>
      </p:pic>
      <p:pic>
        <p:nvPicPr>
          <p:cNvPr id="16" name="Рисунок 166">
            <a:extLst>
              <a:ext uri="{FF2B5EF4-FFF2-40B4-BE49-F238E27FC236}">
                <a16:creationId xmlns:a16="http://schemas.microsoft.com/office/drawing/2014/main" id="{29D15E51-3530-E1C9-D164-D801E77C7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130" y="4545331"/>
            <a:ext cx="720000" cy="720000"/>
          </a:xfrm>
          <a:prstGeom prst="rect">
            <a:avLst/>
          </a:prstGeom>
        </p:spPr>
      </p:pic>
      <p:pic>
        <p:nvPicPr>
          <p:cNvPr id="4102" name="Picture 6" descr="Swole Doge vs. Cheems Meme Generator | MagicMeme">
            <a:extLst>
              <a:ext uri="{FF2B5EF4-FFF2-40B4-BE49-F238E27FC236}">
                <a16:creationId xmlns:a16="http://schemas.microsoft.com/office/drawing/2014/main" id="{4072EB68-EC75-E356-AE28-B2679EF6E3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" t="6935" r="44800" b="10999"/>
          <a:stretch/>
        </p:blipFill>
        <p:spPr bwMode="auto">
          <a:xfrm>
            <a:off x="16974766" y="8559634"/>
            <a:ext cx="1586356" cy="179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AC9C8C-B152-E027-A2E5-60CDBC527F03}"/>
              </a:ext>
            </a:extLst>
          </p:cNvPr>
          <p:cNvSpPr txBox="1"/>
          <p:nvPr/>
        </p:nvSpPr>
        <p:spPr>
          <a:xfrm>
            <a:off x="1538799" y="7231840"/>
            <a:ext cx="4521708" cy="22729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На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ревью</a:t>
            </a:r>
            <a:r>
              <a:rPr lang="en-US" dirty="0">
                <a:latin typeface="T-Sans" pitchFamily="2" charset="0"/>
                <a:ea typeface="T-Sans" pitchFamily="2" charset="0"/>
              </a:rPr>
              <a:t>:</a:t>
            </a:r>
          </a:p>
          <a:p>
            <a:r>
              <a:rPr lang="ru-RU" sz="2000" dirty="0">
                <a:latin typeface="T-Sans" pitchFamily="2" charset="0"/>
                <a:ea typeface="T-Sans" pitchFamily="2" charset="0"/>
              </a:rPr>
              <a:t>- </a:t>
            </a:r>
            <a:r>
              <a:rPr lang="en-US" sz="2000" dirty="0">
                <a:latin typeface="T-Sans" pitchFamily="2" charset="0"/>
                <a:ea typeface="T-Sans" pitchFamily="2" charset="0"/>
              </a:rPr>
              <a:t>”</a:t>
            </a:r>
            <a:r>
              <a:rPr lang="ru-RU" sz="2000" dirty="0">
                <a:latin typeface="T-Sans" pitchFamily="2" charset="0"/>
                <a:ea typeface="T-Sans" pitchFamily="2" charset="0"/>
              </a:rPr>
              <a:t>Как работает твой код?</a:t>
            </a:r>
            <a:r>
              <a:rPr lang="en-US" sz="2000" dirty="0">
                <a:latin typeface="T-Sans" pitchFamily="2" charset="0"/>
                <a:ea typeface="T-Sans" pitchFamily="2" charset="0"/>
              </a:rPr>
              <a:t>”</a:t>
            </a:r>
            <a:r>
              <a:rPr lang="ru-RU" sz="2000" dirty="0">
                <a:latin typeface="T-Sans" pitchFamily="2" charset="0"/>
                <a:ea typeface="T-Sans" pitchFamily="2" charset="0"/>
              </a:rPr>
              <a:t> </a:t>
            </a:r>
          </a:p>
          <a:p>
            <a:r>
              <a:rPr lang="ru-RU" sz="2000" dirty="0">
                <a:latin typeface="T-Sans" pitchFamily="2" charset="0"/>
                <a:ea typeface="T-Sans" pitchFamily="2" charset="0"/>
              </a:rPr>
              <a:t>- </a:t>
            </a:r>
            <a:r>
              <a:rPr lang="en-US" sz="2000" dirty="0">
                <a:latin typeface="T-Sans" pitchFamily="2" charset="0"/>
                <a:ea typeface="T-Sans" pitchFamily="2" charset="0"/>
              </a:rPr>
              <a:t>“</a:t>
            </a:r>
            <a:r>
              <a:rPr lang="ru-RU" sz="2000" dirty="0">
                <a:latin typeface="T-Sans" pitchFamily="2" charset="0"/>
                <a:ea typeface="T-Sans" pitchFamily="2" charset="0"/>
              </a:rPr>
              <a:t>Да у меня все просто – с помощью паттерна </a:t>
            </a:r>
            <a:r>
              <a:rPr lang="en-US" sz="2000" dirty="0">
                <a:latin typeface="T-Sans" pitchFamily="2" charset="0"/>
                <a:ea typeface="T-Sans" pitchFamily="2" charset="0"/>
              </a:rPr>
              <a:t>Command </a:t>
            </a:r>
            <a:r>
              <a:rPr lang="ru-RU" sz="2000" dirty="0">
                <a:latin typeface="T-Sans" pitchFamily="2" charset="0"/>
                <a:ea typeface="T-Sans" pitchFamily="2" charset="0"/>
              </a:rPr>
              <a:t>реализовано</a:t>
            </a:r>
            <a:r>
              <a:rPr lang="en-US" sz="2000" dirty="0">
                <a:latin typeface="T-Sans" pitchFamily="2" charset="0"/>
                <a:ea typeface="T-Sans" pitchFamily="2" charset="0"/>
              </a:rPr>
              <a:t>…”</a:t>
            </a:r>
          </a:p>
          <a:p>
            <a:r>
              <a:rPr lang="en-US" sz="2000" dirty="0">
                <a:latin typeface="T-Sans" pitchFamily="2" charset="0"/>
                <a:ea typeface="T-Sans" pitchFamily="2" charset="0"/>
              </a:rPr>
              <a:t>- ”</a:t>
            </a:r>
            <a:r>
              <a:rPr lang="ru-RU" sz="2000" dirty="0">
                <a:latin typeface="T-Sans" pitchFamily="2" charset="0"/>
                <a:ea typeface="T-Sans" pitchFamily="2" charset="0"/>
              </a:rPr>
              <a:t>А, понятно!</a:t>
            </a:r>
            <a:r>
              <a:rPr lang="en-US" sz="2000" dirty="0">
                <a:latin typeface="T-Sans" pitchFamily="2" charset="0"/>
                <a:ea typeface="T-Sans" pitchFamily="2" charset="0"/>
              </a:rPr>
              <a:t>”</a:t>
            </a:r>
            <a:endParaRPr lang="ru-RU" sz="2000" dirty="0">
              <a:latin typeface="T-Sans" pitchFamily="2" charset="0"/>
              <a:ea typeface="T-Sans" pitchFamily="2" charset="0"/>
            </a:endParaRPr>
          </a:p>
          <a:p>
            <a:r>
              <a:rPr lang="en-US" b="1" dirty="0">
                <a:latin typeface="T-Sans" pitchFamily="2" charset="0"/>
                <a:ea typeface="T-Sans" pitchFamily="2" charset="0"/>
              </a:rPr>
              <a:t>Code review passed, respect+.</a:t>
            </a:r>
            <a:endParaRPr lang="ru-RU" b="1" dirty="0">
              <a:latin typeface="T-Sans" pitchFamily="2" charset="0"/>
              <a:ea typeface="T-Sans" pitchFamily="2" charset="0"/>
            </a:endParaRPr>
          </a:p>
        </p:txBody>
      </p:sp>
      <p:pic>
        <p:nvPicPr>
          <p:cNvPr id="19" name="Рисунок 166">
            <a:extLst>
              <a:ext uri="{FF2B5EF4-FFF2-40B4-BE49-F238E27FC236}">
                <a16:creationId xmlns:a16="http://schemas.microsoft.com/office/drawing/2014/main" id="{29B5AA7B-269B-FCB0-E5F0-B3DB9AA4A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547" y="7231840"/>
            <a:ext cx="720000" cy="720000"/>
          </a:xfrm>
          <a:prstGeom prst="rect">
            <a:avLst/>
          </a:prstGeom>
        </p:spPr>
      </p:pic>
      <p:pic>
        <p:nvPicPr>
          <p:cNvPr id="20" name="Рисунок 166">
            <a:extLst>
              <a:ext uri="{FF2B5EF4-FFF2-40B4-BE49-F238E27FC236}">
                <a16:creationId xmlns:a16="http://schemas.microsoft.com/office/drawing/2014/main" id="{C52F9714-0848-7D6F-AD5F-343A2EF14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130" y="5888586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6577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01F23E-7C8E-FD76-E3A3-8CE5D4ABA14D}"/>
              </a:ext>
            </a:extLst>
          </p:cNvPr>
          <p:cNvSpPr txBox="1"/>
          <p:nvPr/>
        </p:nvSpPr>
        <p:spPr>
          <a:xfrm>
            <a:off x="2348971" y="4456678"/>
            <a:ext cx="8644611" cy="2246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Какие паттерны знаете вы?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4232E5-EA00-F2E8-6C17-43DA0D86DB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18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8CFE7BB-7760-6667-B867-8C5C07566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0000">
            <a:off x="9539489" y="698702"/>
            <a:ext cx="9404604" cy="940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2532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13036B3-80E0-4378-42AA-E09684F42BE9}"/>
              </a:ext>
            </a:extLst>
          </p:cNvPr>
          <p:cNvGrpSpPr/>
          <p:nvPr/>
        </p:nvGrpSpPr>
        <p:grpSpPr>
          <a:xfrm>
            <a:off x="1943100" y="3075009"/>
            <a:ext cx="6155871" cy="4529976"/>
            <a:chOff x="1943100" y="2934186"/>
            <a:chExt cx="6155871" cy="45299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16822C-1161-C64B-5143-FB1B67D9D1BA}"/>
                </a:ext>
              </a:extLst>
            </p:cNvPr>
            <p:cNvSpPr txBox="1"/>
            <p:nvPr/>
          </p:nvSpPr>
          <p:spPr>
            <a:xfrm>
              <a:off x="1946564" y="2934186"/>
              <a:ext cx="6152407" cy="3019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 panose="02000506050000020004" pitchFamily="2" charset="0"/>
                </a:defRPr>
              </a:lvl1pPr>
            </a:lstStyle>
            <a:p>
              <a:r>
                <a:rPr lang="ru-RU" sz="7200" dirty="0">
                  <a:latin typeface="T-Sans" pitchFamily="2" charset="0"/>
                  <a:ea typeface="T-Sans" pitchFamily="2" charset="0"/>
                </a:rPr>
                <a:t>База знаний со всеми 23 шаблонами!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5D8327-AB0B-6ED6-BC38-664C67DF128C}"/>
                </a:ext>
              </a:extLst>
            </p:cNvPr>
            <p:cNvSpPr txBox="1"/>
            <p:nvPr/>
          </p:nvSpPr>
          <p:spPr>
            <a:xfrm>
              <a:off x="1943100" y="6531599"/>
              <a:ext cx="5217721" cy="932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3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Давайте попробуем использовать их в нашем проекте для решения ряда задач!</a:t>
              </a:r>
            </a:p>
          </p:txBody>
        </p:sp>
      </p:grp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82FE40B-D930-B8C8-967E-4D55B74CFBE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19</a:t>
            </a:fld>
            <a:endParaRPr lang="ru-RU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503DFCA2-F5C0-FECC-305D-B6B5C112DC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504" b="1504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33155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E8557AB1-A44B-A62D-CE03-F924610893E1}"/>
              </a:ext>
            </a:extLst>
          </p:cNvPr>
          <p:cNvSpPr/>
          <p:nvPr/>
        </p:nvSpPr>
        <p:spPr>
          <a:xfrm>
            <a:off x="6898416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1" name="Полилиния 50">
            <a:extLst>
              <a:ext uri="{FF2B5EF4-FFF2-40B4-BE49-F238E27FC236}">
                <a16:creationId xmlns:a16="http://schemas.microsoft.com/office/drawing/2014/main" id="{BB633411-7080-EA12-C0FC-B029DB899106}"/>
              </a:ext>
            </a:extLst>
          </p:cNvPr>
          <p:cNvSpPr/>
          <p:nvPr/>
        </p:nvSpPr>
        <p:spPr>
          <a:xfrm>
            <a:off x="13186325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2" name="Полилиния 51">
            <a:extLst>
              <a:ext uri="{FF2B5EF4-FFF2-40B4-BE49-F238E27FC236}">
                <a16:creationId xmlns:a16="http://schemas.microsoft.com/office/drawing/2014/main" id="{16F30D3A-F479-A731-AAFF-9E73DDBE86FA}"/>
              </a:ext>
            </a:extLst>
          </p:cNvPr>
          <p:cNvSpPr/>
          <p:nvPr/>
        </p:nvSpPr>
        <p:spPr>
          <a:xfrm>
            <a:off x="622121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3" name="Полилиния 52">
            <a:extLst>
              <a:ext uri="{FF2B5EF4-FFF2-40B4-BE49-F238E27FC236}">
                <a16:creationId xmlns:a16="http://schemas.microsoft.com/office/drawing/2014/main" id="{7C04E510-C23C-CA1D-320B-22FE4DBD2E09}"/>
              </a:ext>
            </a:extLst>
          </p:cNvPr>
          <p:cNvSpPr/>
          <p:nvPr/>
        </p:nvSpPr>
        <p:spPr>
          <a:xfrm>
            <a:off x="6898416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4" name="Полилиния 53">
            <a:extLst>
              <a:ext uri="{FF2B5EF4-FFF2-40B4-BE49-F238E27FC236}">
                <a16:creationId xmlns:a16="http://schemas.microsoft.com/office/drawing/2014/main" id="{859E29D1-94FF-3F52-A4D6-74EF7ED4B8C1}"/>
              </a:ext>
            </a:extLst>
          </p:cNvPr>
          <p:cNvSpPr/>
          <p:nvPr/>
        </p:nvSpPr>
        <p:spPr>
          <a:xfrm>
            <a:off x="13186325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1765C96E-8E4A-3C5C-5B68-264CAD476D46}"/>
              </a:ext>
            </a:extLst>
          </p:cNvPr>
          <p:cNvSpPr/>
          <p:nvPr/>
        </p:nvSpPr>
        <p:spPr>
          <a:xfrm>
            <a:off x="622121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A98B9172-6F1E-E555-014D-7C15E560C6D9}"/>
              </a:ext>
            </a:extLst>
          </p:cNvPr>
          <p:cNvSpPr/>
          <p:nvPr/>
        </p:nvSpPr>
        <p:spPr>
          <a:xfrm>
            <a:off x="11862077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A0B362B-CB57-A518-E4EB-7726C0EF2CD9}"/>
              </a:ext>
            </a:extLst>
          </p:cNvPr>
          <p:cNvSpPr/>
          <p:nvPr/>
        </p:nvSpPr>
        <p:spPr>
          <a:xfrm>
            <a:off x="5589816" y="440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644D69E-11CD-4736-F7D5-B88CA730F17B}"/>
              </a:ext>
            </a:extLst>
          </p:cNvPr>
          <p:cNvSpPr/>
          <p:nvPr/>
        </p:nvSpPr>
        <p:spPr>
          <a:xfrm>
            <a:off x="18154020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BC21E72B-AAD0-52C0-63DE-8CC93AC9CDAE}"/>
              </a:ext>
            </a:extLst>
          </p:cNvPr>
          <p:cNvSpPr/>
          <p:nvPr/>
        </p:nvSpPr>
        <p:spPr>
          <a:xfrm>
            <a:off x="11866111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4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FBF91FF1-F28B-017B-C8AD-9FC8973B295B}"/>
              </a:ext>
            </a:extLst>
          </p:cNvPr>
          <p:cNvSpPr/>
          <p:nvPr/>
        </p:nvSpPr>
        <p:spPr>
          <a:xfrm>
            <a:off x="5589816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5B745D41-4F8D-EE03-6E21-23AB5EC2B37B}"/>
              </a:ext>
            </a:extLst>
          </p:cNvPr>
          <p:cNvSpPr/>
          <p:nvPr/>
        </p:nvSpPr>
        <p:spPr>
          <a:xfrm>
            <a:off x="18154020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7B34E-1C8B-D35B-64CF-458FB807BCE1}"/>
              </a:ext>
            </a:extLst>
          </p:cNvPr>
          <p:cNvSpPr txBox="1"/>
          <p:nvPr/>
        </p:nvSpPr>
        <p:spPr>
          <a:xfrm>
            <a:off x="1140408" y="1142239"/>
            <a:ext cx="5047573" cy="20128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800" dirty="0">
                <a:latin typeface="T-Sans" pitchFamily="2" charset="0"/>
                <a:ea typeface="T-Sans" pitchFamily="2" charset="0"/>
              </a:rPr>
              <a:t>Какие паттерны мы реализуем сегодня?</a:t>
            </a:r>
            <a:endParaRPr lang="en-US" sz="4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4A4C991-1C43-14C1-2612-95EBCB75D9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20</a:t>
            </a:fld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2734" y="4607594"/>
            <a:ext cx="628939" cy="62893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670A4AC-0CF3-AEE6-BA66-97F14ACEDA8D}"/>
              </a:ext>
            </a:extLst>
          </p:cNvPr>
          <p:cNvSpPr txBox="1"/>
          <p:nvPr/>
        </p:nvSpPr>
        <p:spPr>
          <a:xfrm>
            <a:off x="1150938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62EC7B-E9D3-B31D-F8C6-4064555A970E}"/>
              </a:ext>
            </a:extLst>
          </p:cNvPr>
          <p:cNvSpPr txBox="1"/>
          <p:nvPr/>
        </p:nvSpPr>
        <p:spPr>
          <a:xfrm>
            <a:off x="7432451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10B84-B0EB-E207-3247-55F10C2DCA09}"/>
              </a:ext>
            </a:extLst>
          </p:cNvPr>
          <p:cNvSpPr txBox="1"/>
          <p:nvPr/>
        </p:nvSpPr>
        <p:spPr>
          <a:xfrm>
            <a:off x="13773150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4E5F2C-A821-A958-3857-67001BE46CE3}"/>
              </a:ext>
            </a:extLst>
          </p:cNvPr>
          <p:cNvSpPr txBox="1"/>
          <p:nvPr/>
        </p:nvSpPr>
        <p:spPr>
          <a:xfrm>
            <a:off x="7432451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4D9D18-89DB-7DD2-4510-8FA61229FFB1}"/>
              </a:ext>
            </a:extLst>
          </p:cNvPr>
          <p:cNvSpPr txBox="1"/>
          <p:nvPr/>
        </p:nvSpPr>
        <p:spPr>
          <a:xfrm>
            <a:off x="7432451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F23360-F188-CB15-1456-79619AAC14FA}"/>
              </a:ext>
            </a:extLst>
          </p:cNvPr>
          <p:cNvSpPr txBox="1"/>
          <p:nvPr/>
        </p:nvSpPr>
        <p:spPr>
          <a:xfrm>
            <a:off x="13773150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11FD6-6AFD-98C0-FDE9-F7529AD9C47E}"/>
              </a:ext>
            </a:extLst>
          </p:cNvPr>
          <p:cNvSpPr txBox="1"/>
          <p:nvPr/>
        </p:nvSpPr>
        <p:spPr>
          <a:xfrm>
            <a:off x="1140409" y="3267399"/>
            <a:ext cx="4648292" cy="1735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Выбор паттерна в первую очередь определяется решаемой задачей!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Паттерн – не самоцель, а средство 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ее достижения!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0C63F-23B9-135F-5236-2C7142E5D8C0}"/>
              </a:ext>
            </a:extLst>
          </p:cNvPr>
          <p:cNvSpPr txBox="1"/>
          <p:nvPr/>
        </p:nvSpPr>
        <p:spPr>
          <a:xfrm>
            <a:off x="13773150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B145F-E137-4EB4-B7FB-E50D9DD0CE6A}"/>
              </a:ext>
            </a:extLst>
          </p:cNvPr>
          <p:cNvSpPr txBox="1"/>
          <p:nvPr/>
        </p:nvSpPr>
        <p:spPr>
          <a:xfrm>
            <a:off x="1140408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8AB11-CB11-9370-B4E1-E843D18BD208}"/>
              </a:ext>
            </a:extLst>
          </p:cNvPr>
          <p:cNvSpPr txBox="1"/>
          <p:nvPr/>
        </p:nvSpPr>
        <p:spPr>
          <a:xfrm>
            <a:off x="7432451" y="6993336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1E814-F63D-3632-48BD-7BC03C2FBD0C}"/>
              </a:ext>
            </a:extLst>
          </p:cNvPr>
          <p:cNvSpPr txBox="1"/>
          <p:nvPr/>
        </p:nvSpPr>
        <p:spPr>
          <a:xfrm>
            <a:off x="13773150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28841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E8557AB1-A44B-A62D-CE03-F924610893E1}"/>
              </a:ext>
            </a:extLst>
          </p:cNvPr>
          <p:cNvSpPr/>
          <p:nvPr/>
        </p:nvSpPr>
        <p:spPr>
          <a:xfrm>
            <a:off x="6898416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1" name="Полилиния 50">
            <a:extLst>
              <a:ext uri="{FF2B5EF4-FFF2-40B4-BE49-F238E27FC236}">
                <a16:creationId xmlns:a16="http://schemas.microsoft.com/office/drawing/2014/main" id="{BB633411-7080-EA12-C0FC-B029DB899106}"/>
              </a:ext>
            </a:extLst>
          </p:cNvPr>
          <p:cNvSpPr/>
          <p:nvPr/>
        </p:nvSpPr>
        <p:spPr>
          <a:xfrm>
            <a:off x="13186325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2" name="Полилиния 51">
            <a:extLst>
              <a:ext uri="{FF2B5EF4-FFF2-40B4-BE49-F238E27FC236}">
                <a16:creationId xmlns:a16="http://schemas.microsoft.com/office/drawing/2014/main" id="{16F30D3A-F479-A731-AAFF-9E73DDBE86FA}"/>
              </a:ext>
            </a:extLst>
          </p:cNvPr>
          <p:cNvSpPr/>
          <p:nvPr/>
        </p:nvSpPr>
        <p:spPr>
          <a:xfrm>
            <a:off x="622121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3" name="Полилиния 52">
            <a:extLst>
              <a:ext uri="{FF2B5EF4-FFF2-40B4-BE49-F238E27FC236}">
                <a16:creationId xmlns:a16="http://schemas.microsoft.com/office/drawing/2014/main" id="{7C04E510-C23C-CA1D-320B-22FE4DBD2E09}"/>
              </a:ext>
            </a:extLst>
          </p:cNvPr>
          <p:cNvSpPr/>
          <p:nvPr/>
        </p:nvSpPr>
        <p:spPr>
          <a:xfrm>
            <a:off x="6898416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solidFill>
            <a:srgbClr val="FFE45C"/>
          </a:soli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4" name="Полилиния 53">
            <a:extLst>
              <a:ext uri="{FF2B5EF4-FFF2-40B4-BE49-F238E27FC236}">
                <a16:creationId xmlns:a16="http://schemas.microsoft.com/office/drawing/2014/main" id="{859E29D1-94FF-3F52-A4D6-74EF7ED4B8C1}"/>
              </a:ext>
            </a:extLst>
          </p:cNvPr>
          <p:cNvSpPr/>
          <p:nvPr/>
        </p:nvSpPr>
        <p:spPr>
          <a:xfrm>
            <a:off x="13186325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1765C96E-8E4A-3C5C-5B68-264CAD476D46}"/>
              </a:ext>
            </a:extLst>
          </p:cNvPr>
          <p:cNvSpPr/>
          <p:nvPr/>
        </p:nvSpPr>
        <p:spPr>
          <a:xfrm>
            <a:off x="622121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A98B9172-6F1E-E555-014D-7C15E560C6D9}"/>
              </a:ext>
            </a:extLst>
          </p:cNvPr>
          <p:cNvSpPr/>
          <p:nvPr/>
        </p:nvSpPr>
        <p:spPr>
          <a:xfrm>
            <a:off x="11862077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A0B362B-CB57-A518-E4EB-7726C0EF2CD9}"/>
              </a:ext>
            </a:extLst>
          </p:cNvPr>
          <p:cNvSpPr/>
          <p:nvPr/>
        </p:nvSpPr>
        <p:spPr>
          <a:xfrm>
            <a:off x="5589816" y="440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644D69E-11CD-4736-F7D5-B88CA730F17B}"/>
              </a:ext>
            </a:extLst>
          </p:cNvPr>
          <p:cNvSpPr/>
          <p:nvPr/>
        </p:nvSpPr>
        <p:spPr>
          <a:xfrm>
            <a:off x="18154020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BC21E72B-AAD0-52C0-63DE-8CC93AC9CDAE}"/>
              </a:ext>
            </a:extLst>
          </p:cNvPr>
          <p:cNvSpPr/>
          <p:nvPr/>
        </p:nvSpPr>
        <p:spPr>
          <a:xfrm>
            <a:off x="11866111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4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FBF91FF1-F28B-017B-C8AD-9FC8973B295B}"/>
              </a:ext>
            </a:extLst>
          </p:cNvPr>
          <p:cNvSpPr/>
          <p:nvPr/>
        </p:nvSpPr>
        <p:spPr>
          <a:xfrm>
            <a:off x="5589816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5B745D41-4F8D-EE03-6E21-23AB5EC2B37B}"/>
              </a:ext>
            </a:extLst>
          </p:cNvPr>
          <p:cNvSpPr/>
          <p:nvPr/>
        </p:nvSpPr>
        <p:spPr>
          <a:xfrm>
            <a:off x="18154020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7B34E-1C8B-D35B-64CF-458FB807BCE1}"/>
              </a:ext>
            </a:extLst>
          </p:cNvPr>
          <p:cNvSpPr txBox="1"/>
          <p:nvPr/>
        </p:nvSpPr>
        <p:spPr>
          <a:xfrm>
            <a:off x="1140408" y="1142239"/>
            <a:ext cx="5047573" cy="20128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800" dirty="0">
                <a:latin typeface="T-Sans" pitchFamily="2" charset="0"/>
                <a:ea typeface="T-Sans" pitchFamily="2" charset="0"/>
              </a:rPr>
              <a:t>Какие паттерны мы реализуем сегодня?</a:t>
            </a:r>
            <a:endParaRPr lang="en-US" sz="4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4A4C991-1C43-14C1-2612-95EBCB75D9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21</a:t>
            </a:fld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2734" y="4607594"/>
            <a:ext cx="628939" cy="62893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670A4AC-0CF3-AEE6-BA66-97F14ACEDA8D}"/>
              </a:ext>
            </a:extLst>
          </p:cNvPr>
          <p:cNvSpPr txBox="1"/>
          <p:nvPr/>
        </p:nvSpPr>
        <p:spPr>
          <a:xfrm>
            <a:off x="1150938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62EC7B-E9D3-B31D-F8C6-4064555A970E}"/>
              </a:ext>
            </a:extLst>
          </p:cNvPr>
          <p:cNvSpPr txBox="1"/>
          <p:nvPr/>
        </p:nvSpPr>
        <p:spPr>
          <a:xfrm>
            <a:off x="7432451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10B84-B0EB-E207-3247-55F10C2DCA09}"/>
              </a:ext>
            </a:extLst>
          </p:cNvPr>
          <p:cNvSpPr txBox="1"/>
          <p:nvPr/>
        </p:nvSpPr>
        <p:spPr>
          <a:xfrm>
            <a:off x="13773150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4E5F2C-A821-A958-3857-67001BE46CE3}"/>
              </a:ext>
            </a:extLst>
          </p:cNvPr>
          <p:cNvSpPr txBox="1"/>
          <p:nvPr/>
        </p:nvSpPr>
        <p:spPr>
          <a:xfrm>
            <a:off x="7432451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Создание объектов по типу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4D9D18-89DB-7DD2-4510-8FA61229FFB1}"/>
              </a:ext>
            </a:extLst>
          </p:cNvPr>
          <p:cNvSpPr txBox="1"/>
          <p:nvPr/>
        </p:nvSpPr>
        <p:spPr>
          <a:xfrm>
            <a:off x="7432451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F23360-F188-CB15-1456-79619AAC14FA}"/>
              </a:ext>
            </a:extLst>
          </p:cNvPr>
          <p:cNvSpPr txBox="1"/>
          <p:nvPr/>
        </p:nvSpPr>
        <p:spPr>
          <a:xfrm>
            <a:off x="13773150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11FD6-6AFD-98C0-FDE9-F7529AD9C47E}"/>
              </a:ext>
            </a:extLst>
          </p:cNvPr>
          <p:cNvSpPr txBox="1"/>
          <p:nvPr/>
        </p:nvSpPr>
        <p:spPr>
          <a:xfrm>
            <a:off x="1140409" y="3267399"/>
            <a:ext cx="4648292" cy="1735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Выбор паттерна в первую очередь определяется решаемой задачей!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Паттерн – не самоцель, а средство 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ее достижения!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0C63F-23B9-135F-5236-2C7142E5D8C0}"/>
              </a:ext>
            </a:extLst>
          </p:cNvPr>
          <p:cNvSpPr txBox="1"/>
          <p:nvPr/>
        </p:nvSpPr>
        <p:spPr>
          <a:xfrm>
            <a:off x="13773150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B145F-E137-4EB4-B7FB-E50D9DD0CE6A}"/>
              </a:ext>
            </a:extLst>
          </p:cNvPr>
          <p:cNvSpPr txBox="1"/>
          <p:nvPr/>
        </p:nvSpPr>
        <p:spPr>
          <a:xfrm>
            <a:off x="1140408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8AB11-CB11-9370-B4E1-E843D18BD208}"/>
              </a:ext>
            </a:extLst>
          </p:cNvPr>
          <p:cNvSpPr txBox="1"/>
          <p:nvPr/>
        </p:nvSpPr>
        <p:spPr>
          <a:xfrm>
            <a:off x="7432451" y="6993336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1E814-F63D-3632-48BD-7BC03C2FBD0C}"/>
              </a:ext>
            </a:extLst>
          </p:cNvPr>
          <p:cNvSpPr txBox="1"/>
          <p:nvPr/>
        </p:nvSpPr>
        <p:spPr>
          <a:xfrm>
            <a:off x="13773150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92380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E8557AB1-A44B-A62D-CE03-F924610893E1}"/>
              </a:ext>
            </a:extLst>
          </p:cNvPr>
          <p:cNvSpPr/>
          <p:nvPr/>
        </p:nvSpPr>
        <p:spPr>
          <a:xfrm>
            <a:off x="6898416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1" name="Полилиния 50">
            <a:extLst>
              <a:ext uri="{FF2B5EF4-FFF2-40B4-BE49-F238E27FC236}">
                <a16:creationId xmlns:a16="http://schemas.microsoft.com/office/drawing/2014/main" id="{BB633411-7080-EA12-C0FC-B029DB899106}"/>
              </a:ext>
            </a:extLst>
          </p:cNvPr>
          <p:cNvSpPr/>
          <p:nvPr/>
        </p:nvSpPr>
        <p:spPr>
          <a:xfrm>
            <a:off x="13186325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2" name="Полилиния 51">
            <a:extLst>
              <a:ext uri="{FF2B5EF4-FFF2-40B4-BE49-F238E27FC236}">
                <a16:creationId xmlns:a16="http://schemas.microsoft.com/office/drawing/2014/main" id="{16F30D3A-F479-A731-AAFF-9E73DDBE86FA}"/>
              </a:ext>
            </a:extLst>
          </p:cNvPr>
          <p:cNvSpPr/>
          <p:nvPr/>
        </p:nvSpPr>
        <p:spPr>
          <a:xfrm>
            <a:off x="622121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3" name="Полилиния 52">
            <a:extLst>
              <a:ext uri="{FF2B5EF4-FFF2-40B4-BE49-F238E27FC236}">
                <a16:creationId xmlns:a16="http://schemas.microsoft.com/office/drawing/2014/main" id="{7C04E510-C23C-CA1D-320B-22FE4DBD2E09}"/>
              </a:ext>
            </a:extLst>
          </p:cNvPr>
          <p:cNvSpPr/>
          <p:nvPr/>
        </p:nvSpPr>
        <p:spPr>
          <a:xfrm>
            <a:off x="6898416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solidFill>
            <a:srgbClr val="FFE45C"/>
          </a:soli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4" name="Полилиния 53">
            <a:extLst>
              <a:ext uri="{FF2B5EF4-FFF2-40B4-BE49-F238E27FC236}">
                <a16:creationId xmlns:a16="http://schemas.microsoft.com/office/drawing/2014/main" id="{859E29D1-94FF-3F52-A4D6-74EF7ED4B8C1}"/>
              </a:ext>
            </a:extLst>
          </p:cNvPr>
          <p:cNvSpPr/>
          <p:nvPr/>
        </p:nvSpPr>
        <p:spPr>
          <a:xfrm>
            <a:off x="13186325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1765C96E-8E4A-3C5C-5B68-264CAD476D46}"/>
              </a:ext>
            </a:extLst>
          </p:cNvPr>
          <p:cNvSpPr/>
          <p:nvPr/>
        </p:nvSpPr>
        <p:spPr>
          <a:xfrm>
            <a:off x="622121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A98B9172-6F1E-E555-014D-7C15E560C6D9}"/>
              </a:ext>
            </a:extLst>
          </p:cNvPr>
          <p:cNvSpPr/>
          <p:nvPr/>
        </p:nvSpPr>
        <p:spPr>
          <a:xfrm>
            <a:off x="11862077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A0B362B-CB57-A518-E4EB-7726C0EF2CD9}"/>
              </a:ext>
            </a:extLst>
          </p:cNvPr>
          <p:cNvSpPr/>
          <p:nvPr/>
        </p:nvSpPr>
        <p:spPr>
          <a:xfrm>
            <a:off x="5589816" y="440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644D69E-11CD-4736-F7D5-B88CA730F17B}"/>
              </a:ext>
            </a:extLst>
          </p:cNvPr>
          <p:cNvSpPr/>
          <p:nvPr/>
        </p:nvSpPr>
        <p:spPr>
          <a:xfrm>
            <a:off x="18154020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BC21E72B-AAD0-52C0-63DE-8CC93AC9CDAE}"/>
              </a:ext>
            </a:extLst>
          </p:cNvPr>
          <p:cNvSpPr/>
          <p:nvPr/>
        </p:nvSpPr>
        <p:spPr>
          <a:xfrm>
            <a:off x="11866111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4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FBF91FF1-F28B-017B-C8AD-9FC8973B295B}"/>
              </a:ext>
            </a:extLst>
          </p:cNvPr>
          <p:cNvSpPr/>
          <p:nvPr/>
        </p:nvSpPr>
        <p:spPr>
          <a:xfrm>
            <a:off x="5589816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5B745D41-4F8D-EE03-6E21-23AB5EC2B37B}"/>
              </a:ext>
            </a:extLst>
          </p:cNvPr>
          <p:cNvSpPr/>
          <p:nvPr/>
        </p:nvSpPr>
        <p:spPr>
          <a:xfrm>
            <a:off x="18154020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7B34E-1C8B-D35B-64CF-458FB807BCE1}"/>
              </a:ext>
            </a:extLst>
          </p:cNvPr>
          <p:cNvSpPr txBox="1"/>
          <p:nvPr/>
        </p:nvSpPr>
        <p:spPr>
          <a:xfrm>
            <a:off x="1140408" y="1142239"/>
            <a:ext cx="5047573" cy="20128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800" dirty="0">
                <a:latin typeface="T-Sans" pitchFamily="2" charset="0"/>
                <a:ea typeface="T-Sans" pitchFamily="2" charset="0"/>
              </a:rPr>
              <a:t>Какие паттерны мы реализуем сегодня?</a:t>
            </a:r>
            <a:endParaRPr lang="en-US" sz="4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4A4C991-1C43-14C1-2612-95EBCB75D9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22</a:t>
            </a:fld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2734" y="4607594"/>
            <a:ext cx="628939" cy="62893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670A4AC-0CF3-AEE6-BA66-97F14ACEDA8D}"/>
              </a:ext>
            </a:extLst>
          </p:cNvPr>
          <p:cNvSpPr txBox="1"/>
          <p:nvPr/>
        </p:nvSpPr>
        <p:spPr>
          <a:xfrm>
            <a:off x="1150938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62EC7B-E9D3-B31D-F8C6-4064555A970E}"/>
              </a:ext>
            </a:extLst>
          </p:cNvPr>
          <p:cNvSpPr txBox="1"/>
          <p:nvPr/>
        </p:nvSpPr>
        <p:spPr>
          <a:xfrm>
            <a:off x="7432451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10B84-B0EB-E207-3247-55F10C2DCA09}"/>
              </a:ext>
            </a:extLst>
          </p:cNvPr>
          <p:cNvSpPr txBox="1"/>
          <p:nvPr/>
        </p:nvSpPr>
        <p:spPr>
          <a:xfrm>
            <a:off x="13773150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4E5F2C-A821-A958-3857-67001BE46CE3}"/>
              </a:ext>
            </a:extLst>
          </p:cNvPr>
          <p:cNvSpPr txBox="1"/>
          <p:nvPr/>
        </p:nvSpPr>
        <p:spPr>
          <a:xfrm>
            <a:off x="7432451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Создание объектов по типу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Factory Method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4D9D18-89DB-7DD2-4510-8FA61229FFB1}"/>
              </a:ext>
            </a:extLst>
          </p:cNvPr>
          <p:cNvSpPr txBox="1"/>
          <p:nvPr/>
        </p:nvSpPr>
        <p:spPr>
          <a:xfrm>
            <a:off x="7432451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F23360-F188-CB15-1456-79619AAC14FA}"/>
              </a:ext>
            </a:extLst>
          </p:cNvPr>
          <p:cNvSpPr txBox="1"/>
          <p:nvPr/>
        </p:nvSpPr>
        <p:spPr>
          <a:xfrm>
            <a:off x="13773150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11FD6-6AFD-98C0-FDE9-F7529AD9C47E}"/>
              </a:ext>
            </a:extLst>
          </p:cNvPr>
          <p:cNvSpPr txBox="1"/>
          <p:nvPr/>
        </p:nvSpPr>
        <p:spPr>
          <a:xfrm>
            <a:off x="1140409" y="3267399"/>
            <a:ext cx="4648292" cy="1735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Выбор паттерна в первую очередь определяется решаемой задачей!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Паттерн – не самоцель, а средство 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ее достижения!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0C63F-23B9-135F-5236-2C7142E5D8C0}"/>
              </a:ext>
            </a:extLst>
          </p:cNvPr>
          <p:cNvSpPr txBox="1"/>
          <p:nvPr/>
        </p:nvSpPr>
        <p:spPr>
          <a:xfrm>
            <a:off x="13773150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B145F-E137-4EB4-B7FB-E50D9DD0CE6A}"/>
              </a:ext>
            </a:extLst>
          </p:cNvPr>
          <p:cNvSpPr txBox="1"/>
          <p:nvPr/>
        </p:nvSpPr>
        <p:spPr>
          <a:xfrm>
            <a:off x="1140408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8AB11-CB11-9370-B4E1-E843D18BD208}"/>
              </a:ext>
            </a:extLst>
          </p:cNvPr>
          <p:cNvSpPr txBox="1"/>
          <p:nvPr/>
        </p:nvSpPr>
        <p:spPr>
          <a:xfrm>
            <a:off x="7432451" y="6993336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1E814-F63D-3632-48BD-7BC03C2FBD0C}"/>
              </a:ext>
            </a:extLst>
          </p:cNvPr>
          <p:cNvSpPr txBox="1"/>
          <p:nvPr/>
        </p:nvSpPr>
        <p:spPr>
          <a:xfrm>
            <a:off x="13773150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09511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E8557AB1-A44B-A62D-CE03-F924610893E1}"/>
              </a:ext>
            </a:extLst>
          </p:cNvPr>
          <p:cNvSpPr/>
          <p:nvPr/>
        </p:nvSpPr>
        <p:spPr>
          <a:xfrm>
            <a:off x="6898416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1" name="Полилиния 50">
            <a:extLst>
              <a:ext uri="{FF2B5EF4-FFF2-40B4-BE49-F238E27FC236}">
                <a16:creationId xmlns:a16="http://schemas.microsoft.com/office/drawing/2014/main" id="{BB633411-7080-EA12-C0FC-B029DB899106}"/>
              </a:ext>
            </a:extLst>
          </p:cNvPr>
          <p:cNvSpPr/>
          <p:nvPr/>
        </p:nvSpPr>
        <p:spPr>
          <a:xfrm>
            <a:off x="13186325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2" name="Полилиния 51">
            <a:extLst>
              <a:ext uri="{FF2B5EF4-FFF2-40B4-BE49-F238E27FC236}">
                <a16:creationId xmlns:a16="http://schemas.microsoft.com/office/drawing/2014/main" id="{16F30D3A-F479-A731-AAFF-9E73DDBE86FA}"/>
              </a:ext>
            </a:extLst>
          </p:cNvPr>
          <p:cNvSpPr/>
          <p:nvPr/>
        </p:nvSpPr>
        <p:spPr>
          <a:xfrm>
            <a:off x="622121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3" name="Полилиния 52">
            <a:extLst>
              <a:ext uri="{FF2B5EF4-FFF2-40B4-BE49-F238E27FC236}">
                <a16:creationId xmlns:a16="http://schemas.microsoft.com/office/drawing/2014/main" id="{7C04E510-C23C-CA1D-320B-22FE4DBD2E09}"/>
              </a:ext>
            </a:extLst>
          </p:cNvPr>
          <p:cNvSpPr/>
          <p:nvPr/>
        </p:nvSpPr>
        <p:spPr>
          <a:xfrm>
            <a:off x="6898416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4" name="Полилиния 53">
            <a:extLst>
              <a:ext uri="{FF2B5EF4-FFF2-40B4-BE49-F238E27FC236}">
                <a16:creationId xmlns:a16="http://schemas.microsoft.com/office/drawing/2014/main" id="{859E29D1-94FF-3F52-A4D6-74EF7ED4B8C1}"/>
              </a:ext>
            </a:extLst>
          </p:cNvPr>
          <p:cNvSpPr/>
          <p:nvPr/>
        </p:nvSpPr>
        <p:spPr>
          <a:xfrm>
            <a:off x="13186325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solidFill>
            <a:srgbClr val="FFE45A"/>
          </a:soli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1765C96E-8E4A-3C5C-5B68-264CAD476D46}"/>
              </a:ext>
            </a:extLst>
          </p:cNvPr>
          <p:cNvSpPr/>
          <p:nvPr/>
        </p:nvSpPr>
        <p:spPr>
          <a:xfrm>
            <a:off x="622121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A98B9172-6F1E-E555-014D-7C15E560C6D9}"/>
              </a:ext>
            </a:extLst>
          </p:cNvPr>
          <p:cNvSpPr/>
          <p:nvPr/>
        </p:nvSpPr>
        <p:spPr>
          <a:xfrm>
            <a:off x="11862077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A0B362B-CB57-A518-E4EB-7726C0EF2CD9}"/>
              </a:ext>
            </a:extLst>
          </p:cNvPr>
          <p:cNvSpPr/>
          <p:nvPr/>
        </p:nvSpPr>
        <p:spPr>
          <a:xfrm>
            <a:off x="5589816" y="440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644D69E-11CD-4736-F7D5-B88CA730F17B}"/>
              </a:ext>
            </a:extLst>
          </p:cNvPr>
          <p:cNvSpPr/>
          <p:nvPr/>
        </p:nvSpPr>
        <p:spPr>
          <a:xfrm>
            <a:off x="18154020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BC21E72B-AAD0-52C0-63DE-8CC93AC9CDAE}"/>
              </a:ext>
            </a:extLst>
          </p:cNvPr>
          <p:cNvSpPr/>
          <p:nvPr/>
        </p:nvSpPr>
        <p:spPr>
          <a:xfrm>
            <a:off x="11866111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4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FBF91FF1-F28B-017B-C8AD-9FC8973B295B}"/>
              </a:ext>
            </a:extLst>
          </p:cNvPr>
          <p:cNvSpPr/>
          <p:nvPr/>
        </p:nvSpPr>
        <p:spPr>
          <a:xfrm>
            <a:off x="5589816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5B745D41-4F8D-EE03-6E21-23AB5EC2B37B}"/>
              </a:ext>
            </a:extLst>
          </p:cNvPr>
          <p:cNvSpPr/>
          <p:nvPr/>
        </p:nvSpPr>
        <p:spPr>
          <a:xfrm>
            <a:off x="18154020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7B34E-1C8B-D35B-64CF-458FB807BCE1}"/>
              </a:ext>
            </a:extLst>
          </p:cNvPr>
          <p:cNvSpPr txBox="1"/>
          <p:nvPr/>
        </p:nvSpPr>
        <p:spPr>
          <a:xfrm>
            <a:off x="1140408" y="1142239"/>
            <a:ext cx="5047573" cy="20128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800" dirty="0">
                <a:latin typeface="T-Sans" pitchFamily="2" charset="0"/>
                <a:ea typeface="T-Sans" pitchFamily="2" charset="0"/>
              </a:rPr>
              <a:t>Какие паттерны мы реализуем сегодня?</a:t>
            </a:r>
            <a:endParaRPr lang="en-US" sz="4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4A4C991-1C43-14C1-2612-95EBCB75D9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23</a:t>
            </a:fld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2734" y="4607594"/>
            <a:ext cx="628939" cy="62893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670A4AC-0CF3-AEE6-BA66-97F14ACEDA8D}"/>
              </a:ext>
            </a:extLst>
          </p:cNvPr>
          <p:cNvSpPr txBox="1"/>
          <p:nvPr/>
        </p:nvSpPr>
        <p:spPr>
          <a:xfrm>
            <a:off x="1150938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62EC7B-E9D3-B31D-F8C6-4064555A970E}"/>
              </a:ext>
            </a:extLst>
          </p:cNvPr>
          <p:cNvSpPr txBox="1"/>
          <p:nvPr/>
        </p:nvSpPr>
        <p:spPr>
          <a:xfrm>
            <a:off x="7432451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10B84-B0EB-E207-3247-55F10C2DCA09}"/>
              </a:ext>
            </a:extLst>
          </p:cNvPr>
          <p:cNvSpPr txBox="1"/>
          <p:nvPr/>
        </p:nvSpPr>
        <p:spPr>
          <a:xfrm>
            <a:off x="13773150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4E5F2C-A821-A958-3857-67001BE46CE3}"/>
              </a:ext>
            </a:extLst>
          </p:cNvPr>
          <p:cNvSpPr txBox="1"/>
          <p:nvPr/>
        </p:nvSpPr>
        <p:spPr>
          <a:xfrm>
            <a:off x="7432451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Создание объектов по типу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Factory Method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4D9D18-89DB-7DD2-4510-8FA61229FFB1}"/>
              </a:ext>
            </a:extLst>
          </p:cNvPr>
          <p:cNvSpPr txBox="1"/>
          <p:nvPr/>
        </p:nvSpPr>
        <p:spPr>
          <a:xfrm>
            <a:off x="7432451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F23360-F188-CB15-1456-79619AAC14FA}"/>
              </a:ext>
            </a:extLst>
          </p:cNvPr>
          <p:cNvSpPr txBox="1"/>
          <p:nvPr/>
        </p:nvSpPr>
        <p:spPr>
          <a:xfrm>
            <a:off x="13773150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11FD6-6AFD-98C0-FDE9-F7529AD9C47E}"/>
              </a:ext>
            </a:extLst>
          </p:cNvPr>
          <p:cNvSpPr txBox="1"/>
          <p:nvPr/>
        </p:nvSpPr>
        <p:spPr>
          <a:xfrm>
            <a:off x="1140409" y="3267399"/>
            <a:ext cx="4648292" cy="1735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Выбор паттерна в первую очередь определяется решаемой задачей!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Паттерн – не самоцель, а средство 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ее достижения!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0C63F-23B9-135F-5236-2C7142E5D8C0}"/>
              </a:ext>
            </a:extLst>
          </p:cNvPr>
          <p:cNvSpPr txBox="1"/>
          <p:nvPr/>
        </p:nvSpPr>
        <p:spPr>
          <a:xfrm>
            <a:off x="13773150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Обход списка инструментов в хранилище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B145F-E137-4EB4-B7FB-E50D9DD0CE6A}"/>
              </a:ext>
            </a:extLst>
          </p:cNvPr>
          <p:cNvSpPr txBox="1"/>
          <p:nvPr/>
        </p:nvSpPr>
        <p:spPr>
          <a:xfrm>
            <a:off x="1140408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8AB11-CB11-9370-B4E1-E843D18BD208}"/>
              </a:ext>
            </a:extLst>
          </p:cNvPr>
          <p:cNvSpPr txBox="1"/>
          <p:nvPr/>
        </p:nvSpPr>
        <p:spPr>
          <a:xfrm>
            <a:off x="7432451" y="6993336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1E814-F63D-3632-48BD-7BC03C2FBD0C}"/>
              </a:ext>
            </a:extLst>
          </p:cNvPr>
          <p:cNvSpPr txBox="1"/>
          <p:nvPr/>
        </p:nvSpPr>
        <p:spPr>
          <a:xfrm>
            <a:off x="13773150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88330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E8557AB1-A44B-A62D-CE03-F924610893E1}"/>
              </a:ext>
            </a:extLst>
          </p:cNvPr>
          <p:cNvSpPr/>
          <p:nvPr/>
        </p:nvSpPr>
        <p:spPr>
          <a:xfrm>
            <a:off x="6898416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1" name="Полилиния 50">
            <a:extLst>
              <a:ext uri="{FF2B5EF4-FFF2-40B4-BE49-F238E27FC236}">
                <a16:creationId xmlns:a16="http://schemas.microsoft.com/office/drawing/2014/main" id="{BB633411-7080-EA12-C0FC-B029DB899106}"/>
              </a:ext>
            </a:extLst>
          </p:cNvPr>
          <p:cNvSpPr/>
          <p:nvPr/>
        </p:nvSpPr>
        <p:spPr>
          <a:xfrm>
            <a:off x="13186325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2" name="Полилиния 51">
            <a:extLst>
              <a:ext uri="{FF2B5EF4-FFF2-40B4-BE49-F238E27FC236}">
                <a16:creationId xmlns:a16="http://schemas.microsoft.com/office/drawing/2014/main" id="{16F30D3A-F479-A731-AAFF-9E73DDBE86FA}"/>
              </a:ext>
            </a:extLst>
          </p:cNvPr>
          <p:cNvSpPr/>
          <p:nvPr/>
        </p:nvSpPr>
        <p:spPr>
          <a:xfrm>
            <a:off x="622121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3" name="Полилиния 52">
            <a:extLst>
              <a:ext uri="{FF2B5EF4-FFF2-40B4-BE49-F238E27FC236}">
                <a16:creationId xmlns:a16="http://schemas.microsoft.com/office/drawing/2014/main" id="{7C04E510-C23C-CA1D-320B-22FE4DBD2E09}"/>
              </a:ext>
            </a:extLst>
          </p:cNvPr>
          <p:cNvSpPr/>
          <p:nvPr/>
        </p:nvSpPr>
        <p:spPr>
          <a:xfrm>
            <a:off x="6898416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4" name="Полилиния 53">
            <a:extLst>
              <a:ext uri="{FF2B5EF4-FFF2-40B4-BE49-F238E27FC236}">
                <a16:creationId xmlns:a16="http://schemas.microsoft.com/office/drawing/2014/main" id="{859E29D1-94FF-3F52-A4D6-74EF7ED4B8C1}"/>
              </a:ext>
            </a:extLst>
          </p:cNvPr>
          <p:cNvSpPr/>
          <p:nvPr/>
        </p:nvSpPr>
        <p:spPr>
          <a:xfrm>
            <a:off x="13186325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solidFill>
            <a:srgbClr val="FFE45C"/>
          </a:soli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1765C96E-8E4A-3C5C-5B68-264CAD476D46}"/>
              </a:ext>
            </a:extLst>
          </p:cNvPr>
          <p:cNvSpPr/>
          <p:nvPr/>
        </p:nvSpPr>
        <p:spPr>
          <a:xfrm>
            <a:off x="622121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A98B9172-6F1E-E555-014D-7C15E560C6D9}"/>
              </a:ext>
            </a:extLst>
          </p:cNvPr>
          <p:cNvSpPr/>
          <p:nvPr/>
        </p:nvSpPr>
        <p:spPr>
          <a:xfrm>
            <a:off x="11862077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A0B362B-CB57-A518-E4EB-7726C0EF2CD9}"/>
              </a:ext>
            </a:extLst>
          </p:cNvPr>
          <p:cNvSpPr/>
          <p:nvPr/>
        </p:nvSpPr>
        <p:spPr>
          <a:xfrm>
            <a:off x="5589816" y="440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644D69E-11CD-4736-F7D5-B88CA730F17B}"/>
              </a:ext>
            </a:extLst>
          </p:cNvPr>
          <p:cNvSpPr/>
          <p:nvPr/>
        </p:nvSpPr>
        <p:spPr>
          <a:xfrm>
            <a:off x="18154020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BC21E72B-AAD0-52C0-63DE-8CC93AC9CDAE}"/>
              </a:ext>
            </a:extLst>
          </p:cNvPr>
          <p:cNvSpPr/>
          <p:nvPr/>
        </p:nvSpPr>
        <p:spPr>
          <a:xfrm>
            <a:off x="11866111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4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FBF91FF1-F28B-017B-C8AD-9FC8973B295B}"/>
              </a:ext>
            </a:extLst>
          </p:cNvPr>
          <p:cNvSpPr/>
          <p:nvPr/>
        </p:nvSpPr>
        <p:spPr>
          <a:xfrm>
            <a:off x="5589816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5B745D41-4F8D-EE03-6E21-23AB5EC2B37B}"/>
              </a:ext>
            </a:extLst>
          </p:cNvPr>
          <p:cNvSpPr/>
          <p:nvPr/>
        </p:nvSpPr>
        <p:spPr>
          <a:xfrm>
            <a:off x="18154020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7B34E-1C8B-D35B-64CF-458FB807BCE1}"/>
              </a:ext>
            </a:extLst>
          </p:cNvPr>
          <p:cNvSpPr txBox="1"/>
          <p:nvPr/>
        </p:nvSpPr>
        <p:spPr>
          <a:xfrm>
            <a:off x="1140408" y="1142239"/>
            <a:ext cx="5047573" cy="20128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800" dirty="0">
                <a:latin typeface="T-Sans" pitchFamily="2" charset="0"/>
                <a:ea typeface="T-Sans" pitchFamily="2" charset="0"/>
              </a:rPr>
              <a:t>Какие паттерны мы реализуем сегодня?</a:t>
            </a:r>
            <a:endParaRPr lang="en-US" sz="4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4A4C991-1C43-14C1-2612-95EBCB75D9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24</a:t>
            </a:fld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2734" y="4607594"/>
            <a:ext cx="628939" cy="62893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670A4AC-0CF3-AEE6-BA66-97F14ACEDA8D}"/>
              </a:ext>
            </a:extLst>
          </p:cNvPr>
          <p:cNvSpPr txBox="1"/>
          <p:nvPr/>
        </p:nvSpPr>
        <p:spPr>
          <a:xfrm>
            <a:off x="1150938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62EC7B-E9D3-B31D-F8C6-4064555A970E}"/>
              </a:ext>
            </a:extLst>
          </p:cNvPr>
          <p:cNvSpPr txBox="1"/>
          <p:nvPr/>
        </p:nvSpPr>
        <p:spPr>
          <a:xfrm>
            <a:off x="7432451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10B84-B0EB-E207-3247-55F10C2DCA09}"/>
              </a:ext>
            </a:extLst>
          </p:cNvPr>
          <p:cNvSpPr txBox="1"/>
          <p:nvPr/>
        </p:nvSpPr>
        <p:spPr>
          <a:xfrm>
            <a:off x="13773150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4E5F2C-A821-A958-3857-67001BE46CE3}"/>
              </a:ext>
            </a:extLst>
          </p:cNvPr>
          <p:cNvSpPr txBox="1"/>
          <p:nvPr/>
        </p:nvSpPr>
        <p:spPr>
          <a:xfrm>
            <a:off x="7432451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Создание объектов по типу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Factory Method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4D9D18-89DB-7DD2-4510-8FA61229FFB1}"/>
              </a:ext>
            </a:extLst>
          </p:cNvPr>
          <p:cNvSpPr txBox="1"/>
          <p:nvPr/>
        </p:nvSpPr>
        <p:spPr>
          <a:xfrm>
            <a:off x="7432451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F23360-F188-CB15-1456-79619AAC14FA}"/>
              </a:ext>
            </a:extLst>
          </p:cNvPr>
          <p:cNvSpPr txBox="1"/>
          <p:nvPr/>
        </p:nvSpPr>
        <p:spPr>
          <a:xfrm>
            <a:off x="13773150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11FD6-6AFD-98C0-FDE9-F7529AD9C47E}"/>
              </a:ext>
            </a:extLst>
          </p:cNvPr>
          <p:cNvSpPr txBox="1"/>
          <p:nvPr/>
        </p:nvSpPr>
        <p:spPr>
          <a:xfrm>
            <a:off x="1140409" y="3267399"/>
            <a:ext cx="4648292" cy="1735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Выбор паттерна в первую очередь определяется решаемой задачей!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Паттерн – не самоцель, а средство 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ее достижения!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0C63F-23B9-135F-5236-2C7142E5D8C0}"/>
              </a:ext>
            </a:extLst>
          </p:cNvPr>
          <p:cNvSpPr txBox="1"/>
          <p:nvPr/>
        </p:nvSpPr>
        <p:spPr>
          <a:xfrm>
            <a:off x="13773150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Обход списка инструментов в хранилище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Iterator / Visitor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B145F-E137-4EB4-B7FB-E50D9DD0CE6A}"/>
              </a:ext>
            </a:extLst>
          </p:cNvPr>
          <p:cNvSpPr txBox="1"/>
          <p:nvPr/>
        </p:nvSpPr>
        <p:spPr>
          <a:xfrm>
            <a:off x="1140408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8AB11-CB11-9370-B4E1-E843D18BD208}"/>
              </a:ext>
            </a:extLst>
          </p:cNvPr>
          <p:cNvSpPr txBox="1"/>
          <p:nvPr/>
        </p:nvSpPr>
        <p:spPr>
          <a:xfrm>
            <a:off x="7432451" y="6993336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1E814-F63D-3632-48BD-7BC03C2FBD0C}"/>
              </a:ext>
            </a:extLst>
          </p:cNvPr>
          <p:cNvSpPr txBox="1"/>
          <p:nvPr/>
        </p:nvSpPr>
        <p:spPr>
          <a:xfrm>
            <a:off x="13773150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69635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E8557AB1-A44B-A62D-CE03-F924610893E1}"/>
              </a:ext>
            </a:extLst>
          </p:cNvPr>
          <p:cNvSpPr/>
          <p:nvPr/>
        </p:nvSpPr>
        <p:spPr>
          <a:xfrm>
            <a:off x="6898416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1" name="Полилиния 50">
            <a:extLst>
              <a:ext uri="{FF2B5EF4-FFF2-40B4-BE49-F238E27FC236}">
                <a16:creationId xmlns:a16="http://schemas.microsoft.com/office/drawing/2014/main" id="{BB633411-7080-EA12-C0FC-B029DB899106}"/>
              </a:ext>
            </a:extLst>
          </p:cNvPr>
          <p:cNvSpPr/>
          <p:nvPr/>
        </p:nvSpPr>
        <p:spPr>
          <a:xfrm>
            <a:off x="13186325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2" name="Полилиния 51">
            <a:extLst>
              <a:ext uri="{FF2B5EF4-FFF2-40B4-BE49-F238E27FC236}">
                <a16:creationId xmlns:a16="http://schemas.microsoft.com/office/drawing/2014/main" id="{16F30D3A-F479-A731-AAFF-9E73DDBE86FA}"/>
              </a:ext>
            </a:extLst>
          </p:cNvPr>
          <p:cNvSpPr/>
          <p:nvPr/>
        </p:nvSpPr>
        <p:spPr>
          <a:xfrm>
            <a:off x="622121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3" name="Полилиния 52">
            <a:extLst>
              <a:ext uri="{FF2B5EF4-FFF2-40B4-BE49-F238E27FC236}">
                <a16:creationId xmlns:a16="http://schemas.microsoft.com/office/drawing/2014/main" id="{7C04E510-C23C-CA1D-320B-22FE4DBD2E09}"/>
              </a:ext>
            </a:extLst>
          </p:cNvPr>
          <p:cNvSpPr/>
          <p:nvPr/>
        </p:nvSpPr>
        <p:spPr>
          <a:xfrm>
            <a:off x="6898416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4" name="Полилиния 53">
            <a:extLst>
              <a:ext uri="{FF2B5EF4-FFF2-40B4-BE49-F238E27FC236}">
                <a16:creationId xmlns:a16="http://schemas.microsoft.com/office/drawing/2014/main" id="{859E29D1-94FF-3F52-A4D6-74EF7ED4B8C1}"/>
              </a:ext>
            </a:extLst>
          </p:cNvPr>
          <p:cNvSpPr/>
          <p:nvPr/>
        </p:nvSpPr>
        <p:spPr>
          <a:xfrm>
            <a:off x="13186325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1765C96E-8E4A-3C5C-5B68-264CAD476D46}"/>
              </a:ext>
            </a:extLst>
          </p:cNvPr>
          <p:cNvSpPr/>
          <p:nvPr/>
        </p:nvSpPr>
        <p:spPr>
          <a:xfrm>
            <a:off x="622121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solidFill>
            <a:srgbClr val="FFE459"/>
          </a:soli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A98B9172-6F1E-E555-014D-7C15E560C6D9}"/>
              </a:ext>
            </a:extLst>
          </p:cNvPr>
          <p:cNvSpPr/>
          <p:nvPr/>
        </p:nvSpPr>
        <p:spPr>
          <a:xfrm>
            <a:off x="11862077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A0B362B-CB57-A518-E4EB-7726C0EF2CD9}"/>
              </a:ext>
            </a:extLst>
          </p:cNvPr>
          <p:cNvSpPr/>
          <p:nvPr/>
        </p:nvSpPr>
        <p:spPr>
          <a:xfrm>
            <a:off x="5589816" y="440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644D69E-11CD-4736-F7D5-B88CA730F17B}"/>
              </a:ext>
            </a:extLst>
          </p:cNvPr>
          <p:cNvSpPr/>
          <p:nvPr/>
        </p:nvSpPr>
        <p:spPr>
          <a:xfrm>
            <a:off x="18154020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BC21E72B-AAD0-52C0-63DE-8CC93AC9CDAE}"/>
              </a:ext>
            </a:extLst>
          </p:cNvPr>
          <p:cNvSpPr/>
          <p:nvPr/>
        </p:nvSpPr>
        <p:spPr>
          <a:xfrm>
            <a:off x="11866111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4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FBF91FF1-F28B-017B-C8AD-9FC8973B295B}"/>
              </a:ext>
            </a:extLst>
          </p:cNvPr>
          <p:cNvSpPr/>
          <p:nvPr/>
        </p:nvSpPr>
        <p:spPr>
          <a:xfrm>
            <a:off x="5589816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5B745D41-4F8D-EE03-6E21-23AB5EC2B37B}"/>
              </a:ext>
            </a:extLst>
          </p:cNvPr>
          <p:cNvSpPr/>
          <p:nvPr/>
        </p:nvSpPr>
        <p:spPr>
          <a:xfrm>
            <a:off x="18154020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7B34E-1C8B-D35B-64CF-458FB807BCE1}"/>
              </a:ext>
            </a:extLst>
          </p:cNvPr>
          <p:cNvSpPr txBox="1"/>
          <p:nvPr/>
        </p:nvSpPr>
        <p:spPr>
          <a:xfrm>
            <a:off x="1140408" y="1142239"/>
            <a:ext cx="5047573" cy="20128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800" dirty="0">
                <a:latin typeface="T-Sans" pitchFamily="2" charset="0"/>
                <a:ea typeface="T-Sans" pitchFamily="2" charset="0"/>
              </a:rPr>
              <a:t>Какие паттерны мы реализуем сегодня?</a:t>
            </a:r>
            <a:endParaRPr lang="en-US" sz="4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4A4C991-1C43-14C1-2612-95EBCB75D9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25</a:t>
            </a:fld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2734" y="4607594"/>
            <a:ext cx="628939" cy="62893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670A4AC-0CF3-AEE6-BA66-97F14ACEDA8D}"/>
              </a:ext>
            </a:extLst>
          </p:cNvPr>
          <p:cNvSpPr txBox="1"/>
          <p:nvPr/>
        </p:nvSpPr>
        <p:spPr>
          <a:xfrm>
            <a:off x="1150938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62EC7B-E9D3-B31D-F8C6-4064555A970E}"/>
              </a:ext>
            </a:extLst>
          </p:cNvPr>
          <p:cNvSpPr txBox="1"/>
          <p:nvPr/>
        </p:nvSpPr>
        <p:spPr>
          <a:xfrm>
            <a:off x="7432451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10B84-B0EB-E207-3247-55F10C2DCA09}"/>
              </a:ext>
            </a:extLst>
          </p:cNvPr>
          <p:cNvSpPr txBox="1"/>
          <p:nvPr/>
        </p:nvSpPr>
        <p:spPr>
          <a:xfrm>
            <a:off x="13773150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4E5F2C-A821-A958-3857-67001BE46CE3}"/>
              </a:ext>
            </a:extLst>
          </p:cNvPr>
          <p:cNvSpPr txBox="1"/>
          <p:nvPr/>
        </p:nvSpPr>
        <p:spPr>
          <a:xfrm>
            <a:off x="7432451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Создание объектов по типу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Factory Method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4D9D18-89DB-7DD2-4510-8FA61229FFB1}"/>
              </a:ext>
            </a:extLst>
          </p:cNvPr>
          <p:cNvSpPr txBox="1"/>
          <p:nvPr/>
        </p:nvSpPr>
        <p:spPr>
          <a:xfrm>
            <a:off x="7432451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F23360-F188-CB15-1456-79619AAC14FA}"/>
              </a:ext>
            </a:extLst>
          </p:cNvPr>
          <p:cNvSpPr txBox="1"/>
          <p:nvPr/>
        </p:nvSpPr>
        <p:spPr>
          <a:xfrm>
            <a:off x="13773150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11FD6-6AFD-98C0-FDE9-F7529AD9C47E}"/>
              </a:ext>
            </a:extLst>
          </p:cNvPr>
          <p:cNvSpPr txBox="1"/>
          <p:nvPr/>
        </p:nvSpPr>
        <p:spPr>
          <a:xfrm>
            <a:off x="1140409" y="3267399"/>
            <a:ext cx="4648292" cy="1735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Выбор паттерна в первую очередь определяется решаемой задачей!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Паттерн – не самоцель, а средство 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ее достижения!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0C63F-23B9-135F-5236-2C7142E5D8C0}"/>
              </a:ext>
            </a:extLst>
          </p:cNvPr>
          <p:cNvSpPr txBox="1"/>
          <p:nvPr/>
        </p:nvSpPr>
        <p:spPr>
          <a:xfrm>
            <a:off x="13773150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Обход списка инструментов в хранилище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Iterator / Visitor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B145F-E137-4EB4-B7FB-E50D9DD0CE6A}"/>
              </a:ext>
            </a:extLst>
          </p:cNvPr>
          <p:cNvSpPr txBox="1"/>
          <p:nvPr/>
        </p:nvSpPr>
        <p:spPr>
          <a:xfrm>
            <a:off x="1140408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 </a:t>
            </a:r>
            <a:r>
              <a:rPr lang="ru-RU" dirty="0">
                <a:latin typeface="T-Sans" pitchFamily="2" charset="0"/>
                <a:ea typeface="T-Sans" pitchFamily="2" charset="0"/>
              </a:rPr>
              <a:t>Несколько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агоритмов</a:t>
            </a:r>
            <a:r>
              <a:rPr lang="ru-RU" dirty="0">
                <a:latin typeface="T-Sans" pitchFamily="2" charset="0"/>
                <a:ea typeface="T-Sans" pitchFamily="2" charset="0"/>
              </a:rPr>
              <a:t> фильтрации инструментов в зависимости от ввода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8AB11-CB11-9370-B4E1-E843D18BD208}"/>
              </a:ext>
            </a:extLst>
          </p:cNvPr>
          <p:cNvSpPr txBox="1"/>
          <p:nvPr/>
        </p:nvSpPr>
        <p:spPr>
          <a:xfrm>
            <a:off x="7432451" y="6993336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1E814-F63D-3632-48BD-7BC03C2FBD0C}"/>
              </a:ext>
            </a:extLst>
          </p:cNvPr>
          <p:cNvSpPr txBox="1"/>
          <p:nvPr/>
        </p:nvSpPr>
        <p:spPr>
          <a:xfrm>
            <a:off x="13773150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521942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E8557AB1-A44B-A62D-CE03-F924610893E1}"/>
              </a:ext>
            </a:extLst>
          </p:cNvPr>
          <p:cNvSpPr/>
          <p:nvPr/>
        </p:nvSpPr>
        <p:spPr>
          <a:xfrm>
            <a:off x="6898416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1" name="Полилиния 50">
            <a:extLst>
              <a:ext uri="{FF2B5EF4-FFF2-40B4-BE49-F238E27FC236}">
                <a16:creationId xmlns:a16="http://schemas.microsoft.com/office/drawing/2014/main" id="{BB633411-7080-EA12-C0FC-B029DB899106}"/>
              </a:ext>
            </a:extLst>
          </p:cNvPr>
          <p:cNvSpPr/>
          <p:nvPr/>
        </p:nvSpPr>
        <p:spPr>
          <a:xfrm>
            <a:off x="13186325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2" name="Полилиния 51">
            <a:extLst>
              <a:ext uri="{FF2B5EF4-FFF2-40B4-BE49-F238E27FC236}">
                <a16:creationId xmlns:a16="http://schemas.microsoft.com/office/drawing/2014/main" id="{16F30D3A-F479-A731-AAFF-9E73DDBE86FA}"/>
              </a:ext>
            </a:extLst>
          </p:cNvPr>
          <p:cNvSpPr/>
          <p:nvPr/>
        </p:nvSpPr>
        <p:spPr>
          <a:xfrm>
            <a:off x="622121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3" name="Полилиния 52">
            <a:extLst>
              <a:ext uri="{FF2B5EF4-FFF2-40B4-BE49-F238E27FC236}">
                <a16:creationId xmlns:a16="http://schemas.microsoft.com/office/drawing/2014/main" id="{7C04E510-C23C-CA1D-320B-22FE4DBD2E09}"/>
              </a:ext>
            </a:extLst>
          </p:cNvPr>
          <p:cNvSpPr/>
          <p:nvPr/>
        </p:nvSpPr>
        <p:spPr>
          <a:xfrm>
            <a:off x="6898416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4" name="Полилиния 53">
            <a:extLst>
              <a:ext uri="{FF2B5EF4-FFF2-40B4-BE49-F238E27FC236}">
                <a16:creationId xmlns:a16="http://schemas.microsoft.com/office/drawing/2014/main" id="{859E29D1-94FF-3F52-A4D6-74EF7ED4B8C1}"/>
              </a:ext>
            </a:extLst>
          </p:cNvPr>
          <p:cNvSpPr/>
          <p:nvPr/>
        </p:nvSpPr>
        <p:spPr>
          <a:xfrm>
            <a:off x="13186325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1765C96E-8E4A-3C5C-5B68-264CAD476D46}"/>
              </a:ext>
            </a:extLst>
          </p:cNvPr>
          <p:cNvSpPr/>
          <p:nvPr/>
        </p:nvSpPr>
        <p:spPr>
          <a:xfrm>
            <a:off x="622121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solidFill>
            <a:srgbClr val="FFE459"/>
          </a:soli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A98B9172-6F1E-E555-014D-7C15E560C6D9}"/>
              </a:ext>
            </a:extLst>
          </p:cNvPr>
          <p:cNvSpPr/>
          <p:nvPr/>
        </p:nvSpPr>
        <p:spPr>
          <a:xfrm>
            <a:off x="11862077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A0B362B-CB57-A518-E4EB-7726C0EF2CD9}"/>
              </a:ext>
            </a:extLst>
          </p:cNvPr>
          <p:cNvSpPr/>
          <p:nvPr/>
        </p:nvSpPr>
        <p:spPr>
          <a:xfrm>
            <a:off x="5589816" y="440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644D69E-11CD-4736-F7D5-B88CA730F17B}"/>
              </a:ext>
            </a:extLst>
          </p:cNvPr>
          <p:cNvSpPr/>
          <p:nvPr/>
        </p:nvSpPr>
        <p:spPr>
          <a:xfrm>
            <a:off x="18154020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BC21E72B-AAD0-52C0-63DE-8CC93AC9CDAE}"/>
              </a:ext>
            </a:extLst>
          </p:cNvPr>
          <p:cNvSpPr/>
          <p:nvPr/>
        </p:nvSpPr>
        <p:spPr>
          <a:xfrm>
            <a:off x="11866111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4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FBF91FF1-F28B-017B-C8AD-9FC8973B295B}"/>
              </a:ext>
            </a:extLst>
          </p:cNvPr>
          <p:cNvSpPr/>
          <p:nvPr/>
        </p:nvSpPr>
        <p:spPr>
          <a:xfrm>
            <a:off x="5589816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5B745D41-4F8D-EE03-6E21-23AB5EC2B37B}"/>
              </a:ext>
            </a:extLst>
          </p:cNvPr>
          <p:cNvSpPr/>
          <p:nvPr/>
        </p:nvSpPr>
        <p:spPr>
          <a:xfrm>
            <a:off x="18154020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7B34E-1C8B-D35B-64CF-458FB807BCE1}"/>
              </a:ext>
            </a:extLst>
          </p:cNvPr>
          <p:cNvSpPr txBox="1"/>
          <p:nvPr/>
        </p:nvSpPr>
        <p:spPr>
          <a:xfrm>
            <a:off x="1140408" y="1142239"/>
            <a:ext cx="5047573" cy="20128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800" dirty="0">
                <a:latin typeface="T-Sans" pitchFamily="2" charset="0"/>
                <a:ea typeface="T-Sans" pitchFamily="2" charset="0"/>
              </a:rPr>
              <a:t>Какие паттерны мы реализуем сегодня?</a:t>
            </a:r>
            <a:endParaRPr lang="en-US" sz="4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4A4C991-1C43-14C1-2612-95EBCB75D9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26</a:t>
            </a:fld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2734" y="4607594"/>
            <a:ext cx="628939" cy="62893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670A4AC-0CF3-AEE6-BA66-97F14ACEDA8D}"/>
              </a:ext>
            </a:extLst>
          </p:cNvPr>
          <p:cNvSpPr txBox="1"/>
          <p:nvPr/>
        </p:nvSpPr>
        <p:spPr>
          <a:xfrm>
            <a:off x="1150938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62EC7B-E9D3-B31D-F8C6-4064555A970E}"/>
              </a:ext>
            </a:extLst>
          </p:cNvPr>
          <p:cNvSpPr txBox="1"/>
          <p:nvPr/>
        </p:nvSpPr>
        <p:spPr>
          <a:xfrm>
            <a:off x="7432451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10B84-B0EB-E207-3247-55F10C2DCA09}"/>
              </a:ext>
            </a:extLst>
          </p:cNvPr>
          <p:cNvSpPr txBox="1"/>
          <p:nvPr/>
        </p:nvSpPr>
        <p:spPr>
          <a:xfrm>
            <a:off x="13773150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4E5F2C-A821-A958-3857-67001BE46CE3}"/>
              </a:ext>
            </a:extLst>
          </p:cNvPr>
          <p:cNvSpPr txBox="1"/>
          <p:nvPr/>
        </p:nvSpPr>
        <p:spPr>
          <a:xfrm>
            <a:off x="7432451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Создание объектов по типу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Factory Method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4D9D18-89DB-7DD2-4510-8FA61229FFB1}"/>
              </a:ext>
            </a:extLst>
          </p:cNvPr>
          <p:cNvSpPr txBox="1"/>
          <p:nvPr/>
        </p:nvSpPr>
        <p:spPr>
          <a:xfrm>
            <a:off x="7432451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F23360-F188-CB15-1456-79619AAC14FA}"/>
              </a:ext>
            </a:extLst>
          </p:cNvPr>
          <p:cNvSpPr txBox="1"/>
          <p:nvPr/>
        </p:nvSpPr>
        <p:spPr>
          <a:xfrm>
            <a:off x="13773150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11FD6-6AFD-98C0-FDE9-F7529AD9C47E}"/>
              </a:ext>
            </a:extLst>
          </p:cNvPr>
          <p:cNvSpPr txBox="1"/>
          <p:nvPr/>
        </p:nvSpPr>
        <p:spPr>
          <a:xfrm>
            <a:off x="1140409" y="3267399"/>
            <a:ext cx="4648292" cy="1735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Выбор паттерна в первую очередь определяется решаемой задачей!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Паттерн – не самоцель, а средство 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ее достижения!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0C63F-23B9-135F-5236-2C7142E5D8C0}"/>
              </a:ext>
            </a:extLst>
          </p:cNvPr>
          <p:cNvSpPr txBox="1"/>
          <p:nvPr/>
        </p:nvSpPr>
        <p:spPr>
          <a:xfrm>
            <a:off x="13773150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Обход списка инструментов в хранилище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Iterator / Visitor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B145F-E137-4EB4-B7FB-E50D9DD0CE6A}"/>
              </a:ext>
            </a:extLst>
          </p:cNvPr>
          <p:cNvSpPr txBox="1"/>
          <p:nvPr/>
        </p:nvSpPr>
        <p:spPr>
          <a:xfrm>
            <a:off x="1140408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 </a:t>
            </a:r>
            <a:r>
              <a:rPr lang="ru-RU" dirty="0">
                <a:latin typeface="T-Sans" pitchFamily="2" charset="0"/>
                <a:ea typeface="T-Sans" pitchFamily="2" charset="0"/>
              </a:rPr>
              <a:t>Несколько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агоритмов</a:t>
            </a:r>
            <a:r>
              <a:rPr lang="ru-RU" dirty="0">
                <a:latin typeface="T-Sans" pitchFamily="2" charset="0"/>
                <a:ea typeface="T-Sans" pitchFamily="2" charset="0"/>
              </a:rPr>
              <a:t> фильтрации инструментов в зависимости от ввода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Strategy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8AB11-CB11-9370-B4E1-E843D18BD208}"/>
              </a:ext>
            </a:extLst>
          </p:cNvPr>
          <p:cNvSpPr txBox="1"/>
          <p:nvPr/>
        </p:nvSpPr>
        <p:spPr>
          <a:xfrm>
            <a:off x="7432451" y="6993336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1E814-F63D-3632-48BD-7BC03C2FBD0C}"/>
              </a:ext>
            </a:extLst>
          </p:cNvPr>
          <p:cNvSpPr txBox="1"/>
          <p:nvPr/>
        </p:nvSpPr>
        <p:spPr>
          <a:xfrm>
            <a:off x="13773150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89618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E8557AB1-A44B-A62D-CE03-F924610893E1}"/>
              </a:ext>
            </a:extLst>
          </p:cNvPr>
          <p:cNvSpPr/>
          <p:nvPr/>
        </p:nvSpPr>
        <p:spPr>
          <a:xfrm>
            <a:off x="6898416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solidFill>
            <a:srgbClr val="FFE459"/>
          </a:soli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1" name="Полилиния 50">
            <a:extLst>
              <a:ext uri="{FF2B5EF4-FFF2-40B4-BE49-F238E27FC236}">
                <a16:creationId xmlns:a16="http://schemas.microsoft.com/office/drawing/2014/main" id="{BB633411-7080-EA12-C0FC-B029DB899106}"/>
              </a:ext>
            </a:extLst>
          </p:cNvPr>
          <p:cNvSpPr/>
          <p:nvPr/>
        </p:nvSpPr>
        <p:spPr>
          <a:xfrm>
            <a:off x="13186325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2" name="Полилиния 51">
            <a:extLst>
              <a:ext uri="{FF2B5EF4-FFF2-40B4-BE49-F238E27FC236}">
                <a16:creationId xmlns:a16="http://schemas.microsoft.com/office/drawing/2014/main" id="{16F30D3A-F479-A731-AAFF-9E73DDBE86FA}"/>
              </a:ext>
            </a:extLst>
          </p:cNvPr>
          <p:cNvSpPr/>
          <p:nvPr/>
        </p:nvSpPr>
        <p:spPr>
          <a:xfrm>
            <a:off x="622121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3" name="Полилиния 52">
            <a:extLst>
              <a:ext uri="{FF2B5EF4-FFF2-40B4-BE49-F238E27FC236}">
                <a16:creationId xmlns:a16="http://schemas.microsoft.com/office/drawing/2014/main" id="{7C04E510-C23C-CA1D-320B-22FE4DBD2E09}"/>
              </a:ext>
            </a:extLst>
          </p:cNvPr>
          <p:cNvSpPr/>
          <p:nvPr/>
        </p:nvSpPr>
        <p:spPr>
          <a:xfrm>
            <a:off x="6898416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4" name="Полилиния 53">
            <a:extLst>
              <a:ext uri="{FF2B5EF4-FFF2-40B4-BE49-F238E27FC236}">
                <a16:creationId xmlns:a16="http://schemas.microsoft.com/office/drawing/2014/main" id="{859E29D1-94FF-3F52-A4D6-74EF7ED4B8C1}"/>
              </a:ext>
            </a:extLst>
          </p:cNvPr>
          <p:cNvSpPr/>
          <p:nvPr/>
        </p:nvSpPr>
        <p:spPr>
          <a:xfrm>
            <a:off x="13186325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1765C96E-8E4A-3C5C-5B68-264CAD476D46}"/>
              </a:ext>
            </a:extLst>
          </p:cNvPr>
          <p:cNvSpPr/>
          <p:nvPr/>
        </p:nvSpPr>
        <p:spPr>
          <a:xfrm>
            <a:off x="622121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solidFill>
            <a:srgbClr val="EBEBEC"/>
          </a:soli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A98B9172-6F1E-E555-014D-7C15E560C6D9}"/>
              </a:ext>
            </a:extLst>
          </p:cNvPr>
          <p:cNvSpPr/>
          <p:nvPr/>
        </p:nvSpPr>
        <p:spPr>
          <a:xfrm>
            <a:off x="11862077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A0B362B-CB57-A518-E4EB-7726C0EF2CD9}"/>
              </a:ext>
            </a:extLst>
          </p:cNvPr>
          <p:cNvSpPr/>
          <p:nvPr/>
        </p:nvSpPr>
        <p:spPr>
          <a:xfrm>
            <a:off x="5589816" y="440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644D69E-11CD-4736-F7D5-B88CA730F17B}"/>
              </a:ext>
            </a:extLst>
          </p:cNvPr>
          <p:cNvSpPr/>
          <p:nvPr/>
        </p:nvSpPr>
        <p:spPr>
          <a:xfrm>
            <a:off x="18154020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BC21E72B-AAD0-52C0-63DE-8CC93AC9CDAE}"/>
              </a:ext>
            </a:extLst>
          </p:cNvPr>
          <p:cNvSpPr/>
          <p:nvPr/>
        </p:nvSpPr>
        <p:spPr>
          <a:xfrm>
            <a:off x="11866111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4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FBF91FF1-F28B-017B-C8AD-9FC8973B295B}"/>
              </a:ext>
            </a:extLst>
          </p:cNvPr>
          <p:cNvSpPr/>
          <p:nvPr/>
        </p:nvSpPr>
        <p:spPr>
          <a:xfrm>
            <a:off x="5589816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5B745D41-4F8D-EE03-6E21-23AB5EC2B37B}"/>
              </a:ext>
            </a:extLst>
          </p:cNvPr>
          <p:cNvSpPr/>
          <p:nvPr/>
        </p:nvSpPr>
        <p:spPr>
          <a:xfrm>
            <a:off x="18154020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7B34E-1C8B-D35B-64CF-458FB807BCE1}"/>
              </a:ext>
            </a:extLst>
          </p:cNvPr>
          <p:cNvSpPr txBox="1"/>
          <p:nvPr/>
        </p:nvSpPr>
        <p:spPr>
          <a:xfrm>
            <a:off x="1140408" y="1142239"/>
            <a:ext cx="5047573" cy="20128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800" dirty="0">
                <a:latin typeface="T-Sans" pitchFamily="2" charset="0"/>
                <a:ea typeface="T-Sans" pitchFamily="2" charset="0"/>
              </a:rPr>
              <a:t>Какие паттерны мы реализуем сегодня?</a:t>
            </a:r>
            <a:endParaRPr lang="en-US" sz="4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4A4C991-1C43-14C1-2612-95EBCB75D9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27</a:t>
            </a:fld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2734" y="4607594"/>
            <a:ext cx="628939" cy="62893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670A4AC-0CF3-AEE6-BA66-97F14ACEDA8D}"/>
              </a:ext>
            </a:extLst>
          </p:cNvPr>
          <p:cNvSpPr txBox="1"/>
          <p:nvPr/>
        </p:nvSpPr>
        <p:spPr>
          <a:xfrm>
            <a:off x="1150938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62EC7B-E9D3-B31D-F8C6-4064555A970E}"/>
              </a:ext>
            </a:extLst>
          </p:cNvPr>
          <p:cNvSpPr txBox="1"/>
          <p:nvPr/>
        </p:nvSpPr>
        <p:spPr>
          <a:xfrm>
            <a:off x="7432451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10B84-B0EB-E207-3247-55F10C2DCA09}"/>
              </a:ext>
            </a:extLst>
          </p:cNvPr>
          <p:cNvSpPr txBox="1"/>
          <p:nvPr/>
        </p:nvSpPr>
        <p:spPr>
          <a:xfrm>
            <a:off x="13773150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4E5F2C-A821-A958-3857-67001BE46CE3}"/>
              </a:ext>
            </a:extLst>
          </p:cNvPr>
          <p:cNvSpPr txBox="1"/>
          <p:nvPr/>
        </p:nvSpPr>
        <p:spPr>
          <a:xfrm>
            <a:off x="7432451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Создание объектов по типу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Factory Method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4D9D18-89DB-7DD2-4510-8FA61229FFB1}"/>
              </a:ext>
            </a:extLst>
          </p:cNvPr>
          <p:cNvSpPr txBox="1"/>
          <p:nvPr/>
        </p:nvSpPr>
        <p:spPr>
          <a:xfrm>
            <a:off x="7432451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F23360-F188-CB15-1456-79619AAC14FA}"/>
              </a:ext>
            </a:extLst>
          </p:cNvPr>
          <p:cNvSpPr txBox="1"/>
          <p:nvPr/>
        </p:nvSpPr>
        <p:spPr>
          <a:xfrm>
            <a:off x="13773150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11FD6-6AFD-98C0-FDE9-F7529AD9C47E}"/>
              </a:ext>
            </a:extLst>
          </p:cNvPr>
          <p:cNvSpPr txBox="1"/>
          <p:nvPr/>
        </p:nvSpPr>
        <p:spPr>
          <a:xfrm>
            <a:off x="1140409" y="3267399"/>
            <a:ext cx="4648292" cy="1735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Выбор паттерна в первую очередь определяется решаемой задачей!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Паттерн – не самоцель, а средство 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ее достижения!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0C63F-23B9-135F-5236-2C7142E5D8C0}"/>
              </a:ext>
            </a:extLst>
          </p:cNvPr>
          <p:cNvSpPr txBox="1"/>
          <p:nvPr/>
        </p:nvSpPr>
        <p:spPr>
          <a:xfrm>
            <a:off x="13773150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Обход списка инструментов в хранилище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Iterator / Visitor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B145F-E137-4EB4-B7FB-E50D9DD0CE6A}"/>
              </a:ext>
            </a:extLst>
          </p:cNvPr>
          <p:cNvSpPr txBox="1"/>
          <p:nvPr/>
        </p:nvSpPr>
        <p:spPr>
          <a:xfrm>
            <a:off x="1140408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 </a:t>
            </a:r>
            <a:r>
              <a:rPr lang="ru-RU" dirty="0">
                <a:latin typeface="T-Sans" pitchFamily="2" charset="0"/>
                <a:ea typeface="T-Sans" pitchFamily="2" charset="0"/>
              </a:rPr>
              <a:t>Несколько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агоритмов</a:t>
            </a:r>
            <a:r>
              <a:rPr lang="ru-RU" dirty="0">
                <a:latin typeface="T-Sans" pitchFamily="2" charset="0"/>
                <a:ea typeface="T-Sans" pitchFamily="2" charset="0"/>
              </a:rPr>
              <a:t> фильтрации инструментов в зависимости от ввода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Strategy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8AB11-CB11-9370-B4E1-E843D18BD208}"/>
              </a:ext>
            </a:extLst>
          </p:cNvPr>
          <p:cNvSpPr txBox="1"/>
          <p:nvPr/>
        </p:nvSpPr>
        <p:spPr>
          <a:xfrm>
            <a:off x="7432451" y="6993336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 </a:t>
            </a:r>
            <a:r>
              <a:rPr lang="ru-RU" dirty="0">
                <a:latin typeface="T-Sans" pitchFamily="2" charset="0"/>
                <a:ea typeface="T-Sans" pitchFamily="2" charset="0"/>
              </a:rPr>
              <a:t>Обработка пользовательских команд в </a:t>
            </a:r>
            <a:r>
              <a:rPr lang="en-US" dirty="0">
                <a:latin typeface="T-Sans" pitchFamily="2" charset="0"/>
                <a:ea typeface="T-Sans" pitchFamily="2" charset="0"/>
              </a:rPr>
              <a:t>CLI</a:t>
            </a: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1E814-F63D-3632-48BD-7BC03C2FBD0C}"/>
              </a:ext>
            </a:extLst>
          </p:cNvPr>
          <p:cNvSpPr txBox="1"/>
          <p:nvPr/>
        </p:nvSpPr>
        <p:spPr>
          <a:xfrm>
            <a:off x="13773150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863291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E8557AB1-A44B-A62D-CE03-F924610893E1}"/>
              </a:ext>
            </a:extLst>
          </p:cNvPr>
          <p:cNvSpPr/>
          <p:nvPr/>
        </p:nvSpPr>
        <p:spPr>
          <a:xfrm>
            <a:off x="6898416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solidFill>
            <a:srgbClr val="FFE459"/>
          </a:soli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1" name="Полилиния 50">
            <a:extLst>
              <a:ext uri="{FF2B5EF4-FFF2-40B4-BE49-F238E27FC236}">
                <a16:creationId xmlns:a16="http://schemas.microsoft.com/office/drawing/2014/main" id="{BB633411-7080-EA12-C0FC-B029DB899106}"/>
              </a:ext>
            </a:extLst>
          </p:cNvPr>
          <p:cNvSpPr/>
          <p:nvPr/>
        </p:nvSpPr>
        <p:spPr>
          <a:xfrm>
            <a:off x="13186325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2" name="Полилиния 51">
            <a:extLst>
              <a:ext uri="{FF2B5EF4-FFF2-40B4-BE49-F238E27FC236}">
                <a16:creationId xmlns:a16="http://schemas.microsoft.com/office/drawing/2014/main" id="{16F30D3A-F479-A731-AAFF-9E73DDBE86FA}"/>
              </a:ext>
            </a:extLst>
          </p:cNvPr>
          <p:cNvSpPr/>
          <p:nvPr/>
        </p:nvSpPr>
        <p:spPr>
          <a:xfrm>
            <a:off x="622121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3" name="Полилиния 52">
            <a:extLst>
              <a:ext uri="{FF2B5EF4-FFF2-40B4-BE49-F238E27FC236}">
                <a16:creationId xmlns:a16="http://schemas.microsoft.com/office/drawing/2014/main" id="{7C04E510-C23C-CA1D-320B-22FE4DBD2E09}"/>
              </a:ext>
            </a:extLst>
          </p:cNvPr>
          <p:cNvSpPr/>
          <p:nvPr/>
        </p:nvSpPr>
        <p:spPr>
          <a:xfrm>
            <a:off x="6898416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4" name="Полилиния 53">
            <a:extLst>
              <a:ext uri="{FF2B5EF4-FFF2-40B4-BE49-F238E27FC236}">
                <a16:creationId xmlns:a16="http://schemas.microsoft.com/office/drawing/2014/main" id="{859E29D1-94FF-3F52-A4D6-74EF7ED4B8C1}"/>
              </a:ext>
            </a:extLst>
          </p:cNvPr>
          <p:cNvSpPr/>
          <p:nvPr/>
        </p:nvSpPr>
        <p:spPr>
          <a:xfrm>
            <a:off x="13186325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1765C96E-8E4A-3C5C-5B68-264CAD476D46}"/>
              </a:ext>
            </a:extLst>
          </p:cNvPr>
          <p:cNvSpPr/>
          <p:nvPr/>
        </p:nvSpPr>
        <p:spPr>
          <a:xfrm>
            <a:off x="622121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solidFill>
            <a:srgbClr val="EBEBEC"/>
          </a:soli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A98B9172-6F1E-E555-014D-7C15E560C6D9}"/>
              </a:ext>
            </a:extLst>
          </p:cNvPr>
          <p:cNvSpPr/>
          <p:nvPr/>
        </p:nvSpPr>
        <p:spPr>
          <a:xfrm>
            <a:off x="11862077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A0B362B-CB57-A518-E4EB-7726C0EF2CD9}"/>
              </a:ext>
            </a:extLst>
          </p:cNvPr>
          <p:cNvSpPr/>
          <p:nvPr/>
        </p:nvSpPr>
        <p:spPr>
          <a:xfrm>
            <a:off x="5589816" y="440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644D69E-11CD-4736-F7D5-B88CA730F17B}"/>
              </a:ext>
            </a:extLst>
          </p:cNvPr>
          <p:cNvSpPr/>
          <p:nvPr/>
        </p:nvSpPr>
        <p:spPr>
          <a:xfrm>
            <a:off x="18154020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BC21E72B-AAD0-52C0-63DE-8CC93AC9CDAE}"/>
              </a:ext>
            </a:extLst>
          </p:cNvPr>
          <p:cNvSpPr/>
          <p:nvPr/>
        </p:nvSpPr>
        <p:spPr>
          <a:xfrm>
            <a:off x="11866111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4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FBF91FF1-F28B-017B-C8AD-9FC8973B295B}"/>
              </a:ext>
            </a:extLst>
          </p:cNvPr>
          <p:cNvSpPr/>
          <p:nvPr/>
        </p:nvSpPr>
        <p:spPr>
          <a:xfrm>
            <a:off x="5589816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5B745D41-4F8D-EE03-6E21-23AB5EC2B37B}"/>
              </a:ext>
            </a:extLst>
          </p:cNvPr>
          <p:cNvSpPr/>
          <p:nvPr/>
        </p:nvSpPr>
        <p:spPr>
          <a:xfrm>
            <a:off x="18154020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7B34E-1C8B-D35B-64CF-458FB807BCE1}"/>
              </a:ext>
            </a:extLst>
          </p:cNvPr>
          <p:cNvSpPr txBox="1"/>
          <p:nvPr/>
        </p:nvSpPr>
        <p:spPr>
          <a:xfrm>
            <a:off x="1140408" y="1142239"/>
            <a:ext cx="5047573" cy="20128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800" dirty="0">
                <a:latin typeface="T-Sans" pitchFamily="2" charset="0"/>
                <a:ea typeface="T-Sans" pitchFamily="2" charset="0"/>
              </a:rPr>
              <a:t>Какие паттерны мы реализуем сегодня?</a:t>
            </a:r>
            <a:endParaRPr lang="en-US" sz="4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4A4C991-1C43-14C1-2612-95EBCB75D9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28</a:t>
            </a:fld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2734" y="4607594"/>
            <a:ext cx="628939" cy="62893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670A4AC-0CF3-AEE6-BA66-97F14ACEDA8D}"/>
              </a:ext>
            </a:extLst>
          </p:cNvPr>
          <p:cNvSpPr txBox="1"/>
          <p:nvPr/>
        </p:nvSpPr>
        <p:spPr>
          <a:xfrm>
            <a:off x="1150938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62EC7B-E9D3-B31D-F8C6-4064555A970E}"/>
              </a:ext>
            </a:extLst>
          </p:cNvPr>
          <p:cNvSpPr txBox="1"/>
          <p:nvPr/>
        </p:nvSpPr>
        <p:spPr>
          <a:xfrm>
            <a:off x="7432451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10B84-B0EB-E207-3247-55F10C2DCA09}"/>
              </a:ext>
            </a:extLst>
          </p:cNvPr>
          <p:cNvSpPr txBox="1"/>
          <p:nvPr/>
        </p:nvSpPr>
        <p:spPr>
          <a:xfrm>
            <a:off x="13773150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4E5F2C-A821-A958-3857-67001BE46CE3}"/>
              </a:ext>
            </a:extLst>
          </p:cNvPr>
          <p:cNvSpPr txBox="1"/>
          <p:nvPr/>
        </p:nvSpPr>
        <p:spPr>
          <a:xfrm>
            <a:off x="7432451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Создание объектов по типу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Factory Method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4D9D18-89DB-7DD2-4510-8FA61229FFB1}"/>
              </a:ext>
            </a:extLst>
          </p:cNvPr>
          <p:cNvSpPr txBox="1"/>
          <p:nvPr/>
        </p:nvSpPr>
        <p:spPr>
          <a:xfrm>
            <a:off x="7432451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F23360-F188-CB15-1456-79619AAC14FA}"/>
              </a:ext>
            </a:extLst>
          </p:cNvPr>
          <p:cNvSpPr txBox="1"/>
          <p:nvPr/>
        </p:nvSpPr>
        <p:spPr>
          <a:xfrm>
            <a:off x="13773150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11FD6-6AFD-98C0-FDE9-F7529AD9C47E}"/>
              </a:ext>
            </a:extLst>
          </p:cNvPr>
          <p:cNvSpPr txBox="1"/>
          <p:nvPr/>
        </p:nvSpPr>
        <p:spPr>
          <a:xfrm>
            <a:off x="1140409" y="3267399"/>
            <a:ext cx="4648292" cy="1735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Выбор паттерна в первую очередь определяется решаемой задачей!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Паттерн – не самоцель, а средство 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ее достижения!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0C63F-23B9-135F-5236-2C7142E5D8C0}"/>
              </a:ext>
            </a:extLst>
          </p:cNvPr>
          <p:cNvSpPr txBox="1"/>
          <p:nvPr/>
        </p:nvSpPr>
        <p:spPr>
          <a:xfrm>
            <a:off x="13773150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Обход списка инструментов в хранилище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Iterator / Visitor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B145F-E137-4EB4-B7FB-E50D9DD0CE6A}"/>
              </a:ext>
            </a:extLst>
          </p:cNvPr>
          <p:cNvSpPr txBox="1"/>
          <p:nvPr/>
        </p:nvSpPr>
        <p:spPr>
          <a:xfrm>
            <a:off x="1140408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 </a:t>
            </a:r>
            <a:r>
              <a:rPr lang="ru-RU" dirty="0">
                <a:latin typeface="T-Sans" pitchFamily="2" charset="0"/>
                <a:ea typeface="T-Sans" pitchFamily="2" charset="0"/>
              </a:rPr>
              <a:t>Несколько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агоритмов</a:t>
            </a:r>
            <a:r>
              <a:rPr lang="ru-RU" dirty="0">
                <a:latin typeface="T-Sans" pitchFamily="2" charset="0"/>
                <a:ea typeface="T-Sans" pitchFamily="2" charset="0"/>
              </a:rPr>
              <a:t> фильтрации инструментов в зависимости от ввода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Strategy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8AB11-CB11-9370-B4E1-E843D18BD208}"/>
              </a:ext>
            </a:extLst>
          </p:cNvPr>
          <p:cNvSpPr txBox="1"/>
          <p:nvPr/>
        </p:nvSpPr>
        <p:spPr>
          <a:xfrm>
            <a:off x="7432451" y="6993336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 </a:t>
            </a:r>
            <a:r>
              <a:rPr lang="ru-RU" dirty="0">
                <a:latin typeface="T-Sans" pitchFamily="2" charset="0"/>
                <a:ea typeface="T-Sans" pitchFamily="2" charset="0"/>
              </a:rPr>
              <a:t>Обработка пользовательских команд в </a:t>
            </a:r>
            <a:r>
              <a:rPr lang="en-US" dirty="0">
                <a:latin typeface="T-Sans" pitchFamily="2" charset="0"/>
                <a:ea typeface="T-Sans" pitchFamily="2" charset="0"/>
              </a:rPr>
              <a:t>CLI</a:t>
            </a: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Command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1E814-F63D-3632-48BD-7BC03C2FBD0C}"/>
              </a:ext>
            </a:extLst>
          </p:cNvPr>
          <p:cNvSpPr txBox="1"/>
          <p:nvPr/>
        </p:nvSpPr>
        <p:spPr>
          <a:xfrm>
            <a:off x="13773150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09862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E8557AB1-A44B-A62D-CE03-F924610893E1}"/>
              </a:ext>
            </a:extLst>
          </p:cNvPr>
          <p:cNvSpPr/>
          <p:nvPr/>
        </p:nvSpPr>
        <p:spPr>
          <a:xfrm>
            <a:off x="6898416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solidFill>
            <a:srgbClr val="EBEBEC"/>
          </a:soli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1" name="Полилиния 50">
            <a:extLst>
              <a:ext uri="{FF2B5EF4-FFF2-40B4-BE49-F238E27FC236}">
                <a16:creationId xmlns:a16="http://schemas.microsoft.com/office/drawing/2014/main" id="{BB633411-7080-EA12-C0FC-B029DB899106}"/>
              </a:ext>
            </a:extLst>
          </p:cNvPr>
          <p:cNvSpPr/>
          <p:nvPr/>
        </p:nvSpPr>
        <p:spPr>
          <a:xfrm>
            <a:off x="13186325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solidFill>
            <a:srgbClr val="FFE459"/>
          </a:soli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2" name="Полилиния 51">
            <a:extLst>
              <a:ext uri="{FF2B5EF4-FFF2-40B4-BE49-F238E27FC236}">
                <a16:creationId xmlns:a16="http://schemas.microsoft.com/office/drawing/2014/main" id="{16F30D3A-F479-A731-AAFF-9E73DDBE86FA}"/>
              </a:ext>
            </a:extLst>
          </p:cNvPr>
          <p:cNvSpPr/>
          <p:nvPr/>
        </p:nvSpPr>
        <p:spPr>
          <a:xfrm>
            <a:off x="622121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3" name="Полилиния 52">
            <a:extLst>
              <a:ext uri="{FF2B5EF4-FFF2-40B4-BE49-F238E27FC236}">
                <a16:creationId xmlns:a16="http://schemas.microsoft.com/office/drawing/2014/main" id="{7C04E510-C23C-CA1D-320B-22FE4DBD2E09}"/>
              </a:ext>
            </a:extLst>
          </p:cNvPr>
          <p:cNvSpPr/>
          <p:nvPr/>
        </p:nvSpPr>
        <p:spPr>
          <a:xfrm>
            <a:off x="6898416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4" name="Полилиния 53">
            <a:extLst>
              <a:ext uri="{FF2B5EF4-FFF2-40B4-BE49-F238E27FC236}">
                <a16:creationId xmlns:a16="http://schemas.microsoft.com/office/drawing/2014/main" id="{859E29D1-94FF-3F52-A4D6-74EF7ED4B8C1}"/>
              </a:ext>
            </a:extLst>
          </p:cNvPr>
          <p:cNvSpPr/>
          <p:nvPr/>
        </p:nvSpPr>
        <p:spPr>
          <a:xfrm>
            <a:off x="13186325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1765C96E-8E4A-3C5C-5B68-264CAD476D46}"/>
              </a:ext>
            </a:extLst>
          </p:cNvPr>
          <p:cNvSpPr/>
          <p:nvPr/>
        </p:nvSpPr>
        <p:spPr>
          <a:xfrm>
            <a:off x="622121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solidFill>
            <a:srgbClr val="EBEBEC"/>
          </a:soli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A98B9172-6F1E-E555-014D-7C15E560C6D9}"/>
              </a:ext>
            </a:extLst>
          </p:cNvPr>
          <p:cNvSpPr/>
          <p:nvPr/>
        </p:nvSpPr>
        <p:spPr>
          <a:xfrm>
            <a:off x="11862077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A0B362B-CB57-A518-E4EB-7726C0EF2CD9}"/>
              </a:ext>
            </a:extLst>
          </p:cNvPr>
          <p:cNvSpPr/>
          <p:nvPr/>
        </p:nvSpPr>
        <p:spPr>
          <a:xfrm>
            <a:off x="5589816" y="440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644D69E-11CD-4736-F7D5-B88CA730F17B}"/>
              </a:ext>
            </a:extLst>
          </p:cNvPr>
          <p:cNvSpPr/>
          <p:nvPr/>
        </p:nvSpPr>
        <p:spPr>
          <a:xfrm>
            <a:off x="18154020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BC21E72B-AAD0-52C0-63DE-8CC93AC9CDAE}"/>
              </a:ext>
            </a:extLst>
          </p:cNvPr>
          <p:cNvSpPr/>
          <p:nvPr/>
        </p:nvSpPr>
        <p:spPr>
          <a:xfrm>
            <a:off x="11866111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4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FBF91FF1-F28B-017B-C8AD-9FC8973B295B}"/>
              </a:ext>
            </a:extLst>
          </p:cNvPr>
          <p:cNvSpPr/>
          <p:nvPr/>
        </p:nvSpPr>
        <p:spPr>
          <a:xfrm>
            <a:off x="5589816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5B745D41-4F8D-EE03-6E21-23AB5EC2B37B}"/>
              </a:ext>
            </a:extLst>
          </p:cNvPr>
          <p:cNvSpPr/>
          <p:nvPr/>
        </p:nvSpPr>
        <p:spPr>
          <a:xfrm>
            <a:off x="18154020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7B34E-1C8B-D35B-64CF-458FB807BCE1}"/>
              </a:ext>
            </a:extLst>
          </p:cNvPr>
          <p:cNvSpPr txBox="1"/>
          <p:nvPr/>
        </p:nvSpPr>
        <p:spPr>
          <a:xfrm>
            <a:off x="1140408" y="1142239"/>
            <a:ext cx="5047573" cy="20128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800" dirty="0">
                <a:latin typeface="T-Sans" pitchFamily="2" charset="0"/>
                <a:ea typeface="T-Sans" pitchFamily="2" charset="0"/>
              </a:rPr>
              <a:t>Какие паттерны мы реализуем сегодня?</a:t>
            </a:r>
            <a:endParaRPr lang="en-US" sz="4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4A4C991-1C43-14C1-2612-95EBCB75D9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29</a:t>
            </a:fld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2734" y="4607594"/>
            <a:ext cx="628939" cy="62893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670A4AC-0CF3-AEE6-BA66-97F14ACEDA8D}"/>
              </a:ext>
            </a:extLst>
          </p:cNvPr>
          <p:cNvSpPr txBox="1"/>
          <p:nvPr/>
        </p:nvSpPr>
        <p:spPr>
          <a:xfrm>
            <a:off x="1150938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62EC7B-E9D3-B31D-F8C6-4064555A970E}"/>
              </a:ext>
            </a:extLst>
          </p:cNvPr>
          <p:cNvSpPr txBox="1"/>
          <p:nvPr/>
        </p:nvSpPr>
        <p:spPr>
          <a:xfrm>
            <a:off x="7432451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10B84-B0EB-E207-3247-55F10C2DCA09}"/>
              </a:ext>
            </a:extLst>
          </p:cNvPr>
          <p:cNvSpPr txBox="1"/>
          <p:nvPr/>
        </p:nvSpPr>
        <p:spPr>
          <a:xfrm>
            <a:off x="13773150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4E5F2C-A821-A958-3857-67001BE46CE3}"/>
              </a:ext>
            </a:extLst>
          </p:cNvPr>
          <p:cNvSpPr txBox="1"/>
          <p:nvPr/>
        </p:nvSpPr>
        <p:spPr>
          <a:xfrm>
            <a:off x="7432451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Создание объектов по типу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Factory Method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4D9D18-89DB-7DD2-4510-8FA61229FFB1}"/>
              </a:ext>
            </a:extLst>
          </p:cNvPr>
          <p:cNvSpPr txBox="1"/>
          <p:nvPr/>
        </p:nvSpPr>
        <p:spPr>
          <a:xfrm>
            <a:off x="7432451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F23360-F188-CB15-1456-79619AAC14FA}"/>
              </a:ext>
            </a:extLst>
          </p:cNvPr>
          <p:cNvSpPr txBox="1"/>
          <p:nvPr/>
        </p:nvSpPr>
        <p:spPr>
          <a:xfrm>
            <a:off x="13773150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11FD6-6AFD-98C0-FDE9-F7529AD9C47E}"/>
              </a:ext>
            </a:extLst>
          </p:cNvPr>
          <p:cNvSpPr txBox="1"/>
          <p:nvPr/>
        </p:nvSpPr>
        <p:spPr>
          <a:xfrm>
            <a:off x="1140409" y="3267399"/>
            <a:ext cx="4648292" cy="1735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Выбор паттерна в первую очередь определяется решаемой задачей!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Паттерн – не самоцель, а средство 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ее достижения!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0C63F-23B9-135F-5236-2C7142E5D8C0}"/>
              </a:ext>
            </a:extLst>
          </p:cNvPr>
          <p:cNvSpPr txBox="1"/>
          <p:nvPr/>
        </p:nvSpPr>
        <p:spPr>
          <a:xfrm>
            <a:off x="13773150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Обход списка инструментов в хранилище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Iterator / Visitor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B145F-E137-4EB4-B7FB-E50D9DD0CE6A}"/>
              </a:ext>
            </a:extLst>
          </p:cNvPr>
          <p:cNvSpPr txBox="1"/>
          <p:nvPr/>
        </p:nvSpPr>
        <p:spPr>
          <a:xfrm>
            <a:off x="1140408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 </a:t>
            </a:r>
            <a:r>
              <a:rPr lang="ru-RU" dirty="0">
                <a:latin typeface="T-Sans" pitchFamily="2" charset="0"/>
                <a:ea typeface="T-Sans" pitchFamily="2" charset="0"/>
              </a:rPr>
              <a:t>Несколько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агоритмов</a:t>
            </a:r>
            <a:r>
              <a:rPr lang="ru-RU" dirty="0">
                <a:latin typeface="T-Sans" pitchFamily="2" charset="0"/>
                <a:ea typeface="T-Sans" pitchFamily="2" charset="0"/>
              </a:rPr>
              <a:t> фильтрации инструментов в зависимости от ввода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Strategy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8AB11-CB11-9370-B4E1-E843D18BD208}"/>
              </a:ext>
            </a:extLst>
          </p:cNvPr>
          <p:cNvSpPr txBox="1"/>
          <p:nvPr/>
        </p:nvSpPr>
        <p:spPr>
          <a:xfrm>
            <a:off x="7432451" y="6993336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 </a:t>
            </a:r>
            <a:r>
              <a:rPr lang="ru-RU" dirty="0">
                <a:latin typeface="T-Sans" pitchFamily="2" charset="0"/>
                <a:ea typeface="T-Sans" pitchFamily="2" charset="0"/>
              </a:rPr>
              <a:t>Обработка пользовательских команд в </a:t>
            </a:r>
            <a:r>
              <a:rPr lang="en-US" dirty="0">
                <a:latin typeface="T-Sans" pitchFamily="2" charset="0"/>
                <a:ea typeface="T-Sans" pitchFamily="2" charset="0"/>
              </a:rPr>
              <a:t>CLI</a:t>
            </a: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Command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1E814-F63D-3632-48BD-7BC03C2FBD0C}"/>
              </a:ext>
            </a:extLst>
          </p:cNvPr>
          <p:cNvSpPr txBox="1"/>
          <p:nvPr/>
        </p:nvSpPr>
        <p:spPr>
          <a:xfrm>
            <a:off x="13773149" y="6987582"/>
            <a:ext cx="5310497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Замер времени исполнения методов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???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143849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E8557AB1-A44B-A62D-CE03-F924610893E1}"/>
              </a:ext>
            </a:extLst>
          </p:cNvPr>
          <p:cNvSpPr/>
          <p:nvPr/>
        </p:nvSpPr>
        <p:spPr>
          <a:xfrm>
            <a:off x="6898416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solidFill>
            <a:srgbClr val="EBEBEC"/>
          </a:soli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1" name="Полилиния 50">
            <a:extLst>
              <a:ext uri="{FF2B5EF4-FFF2-40B4-BE49-F238E27FC236}">
                <a16:creationId xmlns:a16="http://schemas.microsoft.com/office/drawing/2014/main" id="{BB633411-7080-EA12-C0FC-B029DB899106}"/>
              </a:ext>
            </a:extLst>
          </p:cNvPr>
          <p:cNvSpPr/>
          <p:nvPr/>
        </p:nvSpPr>
        <p:spPr>
          <a:xfrm>
            <a:off x="13186325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solidFill>
            <a:srgbClr val="FFE459"/>
          </a:soli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2" name="Полилиния 51">
            <a:extLst>
              <a:ext uri="{FF2B5EF4-FFF2-40B4-BE49-F238E27FC236}">
                <a16:creationId xmlns:a16="http://schemas.microsoft.com/office/drawing/2014/main" id="{16F30D3A-F479-A731-AAFF-9E73DDBE86FA}"/>
              </a:ext>
            </a:extLst>
          </p:cNvPr>
          <p:cNvSpPr/>
          <p:nvPr/>
        </p:nvSpPr>
        <p:spPr>
          <a:xfrm>
            <a:off x="622121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3" name="Полилиния 52">
            <a:extLst>
              <a:ext uri="{FF2B5EF4-FFF2-40B4-BE49-F238E27FC236}">
                <a16:creationId xmlns:a16="http://schemas.microsoft.com/office/drawing/2014/main" id="{7C04E510-C23C-CA1D-320B-22FE4DBD2E09}"/>
              </a:ext>
            </a:extLst>
          </p:cNvPr>
          <p:cNvSpPr/>
          <p:nvPr/>
        </p:nvSpPr>
        <p:spPr>
          <a:xfrm>
            <a:off x="6898416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4" name="Полилиния 53">
            <a:extLst>
              <a:ext uri="{FF2B5EF4-FFF2-40B4-BE49-F238E27FC236}">
                <a16:creationId xmlns:a16="http://schemas.microsoft.com/office/drawing/2014/main" id="{859E29D1-94FF-3F52-A4D6-74EF7ED4B8C1}"/>
              </a:ext>
            </a:extLst>
          </p:cNvPr>
          <p:cNvSpPr/>
          <p:nvPr/>
        </p:nvSpPr>
        <p:spPr>
          <a:xfrm>
            <a:off x="13186325" y="64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1765C96E-8E4A-3C5C-5B68-264CAD476D46}"/>
              </a:ext>
            </a:extLst>
          </p:cNvPr>
          <p:cNvSpPr/>
          <p:nvPr/>
        </p:nvSpPr>
        <p:spPr>
          <a:xfrm>
            <a:off x="622121" y="5721878"/>
            <a:ext cx="6002469" cy="4797572"/>
          </a:xfrm>
          <a:custGeom>
            <a:avLst/>
            <a:gdLst>
              <a:gd name="connsiteX0" fmla="*/ 625837 w 6002469"/>
              <a:gd name="connsiteY0" fmla="*/ 0 h 4797572"/>
              <a:gd name="connsiteX1" fmla="*/ 5383738 w 6002469"/>
              <a:gd name="connsiteY1" fmla="*/ 0 h 4797572"/>
              <a:gd name="connsiteX2" fmla="*/ 6002469 w 6002469"/>
              <a:gd name="connsiteY2" fmla="*/ 618016 h 4797572"/>
              <a:gd name="connsiteX3" fmla="*/ 6002469 w 6002469"/>
              <a:gd name="connsiteY3" fmla="*/ 1439688 h 4797572"/>
              <a:gd name="connsiteX4" fmla="*/ 6002469 w 6002469"/>
              <a:gd name="connsiteY4" fmla="*/ 2187610 h 4797572"/>
              <a:gd name="connsiteX5" fmla="*/ 6002469 w 6002469"/>
              <a:gd name="connsiteY5" fmla="*/ 3009282 h 4797572"/>
              <a:gd name="connsiteX6" fmla="*/ 5408322 w 6002469"/>
              <a:gd name="connsiteY6" fmla="*/ 3602742 h 4797572"/>
              <a:gd name="connsiteX7" fmla="*/ 4814186 w 6002469"/>
              <a:gd name="connsiteY7" fmla="*/ 4198169 h 4797572"/>
              <a:gd name="connsiteX8" fmla="*/ 4216080 w 6002469"/>
              <a:gd name="connsiteY8" fmla="*/ 4797572 h 4797572"/>
              <a:gd name="connsiteX9" fmla="*/ 618731 w 6002469"/>
              <a:gd name="connsiteY9" fmla="*/ 4797572 h 4797572"/>
              <a:gd name="connsiteX10" fmla="*/ 2 w 6002469"/>
              <a:gd name="connsiteY10" fmla="*/ 4177960 h 4797572"/>
              <a:gd name="connsiteX11" fmla="*/ 2078 w 6002469"/>
              <a:gd name="connsiteY11" fmla="*/ 3377372 h 4797572"/>
              <a:gd name="connsiteX12" fmla="*/ 2 w 6002469"/>
              <a:gd name="connsiteY12" fmla="*/ 3356288 h 4797572"/>
              <a:gd name="connsiteX13" fmla="*/ 7108 w 6002469"/>
              <a:gd name="connsiteY13" fmla="*/ 616415 h 4797572"/>
              <a:gd name="connsiteX14" fmla="*/ 625837 w 6002469"/>
              <a:gd name="connsiteY14" fmla="*/ 0 h 479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2469" h="4797572">
                <a:moveTo>
                  <a:pt x="625837" y="0"/>
                </a:moveTo>
                <a:lnTo>
                  <a:pt x="5383738" y="0"/>
                </a:lnTo>
                <a:cubicBezTo>
                  <a:pt x="5725453" y="0"/>
                  <a:pt x="6002469" y="276695"/>
                  <a:pt x="6002469" y="618016"/>
                </a:cubicBezTo>
                <a:lnTo>
                  <a:pt x="6002469" y="1439688"/>
                </a:lnTo>
                <a:lnTo>
                  <a:pt x="6002469" y="2187610"/>
                </a:lnTo>
                <a:lnTo>
                  <a:pt x="6002469" y="3009282"/>
                </a:lnTo>
                <a:cubicBezTo>
                  <a:pt x="6002469" y="3337047"/>
                  <a:pt x="5736456" y="3602742"/>
                  <a:pt x="5408322" y="3602742"/>
                </a:cubicBezTo>
                <a:cubicBezTo>
                  <a:pt x="5080189" y="3602742"/>
                  <a:pt x="4814186" y="3870415"/>
                  <a:pt x="4814186" y="4198169"/>
                </a:cubicBezTo>
                <a:cubicBezTo>
                  <a:pt x="4814186" y="4528117"/>
                  <a:pt x="4546400" y="4797572"/>
                  <a:pt x="4216080" y="4797572"/>
                </a:cubicBezTo>
                <a:lnTo>
                  <a:pt x="618731" y="4797572"/>
                </a:lnTo>
                <a:cubicBezTo>
                  <a:pt x="276389" y="4797572"/>
                  <a:pt x="-885" y="4519898"/>
                  <a:pt x="2" y="4177960"/>
                </a:cubicBezTo>
                <a:lnTo>
                  <a:pt x="2078" y="3377372"/>
                </a:lnTo>
                <a:lnTo>
                  <a:pt x="2" y="3356288"/>
                </a:lnTo>
                <a:lnTo>
                  <a:pt x="7108" y="616415"/>
                </a:lnTo>
                <a:cubicBezTo>
                  <a:pt x="7992" y="275720"/>
                  <a:pt x="284747" y="0"/>
                  <a:pt x="625837" y="0"/>
                </a:cubicBezTo>
                <a:close/>
              </a:path>
            </a:pathLst>
          </a:custGeom>
          <a:solidFill>
            <a:srgbClr val="EBEBEC"/>
          </a:soli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A98B9172-6F1E-E555-014D-7C15E560C6D9}"/>
              </a:ext>
            </a:extLst>
          </p:cNvPr>
          <p:cNvSpPr/>
          <p:nvPr/>
        </p:nvSpPr>
        <p:spPr>
          <a:xfrm>
            <a:off x="11862077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A0B362B-CB57-A518-E4EB-7726C0EF2CD9}"/>
              </a:ext>
            </a:extLst>
          </p:cNvPr>
          <p:cNvSpPr/>
          <p:nvPr/>
        </p:nvSpPr>
        <p:spPr>
          <a:xfrm>
            <a:off x="5589816" y="440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644D69E-11CD-4736-F7D5-B88CA730F17B}"/>
              </a:ext>
            </a:extLst>
          </p:cNvPr>
          <p:cNvSpPr/>
          <p:nvPr/>
        </p:nvSpPr>
        <p:spPr>
          <a:xfrm>
            <a:off x="18154020" y="4400828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BC21E72B-AAD0-52C0-63DE-8CC93AC9CDAE}"/>
              </a:ext>
            </a:extLst>
          </p:cNvPr>
          <p:cNvSpPr/>
          <p:nvPr/>
        </p:nvSpPr>
        <p:spPr>
          <a:xfrm>
            <a:off x="11866111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4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FBF91FF1-F28B-017B-C8AD-9FC8973B295B}"/>
              </a:ext>
            </a:extLst>
          </p:cNvPr>
          <p:cNvSpPr/>
          <p:nvPr/>
        </p:nvSpPr>
        <p:spPr>
          <a:xfrm>
            <a:off x="5589816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5B745D41-4F8D-EE03-6E21-23AB5EC2B37B}"/>
              </a:ext>
            </a:extLst>
          </p:cNvPr>
          <p:cNvSpPr/>
          <p:nvPr/>
        </p:nvSpPr>
        <p:spPr>
          <a:xfrm>
            <a:off x="18154020" y="9484676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0</a:t>
            </a:r>
            <a:r>
              <a:rPr lang="ru-RU" sz="3200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7B34E-1C8B-D35B-64CF-458FB807BCE1}"/>
              </a:ext>
            </a:extLst>
          </p:cNvPr>
          <p:cNvSpPr txBox="1"/>
          <p:nvPr/>
        </p:nvSpPr>
        <p:spPr>
          <a:xfrm>
            <a:off x="1140408" y="1142239"/>
            <a:ext cx="5047573" cy="20128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800" dirty="0">
                <a:latin typeface="T-Sans" pitchFamily="2" charset="0"/>
                <a:ea typeface="T-Sans" pitchFamily="2" charset="0"/>
              </a:rPr>
              <a:t>Какие паттерны мы реализуем сегодня?</a:t>
            </a:r>
            <a:endParaRPr lang="en-US" sz="4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4A4C991-1C43-14C1-2612-95EBCB75D9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30</a:t>
            </a:fld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2734" y="4607594"/>
            <a:ext cx="628939" cy="62893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670A4AC-0CF3-AEE6-BA66-97F14ACEDA8D}"/>
              </a:ext>
            </a:extLst>
          </p:cNvPr>
          <p:cNvSpPr txBox="1"/>
          <p:nvPr/>
        </p:nvSpPr>
        <p:spPr>
          <a:xfrm>
            <a:off x="1150938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62EC7B-E9D3-B31D-F8C6-4064555A970E}"/>
              </a:ext>
            </a:extLst>
          </p:cNvPr>
          <p:cNvSpPr txBox="1"/>
          <p:nvPr/>
        </p:nvSpPr>
        <p:spPr>
          <a:xfrm>
            <a:off x="7432451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10B84-B0EB-E207-3247-55F10C2DCA09}"/>
              </a:ext>
            </a:extLst>
          </p:cNvPr>
          <p:cNvSpPr txBox="1"/>
          <p:nvPr/>
        </p:nvSpPr>
        <p:spPr>
          <a:xfrm>
            <a:off x="13773150" y="618103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4E5F2C-A821-A958-3857-67001BE46CE3}"/>
              </a:ext>
            </a:extLst>
          </p:cNvPr>
          <p:cNvSpPr txBox="1"/>
          <p:nvPr/>
        </p:nvSpPr>
        <p:spPr>
          <a:xfrm>
            <a:off x="7432451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Создание объектов по типу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Factory Method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4D9D18-89DB-7DD2-4510-8FA61229FFB1}"/>
              </a:ext>
            </a:extLst>
          </p:cNvPr>
          <p:cNvSpPr txBox="1"/>
          <p:nvPr/>
        </p:nvSpPr>
        <p:spPr>
          <a:xfrm>
            <a:off x="7432451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F23360-F188-CB15-1456-79619AAC14FA}"/>
              </a:ext>
            </a:extLst>
          </p:cNvPr>
          <p:cNvSpPr txBox="1"/>
          <p:nvPr/>
        </p:nvSpPr>
        <p:spPr>
          <a:xfrm>
            <a:off x="13773150" y="1084100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Задача №2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11FD6-6AFD-98C0-FDE9-F7529AD9C47E}"/>
              </a:ext>
            </a:extLst>
          </p:cNvPr>
          <p:cNvSpPr txBox="1"/>
          <p:nvPr/>
        </p:nvSpPr>
        <p:spPr>
          <a:xfrm>
            <a:off x="1140409" y="3267399"/>
            <a:ext cx="4648292" cy="1735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Выбор паттерна в первую очередь определяется решаемой задачей!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Паттерн – не самоцель, а средство 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ее достижения!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0C63F-23B9-135F-5236-2C7142E5D8C0}"/>
              </a:ext>
            </a:extLst>
          </p:cNvPr>
          <p:cNvSpPr txBox="1"/>
          <p:nvPr/>
        </p:nvSpPr>
        <p:spPr>
          <a:xfrm>
            <a:off x="13773150" y="1890648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Обход списка инструментов в хранилище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Iterator / Visitor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B145F-E137-4EB4-B7FB-E50D9DD0CE6A}"/>
              </a:ext>
            </a:extLst>
          </p:cNvPr>
          <p:cNvSpPr txBox="1"/>
          <p:nvPr/>
        </p:nvSpPr>
        <p:spPr>
          <a:xfrm>
            <a:off x="1140408" y="6987582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 </a:t>
            </a:r>
            <a:r>
              <a:rPr lang="ru-RU" dirty="0">
                <a:latin typeface="T-Sans" pitchFamily="2" charset="0"/>
                <a:ea typeface="T-Sans" pitchFamily="2" charset="0"/>
              </a:rPr>
              <a:t>Несколько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агоритмов</a:t>
            </a:r>
            <a:r>
              <a:rPr lang="ru-RU" dirty="0">
                <a:latin typeface="T-Sans" pitchFamily="2" charset="0"/>
                <a:ea typeface="T-Sans" pitchFamily="2" charset="0"/>
              </a:rPr>
              <a:t> фильтрации инструментов в зависимости от ввода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Strategy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8AB11-CB11-9370-B4E1-E843D18BD208}"/>
              </a:ext>
            </a:extLst>
          </p:cNvPr>
          <p:cNvSpPr txBox="1"/>
          <p:nvPr/>
        </p:nvSpPr>
        <p:spPr>
          <a:xfrm>
            <a:off x="7432451" y="6993336"/>
            <a:ext cx="5164868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 </a:t>
            </a:r>
            <a:r>
              <a:rPr lang="ru-RU" dirty="0">
                <a:latin typeface="T-Sans" pitchFamily="2" charset="0"/>
                <a:ea typeface="T-Sans" pitchFamily="2" charset="0"/>
              </a:rPr>
              <a:t>Обработка пользовательских команд в </a:t>
            </a:r>
            <a:r>
              <a:rPr lang="en-US" dirty="0">
                <a:latin typeface="T-Sans" pitchFamily="2" charset="0"/>
                <a:ea typeface="T-Sans" pitchFamily="2" charset="0"/>
              </a:rPr>
              <a:t>CLI</a:t>
            </a: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Command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1E814-F63D-3632-48BD-7BC03C2FBD0C}"/>
              </a:ext>
            </a:extLst>
          </p:cNvPr>
          <p:cNvSpPr txBox="1"/>
          <p:nvPr/>
        </p:nvSpPr>
        <p:spPr>
          <a:xfrm>
            <a:off x="13773149" y="6987582"/>
            <a:ext cx="5310497" cy="1294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Задача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latin typeface="T-Sans" pitchFamily="2" charset="0"/>
                <a:ea typeface="T-Sans" pitchFamily="2" charset="0"/>
              </a:rPr>
              <a:t>Замер времени исполнения методов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Шаблон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:</a:t>
            </a:r>
            <a:r>
              <a:rPr lang="en-US" dirty="0">
                <a:latin typeface="T-Sans" pitchFamily="2" charset="0"/>
                <a:ea typeface="T-Sans" pitchFamily="2" charset="0"/>
              </a:rPr>
              <a:t> Proxy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994012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7A1CC713-6638-B051-DE5B-D72BC1A4512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31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1D9ED3-5D42-B993-8C58-065A41527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9730" y="-109723"/>
            <a:ext cx="11379570" cy="113795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A4D5B0-3517-BE1E-47E7-1B04259B55B3}"/>
              </a:ext>
            </a:extLst>
          </p:cNvPr>
          <p:cNvSpPr txBox="1"/>
          <p:nvPr/>
        </p:nvSpPr>
        <p:spPr>
          <a:xfrm>
            <a:off x="2348971" y="3902680"/>
            <a:ext cx="7697554" cy="33547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Давайте</a:t>
            </a:r>
            <a:r>
              <a:rPr lang="en-US" sz="80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, </a:t>
            </a:r>
            <a:r>
              <a:rPr lang="ru-RU" sz="80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наконец-то, попишем код!</a:t>
            </a:r>
          </a:p>
        </p:txBody>
      </p:sp>
    </p:spTree>
    <p:extLst>
      <p:ext uri="{BB962C8B-B14F-4D97-AF65-F5344CB8AC3E}">
        <p14:creationId xmlns:p14="http://schemas.microsoft.com/office/powerpoint/2010/main" val="420645396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01F23E-7C8E-FD76-E3A3-8CE5D4ABA14D}"/>
              </a:ext>
            </a:extLst>
          </p:cNvPr>
          <p:cNvSpPr txBox="1"/>
          <p:nvPr/>
        </p:nvSpPr>
        <p:spPr>
          <a:xfrm>
            <a:off x="1857904" y="3501140"/>
            <a:ext cx="9193213" cy="34709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У вас </a:t>
            </a:r>
          </a:p>
          <a:p>
            <a:r>
              <a:rPr lang="en-US" sz="16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20</a:t>
            </a:r>
            <a:r>
              <a:rPr lang="ru-RU" sz="16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 минут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4232E5-EA00-F2E8-6C17-43DA0D86DB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32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6FE514-2AB4-9DA5-4D6F-55A52C1A0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15202" y="428483"/>
            <a:ext cx="9193213" cy="9193213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55BA55F-53E5-9757-B9FF-7AA7B7EF8377}"/>
              </a:ext>
            </a:extLst>
          </p:cNvPr>
          <p:cNvSpPr/>
          <p:nvPr/>
        </p:nvSpPr>
        <p:spPr>
          <a:xfrm>
            <a:off x="1366838" y="9450104"/>
            <a:ext cx="17065625" cy="343184"/>
          </a:xfrm>
          <a:prstGeom prst="rect">
            <a:avLst/>
          </a:prstGeom>
          <a:solidFill>
            <a:schemeClr val="accent6">
              <a:alpha val="3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6BA2E15-CC6B-FEA5-9438-048AFB7E7CEB}"/>
              </a:ext>
            </a:extLst>
          </p:cNvPr>
          <p:cNvSpPr/>
          <p:nvPr/>
        </p:nvSpPr>
        <p:spPr>
          <a:xfrm>
            <a:off x="1366838" y="9450104"/>
            <a:ext cx="17065623" cy="343184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rgbClr val="FFE560"/>
              </a:gs>
            </a:gsLst>
            <a:lin ang="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7822155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834621" y="2090474"/>
            <a:ext cx="16504848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80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Proxy</a:t>
            </a:r>
            <a:endParaRPr lang="ru-RU" sz="800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834621" y="3405166"/>
            <a:ext cx="16504847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Паттерн, на котором основана почти вся</a:t>
            </a:r>
            <a:r>
              <a:rPr lang="en-US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* </a:t>
            </a: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магия </a:t>
            </a:r>
            <a:r>
              <a:rPr lang="en-US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Spring</a:t>
            </a:r>
            <a:endParaRPr lang="ru-RU" sz="360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646981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8549C0-68A8-F77C-4806-B56A70B21CE9}"/>
              </a:ext>
            </a:extLst>
          </p:cNvPr>
          <p:cNvSpPr txBox="1"/>
          <p:nvPr/>
        </p:nvSpPr>
        <p:spPr>
          <a:xfrm>
            <a:off x="1484382" y="4610033"/>
            <a:ext cx="4521708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Оба класса (и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прокся</a:t>
            </a:r>
            <a:r>
              <a:rPr lang="ru-RU" dirty="0">
                <a:latin typeface="T-Sans" pitchFamily="2" charset="0"/>
                <a:ea typeface="T-Sans" pitchFamily="2" charset="0"/>
              </a:rPr>
              <a:t>, и целевая реализация) наследуются от интерфейса.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4285F-AB4F-0724-373B-5750AF160F80}"/>
              </a:ext>
            </a:extLst>
          </p:cNvPr>
          <p:cNvSpPr txBox="1"/>
          <p:nvPr/>
        </p:nvSpPr>
        <p:spPr>
          <a:xfrm>
            <a:off x="1484382" y="3338415"/>
            <a:ext cx="4521708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Контракт взаимодействия выносится в единый интерфейс (но это не обязательное требование в </a:t>
            </a:r>
            <a:r>
              <a:rPr lang="en-US" dirty="0">
                <a:latin typeface="T-Sans" pitchFamily="2" charset="0"/>
                <a:ea typeface="T-Sans" pitchFamily="2" charset="0"/>
              </a:rPr>
              <a:t>Java). 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17F6D-0626-50A9-12C2-6BD3054382ED}"/>
              </a:ext>
            </a:extLst>
          </p:cNvPr>
          <p:cNvSpPr txBox="1"/>
          <p:nvPr/>
        </p:nvSpPr>
        <p:spPr>
          <a:xfrm>
            <a:off x="1484382" y="7559535"/>
            <a:ext cx="4521708" cy="20143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Клиентский код взаимодействует только с нашим кодом только через контракт в виде интерфейса. Чтобы этого добиться помогут порождающие паттерны.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B8A18F2-BC2C-669C-EAA3-8E10421BA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3338415"/>
            <a:ext cx="612000" cy="612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14F5B0B-43E7-2F2E-5A02-A31E574B3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4610033"/>
            <a:ext cx="612000" cy="612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A1E55C8-12E9-B9C4-62F5-F56F0E741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7559535"/>
            <a:ext cx="612000" cy="612000"/>
          </a:xfrm>
          <a:prstGeom prst="rect">
            <a:avLst/>
          </a:prstGeom>
        </p:spPr>
      </p:pic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80F3AA8-590A-F4FD-93A4-8847CAF79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34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B6A30-D262-3493-ACFB-C568E10FCB79}"/>
              </a:ext>
            </a:extLst>
          </p:cNvPr>
          <p:cNvSpPr txBox="1"/>
          <p:nvPr/>
        </p:nvSpPr>
        <p:spPr>
          <a:xfrm>
            <a:off x="611188" y="1321118"/>
            <a:ext cx="5650934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В чем суть паттерна?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F9EA1082-74D1-5990-E022-FDDB62CD7A1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-15743" t="956" r="-18377" b="-77"/>
          <a:stretch/>
        </p:blipFill>
        <p:spPr>
          <a:xfrm>
            <a:off x="8581569" y="1274243"/>
            <a:ext cx="11229161" cy="76509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CC1038-B9B8-5331-ECC2-2D63B45E08BA}"/>
              </a:ext>
            </a:extLst>
          </p:cNvPr>
          <p:cNvSpPr txBox="1"/>
          <p:nvPr/>
        </p:nvSpPr>
        <p:spPr>
          <a:xfrm>
            <a:off x="1484382" y="5881651"/>
            <a:ext cx="4521708" cy="16081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Клиентский код неявно обращается к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проксе</a:t>
            </a:r>
            <a:r>
              <a:rPr lang="ru-RU" dirty="0">
                <a:latin typeface="T-Sans" pitchFamily="2" charset="0"/>
                <a:ea typeface="T-Sans" pitchFamily="2" charset="0"/>
              </a:rPr>
              <a:t>, а та, в случае необходимости, делегирует выполнение метода целевой реализации. </a:t>
            </a:r>
          </a:p>
        </p:txBody>
      </p:sp>
      <p:pic>
        <p:nvPicPr>
          <p:cNvPr id="16" name="Рисунок 11">
            <a:extLst>
              <a:ext uri="{FF2B5EF4-FFF2-40B4-BE49-F238E27FC236}">
                <a16:creationId xmlns:a16="http://schemas.microsoft.com/office/drawing/2014/main" id="{2112E403-947C-1473-C235-56B6E1E90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5881651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42711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C1EDFAF-4236-6FD6-3011-EC5C82FF2C1E}"/>
              </a:ext>
            </a:extLst>
          </p:cNvPr>
          <p:cNvSpPr/>
          <p:nvPr/>
        </p:nvSpPr>
        <p:spPr>
          <a:xfrm>
            <a:off x="611187" y="4013963"/>
            <a:ext cx="6011862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17CB73A5-A049-371A-CB80-455177684E5D}"/>
              </a:ext>
            </a:extLst>
          </p:cNvPr>
          <p:cNvSpPr/>
          <p:nvPr/>
        </p:nvSpPr>
        <p:spPr>
          <a:xfrm>
            <a:off x="6884591" y="4013963"/>
            <a:ext cx="6011862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F35964C6-E11B-88A3-4849-5636BDC475D4}"/>
              </a:ext>
            </a:extLst>
          </p:cNvPr>
          <p:cNvSpPr/>
          <p:nvPr/>
        </p:nvSpPr>
        <p:spPr>
          <a:xfrm>
            <a:off x="13157994" y="4013963"/>
            <a:ext cx="6011862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043DC-6BA5-4BAB-2D90-D1C81F7FE107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dirty="0">
                <a:latin typeface="T-Sans" pitchFamily="2" charset="0"/>
                <a:ea typeface="T-Sans" pitchFamily="2" charset="0"/>
              </a:rPr>
              <a:t>Где используется этот паттерн?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3285C60-672F-74DA-C8D6-8F93EE795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5338" y="4414838"/>
            <a:ext cx="889000" cy="889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C3377FA-8191-9F20-8FAA-5988979DB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2916" y="4414838"/>
            <a:ext cx="889000" cy="889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C8BCF33-B43A-57F1-CC1D-4B6AD840A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82650" y="4414838"/>
            <a:ext cx="889000" cy="889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B2DF96-4D54-3CDE-4E6C-ECF289C6F90B}"/>
              </a:ext>
            </a:extLst>
          </p:cNvPr>
          <p:cNvSpPr txBox="1"/>
          <p:nvPr/>
        </p:nvSpPr>
        <p:spPr>
          <a:xfrm>
            <a:off x="7452916" y="7025862"/>
            <a:ext cx="4716462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Метрики, логирование, аудит и другие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инструментации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могут быть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бесшовно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интегрированы в проект с помощью прокси. 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13124-A382-F695-D6B2-4B2A0D1220FA}"/>
              </a:ext>
            </a:extLst>
          </p:cNvPr>
          <p:cNvSpPr txBox="1"/>
          <p:nvPr/>
        </p:nvSpPr>
        <p:spPr>
          <a:xfrm>
            <a:off x="7452916" y="6300788"/>
            <a:ext cx="4875212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3600" dirty="0">
                <a:latin typeface="T-Sans Medium" pitchFamily="2" charset="0"/>
                <a:ea typeface="T-Sans" pitchFamily="2" charset="0"/>
              </a:rPr>
              <a:t>Instrumentation</a:t>
            </a:r>
            <a:endParaRPr lang="ru-RU" sz="3600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B7F2B6-E8A1-55D4-D1B6-EABF281C6283}"/>
              </a:ext>
            </a:extLst>
          </p:cNvPr>
          <p:cNvSpPr txBox="1"/>
          <p:nvPr/>
        </p:nvSpPr>
        <p:spPr>
          <a:xfrm>
            <a:off x="13724509" y="7025862"/>
            <a:ext cx="4716462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Прокси может выступать в роли гейта, который исходя из контекста операции проверяет, точно ли ее можно выполнить или нет.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2358AE-01B0-CA41-CD02-71040C452AF8}"/>
              </a:ext>
            </a:extLst>
          </p:cNvPr>
          <p:cNvSpPr txBox="1"/>
          <p:nvPr/>
        </p:nvSpPr>
        <p:spPr>
          <a:xfrm>
            <a:off x="13724509" y="6300788"/>
            <a:ext cx="4875212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3600" dirty="0">
                <a:latin typeface="T-Sans Medium" pitchFamily="2" charset="0"/>
                <a:ea typeface="T-Sans" pitchFamily="2" charset="0"/>
              </a:rPr>
              <a:t>Access Control</a:t>
            </a:r>
            <a:endParaRPr lang="ru-RU" sz="3600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8AB4C1-C955-8B49-1574-BF169931AD76}"/>
              </a:ext>
            </a:extLst>
          </p:cNvPr>
          <p:cNvSpPr txBox="1"/>
          <p:nvPr/>
        </p:nvSpPr>
        <p:spPr>
          <a:xfrm>
            <a:off x="1175337" y="7025862"/>
            <a:ext cx="5128185" cy="23729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Отложенная инициализация и управление ресурсоемкими объектами. </a:t>
            </a: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К примеру, соединение с БД может быть создано ровно тогда, когда оно впервые понадобится.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1F359B-E9C4-E893-FC29-CBC01067C228}"/>
              </a:ext>
            </a:extLst>
          </p:cNvPr>
          <p:cNvSpPr txBox="1"/>
          <p:nvPr/>
        </p:nvSpPr>
        <p:spPr>
          <a:xfrm>
            <a:off x="1175338" y="6300788"/>
            <a:ext cx="4875212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3600" dirty="0">
                <a:latin typeface="T-Sans Medium" pitchFamily="2" charset="0"/>
                <a:ea typeface="T-Sans" pitchFamily="2" charset="0"/>
              </a:rPr>
              <a:t>Lazy Initialization</a:t>
            </a:r>
            <a:endParaRPr lang="ru-RU" sz="3600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AB879408-9920-710C-0F14-EB0511CD05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35</a:t>
            </a:fld>
            <a:endParaRPr lang="ru-RU" dirty="0"/>
          </a:p>
        </p:txBody>
      </p:sp>
      <p:pic>
        <p:nvPicPr>
          <p:cNvPr id="2050" name="Picture 2" descr="Spring Framework - что это за фреймворк для Java и зачем нужен">
            <a:extLst>
              <a:ext uri="{FF2B5EF4-FFF2-40B4-BE49-F238E27FC236}">
                <a16:creationId xmlns:a16="http://schemas.microsoft.com/office/drawing/2014/main" id="{1916272E-DE96-4D57-D0B6-075B4644A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6116" y="46915"/>
            <a:ext cx="3263184" cy="83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388112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7A1CC713-6638-B051-DE5B-D72BC1A4512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36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1D9ED3-5D42-B993-8C58-065A41527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9730" y="-109723"/>
            <a:ext cx="11379570" cy="113795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A4D5B0-3517-BE1E-47E7-1B04259B55B3}"/>
              </a:ext>
            </a:extLst>
          </p:cNvPr>
          <p:cNvSpPr txBox="1"/>
          <p:nvPr/>
        </p:nvSpPr>
        <p:spPr>
          <a:xfrm>
            <a:off x="2348970" y="3902680"/>
            <a:ext cx="8750289" cy="33547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Как можно реализовать этот паттерн в </a:t>
            </a:r>
            <a:r>
              <a:rPr lang="en-US" sz="80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Java</a:t>
            </a:r>
            <a:r>
              <a:rPr lang="ru-RU" sz="80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1681495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13036B3-80E0-4378-42AA-E09684F42BE9}"/>
              </a:ext>
            </a:extLst>
          </p:cNvPr>
          <p:cNvGrpSpPr/>
          <p:nvPr/>
        </p:nvGrpSpPr>
        <p:grpSpPr>
          <a:xfrm>
            <a:off x="1943100" y="3075009"/>
            <a:ext cx="7302500" cy="4529976"/>
            <a:chOff x="1943100" y="2934186"/>
            <a:chExt cx="7302500" cy="45299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16822C-1161-C64B-5143-FB1B67D9D1BA}"/>
                </a:ext>
              </a:extLst>
            </p:cNvPr>
            <p:cNvSpPr txBox="1"/>
            <p:nvPr/>
          </p:nvSpPr>
          <p:spPr>
            <a:xfrm>
              <a:off x="1946564" y="2934186"/>
              <a:ext cx="7299036" cy="3019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 panose="02000506050000020004" pitchFamily="2" charset="0"/>
                </a:defRPr>
              </a:lvl1pPr>
            </a:lstStyle>
            <a:p>
              <a:r>
                <a:rPr lang="ru-RU" sz="7200" dirty="0">
                  <a:latin typeface="T-Sans" pitchFamily="2" charset="0"/>
                  <a:ea typeface="T-Sans" pitchFamily="2" charset="0"/>
                </a:rPr>
                <a:t>Оставьте, пожалуйста, обратную связь!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5D8327-AB0B-6ED6-BC38-664C67DF128C}"/>
                </a:ext>
              </a:extLst>
            </p:cNvPr>
            <p:cNvSpPr txBox="1"/>
            <p:nvPr/>
          </p:nvSpPr>
          <p:spPr>
            <a:xfrm>
              <a:off x="1943100" y="6531599"/>
              <a:ext cx="7302500" cy="932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3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Обратная связь позволяет нам самосовершенствоваться и делать курс лучше!</a:t>
              </a:r>
            </a:p>
          </p:txBody>
        </p:sp>
      </p:grp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31F5F82-6E5A-CBC1-4863-FF922E508BE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" r="206"/>
          <a:stretch>
            <a:fillRect/>
          </a:stretch>
        </p:blipFill>
        <p:spPr/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82FE40B-D930-B8C8-967E-4D55B74CFBE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2984805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2230F0-CF79-107D-8823-9E107D8A6CF9}"/>
              </a:ext>
            </a:extLst>
          </p:cNvPr>
          <p:cNvSpPr txBox="1"/>
          <p:nvPr/>
        </p:nvSpPr>
        <p:spPr>
          <a:xfrm>
            <a:off x="1520526" y="6644006"/>
            <a:ext cx="10023773" cy="2920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5400" b="1">
                <a:solidFill>
                  <a:srgbClr val="ADB0B4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ru-RU" sz="115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Спасибо </a:t>
            </a:r>
            <a:br>
              <a:rPr lang="ru-RU" sz="115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</a:br>
            <a:r>
              <a:rPr lang="ru-RU" sz="115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за внимание! 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D588F52-4DD6-A73F-50AE-C643A67752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139738" y="647700"/>
            <a:ext cx="6045749" cy="9864725"/>
          </a:xfr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</p:spPr>
      </p:pic>
    </p:spTree>
    <p:extLst>
      <p:ext uri="{BB962C8B-B14F-4D97-AF65-F5344CB8AC3E}">
        <p14:creationId xmlns:p14="http://schemas.microsoft.com/office/powerpoint/2010/main" val="2758452886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5697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Пользовательские 13">
      <a:dk1>
        <a:srgbClr val="333333"/>
      </a:dk1>
      <a:lt1>
        <a:srgbClr val="333333"/>
      </a:lt1>
      <a:dk2>
        <a:srgbClr val="757675"/>
      </a:dk2>
      <a:lt2>
        <a:srgbClr val="585858"/>
      </a:lt2>
      <a:accent1>
        <a:srgbClr val="FFDD2C"/>
      </a:accent1>
      <a:accent2>
        <a:srgbClr val="333333"/>
      </a:accent2>
      <a:accent3>
        <a:srgbClr val="BFBFBF"/>
      </a:accent3>
      <a:accent4>
        <a:srgbClr val="E0E1E3"/>
      </a:accent4>
      <a:accent5>
        <a:srgbClr val="EFF0F1"/>
      </a:accent5>
      <a:accent6>
        <a:srgbClr val="FFFFFF"/>
      </a:accent6>
      <a:hlink>
        <a:srgbClr val="333333"/>
      </a:hlink>
      <a:folHlink>
        <a:srgbClr val="52545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ln w="12700" cap="flat">
          <a:noFill/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algn="l" defTabSz="457200">
          <a:defRPr sz="1800" dirty="0">
            <a:latin typeface="T-Sans" pitchFamily="2" charset="0"/>
            <a:ea typeface="T-Sans" pitchFamily="2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51411</TotalTime>
  <Words>2315</Words>
  <Application>Microsoft Macintosh PowerPoint</Application>
  <PresentationFormat>Custom</PresentationFormat>
  <Paragraphs>473</Paragraphs>
  <Slides>39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T-Sans</vt:lpstr>
      <vt:lpstr>Tinkoff Sans</vt:lpstr>
      <vt:lpstr>Arial</vt:lpstr>
      <vt:lpstr>T-Sans Medium</vt:lpstr>
      <vt:lpstr>Wingdings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Microsoft Office User</cp:lastModifiedBy>
  <cp:revision>1171</cp:revision>
  <dcterms:modified xsi:type="dcterms:W3CDTF">2026-09-12T19:00:52Z</dcterms:modified>
</cp:coreProperties>
</file>