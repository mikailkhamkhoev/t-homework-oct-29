
<file path=[Content_Types].xml><?xml version="1.0" encoding="utf-8"?>
<Types xmlns="http://schemas.openxmlformats.org/package/2006/content-types">
  <Default Extension="wmf" ContentType="image/x-wmf"/>
  <Default Extension="png" ContentType="image/png"/>
  <Default Extension="xml" ContentType="application/xml"/>
  <Default Extension="jpeg" ContentType="image/jpeg"/>
  <Default Extension="rels" ContentType="application/vnd.openxmlformats-package.relationships+xml"/>
  <Default Extension="svg" ContentType="image/svg+xml"/>
  <Default Extension="bin" ContentType="application/vnd.openxmlformats-officedocument.oleObject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48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s/slide17.xml" ContentType="application/vnd.openxmlformats-officedocument.presentationml.slide+xml"/>
  <Override PartName="/ppt/slideLayouts/slideLayout3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2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18.xml" ContentType="application/vnd.openxmlformats-officedocument.presentationml.slide+xml"/>
  <Override PartName="/ppt/slides/slide15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6.xml" ContentType="application/vnd.openxmlformats-officedocument.presentationml.slide+xml"/>
  <Override PartName="/ppt/slideLayouts/slideLayout54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1.xml" ContentType="application/vnd.openxmlformats-officedocument.them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53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4.xml" ContentType="application/vnd.openxmlformats-officedocument.presentationml.slideLayout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slideLayouts/slideLayout3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3.xml" ContentType="application/vnd.openxmlformats-officedocument.presentationml.slideLayout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howSpecialPlsOnTitleSld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9799300" cy="11160125"/>
  <p:notesSz cx="19799300" cy="11160125"/>
  <p:defaultTextStyle>
    <a:defPPr marL="0" marR="0" indent="0" algn="l" defTabSz="90006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1pPr>
    <a:lvl2pPr marL="0" marR="0" indent="450029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2pPr>
    <a:lvl3pPr marL="0" marR="0" indent="900060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3pPr>
    <a:lvl4pPr marL="0" marR="0" indent="1350086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4pPr>
    <a:lvl5pPr marL="0" marR="0" indent="1800120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5pPr>
    <a:lvl6pPr marL="0" marR="0" indent="2250146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6pPr>
    <a:lvl7pPr marL="0" marR="0" indent="2700177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7pPr>
    <a:lvl8pPr marL="0" marR="0" indent="3150206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8pPr>
    <a:lvl9pPr marL="0" marR="0" indent="3600237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 snapToObjects="1">
      <p:cViewPr varScale="1">
        <p:scale>
          <a:sx n="75" d="100"/>
          <a:sy n="75" d="100"/>
        </p:scale>
        <p:origin x="1248" y="168"/>
      </p:cViewPr>
      <p:guideLst>
        <p:guide pos="861"/>
        <p:guide pos="861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media1.svg"/><Relationship Id="rId4" Type="http://schemas.openxmlformats.org/officeDocument/2006/relationships/image" Target="../media/image2.png"/><Relationship Id="rId5" Type="http://schemas.openxmlformats.org/officeDocument/2006/relationships/image" Target="../media/media2.sv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media2.sv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media3.svg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media2.svg"/></Relationships>
</file>

<file path=ppt/slideLayouts/_rels/slideLayout4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5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Layouts/_rels/slideLayout5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Обложка_1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409919"/>
            <a:ext cx="1068946" cy="246221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 b="0" i="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0" y="-1"/>
            <a:ext cx="5759176" cy="111601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8224688" y="1779477"/>
            <a:ext cx="4394057" cy="64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Обложка_3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/>
          <p:cNvSpPr/>
          <p:nvPr userDrawn="1"/>
        </p:nvSpPr>
        <p:spPr bwMode="auto">
          <a:xfrm>
            <a:off x="611188" y="647699"/>
            <a:ext cx="18576925" cy="9864725"/>
          </a:xfrm>
          <a:prstGeom prst="roundRect">
            <a:avLst>
              <a:gd name="adj" fmla="val 5394"/>
            </a:avLst>
          </a:prstGeom>
          <a:gradFill>
            <a:gsLst>
              <a:gs pos="0">
                <a:srgbClr val="F3F3F5">
                  <a:alpha val="80477"/>
                </a:srgbClr>
              </a:gs>
              <a:gs pos="100000">
                <a:srgbClr val="E0E1E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solidFill>
                <a:srgbClr val="000000"/>
              </a:solidFill>
              <a:latin typeface="T-Sans"/>
              <a:ea typeface="T-Sans"/>
            </a:endParaRP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510389" y="1510158"/>
            <a:ext cx="4885716" cy="72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Обложка_4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1512104" y="1510158"/>
            <a:ext cx="4882285" cy="72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Черная плашка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 userDrawn="1"/>
        </p:nvSpPr>
        <p:spPr bwMode="auto">
          <a:xfrm>
            <a:off x="611188" y="647700"/>
            <a:ext cx="18576925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Желтая плашка с засветами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ерая плашка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 userDrawn="1"/>
        </p:nvSpPr>
        <p:spPr bwMode="auto"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gradFill>
            <a:gsLst>
              <a:gs pos="0">
                <a:schemeClr val="accent4"/>
              </a:gs>
              <a:gs pos="100000">
                <a:schemeClr val="accent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Черная плашка с засветами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rcRect l="0" t="217" r="0" b="215"/>
          <a:stretch/>
        </p:blipFill>
        <p:spPr bwMode="auto"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он белый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он серый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он желтый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он с градиентом">
    <p:bg>
      <p:bgPr shadeToTitle="0">
        <a:blipFill>
          <a:blip r:embed="rId2">
            <a:lum/>
          </a:blip>
          <a:srcRect l="2830" t="0" r="2829" b="0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он с паттерном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он черный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он с градиентом 2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для кода_1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grpSp>
        <p:nvGrpSpPr>
          <p:cNvPr id="4" name="Группа 3"/>
          <p:cNvGrpSpPr/>
          <p:nvPr userDrawn="1"/>
        </p:nvGrpSpPr>
        <p:grpSpPr bwMode="auto">
          <a:xfrm>
            <a:off x="611187" y="2861734"/>
            <a:ext cx="18396000" cy="9864725"/>
            <a:chOff x="7477169" y="647700"/>
            <a:chExt cx="18396000" cy="9864725"/>
          </a:xfrm>
        </p:grpSpPr>
        <p:sp>
          <p:nvSpPr>
            <p:cNvPr id="5" name="Скругленный прямоугольник 4"/>
            <p:cNvSpPr/>
            <p:nvPr/>
          </p:nvSpPr>
          <p:spPr bwMode="auto">
            <a:xfrm>
              <a:off x="7477169" y="647700"/>
              <a:ext cx="18396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>
                <a:defRPr/>
              </a:pPr>
              <a:endParaRPr lang="ru-RU" sz="1800" b="0" i="0">
                <a:latin typeface="T-Sans"/>
                <a:ea typeface="T-Sans"/>
              </a:endParaRPr>
            </a:p>
          </p:txBody>
        </p:sp>
        <p:sp>
          <p:nvSpPr>
            <p:cNvPr id="6" name="Овал 5"/>
            <p:cNvSpPr>
              <a:spLocks noChangeAspect="1"/>
            </p:cNvSpPr>
            <p:nvPr/>
          </p:nvSpPr>
          <p:spPr bwMode="auto"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  <p:sp>
          <p:nvSpPr>
            <p:cNvPr id="7" name="Овал 6"/>
            <p:cNvSpPr>
              <a:spLocks noChangeAspect="1"/>
            </p:cNvSpPr>
            <p:nvPr/>
          </p:nvSpPr>
          <p:spPr bwMode="auto"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  <p:sp>
          <p:nvSpPr>
            <p:cNvPr id="8" name="Овал 7"/>
            <p:cNvSpPr>
              <a:spLocks noChangeAspect="1"/>
            </p:cNvSpPr>
            <p:nvPr/>
          </p:nvSpPr>
          <p:spPr bwMode="auto"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  <p:sp>
          <p:nvSpPr>
            <p:cNvPr id="9" name="Скругленный прямоугольник 8"/>
            <p:cNvSpPr/>
            <p:nvPr/>
          </p:nvSpPr>
          <p:spPr bwMode="auto">
            <a:xfrm>
              <a:off x="7621169" y="1245509"/>
              <a:ext cx="18108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>
                <a:defRPr/>
              </a:pPr>
              <a:endParaRPr lang="ru-RU" sz="1800" b="0" i="0">
                <a:latin typeface="T-Sans"/>
                <a:ea typeface="T-Sans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для кода_2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grpSp>
        <p:nvGrpSpPr>
          <p:cNvPr id="10" name="Группа 9"/>
          <p:cNvGrpSpPr/>
          <p:nvPr userDrawn="1"/>
        </p:nvGrpSpPr>
        <p:grpSpPr bwMode="auto"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11" name="Скругленный прямоугольник 10"/>
            <p:cNvSpPr/>
            <p:nvPr/>
          </p:nvSpPr>
          <p:spPr bwMode="auto"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>
                <a:defRPr/>
              </a:pPr>
              <a:endParaRPr lang="ru-RU" sz="1800" b="0" i="0">
                <a:latin typeface="T-Sans"/>
                <a:ea typeface="T-Sans"/>
              </a:endParaRPr>
            </a:p>
          </p:txBody>
        </p:sp>
        <p:sp>
          <p:nvSpPr>
            <p:cNvPr id="12" name="Овал 11"/>
            <p:cNvSpPr>
              <a:spLocks noChangeAspect="1"/>
            </p:cNvSpPr>
            <p:nvPr/>
          </p:nvSpPr>
          <p:spPr bwMode="auto"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  <p:sp>
          <p:nvSpPr>
            <p:cNvPr id="13" name="Овал 12"/>
            <p:cNvSpPr>
              <a:spLocks noChangeAspect="1"/>
            </p:cNvSpPr>
            <p:nvPr/>
          </p:nvSpPr>
          <p:spPr bwMode="auto"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  <p:sp>
          <p:nvSpPr>
            <p:cNvPr id="14" name="Овал 13"/>
            <p:cNvSpPr>
              <a:spLocks noChangeAspect="1"/>
            </p:cNvSpPr>
            <p:nvPr/>
          </p:nvSpPr>
          <p:spPr bwMode="auto"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  <p:sp>
          <p:nvSpPr>
            <p:cNvPr id="15" name="Скругленный прямоугольник 14"/>
            <p:cNvSpPr/>
            <p:nvPr/>
          </p:nvSpPr>
          <p:spPr bwMode="auto">
            <a:xfrm>
              <a:off x="7621170" y="1245509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>
                <a:defRPr/>
              </a:pPr>
              <a:endParaRPr lang="ru-RU" sz="1800" b="0" i="0">
                <a:latin typeface="T-Sans"/>
                <a:ea typeface="T-Sans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паттерном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 userDrawn="1"/>
        </p:nvSpPr>
        <p:spPr bwMode="auto"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rcRect l="0" t="-10178" r="0" b="0"/>
          <a:stretch/>
        </p:blipFill>
        <p:spPr bwMode="auto">
          <a:xfrm>
            <a:off x="611186" y="4619298"/>
            <a:ext cx="18576000" cy="5881729"/>
          </a:xfrm>
          <a:prstGeom prst="roundRect">
            <a:avLst>
              <a:gd name="adj" fmla="val 10384"/>
            </a:avLst>
          </a:prstGeom>
        </p:spPr>
      </p:pic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Для инфографик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5" name="Овал 4"/>
          <p:cNvSpPr/>
          <p:nvPr userDrawn="1"/>
        </p:nvSpPr>
        <p:spPr bwMode="auto">
          <a:xfrm>
            <a:off x="2207516" y="-2112072"/>
            <a:ext cx="15384268" cy="15384268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>
              <a:defRPr/>
            </a:pPr>
            <a:endParaRPr lang="ru-RU" sz="3200" b="0" i="0">
              <a:solidFill>
                <a:schemeClr val="accent2"/>
              </a:solidFill>
              <a:latin typeface="T-Sans"/>
              <a:ea typeface="T-Sans"/>
            </a:endParaRPr>
          </a:p>
        </p:txBody>
      </p:sp>
      <p:sp>
        <p:nvSpPr>
          <p:cNvPr id="6" name="Овал 5"/>
          <p:cNvSpPr/>
          <p:nvPr userDrawn="1"/>
        </p:nvSpPr>
        <p:spPr bwMode="auto">
          <a:xfrm>
            <a:off x="4645819" y="326231"/>
            <a:ext cx="10507662" cy="10507662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>
              <a:defRPr/>
            </a:pPr>
            <a:endParaRPr lang="ru-RU" sz="3200" b="0" i="0">
              <a:solidFill>
                <a:schemeClr val="accent2"/>
              </a:solidFill>
              <a:latin typeface="T-Sans"/>
              <a:ea typeface="T-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Для инфографик 2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grpSp>
        <p:nvGrpSpPr>
          <p:cNvPr id="8" name="Группа 7"/>
          <p:cNvGrpSpPr/>
          <p:nvPr userDrawn="1"/>
        </p:nvGrpSpPr>
        <p:grpSpPr bwMode="auto">
          <a:xfrm>
            <a:off x="7355366" y="-719938"/>
            <a:ext cx="12600000" cy="12600000"/>
            <a:chOff x="7355366" y="-719938"/>
            <a:chExt cx="12600000" cy="12600000"/>
          </a:xfrm>
        </p:grpSpPr>
        <p:sp>
          <p:nvSpPr>
            <p:cNvPr id="5" name="Овал 4"/>
            <p:cNvSpPr>
              <a:spLocks noChangeAspect="1"/>
            </p:cNvSpPr>
            <p:nvPr userDrawn="1"/>
          </p:nvSpPr>
          <p:spPr bwMode="auto">
            <a:xfrm>
              <a:off x="7355366" y="-719938"/>
              <a:ext cx="12600000" cy="12600000"/>
            </a:xfrm>
            <a:prstGeom prst="ellipse">
              <a:avLst/>
            </a:prstGeom>
            <a:solidFill>
              <a:srgbClr val="212020">
                <a:alpha val="20000"/>
              </a:srgbClr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  <p:sp>
          <p:nvSpPr>
            <p:cNvPr id="6" name="Овал 5"/>
            <p:cNvSpPr>
              <a:spLocks noChangeAspect="1"/>
            </p:cNvSpPr>
            <p:nvPr userDrawn="1"/>
          </p:nvSpPr>
          <p:spPr bwMode="auto">
            <a:xfrm>
              <a:off x="8585879" y="510575"/>
              <a:ext cx="10138974" cy="10138974"/>
            </a:xfrm>
            <a:prstGeom prst="ellipse">
              <a:avLst/>
            </a:prstGeom>
            <a:solidFill>
              <a:srgbClr val="212020">
                <a:alpha val="30000"/>
              </a:srgbClr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  <p:sp>
          <p:nvSpPr>
            <p:cNvPr id="7" name="Овал 6"/>
            <p:cNvSpPr>
              <a:spLocks noChangeAspect="1"/>
            </p:cNvSpPr>
            <p:nvPr userDrawn="1"/>
          </p:nvSpPr>
          <p:spPr bwMode="auto">
            <a:xfrm>
              <a:off x="9846586" y="1771282"/>
              <a:ext cx="7617561" cy="7617561"/>
            </a:xfrm>
            <a:prstGeom prst="ellipse">
              <a:avLst/>
            </a:prstGeom>
            <a:solidFill>
              <a:srgbClr val="212020">
                <a:alpha val="40000"/>
              </a:srgbClr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</p:grpSp>
      <p:sp>
        <p:nvSpPr>
          <p:cNvPr id="9" name="Рисунок 5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1316613" y="3241309"/>
            <a:ext cx="4677507" cy="4677507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фото 1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11187" y="647699"/>
            <a:ext cx="18576925" cy="9864725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 </a:t>
            </a:r>
            <a:endParaRPr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фото 2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/>
          <a:srcRect l="0" t="217" r="0" b="215"/>
          <a:stretch/>
        </p:blipFill>
        <p:spPr bwMode="auto"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 </a:t>
            </a:r>
            <a:endParaRPr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труктура 1">
    <p:bg>
      <p:bgPr shadeToTitle="0">
        <a:blipFill>
          <a:blip r:embed="rId2">
            <a:lum/>
          </a:blip>
          <a:srcRect l="2830" t="0" r="2829" b="0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11509"/>
            <a:ext cx="19799300" cy="11137104"/>
          </a:xfrm>
          <a:prstGeom prst="rect">
            <a:avLst/>
          </a:prstGeom>
        </p:spPr>
      </p:pic>
      <p:cxnSp>
        <p:nvCxnSpPr>
          <p:cNvPr id="51" name="Соединительная линия уступом 50"/>
          <p:cNvCxnSpPr>
            <a:cxnSpLocks/>
            <a:stCxn id="36" idx="3"/>
            <a:endCxn id="31" idx="0"/>
          </p:cNvCxnSpPr>
          <p:nvPr userDrawn="1"/>
        </p:nvCxnSpPr>
        <p:spPr bwMode="auto">
          <a:xfrm>
            <a:off x="12151144" y="4294991"/>
            <a:ext cx="4458796" cy="3662509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</p:cxnSp>
      <p:cxnSp>
        <p:nvCxnSpPr>
          <p:cNvPr id="54" name="Соединительная линия уступом 53"/>
          <p:cNvCxnSpPr>
            <a:cxnSpLocks/>
            <a:stCxn id="36" idx="1"/>
            <a:endCxn id="21" idx="0"/>
          </p:cNvCxnSpPr>
          <p:nvPr userDrawn="1"/>
        </p:nvCxnSpPr>
        <p:spPr bwMode="auto">
          <a:xfrm rot="10800000" flipV="1">
            <a:off x="3189361" y="4294991"/>
            <a:ext cx="4458794" cy="3662509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</p:cxnSp>
      <p:cxnSp>
        <p:nvCxnSpPr>
          <p:cNvPr id="49" name="Прямая соединительная линия 48"/>
          <p:cNvCxnSpPr>
            <a:cxnSpLocks/>
            <a:endCxn id="26" idx="0"/>
          </p:cNvCxnSpPr>
          <p:nvPr userDrawn="1"/>
        </p:nvCxnSpPr>
        <p:spPr bwMode="auto">
          <a:xfrm>
            <a:off x="9899650" y="5373293"/>
            <a:ext cx="0" cy="2584208"/>
          </a:xfrm>
          <a:prstGeom prst="line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</p:cxnSp>
      <p:sp>
        <p:nvSpPr>
          <p:cNvPr id="6" name="Скругленный прямоугольник 5"/>
          <p:cNvSpPr/>
          <p:nvPr/>
        </p:nvSpPr>
        <p:spPr bwMode="auto">
          <a:xfrm>
            <a:off x="937866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11" name="Скругленный прямоугольник 10"/>
          <p:cNvSpPr/>
          <p:nvPr/>
        </p:nvSpPr>
        <p:spPr bwMode="auto">
          <a:xfrm>
            <a:off x="764815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16" name="Скругленный прямоугольник 15"/>
          <p:cNvSpPr/>
          <p:nvPr/>
        </p:nvSpPr>
        <p:spPr bwMode="auto">
          <a:xfrm>
            <a:off x="1435844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21" name="Скругленный прямоугольник 20"/>
          <p:cNvSpPr/>
          <p:nvPr/>
        </p:nvSpPr>
        <p:spPr bwMode="auto">
          <a:xfrm>
            <a:off x="937866" y="7957500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26" name="Скругленный прямоугольник 25"/>
          <p:cNvSpPr/>
          <p:nvPr/>
        </p:nvSpPr>
        <p:spPr bwMode="auto">
          <a:xfrm>
            <a:off x="7648155" y="7957500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31" name="Скругленный прямоугольник 30"/>
          <p:cNvSpPr/>
          <p:nvPr/>
        </p:nvSpPr>
        <p:spPr bwMode="auto">
          <a:xfrm>
            <a:off x="14358445" y="7957500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36" name="Скругленный прямоугольник 35"/>
          <p:cNvSpPr/>
          <p:nvPr/>
        </p:nvSpPr>
        <p:spPr bwMode="auto">
          <a:xfrm>
            <a:off x="7648155" y="3216689"/>
            <a:ext cx="4502989" cy="2156604"/>
          </a:xfrm>
          <a:prstGeom prst="roundRect">
            <a:avLst>
              <a:gd name="adj" fmla="val 23232"/>
            </a:avLst>
          </a:prstGeom>
          <a:gradFill>
            <a:gsLst>
              <a:gs pos="0">
                <a:schemeClr val="accent2"/>
              </a:gs>
              <a:gs pos="100000">
                <a:srgbClr val="5D5D5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1" name="Рисунок 4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0922557" y="4131330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2" name="Рисунок 40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10922557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3" name="Рисунок 40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0922557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4" name="Рисунок 40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4207432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5" name="Рисунок 40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4207432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6" name="Рисунок 40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17623395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7" name="Рисунок 40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17623395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труктура 2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42" name="Рисунок 3"/>
          <p:cNvSpPr>
            <a:spLocks noChangeAspect="1" noGrp="1"/>
          </p:cNvSpPr>
          <p:nvPr>
            <p:ph type="pic" sz="quarter" idx="10" hasCustomPrompt="1"/>
          </p:nvPr>
        </p:nvSpPr>
        <p:spPr bwMode="auto">
          <a:xfrm>
            <a:off x="10084662" y="1392537"/>
            <a:ext cx="1332000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sz="2400"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en-US"/>
              <a:t>Ф</a:t>
            </a:r>
            <a:r>
              <a:rPr lang="ru-RU"/>
              <a:t>ото</a:t>
            </a:r>
            <a:endParaRPr/>
          </a:p>
        </p:txBody>
      </p:sp>
      <p:sp>
        <p:nvSpPr>
          <p:cNvPr id="43" name="Рисунок 4"/>
          <p:cNvSpPr>
            <a:spLocks noChangeAspect="1" noGrp="1"/>
          </p:cNvSpPr>
          <p:nvPr>
            <p:ph type="pic" sz="quarter" idx="11" hasCustomPrompt="1"/>
          </p:nvPr>
        </p:nvSpPr>
        <p:spPr bwMode="auto">
          <a:xfrm>
            <a:off x="5512153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4" name="Рисунок 5"/>
          <p:cNvSpPr>
            <a:spLocks noChangeAspect="1" noGrp="1"/>
          </p:cNvSpPr>
          <p:nvPr>
            <p:ph type="pic" sz="quarter" idx="12" hasCustomPrompt="1"/>
          </p:nvPr>
        </p:nvSpPr>
        <p:spPr bwMode="auto">
          <a:xfrm>
            <a:off x="10087409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5" name="Рисунок 30"/>
          <p:cNvSpPr>
            <a:spLocks noChangeAspect="1" noGrp="1"/>
          </p:cNvSpPr>
          <p:nvPr>
            <p:ph type="pic" sz="quarter" idx="13" hasCustomPrompt="1"/>
          </p:nvPr>
        </p:nvSpPr>
        <p:spPr bwMode="auto">
          <a:xfrm>
            <a:off x="14591911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6" name="Рисунок 31"/>
          <p:cNvSpPr>
            <a:spLocks noChangeAspect="1" noGrp="1"/>
          </p:cNvSpPr>
          <p:nvPr>
            <p:ph type="pic" sz="quarter" idx="14" hasCustomPrompt="1"/>
          </p:nvPr>
        </p:nvSpPr>
        <p:spPr bwMode="auto">
          <a:xfrm>
            <a:off x="645534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7" name="Рисунок 32"/>
          <p:cNvSpPr>
            <a:spLocks noChangeAspect="1" noGrp="1"/>
          </p:cNvSpPr>
          <p:nvPr>
            <p:ph type="pic" sz="quarter" idx="15" hasCustomPrompt="1"/>
          </p:nvPr>
        </p:nvSpPr>
        <p:spPr bwMode="auto">
          <a:xfrm>
            <a:off x="1102130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8" name="Рисунок 33"/>
          <p:cNvSpPr>
            <a:spLocks noChangeAspect="1" noGrp="1"/>
          </p:cNvSpPr>
          <p:nvPr>
            <p:ph type="pic" sz="quarter" idx="16" hasCustomPrompt="1"/>
          </p:nvPr>
        </p:nvSpPr>
        <p:spPr bwMode="auto">
          <a:xfrm>
            <a:off x="15589437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9" name="Рисунок 34"/>
          <p:cNvSpPr>
            <a:spLocks noChangeAspect="1" noGrp="1"/>
          </p:cNvSpPr>
          <p:nvPr>
            <p:ph type="pic" sz="quarter" idx="17" hasCustomPrompt="1"/>
          </p:nvPr>
        </p:nvSpPr>
        <p:spPr bwMode="auto">
          <a:xfrm>
            <a:off x="646377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50" name="Рисунок 35"/>
          <p:cNvSpPr>
            <a:spLocks noChangeAspect="1" noGrp="1"/>
          </p:cNvSpPr>
          <p:nvPr>
            <p:ph type="pic" sz="quarter" idx="18" hasCustomPrompt="1"/>
          </p:nvPr>
        </p:nvSpPr>
        <p:spPr bwMode="auto">
          <a:xfrm>
            <a:off x="11021306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51" name="Рисунок 36"/>
          <p:cNvSpPr>
            <a:spLocks noChangeAspect="1" noGrp="1"/>
          </p:cNvSpPr>
          <p:nvPr>
            <p:ph type="pic" sz="quarter" idx="19" hasCustomPrompt="1"/>
          </p:nvPr>
        </p:nvSpPr>
        <p:spPr bwMode="auto">
          <a:xfrm>
            <a:off x="1558854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52" name="Рисунок 37"/>
          <p:cNvSpPr>
            <a:spLocks noChangeAspect="1" noGrp="1"/>
          </p:cNvSpPr>
          <p:nvPr>
            <p:ph type="pic" sz="quarter" idx="20" hasCustomPrompt="1"/>
          </p:nvPr>
        </p:nvSpPr>
        <p:spPr bwMode="auto">
          <a:xfrm>
            <a:off x="646377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53" name="Рисунок 38"/>
          <p:cNvSpPr>
            <a:spLocks noChangeAspect="1" noGrp="1"/>
          </p:cNvSpPr>
          <p:nvPr>
            <p:ph type="pic" sz="quarter" idx="21" hasCustomPrompt="1"/>
          </p:nvPr>
        </p:nvSpPr>
        <p:spPr bwMode="auto">
          <a:xfrm>
            <a:off x="11026533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54" name="Рисунок 39"/>
          <p:cNvSpPr>
            <a:spLocks noChangeAspect="1" noGrp="1"/>
          </p:cNvSpPr>
          <p:nvPr>
            <p:ph type="pic" sz="quarter" idx="22" hasCustomPrompt="1"/>
          </p:nvPr>
        </p:nvSpPr>
        <p:spPr bwMode="auto">
          <a:xfrm>
            <a:off x="1559340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 блока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 userDrawn="1"/>
        </p:nvSpPr>
        <p:spPr bwMode="auto"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rgbClr val="FFEE9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Скругленный прямоугольник 3"/>
          <p:cNvSpPr/>
          <p:nvPr userDrawn="1"/>
        </p:nvSpPr>
        <p:spPr bwMode="auto"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5" name="Прямоугольник с двумя скругленными противолежащими углами 4"/>
          <p:cNvSpPr/>
          <p:nvPr userDrawn="1"/>
        </p:nvSpPr>
        <p:spPr bwMode="auto"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6" name="Прямоугольник с двумя скругленными противолежащими углами 5"/>
          <p:cNvSpPr/>
          <p:nvPr userDrawn="1"/>
        </p:nvSpPr>
        <p:spPr bwMode="auto"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7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2 блока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 userDrawn="1"/>
        </p:nvSpPr>
        <p:spPr bwMode="auto"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Скругленный прямоугольник 3"/>
          <p:cNvSpPr/>
          <p:nvPr userDrawn="1"/>
        </p:nvSpPr>
        <p:spPr bwMode="auto"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5" name="Прямоугольник с двумя скругленными противолежащими углами 4"/>
          <p:cNvSpPr/>
          <p:nvPr userDrawn="1"/>
        </p:nvSpPr>
        <p:spPr bwMode="auto"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6" name="Прямоугольник с двумя скругленными противолежащими углами 5"/>
          <p:cNvSpPr/>
          <p:nvPr userDrawn="1"/>
        </p:nvSpPr>
        <p:spPr bwMode="auto"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7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4 блока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 userDrawn="1"/>
        </p:nvSpPr>
        <p:spPr bwMode="auto">
          <a:xfrm>
            <a:off x="611188" y="640525"/>
            <a:ext cx="6011861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6" name="Скругленный прямоугольник 5"/>
          <p:cNvSpPr/>
          <p:nvPr userDrawn="1"/>
        </p:nvSpPr>
        <p:spPr bwMode="auto">
          <a:xfrm>
            <a:off x="13175044" y="640525"/>
            <a:ext cx="6011861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7" name="Скругленный прямоугольник 6"/>
          <p:cNvSpPr/>
          <p:nvPr userDrawn="1"/>
        </p:nvSpPr>
        <p:spPr bwMode="auto">
          <a:xfrm>
            <a:off x="6883972" y="5688013"/>
            <a:ext cx="6011861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8" name="Скругленный прямоугольник 7"/>
          <p:cNvSpPr/>
          <p:nvPr userDrawn="1"/>
        </p:nvSpPr>
        <p:spPr bwMode="auto">
          <a:xfrm>
            <a:off x="6883972" y="640525"/>
            <a:ext cx="6011861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5 блоков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5" name="Скругленный прямоугольник 4"/>
          <p:cNvSpPr/>
          <p:nvPr userDrawn="1"/>
        </p:nvSpPr>
        <p:spPr bwMode="auto">
          <a:xfrm>
            <a:off x="611188" y="656291"/>
            <a:ext cx="6011861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7" name="Скругленный прямоугольник 6"/>
          <p:cNvSpPr/>
          <p:nvPr userDrawn="1"/>
        </p:nvSpPr>
        <p:spPr bwMode="auto">
          <a:xfrm>
            <a:off x="6883972" y="5703779"/>
            <a:ext cx="6011861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8" name="Скругленный прямоугольник 7"/>
          <p:cNvSpPr/>
          <p:nvPr userDrawn="1"/>
        </p:nvSpPr>
        <p:spPr bwMode="auto">
          <a:xfrm>
            <a:off x="6883972" y="656291"/>
            <a:ext cx="6011861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Скругленный прямоугольник 3"/>
          <p:cNvSpPr/>
          <p:nvPr userDrawn="1"/>
        </p:nvSpPr>
        <p:spPr bwMode="auto">
          <a:xfrm>
            <a:off x="13159266" y="5703779"/>
            <a:ext cx="6011861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9" name="Скругленный прямоугольник 8"/>
          <p:cNvSpPr/>
          <p:nvPr userDrawn="1"/>
        </p:nvSpPr>
        <p:spPr bwMode="auto">
          <a:xfrm>
            <a:off x="13159266" y="656291"/>
            <a:ext cx="6011861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полнители с вырезами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9"/>
          <p:cNvSpPr>
            <a:spLocks noChangeAspect="1" noGrp="1"/>
          </p:cNvSpPr>
          <p:nvPr>
            <p:ph type="pic" sz="quarter" idx="10" hasCustomPrompt="1"/>
          </p:nvPr>
        </p:nvSpPr>
        <p:spPr bwMode="auto">
          <a:xfrm>
            <a:off x="614887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 fill="norm" stroke="1" extrusionOk="0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изображения</a:t>
            </a:r>
            <a:endParaRPr/>
          </a:p>
        </p:txBody>
      </p:sp>
      <p:sp>
        <p:nvSpPr>
          <p:cNvPr id="4" name="Рисунок 10"/>
          <p:cNvSpPr>
            <a:spLocks noChangeAspect="1" noGrp="1"/>
          </p:cNvSpPr>
          <p:nvPr>
            <p:ph type="pic" sz="quarter" idx="11" hasCustomPrompt="1"/>
          </p:nvPr>
        </p:nvSpPr>
        <p:spPr bwMode="auto">
          <a:xfrm>
            <a:off x="6875010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 fill="norm" stroke="1" extrusionOk="0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изображения</a:t>
            </a:r>
            <a:endParaRPr/>
          </a:p>
        </p:txBody>
      </p:sp>
      <p:sp>
        <p:nvSpPr>
          <p:cNvPr id="5" name="Рисунок 11"/>
          <p:cNvSpPr>
            <a:spLocks noChangeAspect="1" noGrp="1"/>
          </p:cNvSpPr>
          <p:nvPr>
            <p:ph type="pic" sz="quarter" idx="12" hasCustomPrompt="1"/>
          </p:nvPr>
        </p:nvSpPr>
        <p:spPr bwMode="auto">
          <a:xfrm>
            <a:off x="13135133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 fill="norm" stroke="1" extrusionOk="0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изображения</a:t>
            </a:r>
            <a:endParaRPr/>
          </a:p>
        </p:txBody>
      </p:sp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лашки с вырезами 2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Рисунок 3"/>
          <p:cNvSpPr/>
          <p:nvPr/>
        </p:nvSpPr>
        <p:spPr bwMode="auto">
          <a:xfrm>
            <a:off x="615403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 fill="norm" stroke="1" extrusionOk="0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b="0" i="0">
              <a:latin typeface="T-Sans"/>
              <a:ea typeface="T-Sans"/>
            </a:endParaRPr>
          </a:p>
        </p:txBody>
      </p:sp>
      <p:sp>
        <p:nvSpPr>
          <p:cNvPr id="12" name="Рисунок 3"/>
          <p:cNvSpPr/>
          <p:nvPr userDrawn="1"/>
        </p:nvSpPr>
        <p:spPr bwMode="auto">
          <a:xfrm>
            <a:off x="6890697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 fill="norm" stroke="1" extrusionOk="0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b="0" i="0">
              <a:latin typeface="T-Sans"/>
              <a:ea typeface="T-Sans"/>
            </a:endParaRPr>
          </a:p>
        </p:txBody>
      </p:sp>
      <p:sp>
        <p:nvSpPr>
          <p:cNvPr id="13" name="Рисунок 3"/>
          <p:cNvSpPr/>
          <p:nvPr userDrawn="1"/>
        </p:nvSpPr>
        <p:spPr bwMode="auto">
          <a:xfrm>
            <a:off x="13165992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 fill="norm" stroke="1" extrusionOk="0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b="0" i="0">
              <a:latin typeface="T-Sans"/>
              <a:ea typeface="T-Sans"/>
            </a:endParaRPr>
          </a:p>
        </p:txBody>
      </p:sp>
      <p:sp>
        <p:nvSpPr>
          <p:cNvPr id="14" name="Рисунок 3"/>
          <p:cNvSpPr/>
          <p:nvPr userDrawn="1"/>
        </p:nvSpPr>
        <p:spPr bwMode="auto">
          <a:xfrm>
            <a:off x="615403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 fill="norm" stroke="1" extrusionOk="0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b="0" i="0">
              <a:latin typeface="T-Sans"/>
              <a:ea typeface="T-Sans"/>
            </a:endParaRPr>
          </a:p>
        </p:txBody>
      </p:sp>
      <p:sp>
        <p:nvSpPr>
          <p:cNvPr id="15" name="Рисунок 3"/>
          <p:cNvSpPr/>
          <p:nvPr userDrawn="1"/>
        </p:nvSpPr>
        <p:spPr bwMode="auto">
          <a:xfrm>
            <a:off x="6890697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 fill="norm" stroke="1" extrusionOk="0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b="0" i="0">
              <a:latin typeface="T-Sans"/>
              <a:ea typeface="T-Sans"/>
            </a:endParaRPr>
          </a:p>
        </p:txBody>
      </p:sp>
      <p:sp>
        <p:nvSpPr>
          <p:cNvPr id="16" name="Рисунок 3"/>
          <p:cNvSpPr/>
          <p:nvPr userDrawn="1"/>
        </p:nvSpPr>
        <p:spPr bwMode="auto">
          <a:xfrm>
            <a:off x="13165992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 fill="norm" stroke="1" extrusionOk="0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b="0" i="0">
              <a:latin typeface="T-Sans"/>
              <a:ea typeface="T-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лашки с вырезами 3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10045591" y="646767"/>
            <a:ext cx="4462572" cy="482068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14743715" y="646767"/>
            <a:ext cx="4462572" cy="482068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10045591" y="5707498"/>
            <a:ext cx="4462572" cy="482068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14743715" y="5707498"/>
            <a:ext cx="4462572" cy="4820680"/>
          </a:xfrm>
          <a:prstGeom prst="rect">
            <a:avLst/>
          </a:prstGeom>
        </p:spPr>
      </p:pic>
      <p:sp>
        <p:nvSpPr>
          <p:cNvPr id="7" name="Скругленный прямоугольник 6"/>
          <p:cNvSpPr/>
          <p:nvPr userDrawn="1"/>
        </p:nvSpPr>
        <p:spPr bwMode="auto">
          <a:xfrm>
            <a:off x="611188" y="640525"/>
            <a:ext cx="9142522" cy="9860725"/>
          </a:xfrm>
          <a:prstGeom prst="roundRect">
            <a:avLst>
              <a:gd name="adj" fmla="val 5633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8" name="Овал 7"/>
          <p:cNvSpPr/>
          <p:nvPr userDrawn="1"/>
        </p:nvSpPr>
        <p:spPr bwMode="auto">
          <a:xfrm>
            <a:off x="13574110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9" name="Овал 8"/>
          <p:cNvSpPr/>
          <p:nvPr userDrawn="1"/>
        </p:nvSpPr>
        <p:spPr bwMode="auto">
          <a:xfrm>
            <a:off x="18249627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10" name="Овал 9"/>
          <p:cNvSpPr/>
          <p:nvPr userDrawn="1"/>
        </p:nvSpPr>
        <p:spPr bwMode="auto">
          <a:xfrm>
            <a:off x="13574110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11" name="Овал 10"/>
          <p:cNvSpPr/>
          <p:nvPr userDrawn="1"/>
        </p:nvSpPr>
        <p:spPr bwMode="auto">
          <a:xfrm>
            <a:off x="18249627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заполнителем 8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-20352" y="62"/>
            <a:ext cx="19840004" cy="11160000"/>
          </a:xfrm>
          <a:prstGeom prst="rect">
            <a:avLst/>
          </a:prstGeom>
        </p:spPr>
      </p:pic>
      <p:sp>
        <p:nvSpPr>
          <p:cNvPr id="6" name="Скругленный прямоугольник 5"/>
          <p:cNvSpPr/>
          <p:nvPr userDrawn="1"/>
        </p:nvSpPr>
        <p:spPr bwMode="auto"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7" name="Рисунок 5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фото</a:t>
            </a:r>
            <a:endParaRPr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плашкой 1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Скругленный прямоугольник 3"/>
          <p:cNvSpPr/>
          <p:nvPr userDrawn="1"/>
        </p:nvSpPr>
        <p:spPr bwMode="auto"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плашкой 1-1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Скругленный прямоугольник 3"/>
          <p:cNvSpPr/>
          <p:nvPr userDrawn="1"/>
        </p:nvSpPr>
        <p:spPr bwMode="auto"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плашкой 2 гор.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5" name="Скругленный прямоугольник 4"/>
          <p:cNvSpPr/>
          <p:nvPr userDrawn="1"/>
        </p:nvSpPr>
        <p:spPr bwMode="auto">
          <a:xfrm>
            <a:off x="611188" y="3167064"/>
            <a:ext cx="18576925" cy="7345362"/>
          </a:xfrm>
          <a:prstGeom prst="roundRect">
            <a:avLst>
              <a:gd name="adj" fmla="val 654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2 плашками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Скругленный прямоугольник 3"/>
          <p:cNvSpPr/>
          <p:nvPr userDrawn="1"/>
        </p:nvSpPr>
        <p:spPr bwMode="auto">
          <a:xfrm>
            <a:off x="611189" y="3167064"/>
            <a:ext cx="9180512" cy="7345362"/>
          </a:xfrm>
          <a:prstGeom prst="roundRect">
            <a:avLst>
              <a:gd name="adj" fmla="val 725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6" name="Скругленный прямоугольник 5"/>
          <p:cNvSpPr/>
          <p:nvPr userDrawn="1"/>
        </p:nvSpPr>
        <p:spPr bwMode="auto">
          <a:xfrm>
            <a:off x="10048487" y="3167064"/>
            <a:ext cx="9139624" cy="7345362"/>
          </a:xfrm>
          <a:prstGeom prst="roundRect">
            <a:avLst>
              <a:gd name="adj" fmla="val 701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заполнителем 1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Скругленный прямоугольник 3"/>
          <p:cNvSpPr/>
          <p:nvPr userDrawn="1"/>
        </p:nvSpPr>
        <p:spPr bwMode="auto">
          <a:xfrm>
            <a:off x="6893719" y="647700"/>
            <a:ext cx="12294394" cy="9864725"/>
          </a:xfrm>
          <a:prstGeom prst="roundRect">
            <a:avLst>
              <a:gd name="adj" fmla="val 502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5" name="Рисунок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11188" y="647700"/>
            <a:ext cx="6011861" cy="9864725"/>
          </a:xfrm>
          <a:prstGeom prst="roundRect">
            <a:avLst>
              <a:gd name="adj" fmla="val 8632"/>
            </a:avLst>
          </a:prstGeom>
          <a:solidFill>
            <a:schemeClr val="accent6"/>
          </a:solidFill>
        </p:spPr>
        <p:txBody>
          <a:bodyPr lIns="360000" tIns="360000" rIns="360000" bIns="360000"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изображения</a:t>
            </a:r>
            <a:endParaRPr/>
          </a:p>
        </p:txBody>
      </p:sp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заполнителем 2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Рисунок 5"/>
          <p:cNvSpPr>
            <a:spLocks noGrp="1"/>
          </p:cNvSpPr>
          <p:nvPr>
            <p:ph type="pic" sz="quarter" idx="10"/>
          </p:nvPr>
        </p:nvSpPr>
        <p:spPr bwMode="auto">
          <a:xfrm>
            <a:off x="611188" y="2319229"/>
            <a:ext cx="18576925" cy="4845159"/>
          </a:xfrm>
          <a:prstGeom prst="roundRect">
            <a:avLst>
              <a:gd name="adj" fmla="val 10175"/>
            </a:avLst>
          </a:prstGeom>
          <a:solidFill>
            <a:srgbClr val="E0E1E3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заполнителем 3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16" name="Рисунок 5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8459788" y="647700"/>
            <a:ext cx="10725699" cy="9864725"/>
          </a:xfrm>
          <a:prstGeom prst="roundRect">
            <a:avLst>
              <a:gd name="adj" fmla="val 548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фото</a:t>
            </a:r>
            <a:endParaRPr/>
          </a:p>
        </p:txBody>
      </p:sp>
      <p:sp>
        <p:nvSpPr>
          <p:cNvPr id="17" name="Скругленный прямоугольник 16"/>
          <p:cNvSpPr/>
          <p:nvPr userDrawn="1"/>
        </p:nvSpPr>
        <p:spPr bwMode="auto">
          <a:xfrm>
            <a:off x="613813" y="652653"/>
            <a:ext cx="7593562" cy="9859772"/>
          </a:xfrm>
          <a:prstGeom prst="roundRect">
            <a:avLst>
              <a:gd name="adj" fmla="val 644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заполнителем 4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11188" y="647700"/>
            <a:ext cx="7596187" cy="6516688"/>
          </a:xfrm>
          <a:prstGeom prst="roundRect">
            <a:avLst>
              <a:gd name="adj" fmla="val 8943"/>
            </a:avLst>
          </a:prstGeom>
          <a:solidFill>
            <a:schemeClr val="accent5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фото</a:t>
            </a:r>
            <a:endParaRPr/>
          </a:p>
        </p:txBody>
      </p:sp>
      <p:sp>
        <p:nvSpPr>
          <p:cNvPr id="4" name="Скругленный прямоугольник 3"/>
          <p:cNvSpPr/>
          <p:nvPr userDrawn="1"/>
        </p:nvSpPr>
        <p:spPr bwMode="auto">
          <a:xfrm>
            <a:off x="611188" y="7416800"/>
            <a:ext cx="7596187" cy="3095625"/>
          </a:xfrm>
          <a:prstGeom prst="roundRect">
            <a:avLst>
              <a:gd name="adj" fmla="val 1976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11" name="Скругленный прямоугольник 10"/>
          <p:cNvSpPr/>
          <p:nvPr userDrawn="1"/>
        </p:nvSpPr>
        <p:spPr bwMode="auto">
          <a:xfrm>
            <a:off x="8459788" y="647700"/>
            <a:ext cx="10725698" cy="9864725"/>
          </a:xfrm>
          <a:prstGeom prst="roundRect">
            <a:avLst>
              <a:gd name="adj" fmla="val 536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заполнителем 5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Рисунок 3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0" y="0"/>
            <a:ext cx="19799300" cy="11160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en-US"/>
              <a:t>В</a:t>
            </a:r>
            <a:r>
              <a:rPr lang="ru-RU"/>
              <a:t>ставка фото</a:t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заполнителем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6" name="Прямоугольник с двумя скругленными соседними углами 5"/>
          <p:cNvSpPr/>
          <p:nvPr userDrawn="1"/>
        </p:nvSpPr>
        <p:spPr bwMode="auto">
          <a:xfrm rot="16199998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 bwMode="auto"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 fill="norm" stroke="1" extrusionOk="0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заполнителем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6" name="Прямоугольник с двумя скругленными соседними углами 5"/>
          <p:cNvSpPr/>
          <p:nvPr userDrawn="1"/>
        </p:nvSpPr>
        <p:spPr bwMode="auto">
          <a:xfrm rot="16199998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 bwMode="auto"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 fill="norm" stroke="1" extrusionOk="0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Мокап_2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7069740" y="155779"/>
            <a:ext cx="5659820" cy="10603499"/>
          </a:xfrm>
          <a:prstGeom prst="rect">
            <a:avLst/>
          </a:prstGeom>
        </p:spPr>
      </p:pic>
      <p:sp>
        <p:nvSpPr>
          <p:cNvPr id="8" name="Рисунок 11"/>
          <p:cNvSpPr>
            <a:spLocks noChangeAspect="1" noGrp="1"/>
          </p:cNvSpPr>
          <p:nvPr>
            <p:ph type="pic" sz="quarter" idx="10" hasCustomPrompt="1"/>
          </p:nvPr>
        </p:nvSpPr>
        <p:spPr bwMode="auto">
          <a:xfrm>
            <a:off x="7721650" y="855970"/>
            <a:ext cx="4356000" cy="9432255"/>
          </a:xfrm>
          <a:prstGeom prst="roundRect">
            <a:avLst>
              <a:gd name="adj" fmla="val 12642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Скриншот</a:t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Мокап_5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двумя скругленными противолежащими углами 2"/>
          <p:cNvSpPr/>
          <p:nvPr userDrawn="1"/>
        </p:nvSpPr>
        <p:spPr bwMode="auto">
          <a:xfrm>
            <a:off x="611188" y="3167062"/>
            <a:ext cx="6011861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Прямоугольник с двумя скругленными противолежащими углами 3"/>
          <p:cNvSpPr/>
          <p:nvPr userDrawn="1"/>
        </p:nvSpPr>
        <p:spPr bwMode="auto">
          <a:xfrm>
            <a:off x="611188" y="9109075"/>
            <a:ext cx="6011861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5" name="Прямоугольник с двумя скругленными противолежащими углами 4"/>
          <p:cNvSpPr/>
          <p:nvPr userDrawn="1"/>
        </p:nvSpPr>
        <p:spPr bwMode="auto">
          <a:xfrm>
            <a:off x="6881359" y="3167062"/>
            <a:ext cx="6011861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6" name="Прямоугольник с двумя скругленными противолежащими углами 5"/>
          <p:cNvSpPr/>
          <p:nvPr userDrawn="1"/>
        </p:nvSpPr>
        <p:spPr bwMode="auto">
          <a:xfrm>
            <a:off x="6881359" y="9109075"/>
            <a:ext cx="6011861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7" name="Прямоугольник с двумя скругленными противолежащими углами 6"/>
          <p:cNvSpPr/>
          <p:nvPr userDrawn="1"/>
        </p:nvSpPr>
        <p:spPr bwMode="auto">
          <a:xfrm>
            <a:off x="13170192" y="3167062"/>
            <a:ext cx="6011861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8" name="Прямоугольник с двумя скругленными противолежащими углами 7"/>
          <p:cNvSpPr/>
          <p:nvPr userDrawn="1"/>
        </p:nvSpPr>
        <p:spPr bwMode="auto">
          <a:xfrm>
            <a:off x="13170192" y="9109075"/>
            <a:ext cx="6011861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884459" y="3785793"/>
            <a:ext cx="3626535" cy="5323282"/>
          </a:xfrm>
          <a:prstGeom prst="rect">
            <a:avLst/>
          </a:prstGeom>
        </p:spPr>
      </p:pic>
      <p:sp>
        <p:nvSpPr>
          <p:cNvPr id="10" name="Рисунок 9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2226273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Скриншот</a:t>
            </a:r>
            <a:endParaRPr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8096075" y="3785793"/>
            <a:ext cx="3626535" cy="5323282"/>
          </a:xfrm>
          <a:prstGeom prst="rect">
            <a:avLst/>
          </a:prstGeom>
        </p:spPr>
      </p:pic>
      <p:sp>
        <p:nvSpPr>
          <p:cNvPr id="12" name="Рисунок 9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437889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Скриншот</a:t>
            </a:r>
            <a:endParaRPr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4319838" y="3785793"/>
            <a:ext cx="3626535" cy="5323282"/>
          </a:xfrm>
          <a:prstGeom prst="rect">
            <a:avLst/>
          </a:prstGeom>
        </p:spPr>
      </p:pic>
      <p:sp>
        <p:nvSpPr>
          <p:cNvPr id="14" name="Рисунок 9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4662391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Скриншот</a:t>
            </a:r>
            <a:endParaRPr/>
          </a:p>
        </p:txBody>
      </p:sp>
      <p:sp>
        <p:nvSpPr>
          <p:cNvPr id="1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Мокап_компьютер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629400" y="-118551"/>
            <a:ext cx="13169900" cy="11703072"/>
          </a:xfrm>
          <a:prstGeom prst="rect">
            <a:avLst/>
          </a:prstGeom>
        </p:spPr>
      </p:pic>
      <p:sp>
        <p:nvSpPr>
          <p:cNvPr id="9" name="Рисунок 18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8581569" y="1274243"/>
            <a:ext cx="11229161" cy="7650999"/>
          </a:xfrm>
          <a:custGeom>
            <a:avLst/>
            <a:gdLst>
              <a:gd name="connsiteX0" fmla="*/ 208174 w 9461500"/>
              <a:gd name="connsiteY0" fmla="*/ 0 h 6446602"/>
              <a:gd name="connsiteX1" fmla="*/ 9461500 w 9461500"/>
              <a:gd name="connsiteY1" fmla="*/ 0 h 6446602"/>
              <a:gd name="connsiteX2" fmla="*/ 9461500 w 9461500"/>
              <a:gd name="connsiteY2" fmla="*/ 6446602 h 6446602"/>
              <a:gd name="connsiteX3" fmla="*/ 0 w 9461500"/>
              <a:gd name="connsiteY3" fmla="*/ 6446602 h 6446602"/>
              <a:gd name="connsiteX4" fmla="*/ 0 w 9461500"/>
              <a:gd name="connsiteY4" fmla="*/ 208291 h 6446602"/>
              <a:gd name="connsiteX5" fmla="*/ 208174 w 9461500"/>
              <a:gd name="connsiteY5" fmla="*/ 0 h 644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61500" h="6446602" fill="norm" stroke="1" extrusionOk="0">
                <a:moveTo>
                  <a:pt x="208174" y="0"/>
                </a:moveTo>
                <a:lnTo>
                  <a:pt x="9461500" y="0"/>
                </a:lnTo>
                <a:lnTo>
                  <a:pt x="9461500" y="6446602"/>
                </a:lnTo>
                <a:lnTo>
                  <a:pt x="0" y="6446602"/>
                </a:lnTo>
                <a:lnTo>
                  <a:pt x="0" y="208291"/>
                </a:lnTo>
                <a:cubicBezTo>
                  <a:pt x="0" y="93255"/>
                  <a:pt x="93203" y="0"/>
                  <a:pt x="208174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Скриншот</a:t>
            </a: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лайд с qr кодом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Скругленный прямоугольник 2"/>
          <p:cNvSpPr/>
          <p:nvPr userDrawn="1"/>
        </p:nvSpPr>
        <p:spPr bwMode="auto">
          <a:xfrm>
            <a:off x="10557164" y="1842655"/>
            <a:ext cx="7495309" cy="7481454"/>
          </a:xfrm>
          <a:prstGeom prst="roundRect">
            <a:avLst>
              <a:gd name="adj" fmla="val 814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5" name="Рисунок 7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1444143" y="2722707"/>
            <a:ext cx="5721350" cy="5721350"/>
          </a:xfrm>
          <a:prstGeom prst="rect">
            <a:avLst/>
          </a:prstGeom>
          <a:solidFill>
            <a:schemeClr val="accent5"/>
          </a:solidFill>
        </p:spPr>
        <p:txBody>
          <a:bodyPr lIns="360000" tIns="360000" rIns="360000" bIns="360000"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Место для </a:t>
            </a:r>
            <a:r>
              <a:rPr lang="ru-RU"/>
              <a:t>Q</a:t>
            </a:r>
            <a:r>
              <a:rPr lang="en-US"/>
              <a:t>R</a:t>
            </a:r>
            <a:endParaRPr lang="ru-RU"/>
          </a:p>
        </p:txBody>
      </p:sp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крывающий слайд 1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6879312" y="5134647"/>
            <a:ext cx="6040677" cy="890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крывающий слайд 3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 userDrawn="1"/>
        </p:nvSpPr>
        <p:spPr bwMode="auto"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gradFill>
            <a:gsLst>
              <a:gs pos="0">
                <a:srgbClr val="F3F3F5">
                  <a:alpha val="80477"/>
                </a:srgbClr>
              </a:gs>
              <a:gs pos="100000">
                <a:srgbClr val="E0E1E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7" name="Рисунок 5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4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фото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510389" y="1510158"/>
            <a:ext cx="4885716" cy="72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Для дизайнера 1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Для дизайнера 2">
    <p:bg>
      <p:bgPr shadeToTitle="0">
        <a:blipFill>
          <a:blip r:embed="rId2">
            <a:lum/>
          </a:blip>
          <a:srcRect l="2830" t="0" r="2829" b="0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11510"/>
            <a:ext cx="19799300" cy="11137104"/>
          </a:xfrm>
          <a:prstGeom prst="rect">
            <a:avLst/>
          </a:prstGeom>
        </p:spPr>
      </p:pic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Для дизайнера 3">
    <p:bg>
      <p:bgPr shadeToTitle="0"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Для дизайнера 4">
    <p:bg>
      <p:bgPr shadeToTitle="0">
        <a:blipFill>
          <a:blip r:embed="rId2">
            <a:lum/>
          </a:blip>
          <a:srcRect l="2830" t="0" r="2829" b="0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Для дизайнера 5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Заполнители для 2 изобр.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Рисунок 4"/>
          <p:cNvSpPr>
            <a:spLocks noChangeAspect="1" noGrp="1"/>
          </p:cNvSpPr>
          <p:nvPr>
            <p:ph type="pic" sz="quarter" idx="11" hasCustomPrompt="1"/>
          </p:nvPr>
        </p:nvSpPr>
        <p:spPr bwMode="auto">
          <a:xfrm>
            <a:off x="9971088" y="3010978"/>
            <a:ext cx="9429592" cy="5107688"/>
          </a:xfrm>
          <a:custGeom>
            <a:avLst/>
            <a:gdLst>
              <a:gd name="connsiteX0" fmla="*/ 513829 w 9429592"/>
              <a:gd name="connsiteY0" fmla="*/ 0 h 5107688"/>
              <a:gd name="connsiteX1" fmla="*/ 3686199 w 9429592"/>
              <a:gd name="connsiteY1" fmla="*/ 0 h 5107688"/>
              <a:gd name="connsiteX2" fmla="*/ 5517083 w 9429592"/>
              <a:gd name="connsiteY2" fmla="*/ 0 h 5107688"/>
              <a:gd name="connsiteX3" fmla="*/ 6142251 w 9429592"/>
              <a:gd name="connsiteY3" fmla="*/ 0 h 5107688"/>
              <a:gd name="connsiteX4" fmla="*/ 6559882 w 9429592"/>
              <a:gd name="connsiteY4" fmla="*/ 0 h 5107688"/>
              <a:gd name="connsiteX5" fmla="*/ 8848108 w 9429592"/>
              <a:gd name="connsiteY5" fmla="*/ 0 h 5107688"/>
              <a:gd name="connsiteX6" fmla="*/ 9429590 w 9429592"/>
              <a:gd name="connsiteY6" fmla="*/ 581482 h 5107688"/>
              <a:gd name="connsiteX7" fmla="*/ 9429590 w 9429592"/>
              <a:gd name="connsiteY7" fmla="*/ 890249 h 5107688"/>
              <a:gd name="connsiteX8" fmla="*/ 9429592 w 9429592"/>
              <a:gd name="connsiteY8" fmla="*/ 890268 h 5107688"/>
              <a:gd name="connsiteX9" fmla="*/ 9429592 w 9429592"/>
              <a:gd name="connsiteY9" fmla="*/ 913401 h 5107688"/>
              <a:gd name="connsiteX10" fmla="*/ 9429592 w 9429592"/>
              <a:gd name="connsiteY10" fmla="*/ 1749804 h 5107688"/>
              <a:gd name="connsiteX11" fmla="*/ 9429592 w 9429592"/>
              <a:gd name="connsiteY11" fmla="*/ 2459862 h 5107688"/>
              <a:gd name="connsiteX12" fmla="*/ 9429592 w 9429592"/>
              <a:gd name="connsiteY12" fmla="*/ 3096906 h 5107688"/>
              <a:gd name="connsiteX13" fmla="*/ 9429592 w 9429592"/>
              <a:gd name="connsiteY13" fmla="*/ 3319398 h 5107688"/>
              <a:gd name="connsiteX14" fmla="*/ 8835444 w 9429592"/>
              <a:gd name="connsiteY14" fmla="*/ 3912858 h 5107688"/>
              <a:gd name="connsiteX15" fmla="*/ 8241308 w 9429592"/>
              <a:gd name="connsiteY15" fmla="*/ 4508285 h 5107688"/>
              <a:gd name="connsiteX16" fmla="*/ 7643202 w 9429592"/>
              <a:gd name="connsiteY16" fmla="*/ 5107688 h 5107688"/>
              <a:gd name="connsiteX17" fmla="*/ 7424824 w 9429592"/>
              <a:gd name="connsiteY17" fmla="*/ 5107688 h 5107688"/>
              <a:gd name="connsiteX18" fmla="*/ 4045853 w 9429592"/>
              <a:gd name="connsiteY18" fmla="*/ 5107688 h 5107688"/>
              <a:gd name="connsiteX19" fmla="*/ 3903698 w 9429592"/>
              <a:gd name="connsiteY19" fmla="*/ 5107688 h 5107688"/>
              <a:gd name="connsiteX20" fmla="*/ 3886773 w 9429592"/>
              <a:gd name="connsiteY20" fmla="*/ 5105979 h 5107688"/>
              <a:gd name="connsiteX21" fmla="*/ 3686199 w 9429592"/>
              <a:gd name="connsiteY21" fmla="*/ 5105979 h 5107688"/>
              <a:gd name="connsiteX22" fmla="*/ 3585922 w 9429592"/>
              <a:gd name="connsiteY22" fmla="*/ 5095870 h 5107688"/>
              <a:gd name="connsiteX23" fmla="*/ 3581437 w 9429592"/>
              <a:gd name="connsiteY23" fmla="*/ 5094478 h 5107688"/>
              <a:gd name="connsiteX24" fmla="*/ 513829 w 9429592"/>
              <a:gd name="connsiteY24" fmla="*/ 5094478 h 5107688"/>
              <a:gd name="connsiteX25" fmla="*/ 0 w 9429592"/>
              <a:gd name="connsiteY25" fmla="*/ 4580649 h 5107688"/>
              <a:gd name="connsiteX26" fmla="*/ 0 w 9429592"/>
              <a:gd name="connsiteY26" fmla="*/ 513829 h 5107688"/>
              <a:gd name="connsiteX27" fmla="*/ 513829 w 9429592"/>
              <a:gd name="connsiteY27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429592" h="5107688" fill="norm" stroke="1" extrusionOk="0">
                <a:moveTo>
                  <a:pt x="513829" y="0"/>
                </a:moveTo>
                <a:lnTo>
                  <a:pt x="3686199" y="0"/>
                </a:lnTo>
                <a:lnTo>
                  <a:pt x="5517083" y="0"/>
                </a:lnTo>
                <a:lnTo>
                  <a:pt x="6142251" y="0"/>
                </a:lnTo>
                <a:lnTo>
                  <a:pt x="6559882" y="0"/>
                </a:lnTo>
                <a:lnTo>
                  <a:pt x="8848108" y="0"/>
                </a:lnTo>
                <a:cubicBezTo>
                  <a:pt x="9169252" y="0"/>
                  <a:pt x="9429590" y="260338"/>
                  <a:pt x="9429590" y="581482"/>
                </a:cubicBezTo>
                <a:lnTo>
                  <a:pt x="9429590" y="890249"/>
                </a:lnTo>
                <a:lnTo>
                  <a:pt x="9429592" y="890268"/>
                </a:lnTo>
                <a:lnTo>
                  <a:pt x="9429592" y="913401"/>
                </a:lnTo>
                <a:lnTo>
                  <a:pt x="9429592" y="1749804"/>
                </a:lnTo>
                <a:lnTo>
                  <a:pt x="9429592" y="2459862"/>
                </a:lnTo>
                <a:lnTo>
                  <a:pt x="9429592" y="3096906"/>
                </a:lnTo>
                <a:lnTo>
                  <a:pt x="9429592" y="3319398"/>
                </a:lnTo>
                <a:cubicBezTo>
                  <a:pt x="9429592" y="3647163"/>
                  <a:pt x="9163578" y="3912858"/>
                  <a:pt x="8835444" y="3912858"/>
                </a:cubicBezTo>
                <a:cubicBezTo>
                  <a:pt x="8507312" y="3912858"/>
                  <a:pt x="8241308" y="4180531"/>
                  <a:pt x="8241308" y="4508285"/>
                </a:cubicBezTo>
                <a:cubicBezTo>
                  <a:pt x="8241308" y="4838233"/>
                  <a:pt x="7973522" y="5107688"/>
                  <a:pt x="7643202" y="5107688"/>
                </a:cubicBezTo>
                <a:lnTo>
                  <a:pt x="7424824" y="5107688"/>
                </a:lnTo>
                <a:lnTo>
                  <a:pt x="4045853" y="5107688"/>
                </a:lnTo>
                <a:lnTo>
                  <a:pt x="3903698" y="5107688"/>
                </a:lnTo>
                <a:lnTo>
                  <a:pt x="3886773" y="5105979"/>
                </a:lnTo>
                <a:lnTo>
                  <a:pt x="3686199" y="5105979"/>
                </a:lnTo>
                <a:cubicBezTo>
                  <a:pt x="3651849" y="5105979"/>
                  <a:pt x="3618312" y="5102499"/>
                  <a:pt x="3585922" y="5095870"/>
                </a:cubicBezTo>
                <a:lnTo>
                  <a:pt x="3581437" y="5094478"/>
                </a:lnTo>
                <a:lnTo>
                  <a:pt x="513829" y="5094478"/>
                </a:lnTo>
                <a:cubicBezTo>
                  <a:pt x="230049" y="5094478"/>
                  <a:pt x="0" y="4864429"/>
                  <a:pt x="0" y="4580649"/>
                </a:cubicBezTo>
                <a:lnTo>
                  <a:pt x="0" y="513829"/>
                </a:lnTo>
                <a:cubicBezTo>
                  <a:pt x="0" y="230049"/>
                  <a:pt x="230049" y="0"/>
                  <a:pt x="513829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изображения</a:t>
            </a:r>
            <a:endParaRPr/>
          </a:p>
        </p:txBody>
      </p:sp>
      <p:sp>
        <p:nvSpPr>
          <p:cNvPr id="9" name="Рисунок 8"/>
          <p:cNvSpPr>
            <a:spLocks noChangeAspect="1" noGrp="1"/>
          </p:cNvSpPr>
          <p:nvPr>
            <p:ph type="pic" sz="quarter" idx="12" hasCustomPrompt="1"/>
          </p:nvPr>
        </p:nvSpPr>
        <p:spPr bwMode="auto">
          <a:xfrm>
            <a:off x="400368" y="3010978"/>
            <a:ext cx="9429592" cy="5107688"/>
          </a:xfrm>
          <a:custGeom>
            <a:avLst/>
            <a:gdLst>
              <a:gd name="connsiteX0" fmla="*/ 513829 w 9429592"/>
              <a:gd name="connsiteY0" fmla="*/ 0 h 5107688"/>
              <a:gd name="connsiteX1" fmla="*/ 3686199 w 9429592"/>
              <a:gd name="connsiteY1" fmla="*/ 0 h 5107688"/>
              <a:gd name="connsiteX2" fmla="*/ 5517083 w 9429592"/>
              <a:gd name="connsiteY2" fmla="*/ 0 h 5107688"/>
              <a:gd name="connsiteX3" fmla="*/ 6142251 w 9429592"/>
              <a:gd name="connsiteY3" fmla="*/ 0 h 5107688"/>
              <a:gd name="connsiteX4" fmla="*/ 6559882 w 9429592"/>
              <a:gd name="connsiteY4" fmla="*/ 0 h 5107688"/>
              <a:gd name="connsiteX5" fmla="*/ 8848108 w 9429592"/>
              <a:gd name="connsiteY5" fmla="*/ 0 h 5107688"/>
              <a:gd name="connsiteX6" fmla="*/ 9429590 w 9429592"/>
              <a:gd name="connsiteY6" fmla="*/ 581482 h 5107688"/>
              <a:gd name="connsiteX7" fmla="*/ 9429590 w 9429592"/>
              <a:gd name="connsiteY7" fmla="*/ 890249 h 5107688"/>
              <a:gd name="connsiteX8" fmla="*/ 9429592 w 9429592"/>
              <a:gd name="connsiteY8" fmla="*/ 890268 h 5107688"/>
              <a:gd name="connsiteX9" fmla="*/ 9429592 w 9429592"/>
              <a:gd name="connsiteY9" fmla="*/ 913401 h 5107688"/>
              <a:gd name="connsiteX10" fmla="*/ 9429592 w 9429592"/>
              <a:gd name="connsiteY10" fmla="*/ 1749804 h 5107688"/>
              <a:gd name="connsiteX11" fmla="*/ 9429592 w 9429592"/>
              <a:gd name="connsiteY11" fmla="*/ 2459862 h 5107688"/>
              <a:gd name="connsiteX12" fmla="*/ 9429592 w 9429592"/>
              <a:gd name="connsiteY12" fmla="*/ 3096906 h 5107688"/>
              <a:gd name="connsiteX13" fmla="*/ 9429592 w 9429592"/>
              <a:gd name="connsiteY13" fmla="*/ 3319398 h 5107688"/>
              <a:gd name="connsiteX14" fmla="*/ 8835444 w 9429592"/>
              <a:gd name="connsiteY14" fmla="*/ 3912858 h 5107688"/>
              <a:gd name="connsiteX15" fmla="*/ 8241308 w 9429592"/>
              <a:gd name="connsiteY15" fmla="*/ 4508285 h 5107688"/>
              <a:gd name="connsiteX16" fmla="*/ 7643202 w 9429592"/>
              <a:gd name="connsiteY16" fmla="*/ 5107688 h 5107688"/>
              <a:gd name="connsiteX17" fmla="*/ 7424824 w 9429592"/>
              <a:gd name="connsiteY17" fmla="*/ 5107688 h 5107688"/>
              <a:gd name="connsiteX18" fmla="*/ 4045853 w 9429592"/>
              <a:gd name="connsiteY18" fmla="*/ 5107688 h 5107688"/>
              <a:gd name="connsiteX19" fmla="*/ 3903698 w 9429592"/>
              <a:gd name="connsiteY19" fmla="*/ 5107688 h 5107688"/>
              <a:gd name="connsiteX20" fmla="*/ 3886773 w 9429592"/>
              <a:gd name="connsiteY20" fmla="*/ 5105979 h 5107688"/>
              <a:gd name="connsiteX21" fmla="*/ 3686199 w 9429592"/>
              <a:gd name="connsiteY21" fmla="*/ 5105979 h 5107688"/>
              <a:gd name="connsiteX22" fmla="*/ 3585922 w 9429592"/>
              <a:gd name="connsiteY22" fmla="*/ 5095870 h 5107688"/>
              <a:gd name="connsiteX23" fmla="*/ 3581437 w 9429592"/>
              <a:gd name="connsiteY23" fmla="*/ 5094478 h 5107688"/>
              <a:gd name="connsiteX24" fmla="*/ 513829 w 9429592"/>
              <a:gd name="connsiteY24" fmla="*/ 5094478 h 5107688"/>
              <a:gd name="connsiteX25" fmla="*/ 0 w 9429592"/>
              <a:gd name="connsiteY25" fmla="*/ 4580649 h 5107688"/>
              <a:gd name="connsiteX26" fmla="*/ 0 w 9429592"/>
              <a:gd name="connsiteY26" fmla="*/ 513829 h 5107688"/>
              <a:gd name="connsiteX27" fmla="*/ 513829 w 9429592"/>
              <a:gd name="connsiteY27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429592" h="5107688" fill="norm" stroke="1" extrusionOk="0">
                <a:moveTo>
                  <a:pt x="513829" y="0"/>
                </a:moveTo>
                <a:lnTo>
                  <a:pt x="3686199" y="0"/>
                </a:lnTo>
                <a:lnTo>
                  <a:pt x="5517083" y="0"/>
                </a:lnTo>
                <a:lnTo>
                  <a:pt x="6142251" y="0"/>
                </a:lnTo>
                <a:lnTo>
                  <a:pt x="6559882" y="0"/>
                </a:lnTo>
                <a:lnTo>
                  <a:pt x="8848108" y="0"/>
                </a:lnTo>
                <a:cubicBezTo>
                  <a:pt x="9169252" y="0"/>
                  <a:pt x="9429590" y="260338"/>
                  <a:pt x="9429590" y="581482"/>
                </a:cubicBezTo>
                <a:lnTo>
                  <a:pt x="9429590" y="890249"/>
                </a:lnTo>
                <a:lnTo>
                  <a:pt x="9429592" y="890268"/>
                </a:lnTo>
                <a:lnTo>
                  <a:pt x="9429592" y="913401"/>
                </a:lnTo>
                <a:lnTo>
                  <a:pt x="9429592" y="1749804"/>
                </a:lnTo>
                <a:lnTo>
                  <a:pt x="9429592" y="2459862"/>
                </a:lnTo>
                <a:lnTo>
                  <a:pt x="9429592" y="3096906"/>
                </a:lnTo>
                <a:lnTo>
                  <a:pt x="9429592" y="3319398"/>
                </a:lnTo>
                <a:cubicBezTo>
                  <a:pt x="9429592" y="3647163"/>
                  <a:pt x="9163578" y="3912858"/>
                  <a:pt x="8835444" y="3912858"/>
                </a:cubicBezTo>
                <a:cubicBezTo>
                  <a:pt x="8507312" y="3912858"/>
                  <a:pt x="8241308" y="4180531"/>
                  <a:pt x="8241308" y="4508285"/>
                </a:cubicBezTo>
                <a:cubicBezTo>
                  <a:pt x="8241308" y="4838233"/>
                  <a:pt x="7973522" y="5107688"/>
                  <a:pt x="7643202" y="5107688"/>
                </a:cubicBezTo>
                <a:lnTo>
                  <a:pt x="7424824" y="5107688"/>
                </a:lnTo>
                <a:lnTo>
                  <a:pt x="4045853" y="5107688"/>
                </a:lnTo>
                <a:lnTo>
                  <a:pt x="3903698" y="5107688"/>
                </a:lnTo>
                <a:lnTo>
                  <a:pt x="3886773" y="5105979"/>
                </a:lnTo>
                <a:lnTo>
                  <a:pt x="3686199" y="5105979"/>
                </a:lnTo>
                <a:cubicBezTo>
                  <a:pt x="3651849" y="5105979"/>
                  <a:pt x="3618312" y="5102499"/>
                  <a:pt x="3585922" y="5095870"/>
                </a:cubicBezTo>
                <a:lnTo>
                  <a:pt x="3581437" y="5094478"/>
                </a:lnTo>
                <a:lnTo>
                  <a:pt x="513829" y="5094478"/>
                </a:lnTo>
                <a:cubicBezTo>
                  <a:pt x="230049" y="5094478"/>
                  <a:pt x="0" y="4864429"/>
                  <a:pt x="0" y="4580649"/>
                </a:cubicBezTo>
                <a:lnTo>
                  <a:pt x="0" y="513829"/>
                </a:lnTo>
                <a:cubicBezTo>
                  <a:pt x="0" y="230049"/>
                  <a:pt x="230049" y="0"/>
                  <a:pt x="513829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изображения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</p:sldLayoutIdLst>
  <p:hf dt="0" ftr="0" hdr="0" sldNum="1"/>
  <p:txStyles>
    <p:titleStyle>
      <a:lvl1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titleStyle>
    <p:bodyStyle>
      <a:lvl1pPr marL="0" marR="0" indent="0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None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708566" marR="0" indent="-438064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1417132" marR="0" indent="-517712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2125697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3560341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4303145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5045952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5788754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6531561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bodyStyle>
    <p:otherStyle>
      <a:lvl1pPr marL="0" marR="0" indent="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44993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89988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1349818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179975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224969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269963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314957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359951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1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image" Target="../media/image30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3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 flipH="0" flipV="0">
            <a:off x="6210694" y="4320138"/>
            <a:ext cx="12981018" cy="2042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8000">
                <a:solidFill>
                  <a:srgbClr val="0A0A0A"/>
                </a:solidFill>
                <a:latin typeface="T-Sans"/>
                <a:ea typeface="T-Sans"/>
              </a:rPr>
              <a:t>Семинар</a:t>
            </a:r>
            <a:r>
              <a:rPr lang="ru-RU" sz="8000">
                <a:solidFill>
                  <a:srgbClr val="0A0A0A"/>
                </a:solidFill>
                <a:latin typeface="T-Sans"/>
                <a:ea typeface="T-Sans"/>
              </a:rPr>
              <a:t> </a:t>
            </a:r>
            <a:r>
              <a:rPr sz="8000">
                <a:solidFill>
                  <a:srgbClr val="0A0A0A"/>
                </a:solidFill>
                <a:latin typeface="T-Sans"/>
                <a:ea typeface="T-Sans"/>
              </a:rPr>
              <a:t>4. </a:t>
            </a:r>
            <a:endParaRPr lang="ru-RU" sz="8000">
              <a:solidFill>
                <a:srgbClr val="0A0A0A"/>
              </a:solidFill>
              <a:latin typeface="T-Sans"/>
              <a:ea typeface="T-Sans"/>
            </a:endParaRPr>
          </a:p>
          <a:p>
            <a:pPr>
              <a:defRPr/>
            </a:pPr>
            <a:r>
              <a:rPr lang="ru-RU" sz="4800" b="0" i="0" u="none" strike="noStrike" cap="none" spc="0">
                <a:ln>
                  <a:noFill/>
                </a:ln>
                <a:solidFill>
                  <a:srgbClr val="0A0A0A"/>
                </a:solidFill>
                <a:latin typeface="T-Sans"/>
                <a:ea typeface="T-Sans"/>
                <a:cs typeface="T-Sans"/>
              </a:rPr>
              <a:t>Обработка </a:t>
            </a:r>
            <a:r>
              <a:rPr lang="ru-RU" sz="4800" b="0" i="0" u="none" strike="noStrike" cap="none" spc="0">
                <a:ln>
                  <a:noFill/>
                </a:ln>
                <a:solidFill>
                  <a:srgbClr val="0A0A0A"/>
                </a:solidFill>
                <a:latin typeface="T-Sans"/>
                <a:ea typeface="T-Sans"/>
                <a:cs typeface="T-Sans"/>
              </a:rPr>
              <a:t>ошибок </a:t>
            </a:r>
            <a:r>
              <a:rPr lang="en-US" sz="4800" b="0" i="0" u="none" strike="noStrike" cap="none" spc="0">
                <a:ln>
                  <a:noFill/>
                </a:ln>
                <a:solidFill>
                  <a:srgbClr val="0A0A0A"/>
                </a:solidFill>
                <a:latin typeface="T-Sans"/>
                <a:ea typeface="T-Sans"/>
                <a:cs typeface="T-Sans"/>
              </a:rPr>
              <a:t>и </a:t>
            </a:r>
            <a:r>
              <a:rPr lang="ru-RU" sz="4800" b="0" i="0" u="none" strike="noStrike" cap="none" spc="0">
                <a:ln>
                  <a:noFill/>
                </a:ln>
                <a:solidFill>
                  <a:srgbClr val="0A0A0A"/>
                </a:solidFill>
                <a:latin typeface="T-Sans"/>
                <a:ea typeface="T-Sans"/>
                <a:cs typeface="T-Sans"/>
              </a:rPr>
              <a:t>исключительных </a:t>
            </a:r>
            <a:r>
              <a:rPr lang="ru-RU" sz="4800" b="0" i="0" u="none" strike="noStrike" cap="none" spc="0">
                <a:ln>
                  <a:noFill/>
                </a:ln>
                <a:solidFill>
                  <a:srgbClr val="0A0A0A"/>
                </a:solidFill>
                <a:latin typeface="T-Sans"/>
                <a:ea typeface="T-Sans"/>
                <a:cs typeface="T-Sans"/>
              </a:rPr>
              <a:t>ситуаций</a:t>
            </a: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8215312" y="6558259"/>
            <a:ext cx="10994039" cy="45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400">
                <a:latin typeface="T-Sans"/>
                <a:ea typeface="T-Sans"/>
              </a:rPr>
              <a:t>Исключения</a:t>
            </a:r>
            <a:r>
              <a:rPr lang="el-GR" sz="2400">
                <a:latin typeface="T-Sans"/>
                <a:ea typeface="T-Sans"/>
              </a:rPr>
              <a:t>, try-with-resources, vavr, JMH </a:t>
            </a:r>
            <a:endParaRPr sz="2400">
              <a:solidFill>
                <a:srgbClr val="0A0A0A"/>
              </a:solidFill>
              <a:latin typeface="T-Sans"/>
              <a:ea typeface="T-Sans"/>
            </a:endParaRPr>
          </a:p>
        </p:txBody>
      </p:sp>
      <p:grpSp>
        <p:nvGrpSpPr>
          <p:cNvPr id="5" name="Группа 4"/>
          <p:cNvGrpSpPr/>
          <p:nvPr/>
        </p:nvGrpSpPr>
        <p:grpSpPr bwMode="auto">
          <a:xfrm>
            <a:off x="8211312" y="8783778"/>
            <a:ext cx="612776" cy="612776"/>
            <a:chOff x="6884958" y="8711671"/>
            <a:chExt cx="921394" cy="921394"/>
          </a:xfrm>
        </p:grpSpPr>
        <p:sp>
          <p:nvSpPr>
            <p:cNvPr id="6" name="Овал 5"/>
            <p:cNvSpPr/>
            <p:nvPr/>
          </p:nvSpPr>
          <p:spPr bwMode="auto">
            <a:xfrm>
              <a:off x="6884958" y="8711671"/>
              <a:ext cx="921394" cy="921394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pic>
          <p:nvPicPr>
            <p:cNvPr id="7" name="Рисунок 6"/>
            <p:cNvPicPr>
              <a:picLocks noChangeAspect="1"/>
            </p:cNvPicPr>
            <p:nvPr/>
          </p:nvPicPr>
          <p:blipFill>
            <a:blip r:embed="rId2"/>
            <a:stretch/>
          </p:blipFill>
          <p:spPr bwMode="auto">
            <a:xfrm>
              <a:off x="7121611" y="8948324"/>
              <a:ext cx="448089" cy="448089"/>
            </a:xfrm>
            <a:prstGeom prst="rect">
              <a:avLst/>
            </a:prstGeom>
          </p:spPr>
        </p:pic>
      </p:grpSp>
      <p:sp>
        <p:nvSpPr>
          <p:cNvPr id="8" name="TextBox 7"/>
          <p:cNvSpPr txBox="1"/>
          <p:nvPr/>
        </p:nvSpPr>
        <p:spPr bwMode="auto">
          <a:xfrm>
            <a:off x="9046659" y="8911512"/>
            <a:ext cx="10134767" cy="4381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ctr">
            <a:spAutoFit/>
          </a:bodyPr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400"/>
              </a:lnSpc>
              <a:defRPr sz="2400">
                <a:solidFill>
                  <a:schemeClr val="accent6"/>
                </a:solidFill>
                <a:latin typeface="Tinkoff San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>
                <a:solidFill>
                  <a:schemeClr val="accent2"/>
                </a:solidFill>
                <a:latin typeface="T-Sans"/>
                <a:ea typeface="T-Sans"/>
              </a:rPr>
              <a:t>Сергей Немец| Ведущий разработчик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 bwMode="auto">
          <a:xfrm>
            <a:off x="1366837" y="647700"/>
            <a:ext cx="7313731" cy="100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6000">
                <a:solidFill>
                  <a:srgbClr val="0A0A0A"/>
                </a:solidFill>
                <a:latin typeface="T-Sans"/>
                <a:ea typeface="T-Sans"/>
              </a:rPr>
              <a:t>План</a:t>
            </a:r>
            <a:r>
              <a:rPr lang="ru-RU" sz="6000">
                <a:solidFill>
                  <a:srgbClr val="0A0A0A"/>
                </a:solidFill>
                <a:latin typeface="T-Sans"/>
                <a:ea typeface="T-Sans"/>
              </a:rPr>
              <a:t> </a:t>
            </a:r>
            <a:r>
              <a:rPr lang="ru-RU" sz="6000">
                <a:solidFill>
                  <a:srgbClr val="0A0A0A"/>
                </a:solidFill>
                <a:latin typeface="T-Sans"/>
                <a:ea typeface="T-Sans"/>
              </a:rPr>
              <a:t>семинара</a:t>
            </a:r>
            <a:endParaRPr lang="ru-RU" sz="6000">
              <a:solidFill>
                <a:srgbClr val="0A0A0A"/>
              </a:solidFill>
              <a:latin typeface="T-Sans"/>
              <a:ea typeface="T-Sans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1366837" y="2011680"/>
            <a:ext cx="7354880" cy="1625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000"/>
              </a:spcAft>
              <a:buFont typeface="Arial"/>
              <a:buChar char="•"/>
              <a:defRPr/>
            </a:pPr>
            <a:r>
              <a:rPr lang="ru-RU" sz="2800">
                <a:solidFill>
                  <a:srgbClr val="0A0A0A"/>
                </a:solidFill>
                <a:latin typeface="T-Sans"/>
                <a:ea typeface="T-Sans"/>
              </a:rPr>
              <a:t>Способы обработки ошибок</a:t>
            </a:r>
            <a:endParaRPr lang="ru-RU" sz="2800">
              <a:solidFill>
                <a:srgbClr val="0A0A0A"/>
              </a:solidFill>
              <a:latin typeface="T-Sans"/>
              <a:ea typeface="T-Sans"/>
            </a:endParaRPr>
          </a:p>
          <a:p>
            <a:pPr marL="457200" indent="-457200">
              <a:spcAft>
                <a:spcPts val="999"/>
              </a:spcAft>
              <a:buFont typeface="Arial"/>
              <a:buChar char="•"/>
              <a:defRPr/>
            </a:pPr>
            <a:r>
              <a:rPr lang="ru-RU" sz="2800">
                <a:solidFill>
                  <a:srgbClr val="0A0A0A"/>
                </a:solidFill>
                <a:latin typeface="T-Sans"/>
                <a:ea typeface="T-Sans"/>
              </a:rPr>
              <a:t>Иерархия исключений в java</a:t>
            </a:r>
            <a:endParaRPr lang="ru-RU" sz="2800">
              <a:solidFill>
                <a:srgbClr val="0A0A0A"/>
              </a:solidFill>
              <a:latin typeface="T-Sans"/>
              <a:ea typeface="T-Sans"/>
            </a:endParaRPr>
          </a:p>
          <a:p>
            <a:pPr marL="457200" indent="-457200">
              <a:spcAft>
                <a:spcPts val="999"/>
              </a:spcAft>
              <a:buFont typeface="Arial"/>
              <a:buChar char="•"/>
              <a:defRPr/>
            </a:pPr>
            <a:r>
              <a:rPr lang="en" sz="2800" b="0" i="0" u="none" strike="noStrike" cap="none" spc="0">
                <a:ln>
                  <a:noFill/>
                </a:ln>
                <a:solidFill>
                  <a:srgbClr val="0A0A0A"/>
                </a:solidFill>
                <a:latin typeface="T-Sans"/>
                <a:ea typeface="T-Sans"/>
                <a:cs typeface="T-Sans"/>
              </a:rPr>
              <a:t>checked и unchecked исключения</a:t>
            </a:r>
            <a:endParaRPr sz="2800"/>
          </a:p>
        </p:txBody>
      </p:sp>
      <p:pic>
        <p:nvPicPr>
          <p:cNvPr id="8" name="Рисунок 7"/>
          <p:cNvPicPr>
            <a:picLocks noChangeAspect="1" noGrp="1"/>
          </p:cNvPicPr>
          <p:nvPr>
            <p:ph type="pic" sz="quarter" idx="10"/>
          </p:nvPr>
        </p:nvPicPr>
        <p:blipFill>
          <a:blip r:embed="rId2"/>
          <a:srcRect l="0" t="12" r="0" b="12"/>
          <a:stretch/>
        </p:blipFill>
        <p:spPr bwMode="auto"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 bwMode="auto">
          <a:xfrm>
            <a:off x="1366837" y="3315593"/>
            <a:ext cx="7675166" cy="27467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1304139" y="5114520"/>
            <a:ext cx="7499604" cy="107223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spcAft>
                <a:spcPts val="1000"/>
              </a:spcAft>
              <a:buFont typeface="Arial"/>
              <a:buChar char="•"/>
              <a:defRPr/>
            </a:pPr>
            <a:r>
              <a:rPr lang="ru-RU" sz="2800">
                <a:solidFill>
                  <a:srgbClr val="0A0A0A"/>
                </a:solidFill>
                <a:latin typeface="T-Sans"/>
                <a:ea typeface="T-Sans"/>
              </a:rPr>
              <a:t>Добавим в наш проект новый тип исключений</a:t>
            </a:r>
            <a:endParaRPr lang="ru-RU" sz="2800">
              <a:solidFill>
                <a:srgbClr val="0A0A0A"/>
              </a:solidFill>
              <a:latin typeface="T-Sans"/>
              <a:ea typeface="T-Sans"/>
            </a:endParaRPr>
          </a:p>
          <a:p>
            <a:pPr marL="457200" indent="-457200">
              <a:spcAft>
                <a:spcPts val="999"/>
              </a:spcAft>
              <a:buFont typeface="Arial"/>
              <a:buChar char="•"/>
              <a:defRPr/>
            </a:pPr>
            <a:r>
              <a:rPr lang="ru-RU" sz="2800">
                <a:solidFill>
                  <a:srgbClr val="0A0A0A"/>
                </a:solidFill>
                <a:latin typeface="T-Sans"/>
                <a:ea typeface="T-Sans"/>
              </a:rPr>
              <a:t>а также выполним его обработку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48409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8" y="10623146"/>
            <a:ext cx="1068945" cy="246220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1C777232-2D48-521C-0922-BCF37BB86C21}" type="slidenum">
              <a:rPr lang="ru-RU"/>
              <a:t/>
            </a:fld>
            <a:endParaRPr lang="ru-RU"/>
          </a:p>
        </p:txBody>
      </p:sp>
      <p:pic>
        <p:nvPicPr>
          <p:cNvPr id="376849310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419730" y="-109722"/>
            <a:ext cx="11379569" cy="11379569"/>
          </a:xfrm>
          <a:prstGeom prst="rect">
            <a:avLst/>
          </a:prstGeom>
        </p:spPr>
      </p:pic>
      <p:sp>
        <p:nvSpPr>
          <p:cNvPr id="1522211102" name="TextBox 4"/>
          <p:cNvSpPr txBox="1"/>
          <p:nvPr/>
        </p:nvSpPr>
        <p:spPr bwMode="auto">
          <a:xfrm flipH="0" flipV="0">
            <a:off x="1937827" y="4325282"/>
            <a:ext cx="8140376" cy="2541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ctr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ru-RU"/>
              <a:t>Но для разминки запустим </a:t>
            </a:r>
            <a:br>
              <a:rPr lang="ru-RU"/>
            </a:br>
            <a:r>
              <a:rPr lang="ru-RU"/>
              <a:t>наше приложение...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70374" name="TextBox 1"/>
          <p:cNvSpPr txBox="1"/>
          <p:nvPr/>
        </p:nvSpPr>
        <p:spPr bwMode="auto">
          <a:xfrm>
            <a:off x="1857903" y="5762071"/>
            <a:ext cx="9193573" cy="344649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ctr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ru-RU" sz="8000">
                <a:solidFill>
                  <a:schemeClr val="accent6"/>
                </a:solidFill>
                <a:latin typeface="T-Sans"/>
                <a:ea typeface="T-Sans"/>
              </a:rPr>
              <a:t>У вас </a:t>
            </a:r>
            <a:endParaRPr/>
          </a:p>
          <a:p>
            <a:pPr>
              <a:defRPr/>
            </a:pPr>
            <a:r>
              <a:rPr lang="ru-RU" sz="16600">
                <a:solidFill>
                  <a:schemeClr val="accent6"/>
                </a:solidFill>
                <a:latin typeface="T-Sans"/>
                <a:ea typeface="T-Sans"/>
              </a:rPr>
              <a:t>5</a:t>
            </a:r>
            <a:r>
              <a:rPr lang="ru-RU" sz="16600">
                <a:solidFill>
                  <a:schemeClr val="accent6"/>
                </a:solidFill>
                <a:latin typeface="T-Sans"/>
                <a:ea typeface="T-Sans"/>
              </a:rPr>
              <a:t> минут</a:t>
            </a:r>
            <a:endParaRPr/>
          </a:p>
        </p:txBody>
      </p:sp>
      <p:sp>
        <p:nvSpPr>
          <p:cNvPr id="245851887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0A4D2B1B-E69E-7630-753C-B47DF70EE440}" type="slidenum">
              <a:rPr lang="ru-RU"/>
              <a:t/>
            </a:fld>
            <a:endParaRPr lang="ru-RU"/>
          </a:p>
        </p:txBody>
      </p:sp>
      <p:pic>
        <p:nvPicPr>
          <p:cNvPr id="2021491387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215201" y="428482"/>
            <a:ext cx="9193213" cy="9193212"/>
          </a:xfrm>
          <a:prstGeom prst="rect">
            <a:avLst/>
          </a:prstGeom>
        </p:spPr>
      </p:pic>
      <p:sp>
        <p:nvSpPr>
          <p:cNvPr id="1677442158" name="Прямоугольник 7"/>
          <p:cNvSpPr/>
          <p:nvPr/>
        </p:nvSpPr>
        <p:spPr bwMode="auto">
          <a:xfrm>
            <a:off x="1366837" y="9450104"/>
            <a:ext cx="17065625" cy="343183"/>
          </a:xfrm>
          <a:prstGeom prst="rect">
            <a:avLst/>
          </a:prstGeom>
          <a:solidFill>
            <a:schemeClr val="accent6">
              <a:alpha val="30000"/>
            </a:schemeClr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1156021754" name="Прямоугольник 8"/>
          <p:cNvSpPr/>
          <p:nvPr/>
        </p:nvSpPr>
        <p:spPr bwMode="auto">
          <a:xfrm>
            <a:off x="1366837" y="9450104"/>
            <a:ext cx="17065622" cy="343183"/>
          </a:xfrm>
          <a:prstGeom prst="rect">
            <a:avLst/>
          </a:prstGeom>
          <a:gradFill>
            <a:gsLst>
              <a:gs pos="0">
                <a:srgbClr val="FFE560"/>
              </a:gs>
              <a:gs pos="100000">
                <a:schemeClr val="accent1"/>
              </a:gs>
            </a:gsLst>
            <a:lin ang="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defTabSz="457200">
              <a:defRPr/>
            </a:pPr>
            <a:endParaRPr lang="ru-RU" sz="1800"/>
          </a:p>
        </p:txBody>
      </p:sp>
      <p:sp>
        <p:nvSpPr>
          <p:cNvPr id="1715845975" name=""/>
          <p:cNvSpPr txBox="1"/>
          <p:nvPr/>
        </p:nvSpPr>
        <p:spPr bwMode="auto">
          <a:xfrm flipH="0" flipV="0">
            <a:off x="1128590" y="2670122"/>
            <a:ext cx="9525870" cy="12805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17793" indent="-217793">
              <a:buClrTx/>
              <a:buSzTx/>
              <a:buFont typeface="Liberation Sans"/>
              <a:buChar char="–"/>
              <a:defRPr/>
            </a:pPr>
            <a:r>
              <a:rPr lang="ru-RU" sz="26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  <a:t>неполный набор параметров</a:t>
            </a:r>
            <a:endParaRPr lang="ru-RU" sz="2600" b="0" i="0" u="none">
              <a:solidFill>
                <a:schemeClr val="accent6"/>
              </a:solidFill>
              <a:latin typeface="T-Sans"/>
              <a:ea typeface="T-Sans"/>
              <a:cs typeface="T-Sans"/>
            </a:endParaRPr>
          </a:p>
          <a:p>
            <a:pPr marL="217793" indent="-217793">
              <a:buClrTx/>
              <a:buSzTx/>
              <a:buFont typeface="Liberation Sans"/>
              <a:buChar char="–"/>
              <a:defRPr/>
            </a:pPr>
            <a:r>
              <a:rPr lang="ru-RU" sz="26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  <a:t>неверный тип валюты</a:t>
            </a:r>
            <a:endParaRPr lang="ru-RU" sz="2600" b="0" i="0" u="none">
              <a:solidFill>
                <a:schemeClr val="accent6"/>
              </a:solidFill>
              <a:latin typeface="T-Sans"/>
              <a:ea typeface="T-Sans"/>
              <a:cs typeface="T-Sans"/>
            </a:endParaRPr>
          </a:p>
          <a:p>
            <a:pPr marL="217793" indent="-217793">
              <a:buClrTx/>
              <a:buSzTx/>
              <a:buFont typeface="Liberation Sans"/>
              <a:buChar char="–"/>
              <a:defRPr/>
            </a:pPr>
            <a:r>
              <a:rPr lang="ru-RU" sz="26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  <a:t>неизвестный тип инструмента </a:t>
            </a:r>
            <a:endParaRPr sz="2600">
              <a:solidFill>
                <a:schemeClr val="accent6"/>
              </a:solidFill>
              <a:latin typeface="T-Sans"/>
              <a:ea typeface="T-Sans"/>
              <a:cs typeface="T-Sans"/>
            </a:endParaRPr>
          </a:p>
        </p:txBody>
      </p:sp>
      <p:sp>
        <p:nvSpPr>
          <p:cNvPr id="1639773856" name=""/>
          <p:cNvSpPr txBox="1"/>
          <p:nvPr/>
        </p:nvSpPr>
        <p:spPr bwMode="auto">
          <a:xfrm flipH="0" flipV="0">
            <a:off x="1493892" y="1617287"/>
            <a:ext cx="9161287" cy="884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ru-RU" sz="26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  <a:t>Поэкспериментируйте с командой `</a:t>
            </a:r>
            <a:r>
              <a:rPr lang="en-US" sz="26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  <a:t>add</a:t>
            </a:r>
            <a:r>
              <a:rPr lang="ru-RU" sz="26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  <a:t>`. </a:t>
            </a:r>
            <a:br>
              <a:rPr lang="ru-RU" sz="26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</a:br>
            <a:r>
              <a:rPr lang="ru-RU" sz="26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  <a:t>Попробуйте ввести то, чего программа не ожидает:</a:t>
            </a:r>
            <a:endParaRPr lang="ru-RU" sz="8000" b="0" i="0" u="none">
              <a:solidFill>
                <a:schemeClr val="accent6"/>
              </a:solidFill>
              <a:latin typeface="T-Sans"/>
              <a:ea typeface="T-Sans"/>
              <a:cs typeface="T-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02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00" fill="hold"/>
                                        <p:tgtEl>
                                          <p:spTgt spid="1156021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00" fill="hold"/>
                                        <p:tgtEl>
                                          <p:spTgt spid="1156021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00" fill="hold"/>
                                        <p:tgtEl>
                                          <p:spTgt spid="1156021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000" fill="hold"/>
                                        <p:tgtEl>
                                          <p:spTgt spid="1156021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FFC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sp>
        <p:nvSpPr>
          <p:cNvPr id="18" name="TextBox 17"/>
          <p:cNvSpPr txBox="1"/>
          <p:nvPr/>
        </p:nvSpPr>
        <p:spPr bwMode="auto">
          <a:xfrm>
            <a:off x="1965476" y="2637490"/>
            <a:ext cx="4547268" cy="10233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371994" indent="-371994" algn="l">
              <a:buClrTx/>
              <a:buSzTx/>
              <a:buFontTx/>
              <a:buAutoNum type="arabicPeriod"/>
              <a:defRPr/>
            </a:pPr>
            <a:r>
              <a:rPr lang="ru-RU" sz="2600">
                <a:latin typeface="T-Sans"/>
                <a:ea typeface="T-Sans"/>
              </a:rPr>
              <a:t>Понятная </a:t>
            </a:r>
            <a:br>
              <a:rPr lang="ru-RU" sz="2600">
                <a:latin typeface="T-Sans"/>
                <a:ea typeface="T-Sans"/>
              </a:rPr>
            </a:br>
            <a:r>
              <a:rPr lang="ru-RU" sz="2600">
                <a:latin typeface="T-Sans"/>
                <a:ea typeface="T-Sans"/>
              </a:rPr>
              <a:t>(человеко-читаемая)</a:t>
            </a:r>
            <a:endParaRPr lang="ru-RU" sz="2600">
              <a:latin typeface="T-Sans"/>
              <a:ea typeface="T-Sans"/>
            </a:endParaRPr>
          </a:p>
        </p:txBody>
      </p:sp>
      <p:sp>
        <p:nvSpPr>
          <p:cNvPr id="23" name="TextBox 22"/>
          <p:cNvSpPr txBox="1"/>
          <p:nvPr/>
        </p:nvSpPr>
        <p:spPr bwMode="auto">
          <a:xfrm>
            <a:off x="611187" y="1321117"/>
            <a:ext cx="6595199" cy="895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ru-RU" b="0">
                <a:latin typeface="T-Sans"/>
                <a:ea typeface="T-Sans"/>
              </a:rPr>
              <a:t>Виды ошибок</a:t>
            </a:r>
            <a:endParaRPr lang="ru-RU" b="0">
              <a:latin typeface="T-Sans"/>
              <a:ea typeface="T-Sans"/>
            </a:endParaRPr>
          </a:p>
        </p:txBody>
      </p:sp>
      <p:grpSp>
        <p:nvGrpSpPr>
          <p:cNvPr id="2" name="Группа 1"/>
          <p:cNvGrpSpPr/>
          <p:nvPr/>
        </p:nvGrpSpPr>
        <p:grpSpPr bwMode="auto">
          <a:xfrm flipH="0" flipV="0">
            <a:off x="7477169" y="647699"/>
            <a:ext cx="11448000" cy="10313857"/>
            <a:chOff x="0" y="0"/>
            <a:chExt cx="11448000" cy="10313857"/>
          </a:xfrm>
        </p:grpSpPr>
        <p:sp>
          <p:nvSpPr>
            <p:cNvPr id="4" name="Скругленный прямоугольник 3"/>
            <p:cNvSpPr/>
            <p:nvPr/>
          </p:nvSpPr>
          <p:spPr bwMode="auto">
            <a:xfrm>
              <a:off x="0" y="0"/>
              <a:ext cx="11448000" cy="10313857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5" name="Овал 4"/>
            <p:cNvSpPr>
              <a:spLocks noChangeAspect="1"/>
            </p:cNvSpPr>
            <p:nvPr/>
          </p:nvSpPr>
          <p:spPr bwMode="auto">
            <a:xfrm>
              <a:off x="253930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0" name="Овал 9"/>
            <p:cNvSpPr>
              <a:spLocks noChangeAspect="1"/>
            </p:cNvSpPr>
            <p:nvPr/>
          </p:nvSpPr>
          <p:spPr bwMode="auto">
            <a:xfrm>
              <a:off x="512881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1" name="Овал 10"/>
            <p:cNvSpPr>
              <a:spLocks noChangeAspect="1"/>
            </p:cNvSpPr>
            <p:nvPr/>
          </p:nvSpPr>
          <p:spPr bwMode="auto">
            <a:xfrm>
              <a:off x="771832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2" name="Скругленный прямоугольник 11"/>
            <p:cNvSpPr/>
            <p:nvPr/>
          </p:nvSpPr>
          <p:spPr bwMode="auto">
            <a:xfrm>
              <a:off x="144000" y="625026"/>
              <a:ext cx="11160000" cy="9560318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</p:grpSp>
      <p:pic>
        <p:nvPicPr>
          <p:cNvPr id="1705412124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7861968" y="2255601"/>
            <a:ext cx="10477499" cy="1713170"/>
          </a:xfrm>
          <a:prstGeom prst="rect">
            <a:avLst/>
          </a:prstGeom>
        </p:spPr>
      </p:pic>
      <p:sp>
        <p:nvSpPr>
          <p:cNvPr id="1804522345" name="TextBox 17"/>
          <p:cNvSpPr txBox="1"/>
          <p:nvPr/>
        </p:nvSpPr>
        <p:spPr bwMode="auto">
          <a:xfrm>
            <a:off x="1965476" y="5101820"/>
            <a:ext cx="4563468" cy="10233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 marL="371994" marR="0" indent="-371994" algn="l" defTabSz="449938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2"/>
              <a:defRPr/>
            </a:pPr>
            <a:r>
              <a:rPr lang="ru-RU" sz="2600">
                <a:latin typeface="T-Sans"/>
                <a:ea typeface="T-Sans"/>
              </a:rPr>
              <a:t>Непонятная </a:t>
            </a:r>
            <a:br>
              <a:rPr lang="ru-RU" sz="2600">
                <a:latin typeface="T-Sans"/>
                <a:ea typeface="T-Sans"/>
              </a:rPr>
            </a:br>
            <a:r>
              <a:rPr lang="ru-RU" sz="2600">
                <a:latin typeface="T-Sans"/>
                <a:ea typeface="T-Sans"/>
              </a:rPr>
              <a:t>(для специалистов)</a:t>
            </a:r>
            <a:endParaRPr lang="ru-RU" sz="2600">
              <a:latin typeface="T-Sans"/>
              <a:ea typeface="T-Sans"/>
            </a:endParaRPr>
          </a:p>
        </p:txBody>
      </p:sp>
      <p:pic>
        <p:nvPicPr>
          <p:cNvPr id="175834941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861968" y="4362714"/>
            <a:ext cx="10477499" cy="25015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FFC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16629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8" y="10623146"/>
            <a:ext cx="1068945" cy="246220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8D7006C8-5DBE-C25C-1F29-7AA494A70E41}" type="slidenum">
              <a:rPr lang="ru-RU"/>
              <a:t/>
            </a:fld>
            <a:endParaRPr lang="ru-RU"/>
          </a:p>
        </p:txBody>
      </p:sp>
      <p:sp>
        <p:nvSpPr>
          <p:cNvPr id="489958363" name="TextBox 17"/>
          <p:cNvSpPr txBox="1"/>
          <p:nvPr/>
        </p:nvSpPr>
        <p:spPr bwMode="auto">
          <a:xfrm>
            <a:off x="1965476" y="2637490"/>
            <a:ext cx="4547268" cy="10233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 marL="371994" indent="-371994" algn="l">
              <a:buClrTx/>
              <a:buSzTx/>
              <a:buFontTx/>
              <a:buAutoNum type="arabicPeriod"/>
              <a:defRPr/>
            </a:pPr>
            <a:r>
              <a:rPr lang="ru-RU" sz="2600">
                <a:latin typeface="T-Sans"/>
                <a:ea typeface="T-Sans"/>
              </a:rPr>
              <a:t>Понятная </a:t>
            </a:r>
            <a:br>
              <a:rPr lang="ru-RU" sz="2600">
                <a:latin typeface="T-Sans"/>
                <a:ea typeface="T-Sans"/>
              </a:rPr>
            </a:br>
            <a:r>
              <a:rPr lang="ru-RU" sz="2600">
                <a:latin typeface="T-Sans"/>
                <a:ea typeface="T-Sans"/>
              </a:rPr>
              <a:t>(человеко-читаемая)</a:t>
            </a:r>
            <a:endParaRPr lang="ru-RU" sz="2600">
              <a:latin typeface="T-Sans"/>
              <a:ea typeface="T-Sans"/>
            </a:endParaRPr>
          </a:p>
        </p:txBody>
      </p:sp>
      <p:sp>
        <p:nvSpPr>
          <p:cNvPr id="1422666209" name="TextBox 22"/>
          <p:cNvSpPr txBox="1"/>
          <p:nvPr/>
        </p:nvSpPr>
        <p:spPr bwMode="auto">
          <a:xfrm>
            <a:off x="611187" y="1321117"/>
            <a:ext cx="6595199" cy="895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ru-RU" b="0">
                <a:latin typeface="T-Sans"/>
                <a:ea typeface="T-Sans"/>
              </a:rPr>
              <a:t>Виды ошибок</a:t>
            </a:r>
            <a:endParaRPr lang="ru-RU" b="0">
              <a:latin typeface="T-Sans"/>
              <a:ea typeface="T-Sans"/>
            </a:endParaRPr>
          </a:p>
        </p:txBody>
      </p:sp>
      <p:grpSp>
        <p:nvGrpSpPr>
          <p:cNvPr id="1057344661" name="Группа 1"/>
          <p:cNvGrpSpPr/>
          <p:nvPr/>
        </p:nvGrpSpPr>
        <p:grpSpPr bwMode="auto">
          <a:xfrm flipH="0" flipV="0">
            <a:off x="7477169" y="647699"/>
            <a:ext cx="11448000" cy="10313857"/>
            <a:chOff x="0" y="0"/>
            <a:chExt cx="11448000" cy="10313857"/>
          </a:xfrm>
        </p:grpSpPr>
        <p:sp>
          <p:nvSpPr>
            <p:cNvPr id="2123028265" name="Скругленный прямоугольник 3"/>
            <p:cNvSpPr/>
            <p:nvPr/>
          </p:nvSpPr>
          <p:spPr bwMode="auto">
            <a:xfrm>
              <a:off x="0" y="0"/>
              <a:ext cx="11448000" cy="10313857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634312232" name="Овал 4"/>
            <p:cNvSpPr>
              <a:spLocks noChangeAspect="1"/>
            </p:cNvSpPr>
            <p:nvPr/>
          </p:nvSpPr>
          <p:spPr bwMode="auto">
            <a:xfrm>
              <a:off x="253930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873569703" name="Овал 9"/>
            <p:cNvSpPr>
              <a:spLocks noChangeAspect="1"/>
            </p:cNvSpPr>
            <p:nvPr/>
          </p:nvSpPr>
          <p:spPr bwMode="auto">
            <a:xfrm>
              <a:off x="512881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516296383" name="Овал 10"/>
            <p:cNvSpPr>
              <a:spLocks noChangeAspect="1"/>
            </p:cNvSpPr>
            <p:nvPr/>
          </p:nvSpPr>
          <p:spPr bwMode="auto">
            <a:xfrm>
              <a:off x="771832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316461543" name="Скругленный прямоугольник 11"/>
            <p:cNvSpPr/>
            <p:nvPr/>
          </p:nvSpPr>
          <p:spPr bwMode="auto">
            <a:xfrm>
              <a:off x="144000" y="625026"/>
              <a:ext cx="11160000" cy="9560318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</p:grpSp>
      <p:pic>
        <p:nvPicPr>
          <p:cNvPr id="520394868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7861968" y="2255601"/>
            <a:ext cx="10477499" cy="1713170"/>
          </a:xfrm>
          <a:prstGeom prst="rect">
            <a:avLst/>
          </a:prstGeom>
        </p:spPr>
      </p:pic>
      <p:sp>
        <p:nvSpPr>
          <p:cNvPr id="1886492693" name="TextBox 17"/>
          <p:cNvSpPr txBox="1"/>
          <p:nvPr/>
        </p:nvSpPr>
        <p:spPr bwMode="auto">
          <a:xfrm>
            <a:off x="1965476" y="5101820"/>
            <a:ext cx="4563468" cy="10233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 marL="371994" marR="0" indent="-371994" algn="l" defTabSz="449938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2"/>
              <a:defRPr/>
            </a:pPr>
            <a:r>
              <a:rPr lang="ru-RU" sz="2600">
                <a:latin typeface="T-Sans"/>
                <a:ea typeface="T-Sans"/>
              </a:rPr>
              <a:t>Непонятная </a:t>
            </a:r>
            <a:br>
              <a:rPr lang="ru-RU" sz="2600">
                <a:latin typeface="T-Sans"/>
                <a:ea typeface="T-Sans"/>
              </a:rPr>
            </a:br>
            <a:r>
              <a:rPr lang="ru-RU" sz="2600">
                <a:latin typeface="T-Sans"/>
                <a:ea typeface="T-Sans"/>
              </a:rPr>
              <a:t>(для специалистов)</a:t>
            </a:r>
            <a:endParaRPr lang="ru-RU" sz="2600">
              <a:latin typeface="T-Sans"/>
              <a:ea typeface="T-Sans"/>
            </a:endParaRPr>
          </a:p>
        </p:txBody>
      </p:sp>
      <p:pic>
        <p:nvPicPr>
          <p:cNvPr id="17912176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861968" y="4362714"/>
            <a:ext cx="10477499" cy="2501548"/>
          </a:xfrm>
          <a:prstGeom prst="rect">
            <a:avLst/>
          </a:prstGeom>
        </p:spPr>
      </p:pic>
      <p:sp>
        <p:nvSpPr>
          <p:cNvPr id="1153871478" name="TextBox 17"/>
          <p:cNvSpPr txBox="1"/>
          <p:nvPr/>
        </p:nvSpPr>
        <p:spPr bwMode="auto">
          <a:xfrm>
            <a:off x="1965476" y="8339090"/>
            <a:ext cx="4559508" cy="54784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 marL="371994" marR="0" indent="-371994" algn="l" defTabSz="449938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3"/>
              <a:defRPr/>
            </a:pPr>
            <a:r>
              <a:rPr lang="ru-RU" sz="2600">
                <a:latin typeface="T-Sans"/>
                <a:ea typeface="T-Sans"/>
              </a:rPr>
              <a:t>Тихая ошибка</a:t>
            </a:r>
            <a:endParaRPr lang="ru-RU" sz="2600">
              <a:latin typeface="T-Sans"/>
              <a:ea typeface="T-Sans"/>
            </a:endParaRPr>
          </a:p>
        </p:txBody>
      </p:sp>
      <p:pic>
        <p:nvPicPr>
          <p:cNvPr id="136448173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3466270" y="7376481"/>
            <a:ext cx="4924530" cy="2473064"/>
          </a:xfrm>
          <a:prstGeom prst="rect">
            <a:avLst/>
          </a:prstGeom>
        </p:spPr>
      </p:pic>
      <p:pic>
        <p:nvPicPr>
          <p:cNvPr id="68048415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940048" y="7671756"/>
            <a:ext cx="5105607" cy="1882514"/>
          </a:xfrm>
          <a:prstGeom prst="rect">
            <a:avLst/>
          </a:prstGeom>
        </p:spPr>
      </p:pic>
      <p:sp>
        <p:nvSpPr>
          <p:cNvPr id="575251743" name=""/>
          <p:cNvSpPr/>
          <p:nvPr/>
        </p:nvSpPr>
        <p:spPr bwMode="auto">
          <a:xfrm flipH="0" flipV="0">
            <a:off x="11322294" y="8402214"/>
            <a:ext cx="2201680" cy="545038"/>
          </a:xfrm>
          <a:prstGeom prst="rightArrow">
            <a:avLst>
              <a:gd name="adj1" fmla="val 50000"/>
              <a:gd name="adj2" fmla="val 114595"/>
            </a:avLst>
          </a:prstGeom>
          <a:solidFill>
            <a:srgbClr val="FFDE36"/>
          </a:solidFill>
          <a:ln w="12700" cap="flat">
            <a:noFill/>
            <a:prstDash val="solid"/>
            <a:miter lim="8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/>
          <a:p>
            <a:pPr>
              <a:defRPr/>
            </a:pPr>
            <a:endParaRPr>
              <a:solidFill>
                <a:schemeClr val="accent6"/>
              </a:solidFill>
              <a:highlight>
                <a:srgbClr val="FFFF00"/>
              </a:highlight>
            </a:endParaRPr>
          </a:p>
        </p:txBody>
      </p:sp>
      <p:sp>
        <p:nvSpPr>
          <p:cNvPr id="886594989" name="TextBox 17"/>
          <p:cNvSpPr txBox="1"/>
          <p:nvPr/>
        </p:nvSpPr>
        <p:spPr bwMode="auto">
          <a:xfrm flipH="0" flipV="0">
            <a:off x="495694" y="9955759"/>
            <a:ext cx="6711413" cy="91360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 algn="l" defTabSz="449938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600">
                <a:latin typeface="T-Sans"/>
                <a:ea typeface="T-Sans"/>
              </a:rPr>
              <a:t>* </a:t>
            </a:r>
            <a:r>
              <a:rPr lang="ru-RU" sz="2000">
                <a:latin typeface="T-Sans"/>
                <a:ea typeface="T-Sans"/>
              </a:rPr>
              <a:t>наше приложение пока не имеет постоянного хранилища, поэтому нужно отдельное демо</a:t>
            </a:r>
            <a:endParaRPr lang="ru-RU" sz="2000">
              <a:latin typeface="T-Sans"/>
              <a:ea typeface="T-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7422" name="Полилиния 17"/>
          <p:cNvSpPr/>
          <p:nvPr/>
        </p:nvSpPr>
        <p:spPr bwMode="auto">
          <a:xfrm flipH="1" flipV="0">
            <a:off x="9971087" y="1366837"/>
            <a:ext cx="9432000" cy="9396533"/>
          </a:xfrm>
          <a:custGeom>
            <a:avLst/>
            <a:gdLst>
              <a:gd name="connsiteX0" fmla="*/ 9012665 w 9432000"/>
              <a:gd name="connsiteY0" fmla="*/ 0 h 10366619"/>
              <a:gd name="connsiteX1" fmla="*/ 419336 w 9432000"/>
              <a:gd name="connsiteY1" fmla="*/ 0 h 10366619"/>
              <a:gd name="connsiteX2" fmla="*/ 0 w 9432000"/>
              <a:gd name="connsiteY2" fmla="*/ 419334 h 10366619"/>
              <a:gd name="connsiteX3" fmla="*/ 0 w 9432000"/>
              <a:gd name="connsiteY3" fmla="*/ 3274342 h 10366619"/>
              <a:gd name="connsiteX4" fmla="*/ 0 w 9432000"/>
              <a:gd name="connsiteY4" fmla="*/ 3469156 h 10366619"/>
              <a:gd name="connsiteX5" fmla="*/ 0 w 9432000"/>
              <a:gd name="connsiteY5" fmla="*/ 6897463 h 10366619"/>
              <a:gd name="connsiteX6" fmla="*/ 0 w 9432000"/>
              <a:gd name="connsiteY6" fmla="*/ 7295686 h 10366619"/>
              <a:gd name="connsiteX7" fmla="*/ 0 w 9432000"/>
              <a:gd name="connsiteY7" fmla="*/ 9947284 h 10366619"/>
              <a:gd name="connsiteX8" fmla="*/ 419336 w 9432000"/>
              <a:gd name="connsiteY8" fmla="*/ 10366619 h 10366619"/>
              <a:gd name="connsiteX9" fmla="*/ 9012665 w 9432000"/>
              <a:gd name="connsiteY9" fmla="*/ 10366619 h 10366619"/>
              <a:gd name="connsiteX10" fmla="*/ 9432000 w 9432000"/>
              <a:gd name="connsiteY10" fmla="*/ 9947284 h 10366619"/>
              <a:gd name="connsiteX11" fmla="*/ 9432000 w 9432000"/>
              <a:gd name="connsiteY11" fmla="*/ 6897463 h 10366619"/>
              <a:gd name="connsiteX12" fmla="*/ 9424152 w 9432000"/>
              <a:gd name="connsiteY12" fmla="*/ 6819614 h 10366619"/>
              <a:gd name="connsiteX13" fmla="*/ 9424152 w 9432000"/>
              <a:gd name="connsiteY13" fmla="*/ 6790862 h 10366619"/>
              <a:gd name="connsiteX14" fmla="*/ 8881916 w 9432000"/>
              <a:gd name="connsiteY14" fmla="*/ 5772324 h 10366619"/>
              <a:gd name="connsiteX15" fmla="*/ 8680506 w 9432000"/>
              <a:gd name="connsiteY15" fmla="*/ 5176312 h 10366619"/>
              <a:gd name="connsiteX16" fmla="*/ 8881916 w 9432000"/>
              <a:gd name="connsiteY16" fmla="*/ 4580301 h 10366619"/>
              <a:gd name="connsiteX17" fmla="*/ 9424153 w 9432000"/>
              <a:gd name="connsiteY17" fmla="*/ 3561765 h 10366619"/>
              <a:gd name="connsiteX18" fmla="*/ 9424153 w 9432000"/>
              <a:gd name="connsiteY18" fmla="*/ 3546995 h 10366619"/>
              <a:gd name="connsiteX19" fmla="*/ 9432000 w 9432000"/>
              <a:gd name="connsiteY19" fmla="*/ 3469156 h 10366619"/>
              <a:gd name="connsiteX20" fmla="*/ 9432000 w 9432000"/>
              <a:gd name="connsiteY20" fmla="*/ 419334 h 10366619"/>
              <a:gd name="connsiteX21" fmla="*/ 9012665 w 9432000"/>
              <a:gd name="connsiteY21" fmla="*/ 0 h 10366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432000" h="10366619" fill="norm" stroke="1" extrusionOk="0">
                <a:moveTo>
                  <a:pt x="9012665" y="0"/>
                </a:moveTo>
                <a:lnTo>
                  <a:pt x="419336" y="0"/>
                </a:lnTo>
                <a:cubicBezTo>
                  <a:pt x="187744" y="0"/>
                  <a:pt x="0" y="187742"/>
                  <a:pt x="0" y="419334"/>
                </a:cubicBezTo>
                <a:lnTo>
                  <a:pt x="0" y="3274342"/>
                </a:lnTo>
                <a:lnTo>
                  <a:pt x="0" y="3469156"/>
                </a:lnTo>
                <a:lnTo>
                  <a:pt x="0" y="6897463"/>
                </a:lnTo>
                <a:lnTo>
                  <a:pt x="0" y="7295686"/>
                </a:lnTo>
                <a:lnTo>
                  <a:pt x="0" y="9947284"/>
                </a:lnTo>
                <a:cubicBezTo>
                  <a:pt x="0" y="10178876"/>
                  <a:pt x="187744" y="10366619"/>
                  <a:pt x="419336" y="10366619"/>
                </a:cubicBezTo>
                <a:lnTo>
                  <a:pt x="9012665" y="10366619"/>
                </a:lnTo>
                <a:cubicBezTo>
                  <a:pt x="9244257" y="10366619"/>
                  <a:pt x="9432000" y="10178876"/>
                  <a:pt x="9432000" y="9947284"/>
                </a:cubicBezTo>
                <a:lnTo>
                  <a:pt x="9432000" y="6897463"/>
                </a:lnTo>
                <a:lnTo>
                  <a:pt x="9424152" y="6819614"/>
                </a:lnTo>
                <a:lnTo>
                  <a:pt x="9424152" y="6790862"/>
                </a:lnTo>
                <a:cubicBezTo>
                  <a:pt x="9424152" y="6402009"/>
                  <a:pt x="9118007" y="6081093"/>
                  <a:pt x="8881916" y="5772324"/>
                </a:cubicBezTo>
                <a:cubicBezTo>
                  <a:pt x="8755581" y="5607095"/>
                  <a:pt x="8680506" y="5400477"/>
                  <a:pt x="8680506" y="5176312"/>
                </a:cubicBezTo>
                <a:cubicBezTo>
                  <a:pt x="8680506" y="4952149"/>
                  <a:pt x="8755581" y="4745530"/>
                  <a:pt x="8881916" y="4580301"/>
                </a:cubicBezTo>
                <a:cubicBezTo>
                  <a:pt x="9118007" y="4271533"/>
                  <a:pt x="9424153" y="3950617"/>
                  <a:pt x="9424153" y="3561765"/>
                </a:cubicBezTo>
                <a:lnTo>
                  <a:pt x="9424153" y="3546995"/>
                </a:lnTo>
                <a:lnTo>
                  <a:pt x="9432000" y="3469156"/>
                </a:lnTo>
                <a:lnTo>
                  <a:pt x="9432000" y="419334"/>
                </a:lnTo>
                <a:cubicBezTo>
                  <a:pt x="9432000" y="187742"/>
                  <a:pt x="9244257" y="0"/>
                  <a:pt x="9012665" y="0"/>
                </a:cubicBezTo>
                <a:close/>
              </a:path>
            </a:pathLst>
          </a:custGeom>
          <a:solidFill>
            <a:schemeClr val="accent6">
              <a:lumMod val="95000"/>
            </a:schemeClr>
          </a:solidFill>
          <a:ln w="12700" cap="flat">
            <a:noFill/>
            <a:prstDash val="solid"/>
            <a:miter lim="800000"/>
          </a:ln>
          <a:effectLst>
            <a:innerShdw blurRad="5715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669667574" name="Полилиния 20"/>
          <p:cNvSpPr/>
          <p:nvPr/>
        </p:nvSpPr>
        <p:spPr bwMode="auto">
          <a:xfrm flipH="0" flipV="0">
            <a:off x="396211" y="1366837"/>
            <a:ext cx="9432000" cy="9396533"/>
          </a:xfrm>
          <a:custGeom>
            <a:avLst/>
            <a:gdLst>
              <a:gd name="connsiteX0" fmla="*/ 9012665 w 9432000"/>
              <a:gd name="connsiteY0" fmla="*/ 0 h 10366619"/>
              <a:gd name="connsiteX1" fmla="*/ 419336 w 9432000"/>
              <a:gd name="connsiteY1" fmla="*/ 0 h 10366619"/>
              <a:gd name="connsiteX2" fmla="*/ 0 w 9432000"/>
              <a:gd name="connsiteY2" fmla="*/ 419334 h 10366619"/>
              <a:gd name="connsiteX3" fmla="*/ 0 w 9432000"/>
              <a:gd name="connsiteY3" fmla="*/ 3274342 h 10366619"/>
              <a:gd name="connsiteX4" fmla="*/ 0 w 9432000"/>
              <a:gd name="connsiteY4" fmla="*/ 3469156 h 10366619"/>
              <a:gd name="connsiteX5" fmla="*/ 0 w 9432000"/>
              <a:gd name="connsiteY5" fmla="*/ 6897463 h 10366619"/>
              <a:gd name="connsiteX6" fmla="*/ 0 w 9432000"/>
              <a:gd name="connsiteY6" fmla="*/ 7295686 h 10366619"/>
              <a:gd name="connsiteX7" fmla="*/ 0 w 9432000"/>
              <a:gd name="connsiteY7" fmla="*/ 9947284 h 10366619"/>
              <a:gd name="connsiteX8" fmla="*/ 419336 w 9432000"/>
              <a:gd name="connsiteY8" fmla="*/ 10366619 h 10366619"/>
              <a:gd name="connsiteX9" fmla="*/ 9012665 w 9432000"/>
              <a:gd name="connsiteY9" fmla="*/ 10366619 h 10366619"/>
              <a:gd name="connsiteX10" fmla="*/ 9432000 w 9432000"/>
              <a:gd name="connsiteY10" fmla="*/ 9947284 h 10366619"/>
              <a:gd name="connsiteX11" fmla="*/ 9432000 w 9432000"/>
              <a:gd name="connsiteY11" fmla="*/ 6897463 h 10366619"/>
              <a:gd name="connsiteX12" fmla="*/ 9424152 w 9432000"/>
              <a:gd name="connsiteY12" fmla="*/ 6819614 h 10366619"/>
              <a:gd name="connsiteX13" fmla="*/ 9424152 w 9432000"/>
              <a:gd name="connsiteY13" fmla="*/ 6790862 h 10366619"/>
              <a:gd name="connsiteX14" fmla="*/ 8881916 w 9432000"/>
              <a:gd name="connsiteY14" fmla="*/ 5772324 h 10366619"/>
              <a:gd name="connsiteX15" fmla="*/ 8680506 w 9432000"/>
              <a:gd name="connsiteY15" fmla="*/ 5176312 h 10366619"/>
              <a:gd name="connsiteX16" fmla="*/ 8881916 w 9432000"/>
              <a:gd name="connsiteY16" fmla="*/ 4580301 h 10366619"/>
              <a:gd name="connsiteX17" fmla="*/ 9424153 w 9432000"/>
              <a:gd name="connsiteY17" fmla="*/ 3561765 h 10366619"/>
              <a:gd name="connsiteX18" fmla="*/ 9424153 w 9432000"/>
              <a:gd name="connsiteY18" fmla="*/ 3546995 h 10366619"/>
              <a:gd name="connsiteX19" fmla="*/ 9432000 w 9432000"/>
              <a:gd name="connsiteY19" fmla="*/ 3469156 h 10366619"/>
              <a:gd name="connsiteX20" fmla="*/ 9432000 w 9432000"/>
              <a:gd name="connsiteY20" fmla="*/ 419334 h 10366619"/>
              <a:gd name="connsiteX21" fmla="*/ 9012665 w 9432000"/>
              <a:gd name="connsiteY21" fmla="*/ 0 h 10366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432000" h="10366619" fill="norm" stroke="1" extrusionOk="0">
                <a:moveTo>
                  <a:pt x="9012665" y="0"/>
                </a:moveTo>
                <a:lnTo>
                  <a:pt x="419336" y="0"/>
                </a:lnTo>
                <a:cubicBezTo>
                  <a:pt x="187744" y="0"/>
                  <a:pt x="0" y="187742"/>
                  <a:pt x="0" y="419334"/>
                </a:cubicBezTo>
                <a:lnTo>
                  <a:pt x="0" y="3274342"/>
                </a:lnTo>
                <a:lnTo>
                  <a:pt x="0" y="3469156"/>
                </a:lnTo>
                <a:lnTo>
                  <a:pt x="0" y="6897463"/>
                </a:lnTo>
                <a:lnTo>
                  <a:pt x="0" y="7295686"/>
                </a:lnTo>
                <a:lnTo>
                  <a:pt x="0" y="9947284"/>
                </a:lnTo>
                <a:cubicBezTo>
                  <a:pt x="0" y="10178876"/>
                  <a:pt x="187744" y="10366619"/>
                  <a:pt x="419336" y="10366619"/>
                </a:cubicBezTo>
                <a:lnTo>
                  <a:pt x="9012665" y="10366619"/>
                </a:lnTo>
                <a:cubicBezTo>
                  <a:pt x="9244257" y="10366619"/>
                  <a:pt x="9432000" y="10178876"/>
                  <a:pt x="9432000" y="9947284"/>
                </a:cubicBezTo>
                <a:lnTo>
                  <a:pt x="9432000" y="6897463"/>
                </a:lnTo>
                <a:lnTo>
                  <a:pt x="9424152" y="6819614"/>
                </a:lnTo>
                <a:lnTo>
                  <a:pt x="9424152" y="6790862"/>
                </a:lnTo>
                <a:cubicBezTo>
                  <a:pt x="9424152" y="6402009"/>
                  <a:pt x="9118007" y="6081093"/>
                  <a:pt x="8881916" y="5772324"/>
                </a:cubicBezTo>
                <a:cubicBezTo>
                  <a:pt x="8755581" y="5607095"/>
                  <a:pt x="8680506" y="5400477"/>
                  <a:pt x="8680506" y="5176312"/>
                </a:cubicBezTo>
                <a:cubicBezTo>
                  <a:pt x="8680506" y="4952149"/>
                  <a:pt x="8755581" y="4745530"/>
                  <a:pt x="8881916" y="4580301"/>
                </a:cubicBezTo>
                <a:cubicBezTo>
                  <a:pt x="9118007" y="4271533"/>
                  <a:pt x="9424153" y="3950617"/>
                  <a:pt x="9424153" y="3561765"/>
                </a:cubicBezTo>
                <a:lnTo>
                  <a:pt x="9424153" y="3546995"/>
                </a:lnTo>
                <a:lnTo>
                  <a:pt x="9432000" y="3469156"/>
                </a:lnTo>
                <a:lnTo>
                  <a:pt x="9432000" y="419334"/>
                </a:lnTo>
                <a:cubicBezTo>
                  <a:pt x="9432000" y="187742"/>
                  <a:pt x="9244257" y="0"/>
                  <a:pt x="9012665" y="0"/>
                </a:cubicBezTo>
                <a:close/>
              </a:path>
            </a:pathLst>
          </a:custGeom>
          <a:solidFill>
            <a:schemeClr val="accent6">
              <a:lumMod val="95000"/>
            </a:schemeClr>
          </a:soli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grpSp>
        <p:nvGrpSpPr>
          <p:cNvPr id="1574880587" name="Группа 6"/>
          <p:cNvGrpSpPr/>
          <p:nvPr/>
        </p:nvGrpSpPr>
        <p:grpSpPr bwMode="auto">
          <a:xfrm>
            <a:off x="9232858" y="4913271"/>
            <a:ext cx="1333580" cy="1333580"/>
            <a:chOff x="8084122" y="4913271"/>
            <a:chExt cx="1333580" cy="1333580"/>
          </a:xfrm>
        </p:grpSpPr>
        <p:sp>
          <p:nvSpPr>
            <p:cNvPr id="1102612574" name="Овал 8"/>
            <p:cNvSpPr/>
            <p:nvPr/>
          </p:nvSpPr>
          <p:spPr bwMode="auto">
            <a:xfrm>
              <a:off x="8084122" y="4913271"/>
              <a:ext cx="1333580" cy="133358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prstDash val="solid"/>
              <a:miter lim="800000"/>
            </a:ln>
            <a:effectLst>
              <a:innerShdw blurRad="317009">
                <a:schemeClr val="accent6"/>
              </a:innerShdw>
            </a:effectLst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1016387124" name="TextBox 12"/>
            <p:cNvSpPr txBox="1"/>
            <p:nvPr/>
          </p:nvSpPr>
          <p:spPr bwMode="auto">
            <a:xfrm>
              <a:off x="8314660" y="5249200"/>
              <a:ext cx="872507" cy="6617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wrap="square" lIns="36000" tIns="36000" rIns="36000" bIns="36000" anchor="t">
              <a:spAutoFit/>
            </a:bodyPr>
            <a:lstStyle>
              <a:defPPr marL="0" marR="0" indent="0" algn="l" defTabSz="900059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750" b="0" i="0" u="none" strike="noStrike" cap="none" spc="0">
                  <a:ln>
                    <a:noFill/>
                  </a:ln>
                  <a:solidFill>
                    <a:srgbClr val="000000"/>
                  </a:solidFill>
                </a:defRPr>
              </a:defPPr>
              <a:lvl1pPr>
                <a:lnSpc>
                  <a:spcPts val="3799"/>
                </a:lnSpc>
                <a:defRPr sz="3200">
                  <a:solidFill>
                    <a:schemeClr val="accent2"/>
                  </a:solidFill>
                  <a:latin typeface="TINKOFFSANS-MEDIUM"/>
                </a:defRPr>
              </a:lvl1pPr>
            </a:lstStyle>
            <a:p>
              <a:pPr algn="ctr">
                <a:lnSpc>
                  <a:spcPct val="110000"/>
                </a:lnSpc>
                <a:defRPr/>
              </a:pPr>
              <a:r>
                <a:rPr lang="ru-RU" sz="4000">
                  <a:latin typeface="T-Sans"/>
                  <a:ea typeface="T-Sans"/>
                </a:rPr>
                <a:t>V</a:t>
              </a:r>
              <a:r>
                <a:rPr lang="en-US" sz="4000">
                  <a:latin typeface="T-Sans"/>
                  <a:ea typeface="T-Sans"/>
                </a:rPr>
                <a:t>S</a:t>
              </a:r>
              <a:endParaRPr lang="ru-RU" sz="4000">
                <a:latin typeface="T-Sans"/>
                <a:ea typeface="T-Sans"/>
              </a:endParaRPr>
            </a:p>
          </p:txBody>
        </p:sp>
      </p:grpSp>
      <p:sp>
        <p:nvSpPr>
          <p:cNvPr id="776964559" name="TextBox 21"/>
          <p:cNvSpPr txBox="1"/>
          <p:nvPr/>
        </p:nvSpPr>
        <p:spPr bwMode="auto">
          <a:xfrm>
            <a:off x="1150938" y="1561435"/>
            <a:ext cx="7239826" cy="9867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75000"/>
              </a:lnSpc>
              <a:defRPr sz="8000" b="1">
                <a:solidFill>
                  <a:schemeClr val="accent2"/>
                </a:solidFill>
                <a:latin typeface="T-Sans"/>
                <a:ea typeface="T-Sans"/>
              </a:defRPr>
            </a:lvl1pPr>
          </a:lstStyle>
          <a:p>
            <a:pPr algn="ctr">
              <a:defRPr/>
            </a:pPr>
            <a:r>
              <a:rPr lang="en-US" b="0"/>
              <a:t>Golang</a:t>
            </a:r>
            <a:endParaRPr/>
          </a:p>
        </p:txBody>
      </p:sp>
      <p:sp>
        <p:nvSpPr>
          <p:cNvPr id="168873587" name="TextBox 1"/>
          <p:cNvSpPr txBox="1"/>
          <p:nvPr/>
        </p:nvSpPr>
        <p:spPr bwMode="auto">
          <a:xfrm>
            <a:off x="10800023" y="9099730"/>
            <a:ext cx="8428874" cy="10233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9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spcAft>
                <a:spcPts val="1799"/>
              </a:spcAft>
              <a:defRPr/>
            </a:pPr>
            <a:r>
              <a:rPr lang="ru-RU">
                <a:solidFill>
                  <a:schemeClr val="tx2">
                    <a:lumMod val="50000"/>
                  </a:schemeClr>
                </a:solidFill>
                <a:latin typeface="T-Sans"/>
                <a:ea typeface="T-Sans"/>
              </a:rPr>
              <a:t>Исключение - это нештатная ситуация работы программы, </a:t>
            </a:r>
            <a:br>
              <a:rPr lang="ru-RU">
                <a:solidFill>
                  <a:schemeClr val="tx2">
                    <a:lumMod val="50000"/>
                  </a:schemeClr>
                </a:solidFill>
                <a:latin typeface="T-Sans"/>
                <a:ea typeface="T-Sans"/>
              </a:rPr>
            </a:br>
            <a:r>
              <a:rPr lang="ru-RU">
                <a:solidFill>
                  <a:schemeClr val="tx2">
                    <a:lumMod val="50000"/>
                  </a:schemeClr>
                </a:solidFill>
                <a:latin typeface="T-Sans"/>
                <a:ea typeface="T-Sans"/>
              </a:rPr>
              <a:t>про обработку которой не стоит забывать</a:t>
            </a:r>
            <a:endParaRPr/>
          </a:p>
        </p:txBody>
      </p:sp>
      <p:sp>
        <p:nvSpPr>
          <p:cNvPr id="816922960" name="TextBox 3"/>
          <p:cNvSpPr txBox="1"/>
          <p:nvPr/>
        </p:nvSpPr>
        <p:spPr bwMode="auto">
          <a:xfrm>
            <a:off x="1150938" y="9099730"/>
            <a:ext cx="6831631" cy="10233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9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spcAft>
                <a:spcPts val="1799"/>
              </a:spcAft>
              <a:defRPr/>
            </a:pPr>
            <a:r>
              <a:rPr lang="ru-RU">
                <a:latin typeface="T-Sans"/>
                <a:ea typeface="T-Sans"/>
              </a:rPr>
              <a:t>Ошибка - это штатная ситуация, которую нужно обработать прямо в моменте возникновения. </a:t>
            </a:r>
            <a:endParaRPr/>
          </a:p>
        </p:txBody>
      </p:sp>
      <p:sp>
        <p:nvSpPr>
          <p:cNvPr id="234686924" name="TextBox 4"/>
          <p:cNvSpPr txBox="1"/>
          <p:nvPr/>
        </p:nvSpPr>
        <p:spPr bwMode="auto">
          <a:xfrm>
            <a:off x="11070774" y="2212133"/>
            <a:ext cx="7236586" cy="621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799"/>
              </a:lnSpc>
              <a:defRPr sz="3200">
                <a:solidFill>
                  <a:schemeClr val="accent2"/>
                </a:solidFill>
                <a:latin typeface="TINKOFFSANS-MEDIUM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3600">
                <a:latin typeface="T-Sans Medium"/>
                <a:ea typeface="T-Sans"/>
              </a:rPr>
              <a:t>Исключения</a:t>
            </a:r>
            <a:endParaRPr sz="3600"/>
          </a:p>
        </p:txBody>
      </p:sp>
      <p:sp>
        <p:nvSpPr>
          <p:cNvPr id="1686365582" name="TextBox 5"/>
          <p:cNvSpPr txBox="1"/>
          <p:nvPr/>
        </p:nvSpPr>
        <p:spPr bwMode="auto">
          <a:xfrm>
            <a:off x="10800023" y="1473240"/>
            <a:ext cx="8016845" cy="9867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75000"/>
              </a:lnSpc>
              <a:defRPr sz="8000" b="1">
                <a:solidFill>
                  <a:schemeClr val="accent2"/>
                </a:solidFill>
                <a:latin typeface="T-Sans"/>
                <a:ea typeface="T-Sans"/>
              </a:defRPr>
            </a:lvl1pPr>
          </a:lstStyle>
          <a:p>
            <a:pPr algn="ctr">
              <a:defRPr/>
            </a:pPr>
            <a:r>
              <a:rPr lang="en-US" b="0"/>
              <a:t>Java</a:t>
            </a:r>
            <a:endParaRPr lang="ru-RU" b="0"/>
          </a:p>
        </p:txBody>
      </p:sp>
      <p:sp>
        <p:nvSpPr>
          <p:cNvPr id="736683617" name="TextBox 7"/>
          <p:cNvSpPr txBox="1"/>
          <p:nvPr/>
        </p:nvSpPr>
        <p:spPr bwMode="auto">
          <a:xfrm>
            <a:off x="1844618" y="2212133"/>
            <a:ext cx="7239466" cy="621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799"/>
              </a:lnSpc>
              <a:defRPr sz="3200">
                <a:solidFill>
                  <a:schemeClr val="accent2"/>
                </a:solidFill>
                <a:latin typeface="TINKOFFSANS-MEDIUM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3600">
                <a:latin typeface="T-Sans Medium"/>
                <a:ea typeface="T-Sans"/>
              </a:rPr>
              <a:t>Ошибки</a:t>
            </a:r>
            <a:endParaRPr sz="7200"/>
          </a:p>
        </p:txBody>
      </p:sp>
      <p:sp>
        <p:nvSpPr>
          <p:cNvPr id="1056356889" name="TextBox 9"/>
          <p:cNvSpPr txBox="1"/>
          <p:nvPr/>
        </p:nvSpPr>
        <p:spPr bwMode="auto">
          <a:xfrm>
            <a:off x="11070774" y="3180235"/>
            <a:ext cx="7252426" cy="8038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799"/>
              </a:lnSpc>
              <a:defRPr sz="3200">
                <a:solidFill>
                  <a:schemeClr val="accent2"/>
                </a:solidFill>
                <a:latin typeface="TINKOFFSANS-MEDIUM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2400">
                <a:latin typeface="T-Sans Medium"/>
                <a:ea typeface="T-Sans"/>
              </a:rPr>
              <a:t>Логика программы не смешивается с обработкой исключений</a:t>
            </a:r>
            <a:endParaRPr/>
          </a:p>
        </p:txBody>
      </p:sp>
      <p:sp>
        <p:nvSpPr>
          <p:cNvPr id="557804239" name="TextBox 10"/>
          <p:cNvSpPr txBox="1"/>
          <p:nvPr/>
        </p:nvSpPr>
        <p:spPr bwMode="auto">
          <a:xfrm>
            <a:off x="1844617" y="3198327"/>
            <a:ext cx="7253506" cy="4381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799"/>
              </a:lnSpc>
              <a:defRPr sz="3200">
                <a:solidFill>
                  <a:schemeClr val="accent2"/>
                </a:solidFill>
                <a:latin typeface="TINKOFFSANS-MEDIUM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2400">
                <a:latin typeface="T-Sans Medium"/>
                <a:ea typeface="T-Sans"/>
              </a:rPr>
              <a:t>Явная проверка ошибки после каждого вызова</a:t>
            </a:r>
            <a:endParaRPr/>
          </a:p>
        </p:txBody>
      </p:sp>
      <p:sp>
        <p:nvSpPr>
          <p:cNvPr id="324828517" name="TextBox 11"/>
          <p:cNvSpPr txBox="1"/>
          <p:nvPr/>
        </p:nvSpPr>
        <p:spPr bwMode="auto">
          <a:xfrm>
            <a:off x="1844616" y="4184521"/>
            <a:ext cx="7253146" cy="8038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799"/>
              </a:lnSpc>
              <a:defRPr sz="3200">
                <a:solidFill>
                  <a:schemeClr val="accent2"/>
                </a:solidFill>
                <a:latin typeface="TINKOFFSANS-MEDIUM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2400">
                <a:latin typeface="T-Sans Medium"/>
                <a:ea typeface="T-Sans"/>
              </a:rPr>
              <a:t>Высокая скорость, ошибка - </a:t>
            </a:r>
            <a:br>
              <a:rPr lang="ru-RU" sz="2400">
                <a:latin typeface="T-Sans Medium"/>
                <a:ea typeface="T-Sans"/>
              </a:rPr>
            </a:br>
            <a:r>
              <a:rPr lang="ru-RU" sz="2400">
                <a:latin typeface="T-Sans Medium"/>
                <a:ea typeface="T-Sans"/>
              </a:rPr>
              <a:t>это просто возврат значения</a:t>
            </a:r>
            <a:endParaRPr/>
          </a:p>
        </p:txBody>
      </p:sp>
      <p:sp>
        <p:nvSpPr>
          <p:cNvPr id="1788110971" name="TextBox 13"/>
          <p:cNvSpPr txBox="1"/>
          <p:nvPr/>
        </p:nvSpPr>
        <p:spPr bwMode="auto">
          <a:xfrm>
            <a:off x="11070771" y="4322508"/>
            <a:ext cx="7249546" cy="4381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799"/>
              </a:lnSpc>
              <a:defRPr sz="3200">
                <a:solidFill>
                  <a:schemeClr val="accent2"/>
                </a:solidFill>
                <a:latin typeface="TINKOFFSANS-MEDIUM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2400">
                <a:latin typeface="T-Sans Medium"/>
                <a:ea typeface="T-Sans"/>
              </a:rPr>
              <a:t>Низкая скорость, требуется сбор контекста</a:t>
            </a:r>
            <a:endParaRPr/>
          </a:p>
        </p:txBody>
      </p:sp>
      <p:sp>
        <p:nvSpPr>
          <p:cNvPr id="175198332" name="TextBox 15"/>
          <p:cNvSpPr txBox="1"/>
          <p:nvPr/>
        </p:nvSpPr>
        <p:spPr bwMode="auto">
          <a:xfrm>
            <a:off x="1844618" y="5957974"/>
            <a:ext cx="7253146" cy="8038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799"/>
              </a:lnSpc>
              <a:defRPr sz="3200">
                <a:solidFill>
                  <a:schemeClr val="accent2"/>
                </a:solidFill>
                <a:latin typeface="TINKOFFSANS-MEDIUM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2400">
                <a:latin typeface="T-Sans Medium"/>
                <a:ea typeface="T-Sans"/>
              </a:rPr>
              <a:t>Контекст собирается руками </a:t>
            </a:r>
            <a:br>
              <a:rPr lang="ru-RU" sz="2400">
                <a:latin typeface="T-Sans Medium"/>
                <a:ea typeface="T-Sans"/>
              </a:rPr>
            </a:br>
            <a:r>
              <a:rPr lang="ru-RU" sz="2400">
                <a:latin typeface="T-Sans Medium"/>
                <a:ea typeface="T-Sans"/>
              </a:rPr>
              <a:t>или специальными библиотеками</a:t>
            </a:r>
            <a:endParaRPr/>
          </a:p>
        </p:txBody>
      </p:sp>
      <p:sp>
        <p:nvSpPr>
          <p:cNvPr id="576860031" name="TextBox 16"/>
          <p:cNvSpPr txBox="1"/>
          <p:nvPr/>
        </p:nvSpPr>
        <p:spPr bwMode="auto">
          <a:xfrm>
            <a:off x="11000216" y="6140854"/>
            <a:ext cx="7252066" cy="4381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799"/>
              </a:lnSpc>
              <a:defRPr sz="3200">
                <a:solidFill>
                  <a:schemeClr val="accent2"/>
                </a:solidFill>
                <a:latin typeface="TINKOFFSANS-MEDIUM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2400">
                <a:latin typeface="T-Sans Medium"/>
                <a:ea typeface="T-Sans"/>
              </a:rPr>
              <a:t>Контекст (stacktrace) собирается 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"/>
                <a:cs typeface="T-Sans Medium"/>
              </a:rPr>
              <a:t>автоматически</a:t>
            </a:r>
            <a:endParaRPr/>
          </a:p>
        </p:txBody>
      </p:sp>
      <p:sp>
        <p:nvSpPr>
          <p:cNvPr id="477029809" name=""/>
          <p:cNvSpPr txBox="1"/>
          <p:nvPr/>
        </p:nvSpPr>
        <p:spPr bwMode="auto">
          <a:xfrm flipH="0" flipV="0">
            <a:off x="6463775" y="1966620"/>
            <a:ext cx="2075971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000" b="0"/>
              <a:t>(</a:t>
            </a:r>
            <a:r>
              <a:rPr lang="ru-RU" sz="2000" b="0"/>
              <a:t>например)</a:t>
            </a:r>
            <a:endParaRPr sz="2000"/>
          </a:p>
        </p:txBody>
      </p:sp>
      <p:sp>
        <p:nvSpPr>
          <p:cNvPr id="311846202" name=""/>
          <p:cNvSpPr txBox="1"/>
          <p:nvPr/>
        </p:nvSpPr>
        <p:spPr bwMode="auto">
          <a:xfrm flipH="0" flipV="0">
            <a:off x="487240" y="268074"/>
            <a:ext cx="1870894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3600" b="0"/>
              <a:t>Как в языках программирования обрабатывают нестандартные ситуации?</a:t>
            </a:r>
            <a:endParaRPr lang="ru-RU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37990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8" y="10623146"/>
            <a:ext cx="1068945" cy="246220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B940007B-DDE9-6F23-9AF8-BF2C11D3AA0C}" type="slidenum">
              <a:rPr lang="ru-RU"/>
              <a:t/>
            </a:fld>
            <a:endParaRPr lang="ru-RU"/>
          </a:p>
        </p:txBody>
      </p:sp>
      <p:sp>
        <p:nvSpPr>
          <p:cNvPr id="1781085553" name="TextBox 22"/>
          <p:cNvSpPr txBox="1"/>
          <p:nvPr/>
        </p:nvSpPr>
        <p:spPr bwMode="auto">
          <a:xfrm flipH="0" flipV="0">
            <a:off x="-350971" y="350978"/>
            <a:ext cx="5469491" cy="171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ru-RU" sz="6000" b="1" i="0" u="none" strike="noStrike" cap="none" spc="0">
                <a:ln>
                  <a:noFill/>
                </a:ln>
                <a:solidFill>
                  <a:schemeClr val="accent2"/>
                </a:solidFill>
                <a:latin typeface="Tinkoff Sans"/>
                <a:ea typeface="Tinkoff Sans"/>
                <a:cs typeface="Arial"/>
              </a:rPr>
              <a:t>Виды исключений</a:t>
            </a:r>
            <a:r>
              <a:rPr lang="en-US" sz="6000" b="1" i="0" u="none" strike="noStrike" cap="none" spc="0">
                <a:ln>
                  <a:noFill/>
                </a:ln>
                <a:solidFill>
                  <a:schemeClr val="accent2"/>
                </a:solidFill>
                <a:latin typeface="Tinkoff Sans"/>
                <a:ea typeface="Tinkoff Sans"/>
                <a:cs typeface="Arial"/>
              </a:rPr>
              <a:t> </a:t>
            </a:r>
            <a:endParaRPr/>
          </a:p>
        </p:txBody>
      </p:sp>
      <p:grpSp>
        <p:nvGrpSpPr>
          <p:cNvPr id="1218944055" name="Группа 1"/>
          <p:cNvGrpSpPr/>
          <p:nvPr/>
        </p:nvGrpSpPr>
        <p:grpSpPr bwMode="auto">
          <a:xfrm flipH="0" flipV="0">
            <a:off x="5487499" y="647699"/>
            <a:ext cx="13437669" cy="9864724"/>
            <a:chOff x="0" y="0"/>
            <a:chExt cx="13437669" cy="9864724"/>
          </a:xfrm>
        </p:grpSpPr>
        <p:sp>
          <p:nvSpPr>
            <p:cNvPr id="2057401403" name="Скругленный прямоугольник 3"/>
            <p:cNvSpPr/>
            <p:nvPr/>
          </p:nvSpPr>
          <p:spPr bwMode="auto">
            <a:xfrm>
              <a:off x="0" y="0"/>
              <a:ext cx="13437669" cy="9864724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1728301381" name="Овал 4"/>
            <p:cNvSpPr>
              <a:spLocks noChangeAspect="1"/>
            </p:cNvSpPr>
            <p:nvPr/>
          </p:nvSpPr>
          <p:spPr bwMode="auto">
            <a:xfrm>
              <a:off x="298064" y="229496"/>
              <a:ext cx="190276" cy="162102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56502958" name="Овал 9"/>
            <p:cNvSpPr>
              <a:spLocks noChangeAspect="1"/>
            </p:cNvSpPr>
            <p:nvPr/>
          </p:nvSpPr>
          <p:spPr bwMode="auto">
            <a:xfrm>
              <a:off x="602021" y="229496"/>
              <a:ext cx="190276" cy="162102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319553558" name="Овал 10"/>
            <p:cNvSpPr>
              <a:spLocks noChangeAspect="1"/>
            </p:cNvSpPr>
            <p:nvPr/>
          </p:nvSpPr>
          <p:spPr bwMode="auto">
            <a:xfrm>
              <a:off x="905977" y="229496"/>
              <a:ext cx="190276" cy="162102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437751606" name="Скругленный прямоугольник 11"/>
            <p:cNvSpPr/>
            <p:nvPr/>
          </p:nvSpPr>
          <p:spPr bwMode="auto">
            <a:xfrm>
              <a:off x="169027" y="597808"/>
              <a:ext cx="13099615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</p:grpSp>
      <p:sp>
        <p:nvSpPr>
          <p:cNvPr id="764522227" name="TextBox 2"/>
          <p:cNvSpPr txBox="1"/>
          <p:nvPr/>
        </p:nvSpPr>
        <p:spPr bwMode="auto">
          <a:xfrm flipH="0" flipV="0">
            <a:off x="133350" y="2188921"/>
            <a:ext cx="4880418" cy="724062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>
            <a:spAutoFit/>
          </a:bodyPr>
          <a:lstStyle/>
          <a:p>
            <a:pPr marL="349965" indent="-349965" algn="l">
              <a:lnSpc>
                <a:spcPts val="4329"/>
              </a:lnSpc>
              <a:buClrTx/>
              <a:buSzTx/>
              <a:buFont typeface="Liberation Sans"/>
              <a:buChar char="•"/>
              <a:defRPr/>
            </a:pPr>
            <a:r>
              <a:rPr lang="en-US" sz="2400" b="1" u="sng">
                <a:solidFill>
                  <a:schemeClr val="bg1"/>
                </a:solidFill>
                <a:latin typeface="Tinkoff Sans"/>
              </a:rPr>
              <a:t>checked</a:t>
            </a:r>
            <a:r>
              <a:rPr lang="en-US" sz="2400" b="1">
                <a:solidFill>
                  <a:schemeClr val="bg1"/>
                </a:solidFill>
                <a:latin typeface="Tinkoff Sans"/>
              </a:rPr>
              <a:t> – </a:t>
            </a:r>
            <a:r>
              <a:rPr lang="ru-RU" sz="2400" b="1" i="0" u="none" strike="noStrike">
                <a:solidFill>
                  <a:srgbClr val="333333"/>
                </a:solidFill>
                <a:latin typeface="Tinkoff Sans"/>
              </a:rPr>
              <a:t>проверка исключения происходит в момент компиляции (</a:t>
            </a:r>
            <a:r>
              <a:rPr lang="en" sz="2400" b="1" i="0" u="none" strike="noStrike">
                <a:solidFill>
                  <a:srgbClr val="333333"/>
                </a:solidFill>
                <a:latin typeface="Tinkoff Sans"/>
              </a:rPr>
              <a:t>compile-time checking)</a:t>
            </a:r>
            <a:endParaRPr/>
          </a:p>
          <a:p>
            <a:pPr>
              <a:lnSpc>
                <a:spcPts val="4329"/>
              </a:lnSpc>
              <a:defRPr/>
            </a:pPr>
            <a:endParaRPr lang="en" sz="2400" b="1">
              <a:solidFill>
                <a:srgbClr val="333333"/>
              </a:solidFill>
              <a:latin typeface="Tinkoff Sans"/>
            </a:endParaRPr>
          </a:p>
          <a:p>
            <a:pPr>
              <a:lnSpc>
                <a:spcPts val="4329"/>
              </a:lnSpc>
              <a:defRPr/>
            </a:pPr>
            <a:endParaRPr lang="ru-RU" sz="2400" b="1">
              <a:solidFill>
                <a:schemeClr val="bg1"/>
              </a:solidFill>
              <a:latin typeface="Tinkoff Sans"/>
            </a:endParaRPr>
          </a:p>
          <a:p>
            <a:pPr marL="349965" indent="-349965" algn="l">
              <a:lnSpc>
                <a:spcPts val="4329"/>
              </a:lnSpc>
              <a:buClrTx/>
              <a:buSzTx/>
              <a:buFont typeface="Liberation Sans"/>
              <a:buChar char="•"/>
              <a:defRPr/>
            </a:pPr>
            <a:r>
              <a:rPr lang="en-US" sz="2400" b="1" u="sng">
                <a:solidFill>
                  <a:schemeClr val="bg1"/>
                </a:solidFill>
                <a:latin typeface="Tinkoff Sans"/>
              </a:rPr>
              <a:t>unchecked</a:t>
            </a:r>
            <a:r>
              <a:rPr lang="en-US" sz="2400" b="1">
                <a:solidFill>
                  <a:schemeClr val="bg1"/>
                </a:solidFill>
                <a:latin typeface="Tinkoff Sans"/>
              </a:rPr>
              <a:t> – </a:t>
            </a:r>
            <a:r>
              <a:rPr lang="ru-RU" sz="2400" b="1">
                <a:solidFill>
                  <a:schemeClr val="bg1"/>
                </a:solidFill>
                <a:latin typeface="Tinkoff Sans"/>
              </a:rPr>
              <a:t>не проверяются компилятором, </a:t>
            </a:r>
            <a:r>
              <a:rPr lang="ru-RU" sz="2400" b="1" i="0" u="none" strike="noStrike">
                <a:solidFill>
                  <a:srgbClr val="333333"/>
                </a:solidFill>
                <a:latin typeface="Tinkoff Sans"/>
              </a:rPr>
              <a:t>перехват исключений (</a:t>
            </a:r>
            <a:r>
              <a:rPr lang="en" sz="2400" b="1" i="0" u="none" strike="noStrike">
                <a:solidFill>
                  <a:srgbClr val="333333"/>
                </a:solidFill>
                <a:latin typeface="Tinkoff Sans"/>
              </a:rPr>
              <a:t>catch) </a:t>
            </a:r>
            <a:r>
              <a:rPr lang="ru-RU" sz="2400" b="1" i="0" u="none" strike="noStrike">
                <a:solidFill>
                  <a:srgbClr val="333333"/>
                </a:solidFill>
                <a:latin typeface="Tinkoff Sans"/>
              </a:rPr>
              <a:t>происходит в момент выполнения (</a:t>
            </a:r>
            <a:r>
              <a:rPr lang="en" sz="2400" b="1" i="0" u="none" strike="noStrike">
                <a:solidFill>
                  <a:srgbClr val="333333"/>
                </a:solidFill>
                <a:latin typeface="Tinkoff Sans"/>
              </a:rPr>
              <a:t>runtime checking)</a:t>
            </a:r>
            <a:endParaRPr lang="ru-RU" sz="2400" b="1">
              <a:solidFill>
                <a:schemeClr val="bg1"/>
              </a:solidFill>
              <a:latin typeface="Tinkoff Sans"/>
            </a:endParaRPr>
          </a:p>
        </p:txBody>
      </p:sp>
      <p:pic>
        <p:nvPicPr>
          <p:cNvPr id="357092366" name="Рисунок 1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5939533" y="1747949"/>
            <a:ext cx="12689013" cy="83767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71065" name="Полилиния 42"/>
          <p:cNvSpPr/>
          <p:nvPr/>
        </p:nvSpPr>
        <p:spPr bwMode="auto">
          <a:xfrm>
            <a:off x="395287" y="401594"/>
            <a:ext cx="6240961" cy="5107687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42000">
                <a:schemeClr val="accent1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2088647592" name="Овал 43"/>
          <p:cNvSpPr/>
          <p:nvPr/>
        </p:nvSpPr>
        <p:spPr bwMode="auto">
          <a:xfrm>
            <a:off x="5617544" y="4487020"/>
            <a:ext cx="1034773" cy="1034773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algn="ctr" defTabSz="457200">
              <a:defRPr/>
            </a:pPr>
            <a:endParaRPr lang="ru-RU" sz="3600">
              <a:solidFill>
                <a:schemeClr val="accent2"/>
              </a:solidFill>
              <a:latin typeface="T-Sans Medium"/>
              <a:ea typeface="T-Sans Medium"/>
            </a:endParaRPr>
          </a:p>
        </p:txBody>
      </p:sp>
      <p:sp>
        <p:nvSpPr>
          <p:cNvPr id="268810846" name="Полилиния 21"/>
          <p:cNvSpPr/>
          <p:nvPr/>
        </p:nvSpPr>
        <p:spPr bwMode="auto">
          <a:xfrm>
            <a:off x="395287" y="5686826"/>
            <a:ext cx="6240961" cy="5107687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376353670" name="Овал 2"/>
          <p:cNvSpPr/>
          <p:nvPr/>
        </p:nvSpPr>
        <p:spPr bwMode="auto">
          <a:xfrm>
            <a:off x="5617544" y="9772252"/>
            <a:ext cx="1034773" cy="1034773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3</a:t>
            </a:r>
            <a:endParaRPr/>
          </a:p>
        </p:txBody>
      </p:sp>
      <p:sp>
        <p:nvSpPr>
          <p:cNvPr id="2005143571" name="TextBox 3"/>
          <p:cNvSpPr txBox="1"/>
          <p:nvPr/>
        </p:nvSpPr>
        <p:spPr bwMode="auto">
          <a:xfrm>
            <a:off x="925084" y="7031009"/>
            <a:ext cx="4721141" cy="292528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9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Ресурсы, которые реализуют интерфейс AutoCloseable, можно объявлять в круглых скобках оператора try, и они закроются автоматически без явного использования finally.</a:t>
            </a:r>
            <a:endParaRPr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</p:txBody>
      </p:sp>
      <p:sp>
        <p:nvSpPr>
          <p:cNvPr id="1585725017" name="TextBox 5"/>
          <p:cNvSpPr txBox="1"/>
          <p:nvPr/>
        </p:nvSpPr>
        <p:spPr bwMode="auto">
          <a:xfrm>
            <a:off x="925084" y="6257898"/>
            <a:ext cx="4875571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ru-RU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 Medium"/>
                <a:cs typeface="T-Sans Medium"/>
              </a:rPr>
              <a:t>try-with-resources</a:t>
            </a:r>
            <a:endParaRPr/>
          </a:p>
        </p:txBody>
      </p:sp>
      <p:pic>
        <p:nvPicPr>
          <p:cNvPr id="574235381" name="Рисунок 3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849050" y="4718526"/>
            <a:ext cx="571762" cy="571762"/>
          </a:xfrm>
          <a:prstGeom prst="rect">
            <a:avLst/>
          </a:prstGeom>
        </p:spPr>
      </p:pic>
      <p:sp>
        <p:nvSpPr>
          <p:cNvPr id="1576955526" name="Полилиния 22"/>
          <p:cNvSpPr/>
          <p:nvPr/>
        </p:nvSpPr>
        <p:spPr bwMode="auto">
          <a:xfrm>
            <a:off x="6767512" y="5675437"/>
            <a:ext cx="6240961" cy="5107687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1449909602" name="Полилиния 23"/>
          <p:cNvSpPr/>
          <p:nvPr/>
        </p:nvSpPr>
        <p:spPr bwMode="auto">
          <a:xfrm>
            <a:off x="13176248" y="5675437"/>
            <a:ext cx="6240962" cy="5107687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807975423" name="Овал 8"/>
          <p:cNvSpPr/>
          <p:nvPr/>
        </p:nvSpPr>
        <p:spPr bwMode="auto">
          <a:xfrm>
            <a:off x="12006645" y="9747650"/>
            <a:ext cx="1034773" cy="1034773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4</a:t>
            </a:r>
            <a:endParaRPr/>
          </a:p>
        </p:txBody>
      </p:sp>
      <p:sp>
        <p:nvSpPr>
          <p:cNvPr id="1486321658" name="Овал 10"/>
          <p:cNvSpPr/>
          <p:nvPr/>
        </p:nvSpPr>
        <p:spPr bwMode="auto">
          <a:xfrm>
            <a:off x="18373771" y="9747650"/>
            <a:ext cx="1034773" cy="1034773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5</a:t>
            </a:r>
            <a:endParaRPr/>
          </a:p>
        </p:txBody>
      </p:sp>
      <p:sp>
        <p:nvSpPr>
          <p:cNvPr id="1995869231" name="TextBox 11"/>
          <p:cNvSpPr txBox="1"/>
          <p:nvPr/>
        </p:nvSpPr>
        <p:spPr bwMode="auto">
          <a:xfrm flipH="0" flipV="0">
            <a:off x="13724508" y="6998839"/>
            <a:ext cx="5127510" cy="3400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9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r>
              <a:rPr lang="ru-RU"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Блоков catch может быть больше одного</a:t>
            </a: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r>
              <a:rPr lang="ru-RU"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Разные типы исключений можно перечислить 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через вертикальную черту | в одном блоке catch</a:t>
            </a: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</p:txBody>
      </p:sp>
      <p:sp>
        <p:nvSpPr>
          <p:cNvPr id="678987952" name="TextBox 13"/>
          <p:cNvSpPr txBox="1"/>
          <p:nvPr/>
        </p:nvSpPr>
        <p:spPr bwMode="auto">
          <a:xfrm>
            <a:off x="13724508" y="6225728"/>
            <a:ext cx="4875571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ru-RU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 Medium"/>
                <a:cs typeface="T-Sans Medium"/>
              </a:rPr>
              <a:t>Мульти-catch</a:t>
            </a:r>
            <a:endParaRPr/>
          </a:p>
        </p:txBody>
      </p:sp>
      <p:sp>
        <p:nvSpPr>
          <p:cNvPr id="2110227318" name="TextBox 14"/>
          <p:cNvSpPr txBox="1"/>
          <p:nvPr/>
        </p:nvSpPr>
        <p:spPr bwMode="auto">
          <a:xfrm>
            <a:off x="7324796" y="6998839"/>
            <a:ext cx="4772621" cy="1974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9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latin typeface="T-Sans"/>
                <a:ea typeface="T-Sans"/>
                <a:cs typeface="T-Sans"/>
              </a:rPr>
              <a:t>Необработанные checked exceptions обязательно нужно указывать в заголовке функции с помощью ключевого слова throws</a:t>
            </a:r>
            <a:endParaRPr/>
          </a:p>
        </p:txBody>
      </p:sp>
      <p:sp>
        <p:nvSpPr>
          <p:cNvPr id="757410726" name="TextBox 15"/>
          <p:cNvSpPr txBox="1"/>
          <p:nvPr/>
        </p:nvSpPr>
        <p:spPr bwMode="auto">
          <a:xfrm>
            <a:off x="7324796" y="6225728"/>
            <a:ext cx="4881331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ru-RU"/>
              <a:t>Передача по стеку</a:t>
            </a:r>
            <a:endParaRPr/>
          </a:p>
        </p:txBody>
      </p:sp>
      <p:sp>
        <p:nvSpPr>
          <p:cNvPr id="1002708553" name="Полилиния 24"/>
          <p:cNvSpPr/>
          <p:nvPr/>
        </p:nvSpPr>
        <p:spPr bwMode="auto">
          <a:xfrm>
            <a:off x="6767512" y="408493"/>
            <a:ext cx="6240961" cy="5107687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780689223" name="Полилиния 27"/>
          <p:cNvSpPr/>
          <p:nvPr/>
        </p:nvSpPr>
        <p:spPr bwMode="auto">
          <a:xfrm>
            <a:off x="13176248" y="408493"/>
            <a:ext cx="6240962" cy="5107687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 fill="norm" stroke="1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2052139070" name="Овал 28"/>
          <p:cNvSpPr/>
          <p:nvPr/>
        </p:nvSpPr>
        <p:spPr bwMode="auto">
          <a:xfrm>
            <a:off x="12006645" y="4480706"/>
            <a:ext cx="1034773" cy="1034773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1</a:t>
            </a:r>
            <a:endParaRPr/>
          </a:p>
        </p:txBody>
      </p:sp>
      <p:sp>
        <p:nvSpPr>
          <p:cNvPr id="2078784760" name="Овал 29"/>
          <p:cNvSpPr/>
          <p:nvPr/>
        </p:nvSpPr>
        <p:spPr bwMode="auto">
          <a:xfrm>
            <a:off x="18373771" y="4480706"/>
            <a:ext cx="1034773" cy="1034773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2</a:t>
            </a:r>
            <a:endParaRPr/>
          </a:p>
        </p:txBody>
      </p:sp>
      <p:sp>
        <p:nvSpPr>
          <p:cNvPr id="647573306" name="TextBox 37"/>
          <p:cNvSpPr txBox="1"/>
          <p:nvPr/>
        </p:nvSpPr>
        <p:spPr bwMode="auto">
          <a:xfrm>
            <a:off x="13724508" y="1731895"/>
            <a:ext cx="4724741" cy="1974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9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Компонент finally идет после </a:t>
            </a:r>
            <a:b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</a:b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try-catch и срабатывает независимо от того, произошла ошибка или нет</a:t>
            </a:r>
            <a:endParaRPr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</p:txBody>
      </p:sp>
      <p:sp>
        <p:nvSpPr>
          <p:cNvPr id="144889153" name="TextBox 38"/>
          <p:cNvSpPr txBox="1"/>
          <p:nvPr/>
        </p:nvSpPr>
        <p:spPr bwMode="auto">
          <a:xfrm>
            <a:off x="13724508" y="958784"/>
            <a:ext cx="4882051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US"/>
              <a:t>finally</a:t>
            </a:r>
            <a:endParaRPr lang="ru-RU"/>
          </a:p>
        </p:txBody>
      </p:sp>
      <p:sp>
        <p:nvSpPr>
          <p:cNvPr id="364076849" name="TextBox 39"/>
          <p:cNvSpPr txBox="1"/>
          <p:nvPr/>
        </p:nvSpPr>
        <p:spPr bwMode="auto">
          <a:xfrm>
            <a:off x="7324796" y="1731895"/>
            <a:ext cx="4781261" cy="25107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9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ru-RU"/>
              <a:t>Блоки catch служат для обработки указанных типов ошибок.</a:t>
            </a:r>
            <a:br>
              <a:rPr lang="ru-RU"/>
            </a:br>
            <a:r>
              <a:rPr lang="ru-RU"/>
              <a:t>Не перехваченные ошибки передаются выше по стеку, вплоть до остановки программы</a:t>
            </a:r>
            <a:endParaRPr lang="ru-RU"/>
          </a:p>
        </p:txBody>
      </p:sp>
      <p:sp>
        <p:nvSpPr>
          <p:cNvPr id="696307257" name="TextBox 40"/>
          <p:cNvSpPr txBox="1"/>
          <p:nvPr/>
        </p:nvSpPr>
        <p:spPr bwMode="auto">
          <a:xfrm>
            <a:off x="7324796" y="958784"/>
            <a:ext cx="4875571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US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 Medium"/>
                <a:cs typeface="T-Sans Medium"/>
              </a:rPr>
              <a:t>try-catch</a:t>
            </a:r>
            <a:endParaRPr lang="ru-RU"/>
          </a:p>
        </p:txBody>
      </p:sp>
      <p:sp>
        <p:nvSpPr>
          <p:cNvPr id="1814233239" name="TextBox 44"/>
          <p:cNvSpPr txBox="1"/>
          <p:nvPr/>
        </p:nvSpPr>
        <p:spPr bwMode="auto">
          <a:xfrm>
            <a:off x="611187" y="1085445"/>
            <a:ext cx="5816824" cy="60880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 sz="4400" b="0">
                <a:solidFill>
                  <a:srgbClr val="0A0A0A"/>
                </a:solidFill>
                <a:latin typeface="T-Sans"/>
              </a:rPr>
              <a:t>Обработка исключений</a:t>
            </a:r>
            <a:endParaRPr lang="ru-RU" sz="4400" b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 bwMode="auto">
          <a:xfrm>
            <a:off x="1366837" y="1366837"/>
            <a:ext cx="16665135" cy="105991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ru-RU" sz="7200" b="0">
                <a:solidFill>
                  <a:schemeClr val="accent6"/>
                </a:solidFill>
                <a:latin typeface="T-Sans"/>
                <a:ea typeface="T-Sans"/>
              </a:rPr>
              <a:t>Создание собственных исключений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9928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8" y="10623146"/>
            <a:ext cx="1068945" cy="246220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DD54C234-0742-4F99-981E-55CE8638AF0C}" type="slidenum">
              <a:rPr lang="ru-RU"/>
              <a:t/>
            </a:fld>
            <a:endParaRPr lang="ru-RU"/>
          </a:p>
        </p:txBody>
      </p:sp>
      <p:sp>
        <p:nvSpPr>
          <p:cNvPr id="281906555" name="TextBox 22"/>
          <p:cNvSpPr txBox="1"/>
          <p:nvPr/>
        </p:nvSpPr>
        <p:spPr bwMode="auto">
          <a:xfrm>
            <a:off x="611187" y="598304"/>
            <a:ext cx="6595200" cy="171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ru-RU" b="0">
                <a:latin typeface="T-Sans"/>
                <a:ea typeface="T-Sans"/>
              </a:rPr>
              <a:t>Создание исключения</a:t>
            </a:r>
            <a:endParaRPr lang="ru-RU" b="0">
              <a:latin typeface="T-Sans"/>
              <a:ea typeface="T-Sans"/>
            </a:endParaRPr>
          </a:p>
        </p:txBody>
      </p:sp>
      <p:grpSp>
        <p:nvGrpSpPr>
          <p:cNvPr id="179821033" name="Группа 1"/>
          <p:cNvGrpSpPr/>
          <p:nvPr/>
        </p:nvGrpSpPr>
        <p:grpSpPr bwMode="auto">
          <a:xfrm>
            <a:off x="7477169" y="647699"/>
            <a:ext cx="11448000" cy="9864725"/>
            <a:chOff x="7477169" y="647699"/>
            <a:chExt cx="11448000" cy="9864725"/>
          </a:xfrm>
        </p:grpSpPr>
        <p:sp>
          <p:nvSpPr>
            <p:cNvPr id="1988160832" name="Скругленный прямоугольник 3"/>
            <p:cNvSpPr/>
            <p:nvPr/>
          </p:nvSpPr>
          <p:spPr bwMode="auto">
            <a:xfrm>
              <a:off x="7477169" y="647699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903021874" name="Овал 4"/>
            <p:cNvSpPr>
              <a:spLocks noChangeAspect="1"/>
            </p:cNvSpPr>
            <p:nvPr/>
          </p:nvSpPr>
          <p:spPr bwMode="auto">
            <a:xfrm>
              <a:off x="7731100" y="877196"/>
              <a:ext cx="162102" cy="162102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261389922" name="Овал 9"/>
            <p:cNvSpPr>
              <a:spLocks noChangeAspect="1"/>
            </p:cNvSpPr>
            <p:nvPr/>
          </p:nvSpPr>
          <p:spPr bwMode="auto">
            <a:xfrm>
              <a:off x="7990052" y="877196"/>
              <a:ext cx="162102" cy="162102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496363123" name="Овал 10"/>
            <p:cNvSpPr>
              <a:spLocks noChangeAspect="1"/>
            </p:cNvSpPr>
            <p:nvPr/>
          </p:nvSpPr>
          <p:spPr bwMode="auto">
            <a:xfrm>
              <a:off x="8249002" y="877196"/>
              <a:ext cx="162102" cy="162102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414244095" name="Скругленный прямоугольник 11"/>
            <p:cNvSpPr/>
            <p:nvPr/>
          </p:nvSpPr>
          <p:spPr bwMode="auto">
            <a:xfrm>
              <a:off x="7621169" y="1245508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</p:grpSp>
      <p:sp>
        <p:nvSpPr>
          <p:cNvPr id="512999207" name="TextBox 12"/>
          <p:cNvSpPr txBox="1"/>
          <p:nvPr/>
        </p:nvSpPr>
        <p:spPr bwMode="auto">
          <a:xfrm>
            <a:off x="622607" y="2662586"/>
            <a:ext cx="6626619" cy="1279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ru-RU">
                <a:latin typeface="T-Sans"/>
                <a:ea typeface="T-Sans"/>
              </a:rPr>
              <a:t>Создаем класс-наследник от Exception, RuntimeException или любого их наследника.</a:t>
            </a:r>
            <a:br>
              <a:rPr lang="ru-RU">
                <a:latin typeface="T-Sans"/>
                <a:ea typeface="T-Sans"/>
              </a:rPr>
            </a:br>
            <a:r>
              <a:rPr lang="ru-RU" b="1" i="0" u="sng">
                <a:latin typeface="T-Sans"/>
                <a:ea typeface="T-Sans"/>
              </a:rPr>
              <a:t>Почему выбрали RuntimeException?</a:t>
            </a:r>
            <a:endParaRPr b="1" i="0">
              <a:latin typeface="T-Sans"/>
              <a:ea typeface="T-Sans"/>
            </a:endParaRPr>
          </a:p>
        </p:txBody>
      </p:sp>
      <p:sp>
        <p:nvSpPr>
          <p:cNvPr id="1187825117" name="TextBox 5"/>
          <p:cNvSpPr txBox="1"/>
          <p:nvPr/>
        </p:nvSpPr>
        <p:spPr bwMode="auto">
          <a:xfrm>
            <a:off x="757309" y="8351072"/>
            <a:ext cx="6594579" cy="47469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ru-RU">
                <a:latin typeface="T-Sans"/>
                <a:ea typeface="T-Sans"/>
              </a:rPr>
              <a:t>Собственные методы тоже разрешены</a:t>
            </a:r>
            <a:endParaRPr lang="ru-RU">
              <a:latin typeface="T-Sans"/>
              <a:ea typeface="T-Sans"/>
            </a:endParaRPr>
          </a:p>
        </p:txBody>
      </p:sp>
      <p:sp>
        <p:nvSpPr>
          <p:cNvPr id="536088800" name="TextBox 7"/>
          <p:cNvSpPr txBox="1"/>
          <p:nvPr/>
        </p:nvSpPr>
        <p:spPr bwMode="auto">
          <a:xfrm>
            <a:off x="8071102" y="1836966"/>
            <a:ext cx="6619059" cy="87703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ru-RU">
                <a:latin typeface="T-Sans"/>
                <a:ea typeface="T-Sans"/>
              </a:rPr>
              <a:t>Создаем собственное исключение, если нужно выделить отдельную логику обработки</a:t>
            </a:r>
            <a:endParaRPr/>
          </a:p>
        </p:txBody>
      </p:sp>
      <p:pic>
        <p:nvPicPr>
          <p:cNvPr id="1857590370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8071102" y="3403419"/>
            <a:ext cx="10310141" cy="5613817"/>
          </a:xfrm>
          <a:prstGeom prst="rect">
            <a:avLst/>
          </a:prstGeom>
        </p:spPr>
      </p:pic>
      <p:sp>
        <p:nvSpPr>
          <p:cNvPr id="103991212" name="TextBox 12"/>
          <p:cNvSpPr txBox="1"/>
          <p:nvPr/>
        </p:nvSpPr>
        <p:spPr bwMode="auto">
          <a:xfrm>
            <a:off x="578327" y="4155541"/>
            <a:ext cx="6627699" cy="47469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ru-RU">
                <a:latin typeface="T-Sans"/>
                <a:ea typeface="T-Sans"/>
              </a:rPr>
              <a:t>Можно объявлять собственные поля</a:t>
            </a:r>
            <a:endParaRPr lang="ru-RU">
              <a:latin typeface="T-Sans"/>
              <a:ea typeface="T-Sans"/>
            </a:endParaRPr>
          </a:p>
        </p:txBody>
      </p:sp>
      <p:sp>
        <p:nvSpPr>
          <p:cNvPr id="1896622750" name="TextBox 12"/>
          <p:cNvSpPr txBox="1"/>
          <p:nvPr/>
        </p:nvSpPr>
        <p:spPr bwMode="auto">
          <a:xfrm>
            <a:off x="578327" y="5257332"/>
            <a:ext cx="6643898" cy="47469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ru-RU">
                <a:latin typeface="T-Sans"/>
                <a:ea typeface="T-Sans"/>
              </a:rPr>
              <a:t>Обязательно нужен хотя бы один конструктор</a:t>
            </a:r>
            <a:endParaRPr lang="ru-RU">
              <a:latin typeface="T-Sans"/>
              <a:ea typeface="T-Sans"/>
            </a:endParaRPr>
          </a:p>
        </p:txBody>
      </p:sp>
      <p:sp>
        <p:nvSpPr>
          <p:cNvPr id="1798530321" name="TextBox 12"/>
          <p:cNvSpPr txBox="1"/>
          <p:nvPr/>
        </p:nvSpPr>
        <p:spPr bwMode="auto">
          <a:xfrm>
            <a:off x="689991" y="6540174"/>
            <a:ext cx="6702937" cy="1279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ru-RU">
                <a:latin typeface="T-Sans"/>
                <a:ea typeface="T-Sans"/>
              </a:rPr>
              <a:t>Можно обернуть другое исключение в доменное исключение, не потеряв первоначальную причину </a:t>
            </a:r>
            <a:r>
              <a:rPr lang="en-US">
                <a:latin typeface="T-Sans"/>
                <a:ea typeface="T-Sans"/>
              </a:rPr>
              <a:t>(exception chaining)</a:t>
            </a:r>
            <a:endParaRPr lang="ru-RU">
              <a:latin typeface="T-Sans"/>
              <a:ea typeface="T-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35388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564EED96-EFF0-722B-5954-86203D3AE6DE}" type="slidenum">
              <a:rPr lang="ru-RU"/>
              <a:t/>
            </a:fld>
            <a:endParaRPr lang="ru-RU"/>
          </a:p>
        </p:txBody>
      </p:sp>
      <p:pic>
        <p:nvPicPr>
          <p:cNvPr id="141143873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215201" y="428482"/>
            <a:ext cx="9193213" cy="9193212"/>
          </a:xfrm>
          <a:prstGeom prst="rect">
            <a:avLst/>
          </a:prstGeom>
        </p:spPr>
      </p:pic>
      <p:sp>
        <p:nvSpPr>
          <p:cNvPr id="1451889586" name=""/>
          <p:cNvSpPr txBox="1"/>
          <p:nvPr/>
        </p:nvSpPr>
        <p:spPr bwMode="auto">
          <a:xfrm flipH="0" flipV="0">
            <a:off x="1493892" y="1617286"/>
            <a:ext cx="9820560" cy="44809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ru-RU" sz="72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  <a:t>Добавим собственное исключение </a:t>
            </a:r>
            <a:br>
              <a:rPr lang="ru-RU" sz="72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</a:br>
            <a:r>
              <a:rPr lang="ru-RU" sz="72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  <a:t>и научим программу </a:t>
            </a:r>
            <a:br>
              <a:rPr lang="ru-RU" sz="72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</a:br>
            <a:r>
              <a:rPr lang="ru-RU" sz="72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  <a:t>его обрабатывать</a:t>
            </a:r>
            <a:endParaRPr lang="ru-RU" sz="12000" b="0" i="0" u="none">
              <a:solidFill>
                <a:schemeClr val="accent6"/>
              </a:solidFill>
              <a:latin typeface="T-Sans"/>
              <a:ea typeface="T-Sans"/>
              <a:cs typeface="T-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929077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8" y="10623146"/>
            <a:ext cx="1068945" cy="246220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A18816C2-A944-6890-BE04-DD1FB486EAEA}" type="slidenum">
              <a:rPr lang="ru-RU"/>
              <a:t/>
            </a:fld>
            <a:endParaRPr lang="ru-RU"/>
          </a:p>
        </p:txBody>
      </p:sp>
      <p:sp>
        <p:nvSpPr>
          <p:cNvPr id="1597092664" name="TextBox 2"/>
          <p:cNvSpPr txBox="1"/>
          <p:nvPr/>
        </p:nvSpPr>
        <p:spPr bwMode="auto">
          <a:xfrm>
            <a:off x="1366837" y="1366837"/>
            <a:ext cx="16674135" cy="105991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en-US" sz="7200" b="0">
                <a:solidFill>
                  <a:schemeClr val="accent6"/>
                </a:solidFill>
                <a:latin typeface="T-Sans"/>
                <a:ea typeface="T-Sans"/>
              </a:rPr>
              <a:t>try-with-resources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255515" name="TextBox 2"/>
          <p:cNvSpPr txBox="1"/>
          <p:nvPr/>
        </p:nvSpPr>
        <p:spPr bwMode="auto">
          <a:xfrm>
            <a:off x="611187" y="556965"/>
            <a:ext cx="5879259" cy="151656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ru-RU" sz="5400" b="0">
                <a:latin typeface="T-Sans"/>
                <a:ea typeface="T-Sans"/>
              </a:rPr>
              <a:t>Как было раньше</a:t>
            </a:r>
            <a:endParaRPr/>
          </a:p>
          <a:p>
            <a:pPr>
              <a:defRPr/>
            </a:pPr>
            <a:r>
              <a:rPr lang="ru-RU" sz="5400" b="0">
                <a:latin typeface="T-Sans"/>
                <a:ea typeface="T-Sans"/>
              </a:rPr>
              <a:t>И как сейчас</a:t>
            </a:r>
            <a:endParaRPr/>
          </a:p>
        </p:txBody>
      </p:sp>
      <p:sp>
        <p:nvSpPr>
          <p:cNvPr id="1325145201" name="TextBox 4"/>
          <p:cNvSpPr txBox="1"/>
          <p:nvPr/>
        </p:nvSpPr>
        <p:spPr bwMode="auto">
          <a:xfrm>
            <a:off x="611187" y="3743325"/>
            <a:ext cx="4768301" cy="3912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30000"/>
              </a:lnSpc>
              <a:defRPr sz="2400">
                <a:solidFill>
                  <a:schemeClr val="tx2">
                    <a:lumMod val="75000"/>
                  </a:schemeClr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  <a:defRPr/>
            </a:pPr>
            <a:r>
              <a:rPr lang="ru-RU">
                <a:latin typeface="T-Sans"/>
                <a:ea typeface="T-Sans"/>
              </a:rPr>
              <a:t>До введения синтаксического сахара в </a:t>
            </a:r>
            <a:r>
              <a:rPr lang="en-US">
                <a:latin typeface="T-Sans"/>
                <a:ea typeface="T-Sans"/>
              </a:rPr>
              <a:t>Java 1.7 </a:t>
            </a:r>
            <a:r>
              <a:rPr lang="ru-RU">
                <a:latin typeface="T-Sans"/>
                <a:ea typeface="T-Sans"/>
              </a:rPr>
              <a:t>можно было использовать только try-catch-finally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>
              <a:latin typeface="T-Sans"/>
              <a:ea typeface="T-Sans"/>
            </a:endParaRPr>
          </a:p>
          <a:p>
            <a:pPr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latin typeface="T-Sans"/>
                <a:ea typeface="T-Sans"/>
                <a:cs typeface="T-Sans"/>
              </a:rPr>
              <a:t>Разница не только в компактности: ручной </a:t>
            </a:r>
            <a:r>
              <a:rPr lang="ru-RU" sz="2400" b="0" i="1" u="none" strike="noStrike" cap="none" spc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latin typeface="T-Sans"/>
                <a:ea typeface="T-Sans"/>
                <a:cs typeface="T-Sans"/>
              </a:rPr>
              <a:t>finally можно 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latin typeface="T-Sans"/>
                <a:ea typeface="T-Sans"/>
                <a:cs typeface="T-Sans"/>
              </a:rPr>
              <a:t>написать с ошибкой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latin typeface="T-Sans"/>
                <a:ea typeface="T-Sans"/>
                <a:cs typeface="T-Sans"/>
              </a:rPr>
              <a:t>, а try-with-resources синтаксически не позволяет забыть про </a:t>
            </a:r>
            <a:r>
              <a:rPr lang="ru-RU" sz="2400" b="0" i="1" u="none" strike="noStrike" cap="none" spc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latin typeface="T-Sans"/>
                <a:ea typeface="T-Sans"/>
                <a:cs typeface="T-Sans"/>
              </a:rPr>
              <a:t>close()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latin typeface="T-Sans"/>
                <a:ea typeface="T-Sans"/>
                <a:cs typeface="T-Sans"/>
              </a:rPr>
              <a:t>.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latin typeface="T-Sans"/>
                <a:ea typeface="T-Sans"/>
                <a:cs typeface="T-Sans"/>
              </a:rPr>
              <a:t> </a:t>
            </a:r>
            <a:endParaRPr sz="2400" b="0" i="0" u="none" strike="noStrike" cap="none" spc="0">
              <a:ln>
                <a:noFill/>
              </a:ln>
              <a:solidFill>
                <a:schemeClr val="tx2">
                  <a:lumMod val="75000"/>
                </a:schemeClr>
              </a:solidFill>
              <a:latin typeface="T-Sans"/>
              <a:cs typeface="T-Sans"/>
            </a:endParaRPr>
          </a:p>
        </p:txBody>
      </p:sp>
      <p:sp>
        <p:nvSpPr>
          <p:cNvPr id="780507645" name="TextBox 7"/>
          <p:cNvSpPr txBox="1"/>
          <p:nvPr/>
        </p:nvSpPr>
        <p:spPr bwMode="auto">
          <a:xfrm>
            <a:off x="7165607" y="5466774"/>
            <a:ext cx="5097600" cy="226691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9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  <a:defRPr/>
            </a:pPr>
            <a:r>
              <a:rPr lang="ru-RU" sz="2400">
                <a:solidFill>
                  <a:schemeClr val="bg1"/>
                </a:solidFill>
                <a:latin typeface="T-Sans"/>
                <a:ea typeface="T-Sans"/>
              </a:rPr>
              <a:t>Приходится писать дополнительный блок finally</a:t>
            </a:r>
            <a:endParaRPr sz="2400"/>
          </a:p>
          <a:p>
            <a:pPr>
              <a:lnSpc>
                <a:spcPct val="100000"/>
              </a:lnSpc>
              <a:defRPr/>
            </a:pPr>
            <a:endParaRPr sz="2400">
              <a:solidFill>
                <a:schemeClr val="bg1"/>
              </a:solidFill>
              <a:latin typeface="T-Sans"/>
              <a:ea typeface="T-Sans"/>
            </a:endParaRPr>
          </a:p>
          <a:p>
            <a:pPr>
              <a:lnSpc>
                <a:spcPct val="100000"/>
              </a:lnSpc>
              <a:defRPr/>
            </a:pPr>
            <a:r>
              <a:rPr lang="ru-RU" sz="2400">
                <a:solidFill>
                  <a:schemeClr val="bg1"/>
                </a:solidFill>
                <a:latin typeface="T-Sans"/>
                <a:ea typeface="T-Sans"/>
              </a:rPr>
              <a:t>Если нам нужно обработать ошибки close(), то потребуется обернуть код дополнительным блоком try-catch </a:t>
            </a:r>
            <a:endParaRPr sz="2400">
              <a:solidFill>
                <a:schemeClr val="bg1"/>
              </a:solidFill>
              <a:latin typeface="T-Sans"/>
              <a:ea typeface="T-Sans"/>
            </a:endParaRPr>
          </a:p>
        </p:txBody>
      </p:sp>
      <p:sp>
        <p:nvSpPr>
          <p:cNvPr id="142044660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8" y="10623146"/>
            <a:ext cx="1068945" cy="246220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D779A56A-A6BA-727E-5198-BC17EFD29EC9}" type="slidenum">
              <a:rPr lang="ru-RU"/>
              <a:t/>
            </a:fld>
            <a:endParaRPr lang="ru-RU"/>
          </a:p>
        </p:txBody>
      </p:sp>
      <p:sp>
        <p:nvSpPr>
          <p:cNvPr id="2014015073" name="TextBox 3"/>
          <p:cNvSpPr txBox="1"/>
          <p:nvPr/>
        </p:nvSpPr>
        <p:spPr bwMode="auto">
          <a:xfrm>
            <a:off x="7359459" y="1107389"/>
            <a:ext cx="5025348" cy="5549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ctr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799"/>
              </a:lnSpc>
              <a:defRPr sz="2800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en-US" sz="3600">
                <a:latin typeface="T-Sans Medium"/>
                <a:ea typeface="T-Sans"/>
              </a:rPr>
              <a:t>Java &lt; 1.7</a:t>
            </a:r>
            <a:endParaRPr lang="ru-RU" sz="3600">
              <a:latin typeface="T-Sans Medium"/>
              <a:ea typeface="T-Sans"/>
            </a:endParaRPr>
          </a:p>
        </p:txBody>
      </p:sp>
      <p:sp>
        <p:nvSpPr>
          <p:cNvPr id="102297744" name="TextBox 5"/>
          <p:cNvSpPr txBox="1"/>
          <p:nvPr/>
        </p:nvSpPr>
        <p:spPr bwMode="auto">
          <a:xfrm>
            <a:off x="13668819" y="1107569"/>
            <a:ext cx="5053647" cy="5549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ctr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799"/>
              </a:lnSpc>
              <a:defRPr sz="2800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en-US" sz="3600">
                <a:solidFill>
                  <a:schemeClr val="bg1"/>
                </a:solidFill>
                <a:latin typeface="T-Sans Medium"/>
                <a:ea typeface="T-Sans"/>
              </a:rPr>
              <a:t>Java </a:t>
            </a:r>
            <a:r>
              <a:rPr lang="en-US" sz="36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-Sans Medium"/>
                <a:ea typeface="T-Sans Medium"/>
                <a:cs typeface="T-Sans Medium"/>
              </a:rPr>
              <a:t>≥</a:t>
            </a:r>
            <a:r>
              <a:rPr lang="en-US" sz="3600">
                <a:solidFill>
                  <a:schemeClr val="bg1"/>
                </a:solidFill>
                <a:latin typeface="T-Sans Medium"/>
                <a:ea typeface="T-Sans"/>
              </a:rPr>
              <a:t> 1.7</a:t>
            </a:r>
            <a:endParaRPr lang="ru-RU" sz="3600">
              <a:solidFill>
                <a:schemeClr val="bg1"/>
              </a:solidFill>
              <a:latin typeface="T-Sans Medium"/>
              <a:ea typeface="T-Sans"/>
            </a:endParaRPr>
          </a:p>
        </p:txBody>
      </p:sp>
      <p:sp>
        <p:nvSpPr>
          <p:cNvPr id="1629998821" name="TextBox 15"/>
          <p:cNvSpPr txBox="1"/>
          <p:nvPr/>
        </p:nvSpPr>
        <p:spPr bwMode="auto">
          <a:xfrm>
            <a:off x="13489281" y="5527733"/>
            <a:ext cx="5054400" cy="22059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9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  <a:defRPr/>
            </a:pPr>
            <a:r>
              <a:rPr>
                <a:latin typeface="T-Sans"/>
                <a:ea typeface="T-Sans"/>
                <a:cs typeface="T-Sans"/>
              </a:rPr>
              <a:t>Код стал компактнее</a:t>
            </a:r>
            <a:br>
              <a:rPr>
                <a:latin typeface="T-Sans"/>
                <a:ea typeface="T-Sans"/>
                <a:cs typeface="T-Sans"/>
              </a:rPr>
            </a:br>
            <a:br>
              <a:rPr>
                <a:latin typeface="T-Sans"/>
                <a:ea typeface="T-Sans"/>
                <a:cs typeface="T-Sans"/>
              </a:rPr>
            </a:br>
            <a:r>
              <a:rPr lang="en-US" sz="24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"/>
                <a:ea typeface="T-Sans"/>
                <a:cs typeface="T-Sans"/>
              </a:rPr>
              <a:t>Блок catch перехватит как ошибки, возникшие в try, так и возникшие при close()</a:t>
            </a:r>
            <a:endParaRPr>
              <a:latin typeface="T-Sans"/>
              <a:ea typeface="T-Sans"/>
              <a:cs typeface="T-Sans"/>
            </a:endParaRPr>
          </a:p>
          <a:p>
            <a:pPr>
              <a:lnSpc>
                <a:spcPct val="100000"/>
              </a:lnSpc>
              <a:defRPr/>
            </a:pPr>
            <a:r>
              <a:rPr lang="ru-RU" sz="2000">
                <a:solidFill>
                  <a:schemeClr val="bg1"/>
                </a:solidFill>
                <a:latin typeface="T-Sans"/>
                <a:ea typeface="T-Sans"/>
                <a:cs typeface="T-Sans"/>
              </a:rPr>
              <a:t> </a:t>
            </a:r>
            <a:endParaRPr sz="2000">
              <a:solidFill>
                <a:schemeClr val="bg1"/>
              </a:solidFill>
              <a:latin typeface="T-Sans"/>
              <a:ea typeface="T-Sans"/>
              <a:cs typeface="T-Sans"/>
            </a:endParaRPr>
          </a:p>
        </p:txBody>
      </p:sp>
      <p:pic>
        <p:nvPicPr>
          <p:cNvPr id="409591196" name="Рисунок 1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343775" y="8439249"/>
            <a:ext cx="2088982" cy="2006415"/>
          </a:xfrm>
          <a:prstGeom prst="rect">
            <a:avLst/>
          </a:prstGeom>
        </p:spPr>
      </p:pic>
      <p:pic>
        <p:nvPicPr>
          <p:cNvPr id="386643639" name="Рисунок 1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668819" y="8439248"/>
            <a:ext cx="2088982" cy="2006415"/>
          </a:xfrm>
          <a:prstGeom prst="rect">
            <a:avLst/>
          </a:prstGeom>
        </p:spPr>
      </p:pic>
      <p:pic>
        <p:nvPicPr>
          <p:cNvPr id="789354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253802" y="2804583"/>
            <a:ext cx="5412724" cy="2080804"/>
          </a:xfrm>
          <a:prstGeom prst="rect">
            <a:avLst/>
          </a:prstGeom>
        </p:spPr>
      </p:pic>
      <p:pic>
        <p:nvPicPr>
          <p:cNvPr id="210785298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13489281" y="3059685"/>
            <a:ext cx="5412724" cy="1570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746767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8" y="10623146"/>
            <a:ext cx="1068945" cy="246220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412DF49D-F5EF-45F3-159C-2FE283BDB491}" type="slidenum">
              <a:rPr lang="ru-RU"/>
              <a:t/>
            </a:fld>
            <a:endParaRPr lang="ru-RU"/>
          </a:p>
        </p:txBody>
      </p:sp>
      <p:pic>
        <p:nvPicPr>
          <p:cNvPr id="991225345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419730" y="-109722"/>
            <a:ext cx="11379569" cy="11379569"/>
          </a:xfrm>
          <a:prstGeom prst="rect">
            <a:avLst/>
          </a:prstGeom>
        </p:spPr>
      </p:pic>
      <p:sp>
        <p:nvSpPr>
          <p:cNvPr id="1432656320" name="TextBox 4"/>
          <p:cNvSpPr txBox="1"/>
          <p:nvPr/>
        </p:nvSpPr>
        <p:spPr bwMode="auto">
          <a:xfrm>
            <a:off x="1366837" y="1351764"/>
            <a:ext cx="8751008" cy="116963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ctr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ru-RU" sz="8000">
                <a:solidFill>
                  <a:schemeClr val="tx1"/>
                </a:solidFill>
                <a:latin typeface="T-Sans"/>
                <a:ea typeface="T-Sans"/>
              </a:rPr>
              <a:t>Итоги 4 семинара</a:t>
            </a:r>
            <a:endParaRPr/>
          </a:p>
        </p:txBody>
      </p:sp>
      <p:sp>
        <p:nvSpPr>
          <p:cNvPr id="646388575" name="TextBox 2"/>
          <p:cNvSpPr txBox="1"/>
          <p:nvPr/>
        </p:nvSpPr>
        <p:spPr bwMode="auto">
          <a:xfrm>
            <a:off x="2399770" y="2505610"/>
            <a:ext cx="8248694" cy="475523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t">
            <a:spAutoFit/>
          </a:bodyPr>
          <a:lstStyle/>
          <a:p>
            <a:pPr marR="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 sz="2400">
                <a:latin typeface="T-Sans"/>
                <a:ea typeface="T-Sans"/>
              </a:rPr>
              <a:t>Познакомились с исключениями</a:t>
            </a:r>
            <a:br>
              <a:rPr lang="ru-RU" sz="2400">
                <a:latin typeface="T-Sans"/>
                <a:ea typeface="T-Sans"/>
              </a:rPr>
            </a:br>
            <a:endParaRPr lang="ru-RU" sz="2400">
              <a:latin typeface="T-Sans"/>
              <a:ea typeface="T-Sans"/>
            </a:endParaRPr>
          </a:p>
          <a:p>
            <a:pPr marR="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 sz="2400">
                <a:latin typeface="T-Sans"/>
                <a:ea typeface="T-Sans"/>
              </a:rPr>
              <a:t>Разобрались, как они обрабатываются в </a:t>
            </a:r>
            <a:r>
              <a:rPr lang="ru-RU" sz="2400">
                <a:latin typeface="T-Sans"/>
                <a:ea typeface="T-Sans"/>
              </a:rPr>
              <a:t>джаве</a:t>
            </a:r>
            <a:endParaRPr lang="ru-RU" sz="2400">
              <a:latin typeface="T-Sans"/>
              <a:ea typeface="T-Sans"/>
            </a:endParaRPr>
          </a:p>
          <a:p>
            <a:pPr marR="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/>
          </a:p>
          <a:p>
            <a:pPr marR="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rPr>
              <a:t>Познакомились с конструкцией try-with-resources</a:t>
            </a:r>
            <a:endParaRPr lang="ru-RU" sz="24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</a:endParaRPr>
          </a:p>
          <a:p>
            <a:pPr marR="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/>
          </a:p>
          <a:p>
            <a:pPr marR="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rPr>
              <a:t>Улучшили наше приложение</a:t>
            </a:r>
            <a:endParaRPr lang="ru-RU" sz="24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</a:endParaRPr>
          </a:p>
          <a:p>
            <a:pPr marL="349965" marR="0" lvl="1" indent="-349965" algn="r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rPr>
              <a:t>	</a:t>
            </a:r>
            <a:r>
              <a:rPr lang="ru-RU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rPr>
              <a:t>добавили собственное исключение</a:t>
            </a:r>
            <a:endParaRPr lang="ru-RU" sz="24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</a:endParaRPr>
          </a:p>
          <a:p>
            <a:pPr marL="349965" marR="0" lvl="1" indent="-349965" algn="r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rPr>
              <a:t>реализовали обработку известных исключений</a:t>
            </a:r>
            <a:endParaRPr sz="24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</a:endParaRPr>
          </a:p>
          <a:p>
            <a:pPr marL="349965" marR="0" lvl="1" indent="-349965" algn="r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pPr>
            <a:endParaRPr/>
          </a:p>
        </p:txBody>
      </p:sp>
      <p:pic>
        <p:nvPicPr>
          <p:cNvPr id="72805742" name="Рисунок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55988" y="2505610"/>
            <a:ext cx="720000" cy="720000"/>
          </a:xfrm>
          <a:prstGeom prst="rect">
            <a:avLst/>
          </a:prstGeom>
        </p:spPr>
      </p:pic>
      <p:pic>
        <p:nvPicPr>
          <p:cNvPr id="166699866" name="Рисунок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411552" y="3401318"/>
            <a:ext cx="720000" cy="720000"/>
          </a:xfrm>
          <a:prstGeom prst="rect">
            <a:avLst/>
          </a:prstGeom>
        </p:spPr>
      </p:pic>
      <p:pic>
        <p:nvPicPr>
          <p:cNvPr id="282576236" name="Рисунок 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411552" y="5220061"/>
            <a:ext cx="720000" cy="720000"/>
          </a:xfrm>
          <a:prstGeom prst="rect">
            <a:avLst/>
          </a:prstGeom>
        </p:spPr>
      </p:pic>
      <p:pic>
        <p:nvPicPr>
          <p:cNvPr id="437241018" name="Рисунок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411552" y="4223996"/>
            <a:ext cx="720000" cy="72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 bwMode="auto">
          <a:xfrm>
            <a:off x="1943100" y="3075009"/>
            <a:ext cx="7302500" cy="4529976"/>
            <a:chOff x="1943100" y="2934186"/>
            <a:chExt cx="7302500" cy="4529976"/>
          </a:xfrm>
        </p:grpSpPr>
        <p:sp>
          <p:nvSpPr>
            <p:cNvPr id="6" name="TextBox 5"/>
            <p:cNvSpPr txBox="1"/>
            <p:nvPr/>
          </p:nvSpPr>
          <p:spPr bwMode="auto">
            <a:xfrm>
              <a:off x="1946564" y="2934186"/>
              <a:ext cx="7299036" cy="30192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wrap="square" lIns="36000" tIns="36000" rIns="36000" bIns="36000">
              <a:spAutoFit/>
            </a:bodyPr>
            <a:lstStyle>
              <a:defPPr marL="0" marR="0" indent="0" algn="l" defTabSz="90006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750" b="0" i="0" u="none" strike="noStrike" cap="none" spc="0">
                  <a:ln>
                    <a:noFill/>
                  </a:ln>
                  <a:solidFill>
                    <a:srgbClr val="000000"/>
                  </a:solidFill>
                </a:defRPr>
              </a:defPPr>
              <a:lvl1pPr>
                <a:lnSpc>
                  <a:spcPct val="90000"/>
                </a:lnSpc>
                <a:defRPr sz="6000" b="1">
                  <a:solidFill>
                    <a:schemeClr val="accent2"/>
                  </a:solidFill>
                  <a:latin typeface="Tinkoff Sans"/>
                </a:defRPr>
              </a:lvl1pPr>
            </a:lstStyle>
            <a:p>
              <a:pPr>
                <a:defRPr/>
              </a:pPr>
              <a:r>
                <a:rPr lang="ru-RU" sz="7200" b="0">
                  <a:latin typeface="T-Sans"/>
                  <a:ea typeface="T-Sans"/>
                </a:rPr>
                <a:t>Оставьте, пожалуйста, обратную связь!</a:t>
              </a:r>
              <a:endParaRPr/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1943100" y="6531599"/>
              <a:ext cx="7302500" cy="9325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wrap="square" lIns="36000" tIns="36000" rIns="36000" bIns="36000">
              <a:spAutoFit/>
            </a:bodyPr>
            <a:lstStyle>
              <a:defPPr marL="0" marR="0" indent="0" algn="l" defTabSz="90006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750" b="0" i="0" u="none" strike="noStrike" cap="none" spc="0">
                  <a:ln>
                    <a:noFill/>
                  </a:ln>
                  <a:solidFill>
                    <a:srgbClr val="000000"/>
                  </a:solidFill>
                </a:defRPr>
              </a:defPPr>
              <a:lvl1pPr>
                <a:lnSpc>
                  <a:spcPct val="130000"/>
                </a:lnSpc>
                <a:defRPr sz="2400">
                  <a:solidFill>
                    <a:schemeClr val="tx2">
                      <a:lumMod val="75000"/>
                    </a:schemeClr>
                  </a:solidFill>
                  <a:latin typeface="Tinkoff Sans"/>
                </a:defRPr>
              </a:lvl1pPr>
              <a:lvl2pPr marL="1199924" indent="-445133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2pPr>
              <a:lvl3pPr marL="2035650" indent="-52606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3pPr>
              <a:lvl4pPr marL="2863001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4pPr>
              <a:lvl5pPr marL="3617794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5pPr>
              <a:lvl6pPr marL="4372585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6pPr>
              <a:lvl7pPr marL="5127377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7pPr>
              <a:lvl8pPr marL="5882168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8pPr>
              <a:lvl9pPr marL="6636960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9pPr>
            </a:lstStyle>
            <a:p>
              <a:pPr>
                <a:defRPr/>
              </a:pPr>
              <a:r>
                <a:rPr lang="ru-RU">
                  <a:solidFill>
                    <a:schemeClr val="tx2">
                      <a:lumMod val="50000"/>
                    </a:schemeClr>
                  </a:solidFill>
                  <a:latin typeface="T-Sans"/>
                  <a:ea typeface="T-Sans"/>
                </a:rPr>
                <a:t>Обратная связь позволяет нам самосовершенствоваться и делать курс лучше!</a:t>
              </a:r>
              <a:endParaRPr/>
            </a:p>
          </p:txBody>
        </p:sp>
      </p:grpSp>
      <p:pic>
        <p:nvPicPr>
          <p:cNvPr id="8" name="Picture Placeholder 7"/>
          <p:cNvPicPr>
            <a:picLocks noChangeAspect="1" noGrp="1"/>
          </p:cNvPicPr>
          <p:nvPr>
            <p:ph type="pic" sz="quarter" idx="10"/>
          </p:nvPr>
        </p:nvPicPr>
        <p:blipFill>
          <a:blip r:embed="rId2"/>
          <a:srcRect l="206" t="0" r="206" b="0"/>
          <a:stretch/>
        </p:blipFill>
        <p:spPr bwMode="auto">
          <a:prstGeom prst="rect">
            <a:avLst/>
          </a:prstGeom>
        </p:spPr>
      </p:pic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 bwMode="auto">
          <a:xfrm>
            <a:off x="1520526" y="6644006"/>
            <a:ext cx="10023773" cy="29200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5400" b="1">
                <a:solidFill>
                  <a:srgbClr val="ADB0B4"/>
                </a:solidFill>
                <a:latin typeface="Tinkoff Sans"/>
              </a:defRPr>
            </a:lvl1pPr>
          </a:lstStyle>
          <a:p>
            <a:pPr>
              <a:lnSpc>
                <a:spcPct val="80000"/>
              </a:lnSpc>
              <a:defRPr/>
            </a:pPr>
            <a:r>
              <a:rPr lang="ru-RU" sz="11500" b="0">
                <a:solidFill>
                  <a:schemeClr val="accent2"/>
                </a:solidFill>
                <a:latin typeface="T-Sans"/>
                <a:ea typeface="T-Sans"/>
              </a:rPr>
              <a:t>Спасибо </a:t>
            </a:r>
            <a:br>
              <a:rPr lang="ru-RU" sz="11500" b="0">
                <a:solidFill>
                  <a:schemeClr val="accent2"/>
                </a:solidFill>
                <a:latin typeface="T-Sans"/>
                <a:ea typeface="T-Sans"/>
              </a:rPr>
            </a:br>
            <a:r>
              <a:rPr lang="ru-RU" sz="11500" b="0">
                <a:solidFill>
                  <a:schemeClr val="accent2"/>
                </a:solidFill>
                <a:latin typeface="T-Sans"/>
                <a:ea typeface="T-Sans"/>
              </a:rPr>
              <a:t>за внимание! </a:t>
            </a:r>
            <a:endParaRPr/>
          </a:p>
        </p:txBody>
      </p:sp>
      <p:pic>
        <p:nvPicPr>
          <p:cNvPr id="23" name="Рисунок 22"/>
          <p:cNvPicPr>
            <a:picLocks noChangeAspect="1" noGrp="1"/>
          </p:cNvPicPr>
          <p:nvPr>
            <p:ph type="pic" sz="quarter" idx="10"/>
          </p:nvPr>
        </p:nvPicPr>
        <p:blipFill>
          <a:blip r:embed="rId2"/>
          <a:stretch/>
        </p:blipFill>
        <p:spPr bwMode="auto">
          <a:xfrm>
            <a:off x="13139738" y="647700"/>
            <a:ext cx="6045749" cy="98647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Пользовательские 13">
      <a:dk1>
        <a:srgbClr val="333333"/>
      </a:dk1>
      <a:lt1>
        <a:srgbClr val="333333"/>
      </a:lt1>
      <a:dk2>
        <a:srgbClr val="757675"/>
      </a:dk2>
      <a:lt2>
        <a:srgbClr val="585858"/>
      </a:lt2>
      <a:accent1>
        <a:srgbClr val="FFDD2C"/>
      </a:accent1>
      <a:accent2>
        <a:srgbClr val="333333"/>
      </a:accent2>
      <a:accent3>
        <a:srgbClr val="BFBFBF"/>
      </a:accent3>
      <a:accent4>
        <a:srgbClr val="E0E1E3"/>
      </a:accent4>
      <a:accent5>
        <a:srgbClr val="EFF0F1"/>
      </a:accent5>
      <a:accent6>
        <a:srgbClr val="FFFFFF"/>
      </a:accent6>
      <a:hlink>
        <a:srgbClr val="333333"/>
      </a:hlink>
      <a:folHlink>
        <a:srgbClr val="525454"/>
      </a:folHlink>
    </a:clrScheme>
    <a:fontScheme name="Arial">
      <a:majorFont>
        <a:latin typeface="Arial"/>
        <a:ea typeface="Liberation Sans"/>
        <a:cs typeface="Liberation Sans"/>
      </a:majorFont>
      <a:minorFont>
        <a:latin typeface="Arial"/>
        <a:ea typeface="Liberation Sans"/>
        <a:cs typeface="Liberation Sans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ln w="12700" cap="flat">
          <a:noFill/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Р7-Офис/2026.1.2.1942</Application>
  <DocSecurity>0</DocSecurity>
  <PresentationFormat>Произвольный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dc:identifier/>
  <dc:language/>
  <cp:lastModifiedBy>s nemets</cp:lastModifiedBy>
  <cp:revision>1196</cp:revision>
  <dcterms:modified xsi:type="dcterms:W3CDTF">2026-09-21T06:50:21Z</dcterms:modified>
  <cp:category/>
  <cp:contentStatus/>
  <cp:version/>
</cp:coreProperties>
</file>