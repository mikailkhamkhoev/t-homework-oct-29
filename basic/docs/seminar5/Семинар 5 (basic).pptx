
<file path=[Content_Types].xml><?xml version="1.0" encoding="utf-8"?>
<Types xmlns="http://schemas.openxmlformats.org/package/2006/content-types"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svg" ContentType="image/svg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54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53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Layouts/slideLayout38.xml" ContentType="application/vnd.openxmlformats-officedocument.presentationml.slideLayout+xml"/>
  <Override PartName="/ppt/slideLayouts/slideLayout29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2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Layouts/slideLayout4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howSpecialPlsOnTitleSld="0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9799300" cy="11160125"/>
  <p:notesSz cx="19799300" cy="11160125"/>
  <p:defaultTextStyle>
    <a:defPPr marL="0" marR="0" indent="0" algn="l" defTabSz="90006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9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6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2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75" d="100"/>
          <a:sy n="75" d="100"/>
        </p:scale>
        <p:origin x="1248" y="168"/>
      </p:cViewPr>
      <p:guideLst>
        <p:guide pos="861"/>
        <p:guide pos="861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044899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4926735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Большинство из нас, когда только начинали программировать на </a:t>
            </a:r>
            <a:r>
              <a:rPr lang="en-US"/>
              <a:t>Java, </a:t>
            </a:r>
            <a:r>
              <a:rPr lang="ru-RU"/>
              <a:t>пытались сравнить объекты используя </a:t>
            </a:r>
            <a:r>
              <a:rPr lang="en-US"/>
              <a:t>==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Однако, данный оператор не всегда подходит, потому что сравнивает ссылки – указывают ли они на один и тот же объект или нет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Для полноценного сравнения объектов в </a:t>
            </a:r>
            <a:r>
              <a:rPr lang="en-US"/>
              <a:t>Java </a:t>
            </a:r>
            <a:r>
              <a:rPr lang="ru-RU"/>
              <a:t>есть </a:t>
            </a:r>
            <a:r>
              <a:rPr lang="en-US"/>
              <a:t>equals. </a:t>
            </a:r>
            <a:endParaRPr lang="ru-RU"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По умолчанию - </a:t>
            </a:r>
            <a:r>
              <a:rPr lang="en-US"/>
              <a:t>==</a:t>
            </a:r>
            <a:endParaRPr lang="ru-RU"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Дальше про контракт и свойства, которыми должен обладать метод. 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382394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1607341101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Если вы почитаете умную литературу и статьи про </a:t>
            </a:r>
            <a:r>
              <a:rPr lang="en-US"/>
              <a:t>equals, </a:t>
            </a:r>
            <a:r>
              <a:rPr lang="ru-RU"/>
              <a:t>вы увидите, что везде говорится о том, что если вы </a:t>
            </a:r>
            <a:r>
              <a:rPr lang="ru-RU"/>
              <a:t>переопред</a:t>
            </a:r>
            <a:r>
              <a:rPr lang="ru-RU"/>
              <a:t>. </a:t>
            </a:r>
            <a:r>
              <a:rPr lang="en-US"/>
              <a:t>equals, </a:t>
            </a:r>
            <a:r>
              <a:rPr lang="ru-RU"/>
              <a:t>то всегда нужно переопределить </a:t>
            </a:r>
            <a:r>
              <a:rPr lang="en-US"/>
              <a:t>hashCode</a:t>
            </a:r>
            <a:r>
              <a:rPr lang="en-US"/>
              <a:t>. </a:t>
            </a:r>
            <a:endParaRPr/>
          </a:p>
          <a:p>
            <a:pPr>
              <a:defRPr/>
            </a:pPr>
            <a:r>
              <a:rPr lang="ru-RU"/>
              <a:t>Зачем это нужно мы поговорим чуть позже, сейчас же давайте посмотрим, а что же это за метод.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Партиционирование</a:t>
            </a:r>
            <a:r>
              <a:rPr lang="ru-RU"/>
              <a:t>. </a:t>
            </a:r>
            <a:endParaRPr/>
          </a:p>
          <a:p>
            <a:pPr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Relationship Id="rId4" Type="http://schemas.openxmlformats.org/officeDocument/2006/relationships/image" Target="../media/image2.png"/><Relationship Id="rId5" Type="http://schemas.openxmlformats.org/officeDocument/2006/relationships/image" Target="../media/media2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media2.sv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media3.svg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media2.svg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ложка_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 b="0" i="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-1"/>
            <a:ext cx="5759176" cy="111601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224688" y="1779477"/>
            <a:ext cx="4394057" cy="64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ложка_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 userDrawn="1"/>
        </p:nvSpPr>
        <p:spPr bwMode="auto"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0">
                <a:srgbClr val="F3F3F5">
                  <a:alpha val="80477"/>
                </a:srgbClr>
              </a:gs>
              <a:gs pos="100000">
                <a:srgbClr val="E0E1E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solidFill>
                <a:srgbClr val="000000"/>
              </a:solidFill>
              <a:latin typeface="T-Sans"/>
              <a:ea typeface="T-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10389" y="1510158"/>
            <a:ext cx="4885716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ложка_4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512104" y="1510158"/>
            <a:ext cx="4882285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Черная плаш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Желтая плашка с засвет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ерая плаш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Черная плашка с засвет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rcRect l="0" t="217" r="0" b="215"/>
          <a:stretch/>
        </p:blipFill>
        <p:spPr bwMode="auto"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бел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ер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желт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 градиентом">
    <p:bg>
      <p:bgPr shadeToTitle="0">
        <a:blipFill>
          <a:blip r:embed="rId2">
            <a:lum/>
          </a:blip>
          <a:srcRect l="2830" t="0" r="2828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 паттерном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черн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 градиентом 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для кода_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4" name="Группа 3"/>
          <p:cNvGrpSpPr/>
          <p:nvPr userDrawn="1"/>
        </p:nvGrpSpPr>
        <p:grpSpPr bwMode="auto"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/>
            <p:cNvSpPr/>
            <p:nvPr/>
          </p:nvSpPr>
          <p:spPr bwMode="auto"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  <p:sp>
          <p:nvSpPr>
            <p:cNvPr id="6" name="Овал 5"/>
            <p:cNvSpPr>
              <a:spLocks noChangeAspect="1"/>
            </p:cNvSpPr>
            <p:nvPr/>
          </p:nvSpPr>
          <p:spPr bwMode="auto"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7" name="Овал 6"/>
            <p:cNvSpPr>
              <a:spLocks noChangeAspect="1"/>
            </p:cNvSpPr>
            <p:nvPr/>
          </p:nvSpPr>
          <p:spPr bwMode="auto"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8" name="Овал 7"/>
            <p:cNvSpPr>
              <a:spLocks noChangeAspect="1"/>
            </p:cNvSpPr>
            <p:nvPr/>
          </p:nvSpPr>
          <p:spPr bwMode="auto"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9" name="Скругленный прямоугольник 8"/>
            <p:cNvSpPr/>
            <p:nvPr/>
          </p:nvSpPr>
          <p:spPr bwMode="auto">
            <a:xfrm>
              <a:off x="7621169" y="1245509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для кода_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10" name="Группа 9"/>
          <p:cNvGrpSpPr/>
          <p:nvPr userDrawn="1"/>
        </p:nvGrpSpPr>
        <p:grpSpPr bwMode="auto"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/>
            <p:cNvSpPr/>
            <p:nvPr/>
          </p:nvSpPr>
          <p:spPr bwMode="auto"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  <p:sp>
          <p:nvSpPr>
            <p:cNvPr id="12" name="Овал 11"/>
            <p:cNvSpPr>
              <a:spLocks noChangeAspect="1"/>
            </p:cNvSpPr>
            <p:nvPr/>
          </p:nvSpPr>
          <p:spPr bwMode="auto"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3" name="Овал 12"/>
            <p:cNvSpPr>
              <a:spLocks noChangeAspect="1"/>
            </p:cNvSpPr>
            <p:nvPr/>
          </p:nvSpPr>
          <p:spPr bwMode="auto"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4" name="Овал 13"/>
            <p:cNvSpPr>
              <a:spLocks noChangeAspect="1"/>
            </p:cNvSpPr>
            <p:nvPr/>
          </p:nvSpPr>
          <p:spPr bwMode="auto"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5" name="Скругленный прямоугольник 14"/>
            <p:cNvSpPr/>
            <p:nvPr/>
          </p:nvSpPr>
          <p:spPr bwMode="auto">
            <a:xfrm>
              <a:off x="7621170" y="1245509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аттерном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rcRect l="0" t="-10178" r="0" b="0"/>
          <a:stretch/>
        </p:blipFill>
        <p:spPr bwMode="auto"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инфографик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Овал 4"/>
          <p:cNvSpPr/>
          <p:nvPr userDrawn="1"/>
        </p:nvSpPr>
        <p:spPr bwMode="auto"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defRPr/>
            </a:pPr>
            <a:endParaRPr lang="ru-RU" sz="3200" b="0" i="0">
              <a:solidFill>
                <a:schemeClr val="accent2"/>
              </a:solidFill>
              <a:latin typeface="T-Sans"/>
              <a:ea typeface="T-Sans"/>
            </a:endParaRPr>
          </a:p>
        </p:txBody>
      </p:sp>
      <p:sp>
        <p:nvSpPr>
          <p:cNvPr id="6" name="Овал 5"/>
          <p:cNvSpPr/>
          <p:nvPr userDrawn="1"/>
        </p:nvSpPr>
        <p:spPr bwMode="auto"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defRPr/>
            </a:pPr>
            <a:endParaRPr lang="ru-RU" sz="3200" b="0" i="0">
              <a:solidFill>
                <a:schemeClr val="accent2"/>
              </a:solidFill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инфографик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grpSp>
        <p:nvGrpSpPr>
          <p:cNvPr id="8" name="Группа 7"/>
          <p:cNvGrpSpPr/>
          <p:nvPr userDrawn="1"/>
        </p:nvGrpSpPr>
        <p:grpSpPr bwMode="auto"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/>
            <p:cNvSpPr>
              <a:spLocks noChangeAspect="1"/>
            </p:cNvSpPr>
            <p:nvPr userDrawn="1"/>
          </p:nvSpPr>
          <p:spPr bwMode="auto"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6" name="Овал 5"/>
            <p:cNvSpPr>
              <a:spLocks noChangeAspect="1"/>
            </p:cNvSpPr>
            <p:nvPr userDrawn="1"/>
          </p:nvSpPr>
          <p:spPr bwMode="auto"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7" name="Овал 6"/>
            <p:cNvSpPr>
              <a:spLocks noChangeAspect="1"/>
            </p:cNvSpPr>
            <p:nvPr userDrawn="1"/>
          </p:nvSpPr>
          <p:spPr bwMode="auto"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</p:grpSp>
      <p:sp>
        <p:nvSpPr>
          <p:cNvPr id="9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фото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 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фото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rcRect l="0" t="217" r="0" b="215"/>
          <a:stretch/>
        </p:blipFill>
        <p:spPr bwMode="auto"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 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руктура 1">
    <p:bg>
      <p:bgPr shadeToTitle="0">
        <a:blipFill>
          <a:blip r:embed="rId2">
            <a:lum/>
          </a:blip>
          <a:srcRect l="2830" t="0" r="2828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/>
          <p:cNvCxnSpPr>
            <a:cxnSpLocks/>
            <a:stCxn id="36" idx="3"/>
            <a:endCxn id="31" idx="0"/>
          </p:cNvCxnSpPr>
          <p:nvPr userDrawn="1"/>
        </p:nvCxnSpPr>
        <p:spPr bwMode="auto">
          <a:xfrm>
            <a:off x="12151144" y="4294991"/>
            <a:ext cx="4458796" cy="3662509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54" name="Соединительная линия уступом 53"/>
          <p:cNvCxnSpPr>
            <a:cxnSpLocks/>
            <a:stCxn id="36" idx="1"/>
            <a:endCxn id="21" idx="0"/>
          </p:cNvCxnSpPr>
          <p:nvPr userDrawn="1"/>
        </p:nvCxnSpPr>
        <p:spPr bwMode="auto">
          <a:xfrm rot="10800000" flipV="1">
            <a:off x="3189361" y="4294991"/>
            <a:ext cx="4458794" cy="3662509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49" name="Прямая соединительная линия 48"/>
          <p:cNvCxnSpPr>
            <a:cxnSpLocks/>
            <a:endCxn id="26" idx="0"/>
          </p:cNvCxnSpPr>
          <p:nvPr userDrawn="1"/>
        </p:nvCxnSpPr>
        <p:spPr bwMode="auto"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sp>
        <p:nvSpPr>
          <p:cNvPr id="6" name="Скругленный прямоугольник 5"/>
          <p:cNvSpPr/>
          <p:nvPr/>
        </p:nvSpPr>
        <p:spPr bwMode="auto"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 bwMode="auto"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 bwMode="auto"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 bwMode="auto">
          <a:xfrm>
            <a:off x="937866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6" name="Скругленный прямоугольник 25"/>
          <p:cNvSpPr/>
          <p:nvPr/>
        </p:nvSpPr>
        <p:spPr bwMode="auto">
          <a:xfrm>
            <a:off x="7648155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1" name="Скругленный прямоугольник 30"/>
          <p:cNvSpPr/>
          <p:nvPr/>
        </p:nvSpPr>
        <p:spPr bwMode="auto">
          <a:xfrm>
            <a:off x="14358445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 bwMode="auto"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1" name="Рисунок 4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2" name="Рисунок 40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3" name="Рисунок 40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4" name="Рисунок 4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5" name="Рисунок 40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6" name="Рисунок 40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7" name="Рисунок 40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руктура 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/>
          <p:cNvSpPr>
            <a:spLocks noChangeAspect="1" noGrp="1"/>
          </p:cNvSpPr>
          <p:nvPr>
            <p:ph type="pic" sz="quarter" idx="10" hasCustomPrompt="1"/>
          </p:nvPr>
        </p:nvSpPr>
        <p:spPr bwMode="auto"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en-US"/>
              <a:t>Ф</a:t>
            </a:r>
            <a:r>
              <a:rPr lang="ru-RU"/>
              <a:t>ото</a:t>
            </a:r>
            <a:endParaRPr/>
          </a:p>
        </p:txBody>
      </p:sp>
      <p:sp>
        <p:nvSpPr>
          <p:cNvPr id="43" name="Рисунок 4"/>
          <p:cNvSpPr>
            <a:spLocks noChangeAspect="1" noGrp="1"/>
          </p:cNvSpPr>
          <p:nvPr>
            <p:ph type="pic" sz="quarter" idx="11" hasCustomPrompt="1"/>
          </p:nvPr>
        </p:nvSpPr>
        <p:spPr bwMode="auto"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4" name="Рисунок 5"/>
          <p:cNvSpPr>
            <a:spLocks noChangeAspect="1" noGrp="1"/>
          </p:cNvSpPr>
          <p:nvPr>
            <p:ph type="pic" sz="quarter" idx="12" hasCustomPrompt="1"/>
          </p:nvPr>
        </p:nvSpPr>
        <p:spPr bwMode="auto"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5" name="Рисунок 30"/>
          <p:cNvSpPr>
            <a:spLocks noChangeAspect="1" noGrp="1"/>
          </p:cNvSpPr>
          <p:nvPr>
            <p:ph type="pic" sz="quarter" idx="13" hasCustomPrompt="1"/>
          </p:nvPr>
        </p:nvSpPr>
        <p:spPr bwMode="auto"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6" name="Рисунок 31"/>
          <p:cNvSpPr>
            <a:spLocks noChangeAspect="1" noGrp="1"/>
          </p:cNvSpPr>
          <p:nvPr>
            <p:ph type="pic" sz="quarter" idx="14" hasCustomPrompt="1"/>
          </p:nvPr>
        </p:nvSpPr>
        <p:spPr bwMode="auto"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7" name="Рисунок 32"/>
          <p:cNvSpPr>
            <a:spLocks noChangeAspect="1" noGrp="1"/>
          </p:cNvSpPr>
          <p:nvPr>
            <p:ph type="pic" sz="quarter" idx="15" hasCustomPrompt="1"/>
          </p:nvPr>
        </p:nvSpPr>
        <p:spPr bwMode="auto"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8" name="Рисунок 33"/>
          <p:cNvSpPr>
            <a:spLocks noChangeAspect="1" noGrp="1"/>
          </p:cNvSpPr>
          <p:nvPr>
            <p:ph type="pic" sz="quarter" idx="16" hasCustomPrompt="1"/>
          </p:nvPr>
        </p:nvSpPr>
        <p:spPr bwMode="auto"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9" name="Рисунок 34"/>
          <p:cNvSpPr>
            <a:spLocks noChangeAspect="1" noGrp="1"/>
          </p:cNvSpPr>
          <p:nvPr>
            <p:ph type="pic" sz="quarter" idx="17" hasCustomPrompt="1"/>
          </p:nvPr>
        </p:nvSpPr>
        <p:spPr bwMode="auto"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0" name="Рисунок 35"/>
          <p:cNvSpPr>
            <a:spLocks noChangeAspect="1" noGrp="1"/>
          </p:cNvSpPr>
          <p:nvPr>
            <p:ph type="pic" sz="quarter" idx="18" hasCustomPrompt="1"/>
          </p:nvPr>
        </p:nvSpPr>
        <p:spPr bwMode="auto"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1" name="Рисунок 36"/>
          <p:cNvSpPr>
            <a:spLocks noChangeAspect="1" noGrp="1"/>
          </p:cNvSpPr>
          <p:nvPr>
            <p:ph type="pic" sz="quarter" idx="19" hasCustomPrompt="1"/>
          </p:nvPr>
        </p:nvSpPr>
        <p:spPr bwMode="auto"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2" name="Рисунок 37"/>
          <p:cNvSpPr>
            <a:spLocks noChangeAspect="1" noGrp="1"/>
          </p:cNvSpPr>
          <p:nvPr>
            <p:ph type="pic" sz="quarter" idx="20" hasCustomPrompt="1"/>
          </p:nvPr>
        </p:nvSpPr>
        <p:spPr bwMode="auto"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3" name="Рисунок 38"/>
          <p:cNvSpPr>
            <a:spLocks noChangeAspect="1" noGrp="1"/>
          </p:cNvSpPr>
          <p:nvPr>
            <p:ph type="pic" sz="quarter" idx="21" hasCustomPrompt="1"/>
          </p:nvPr>
        </p:nvSpPr>
        <p:spPr bwMode="auto"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4" name="Рисунок 39"/>
          <p:cNvSpPr>
            <a:spLocks noChangeAspect="1" noGrp="1"/>
          </p:cNvSpPr>
          <p:nvPr>
            <p:ph type="pic" sz="quarter" idx="22" hasCustomPrompt="1"/>
          </p:nvPr>
        </p:nvSpPr>
        <p:spPr bwMode="auto"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 бло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2 бло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 бло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640525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Скругленный прямоугольник 5"/>
          <p:cNvSpPr/>
          <p:nvPr userDrawn="1"/>
        </p:nvSpPr>
        <p:spPr bwMode="auto">
          <a:xfrm>
            <a:off x="13175044" y="640525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Скругленный прямоугольник 6"/>
          <p:cNvSpPr/>
          <p:nvPr userDrawn="1"/>
        </p:nvSpPr>
        <p:spPr bwMode="auto">
          <a:xfrm>
            <a:off x="6883972" y="5688013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Скругленный прямоугольник 7"/>
          <p:cNvSpPr/>
          <p:nvPr userDrawn="1"/>
        </p:nvSpPr>
        <p:spPr bwMode="auto">
          <a:xfrm>
            <a:off x="6883972" y="640525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 блоков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656291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Скругленный прямоугольник 6"/>
          <p:cNvSpPr/>
          <p:nvPr userDrawn="1"/>
        </p:nvSpPr>
        <p:spPr bwMode="auto">
          <a:xfrm>
            <a:off x="6883972" y="5703779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Скругленный прямоугольник 7"/>
          <p:cNvSpPr/>
          <p:nvPr userDrawn="1"/>
        </p:nvSpPr>
        <p:spPr bwMode="auto">
          <a:xfrm>
            <a:off x="6883972" y="656291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13159266" y="5703779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9" name="Скругленный прямоугольник 8"/>
          <p:cNvSpPr/>
          <p:nvPr userDrawn="1"/>
        </p:nvSpPr>
        <p:spPr bwMode="auto">
          <a:xfrm>
            <a:off x="13159266" y="656291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полнители с вырез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ChangeAspect="1" noGrp="1"/>
          </p:cNvSpPr>
          <p:nvPr>
            <p:ph type="pic" sz="quarter" idx="10" hasCustomPrompt="1"/>
          </p:nvPr>
        </p:nvSpPr>
        <p:spPr bwMode="auto"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fill="norm" stroke="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4" name="Рисунок 10"/>
          <p:cNvSpPr>
            <a:spLocks noChangeAspect="1" noGrp="1"/>
          </p:cNvSpPr>
          <p:nvPr>
            <p:ph type="pic" sz="quarter" idx="11" hasCustomPrompt="1"/>
          </p:nvPr>
        </p:nvSpPr>
        <p:spPr bwMode="auto"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fill="norm" stroke="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5" name="Рисунок 11"/>
          <p:cNvSpPr>
            <a:spLocks noChangeAspect="1" noGrp="1"/>
          </p:cNvSpPr>
          <p:nvPr>
            <p:ph type="pic" sz="quarter" idx="12" hasCustomPrompt="1"/>
          </p:nvPr>
        </p:nvSpPr>
        <p:spPr bwMode="auto"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fill="norm" stroke="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лашки с вырезами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Рисунок 3"/>
          <p:cNvSpPr/>
          <p:nvPr/>
        </p:nvSpPr>
        <p:spPr bwMode="auto"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2" name="Рисунок 3"/>
          <p:cNvSpPr/>
          <p:nvPr userDrawn="1"/>
        </p:nvSpPr>
        <p:spPr bwMode="auto"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3" name="Рисунок 3"/>
          <p:cNvSpPr/>
          <p:nvPr userDrawn="1"/>
        </p:nvSpPr>
        <p:spPr bwMode="auto"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4" name="Рисунок 3"/>
          <p:cNvSpPr/>
          <p:nvPr userDrawn="1"/>
        </p:nvSpPr>
        <p:spPr bwMode="auto"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5" name="Рисунок 3"/>
          <p:cNvSpPr/>
          <p:nvPr userDrawn="1"/>
        </p:nvSpPr>
        <p:spPr bwMode="auto"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6" name="Рисунок 3"/>
          <p:cNvSpPr/>
          <p:nvPr userDrawn="1"/>
        </p:nvSpPr>
        <p:spPr bwMode="auto"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лашки с вырезами 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 userDrawn="1"/>
        </p:nvSpPr>
        <p:spPr bwMode="auto"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Овал 7"/>
          <p:cNvSpPr/>
          <p:nvPr userDrawn="1"/>
        </p:nvSpPr>
        <p:spPr bwMode="auto"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9" name="Овал 8"/>
          <p:cNvSpPr/>
          <p:nvPr userDrawn="1"/>
        </p:nvSpPr>
        <p:spPr bwMode="auto"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Овал 9"/>
          <p:cNvSpPr/>
          <p:nvPr userDrawn="1"/>
        </p:nvSpPr>
        <p:spPr bwMode="auto"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1" name="Овал 10"/>
          <p:cNvSpPr/>
          <p:nvPr userDrawn="1"/>
        </p:nvSpPr>
        <p:spPr bwMode="auto"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8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 userDrawn="1"/>
        </p:nvSpPr>
        <p:spPr bwMode="auto"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лашкой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лашкой 1-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лашкой 2 гор.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2 плашк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6" name="Скругленный прямоугольник 5"/>
          <p:cNvSpPr/>
          <p:nvPr userDrawn="1"/>
        </p:nvSpPr>
        <p:spPr bwMode="auto"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11188" y="647700"/>
            <a:ext cx="6011861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17" name="Скругленный прямоугольник 16"/>
          <p:cNvSpPr/>
          <p:nvPr userDrawn="1"/>
        </p:nvSpPr>
        <p:spPr bwMode="auto"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4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1" name="Скругленный прямоугольник 10"/>
          <p:cNvSpPr/>
          <p:nvPr userDrawn="1"/>
        </p:nvSpPr>
        <p:spPr bwMode="auto"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5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3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en-US"/>
              <a:t>В</a:t>
            </a:r>
            <a:r>
              <a:rPr lang="ru-RU"/>
              <a:t>ставка фото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соседними углами 5"/>
          <p:cNvSpPr/>
          <p:nvPr userDrawn="1"/>
        </p:nvSpPr>
        <p:spPr bwMode="auto">
          <a:xfrm rot="16199998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 bwMode="auto"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 fill="norm" stroke="1" extrusionOk="0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соседними углами 5"/>
          <p:cNvSpPr/>
          <p:nvPr userDrawn="1"/>
        </p:nvSpPr>
        <p:spPr bwMode="auto">
          <a:xfrm rot="16199998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 bwMode="auto"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 fill="norm" stroke="1" extrusionOk="0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Мокап_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/>
          <p:cNvSpPr>
            <a:spLocks noChangeAspect="1" noGrp="1"/>
          </p:cNvSpPr>
          <p:nvPr>
            <p:ph type="pic" sz="quarter" idx="10" hasCustomPrompt="1"/>
          </p:nvPr>
        </p:nvSpPr>
        <p:spPr bwMode="auto"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Мокап_5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/>
          <p:cNvSpPr/>
          <p:nvPr userDrawn="1"/>
        </p:nvSpPr>
        <p:spPr bwMode="auto">
          <a:xfrm>
            <a:off x="611188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Прямоугольник с двумя скругленными противолежащими углами 3"/>
          <p:cNvSpPr/>
          <p:nvPr userDrawn="1"/>
        </p:nvSpPr>
        <p:spPr bwMode="auto">
          <a:xfrm>
            <a:off x="611188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6881359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81359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/>
          <p:cNvSpPr/>
          <p:nvPr userDrawn="1"/>
        </p:nvSpPr>
        <p:spPr bwMode="auto">
          <a:xfrm>
            <a:off x="13170192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Прямоугольник с двумя скругленными противолежащими углами 7"/>
          <p:cNvSpPr/>
          <p:nvPr userDrawn="1"/>
        </p:nvSpPr>
        <p:spPr bwMode="auto">
          <a:xfrm>
            <a:off x="13170192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sp>
        <p:nvSpPr>
          <p:cNvPr id="1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Мокап_компьюте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 fill="norm" stroke="1" extrusionOk="0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qr кодом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/>
          <p:cNvSpPr/>
          <p:nvPr userDrawn="1"/>
        </p:nvSpPr>
        <p:spPr bwMode="auto"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Рисунок 7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Место для </a:t>
            </a:r>
            <a:r>
              <a:rPr lang="ru-RU"/>
              <a:t>Q</a:t>
            </a:r>
            <a:r>
              <a:rPr lang="en-US"/>
              <a:t>R</a:t>
            </a: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крывающий слайд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879312" y="5134647"/>
            <a:ext cx="6040677" cy="890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крывающий слайд 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 userDrawn="1"/>
        </p:nvSpPr>
        <p:spPr bwMode="auto"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0">
                <a:srgbClr val="F3F3F5">
                  <a:alpha val="80477"/>
                </a:srgbClr>
              </a:gs>
              <a:gs pos="100000">
                <a:srgbClr val="E0E1E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10389" y="1510158"/>
            <a:ext cx="4885716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2">
    <p:bg>
      <p:bgPr shadeToTitle="0">
        <a:blipFill>
          <a:blip r:embed="rId2">
            <a:lum/>
          </a:blip>
          <a:srcRect l="2830" t="0" r="2828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3">
    <p:bg>
      <p:bgPr shadeToTitle="0"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4">
    <p:bg>
      <p:bgPr shadeToTitle="0">
        <a:blipFill>
          <a:blip r:embed="rId2">
            <a:lum/>
          </a:blip>
          <a:srcRect l="2830" t="0" r="2828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5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Заполнители для 2 изобр.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ChangeAspect="1" noGrp="1"/>
          </p:cNvSpPr>
          <p:nvPr>
            <p:ph type="pic" sz="quarter" idx="11" hasCustomPrompt="1"/>
          </p:nvPr>
        </p:nvSpPr>
        <p:spPr bwMode="auto"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 fill="norm" stroke="1" extrusionOk="0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9" name="Рисунок 8"/>
          <p:cNvSpPr>
            <a:spLocks noChangeAspect="1" noGrp="1"/>
          </p:cNvSpPr>
          <p:nvPr>
            <p:ph type="pic" sz="quarter" idx="12" hasCustomPrompt="1"/>
          </p:nvPr>
        </p:nvSpPr>
        <p:spPr bwMode="auto"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 fill="norm" stroke="1" extrusionOk="0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dt="0" ftr="0" hdr="0" sldNum="1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1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2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2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 flipH="0" flipV="0">
            <a:off x="6210693" y="4320137"/>
            <a:ext cx="12995777" cy="204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8000">
                <a:solidFill>
                  <a:srgbClr val="0A0A0A"/>
                </a:solidFill>
                <a:latin typeface="T-Sans"/>
                <a:ea typeface="T-Sans"/>
              </a:rPr>
              <a:t>Семинар</a:t>
            </a:r>
            <a:r>
              <a:rPr lang="ru-RU" sz="8000">
                <a:solidFill>
                  <a:srgbClr val="0A0A0A"/>
                </a:solidFill>
                <a:latin typeface="T-Sans"/>
                <a:ea typeface="T-Sans"/>
              </a:rPr>
              <a:t> 5</a:t>
            </a:r>
            <a:r>
              <a:rPr sz="8000">
                <a:solidFill>
                  <a:srgbClr val="0A0A0A"/>
                </a:solidFill>
                <a:latin typeface="T-Sans"/>
                <a:ea typeface="T-Sans"/>
              </a:rPr>
              <a:t>. </a:t>
            </a:r>
            <a:endParaRPr lang="ru-RU" sz="8000">
              <a:solidFill>
                <a:srgbClr val="0A0A0A"/>
              </a:solidFill>
              <a:latin typeface="T-Sans"/>
              <a:ea typeface="T-Sans"/>
            </a:endParaRPr>
          </a:p>
          <a:p>
            <a:pPr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Java Collection 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Framework</a:t>
            </a: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8215311" y="6558258"/>
            <a:ext cx="11011678" cy="45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>
                <a:latin typeface="T-Sans"/>
                <a:ea typeface="T-Sans"/>
              </a:rPr>
              <a:t>Коллекции: устройство и применение</a:t>
            </a:r>
            <a:r>
              <a:rPr lang="ru-RU" sz="2400">
                <a:latin typeface="T-Sans"/>
                <a:ea typeface="T-Sans"/>
              </a:rPr>
              <a:t> </a:t>
            </a:r>
            <a:endParaRPr lang="ru-RU" sz="2400">
              <a:solidFill>
                <a:srgbClr val="0A0A0A"/>
              </a:solidFill>
              <a:latin typeface="T-Sans"/>
              <a:ea typeface="T-Sans"/>
            </a:endParaRPr>
          </a:p>
        </p:txBody>
      </p:sp>
      <p:grpSp>
        <p:nvGrpSpPr>
          <p:cNvPr id="5" name="Группа 4"/>
          <p:cNvGrpSpPr/>
          <p:nvPr/>
        </p:nvGrpSpPr>
        <p:grpSpPr bwMode="auto"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/>
            <p:cNvSpPr/>
            <p:nvPr/>
          </p:nvSpPr>
          <p:spPr bwMode="auto"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 bwMode="auto">
          <a:xfrm>
            <a:off x="9046658" y="8911692"/>
            <a:ext cx="10135126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>
                <a:solidFill>
                  <a:schemeClr val="accent2"/>
                </a:solidFill>
                <a:latin typeface="T-Sans"/>
                <a:ea typeface="T-Sans"/>
              </a:rPr>
              <a:t>Сергей Немец | Ведущий разработчик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366837" y="647700"/>
            <a:ext cx="7313731" cy="100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6000">
                <a:solidFill>
                  <a:srgbClr val="0A0A0A"/>
                </a:solidFill>
                <a:latin typeface="T-Sans"/>
                <a:ea typeface="T-Sans"/>
              </a:rPr>
              <a:t>План</a:t>
            </a:r>
            <a:r>
              <a:rPr lang="ru-RU" sz="6000">
                <a:solidFill>
                  <a:srgbClr val="0A0A0A"/>
                </a:solidFill>
                <a:latin typeface="T-Sans"/>
                <a:ea typeface="T-Sans"/>
              </a:rPr>
              <a:t> </a:t>
            </a:r>
            <a:r>
              <a:rPr lang="ru-RU" sz="6000">
                <a:solidFill>
                  <a:srgbClr val="0A0A0A"/>
                </a:solidFill>
                <a:latin typeface="T-Sans"/>
                <a:ea typeface="T-Sans"/>
              </a:rPr>
              <a:t>семинара</a:t>
            </a:r>
            <a:endParaRPr lang="ru-RU" sz="6000">
              <a:solidFill>
                <a:srgbClr val="0A0A0A"/>
              </a:solidFill>
              <a:latin typeface="T-Sans"/>
              <a:ea typeface="T-Sans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366836" y="2011680"/>
            <a:ext cx="7369999" cy="1625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Обзор Java Collection Framework</a:t>
            </a:r>
            <a:endParaRPr lang="ru-RU" sz="2800">
              <a:solidFill>
                <a:srgbClr val="0A0A0A"/>
              </a:solidFill>
              <a:latin typeface="T-Sans"/>
              <a:ea typeface="T-Sans"/>
            </a:endParaRP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List, Set, Queue, Map</a:t>
            </a:r>
            <a:endParaRPr lang="ru-RU" sz="2800">
              <a:solidFill>
                <a:srgbClr val="0A0A0A"/>
              </a:solidFill>
              <a:latin typeface="T-Sans"/>
              <a:ea typeface="T-Sans"/>
            </a:endParaRP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en" sz="2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Итераторы: особенности использования</a:t>
            </a:r>
            <a:endParaRPr sz="2800"/>
          </a:p>
        </p:txBody>
      </p:sp>
      <p:pic>
        <p:nvPicPr>
          <p:cNvPr id="8" name="Рисунок 7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rcRect l="0" t="12" r="0" b="12"/>
          <a:stretch/>
        </p:blipFill>
        <p:spPr bwMode="auto"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1304138" y="5114520"/>
            <a:ext cx="7524803" cy="10722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Добавим в наш проект индексы инструментов</a:t>
            </a:r>
            <a:endParaRPr lang="ru-RU" sz="2800">
              <a:solidFill>
                <a:srgbClr val="0A0A0A"/>
              </a:solidFill>
              <a:latin typeface="T-Sans"/>
              <a:ea typeface="T-Sans"/>
            </a:endParaRP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подготовимся к получению котировок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89547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A4512A0C-68FF-6D40-7C94-B888BC18BFB3}" type="slidenum">
              <a:rPr lang="ru-RU"/>
              <a:t/>
            </a:fld>
            <a:endParaRPr lang="ru-RU"/>
          </a:p>
        </p:txBody>
      </p:sp>
      <p:sp>
        <p:nvSpPr>
          <p:cNvPr id="1973417058" name="TextBox 2"/>
          <p:cNvSpPr txBox="1"/>
          <p:nvPr/>
        </p:nvSpPr>
        <p:spPr bwMode="auto">
          <a:xfrm>
            <a:off x="1366836" y="1366836"/>
            <a:ext cx="16674135" cy="895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>
                <a:solidFill>
                  <a:schemeClr val="accent6"/>
                </a:solidFill>
              </a:rPr>
              <a:t>Collection Framework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94323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5F7A29EA-4AA0-738D-B4F9-7B64FC2B68D6}" type="slidenum">
              <a:rPr lang="ru-RU"/>
              <a:t/>
            </a:fld>
            <a:endParaRPr lang="ru-RU"/>
          </a:p>
        </p:txBody>
      </p:sp>
      <p:grpSp>
        <p:nvGrpSpPr>
          <p:cNvPr id="956606435" name=""/>
          <p:cNvGrpSpPr/>
          <p:nvPr/>
        </p:nvGrpSpPr>
        <p:grpSpPr bwMode="auto">
          <a:xfrm>
            <a:off x="3132078" y="3398811"/>
            <a:ext cx="12871194" cy="4209354"/>
            <a:chOff x="0" y="0"/>
            <a:chExt cx="12871194" cy="4209354"/>
          </a:xfrm>
        </p:grpSpPr>
        <p:sp>
          <p:nvSpPr>
            <p:cNvPr id="480014657" name=""/>
            <p:cNvSpPr/>
            <p:nvPr/>
          </p:nvSpPr>
          <p:spPr bwMode="auto">
            <a:xfrm rot="0" flipH="0" flipV="0">
              <a:off x="10466522" y="3334928"/>
              <a:ext cx="2404671" cy="874425"/>
            </a:xfrm>
            <a:prstGeom prst="flowChartAlternateProcess">
              <a:avLst/>
            </a:prstGeom>
            <a:gradFill>
              <a:gsLst>
                <a:gs pos="0">
                  <a:srgbClr val="E0E1E3"/>
                </a:gs>
                <a:gs pos="100000">
                  <a:srgbClr val="F3F3F5"/>
                </a:gs>
              </a:gsLst>
              <a:lin ang="2700000" scaled="0"/>
            </a:gradFill>
            <a:ln w="12699" cap="flat">
              <a:solidFill>
                <a:schemeClr val="bg1"/>
              </a:solidFill>
              <a:prstDash val="solid"/>
              <a:miter lim="800000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upright="0" compatLnSpc="0"/>
            <a:p>
              <a:pPr algn="ctr">
                <a:defRPr/>
              </a:pPr>
              <a:r>
                <a:rPr sz="1800"/>
                <a:t>Map</a:t>
              </a:r>
              <a:endParaRPr/>
            </a:p>
          </p:txBody>
        </p:sp>
        <p:grpSp>
          <p:nvGrpSpPr>
            <p:cNvPr id="193138719" name=""/>
            <p:cNvGrpSpPr/>
            <p:nvPr/>
          </p:nvGrpSpPr>
          <p:grpSpPr bwMode="auto">
            <a:xfrm>
              <a:off x="0" y="0"/>
              <a:ext cx="8400737" cy="4209354"/>
              <a:chOff x="0" y="0"/>
              <a:chExt cx="8400737" cy="4209354"/>
            </a:xfrm>
          </p:grpSpPr>
          <p:sp>
            <p:nvSpPr>
              <p:cNvPr id="712793800" name=""/>
              <p:cNvSpPr/>
              <p:nvPr/>
            </p:nvSpPr>
            <p:spPr bwMode="auto">
              <a:xfrm flipH="0" flipV="0">
                <a:off x="3001780" y="0"/>
                <a:ext cx="2404671" cy="874425"/>
              </a:xfrm>
              <a:prstGeom prst="flowChartAlternateProcess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12699" cap="flat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upright="0" compatLnSpc="0"/>
              <a:p>
                <a:pPr marL="0" marR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HK" sz="1800"/>
                  <a:t>Iterable</a:t>
                </a:r>
                <a:endParaRPr lang="en-US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946586584" name=""/>
              <p:cNvSpPr/>
              <p:nvPr/>
            </p:nvSpPr>
            <p:spPr bwMode="auto">
              <a:xfrm rot="0" flipH="0" flipV="0">
                <a:off x="3001780" y="1667464"/>
                <a:ext cx="2404671" cy="874425"/>
              </a:xfrm>
              <a:prstGeom prst="flowChartAlternateProcess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12699" cap="flat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upright="0" compatLnSpc="0"/>
              <a:p>
                <a:pPr marL="0" marR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1800" b="0" i="0" u="none" strike="noStrike" cap="none" spc="0">
                    <a:ln>
                      <a:noFill/>
                    </a:ln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Collection</a:t>
                </a:r>
                <a:endParaRPr lang="en-US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29700509" name=""/>
              <p:cNvSpPr/>
              <p:nvPr/>
            </p:nvSpPr>
            <p:spPr bwMode="auto">
              <a:xfrm rot="0" flipH="0" flipV="0">
                <a:off x="0" y="3334928"/>
                <a:ext cx="2404671" cy="874425"/>
              </a:xfrm>
              <a:prstGeom prst="flowChartAlternateProcess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12699" cap="flat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upright="0" compatLnSpc="0"/>
              <a:p>
                <a:pPr marL="0" marR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1800" b="0" i="0" u="none" strike="noStrike" cap="none" spc="0">
                    <a:ln>
                      <a:noFill/>
                    </a:ln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List</a:t>
                </a:r>
                <a:endParaRPr lang="en-US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471183635" name=""/>
              <p:cNvSpPr/>
              <p:nvPr/>
            </p:nvSpPr>
            <p:spPr bwMode="auto">
              <a:xfrm rot="0" flipH="0" flipV="0">
                <a:off x="3001780" y="3334928"/>
                <a:ext cx="2404671" cy="874425"/>
              </a:xfrm>
              <a:prstGeom prst="flowChartAlternateProcess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12699" cap="flat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upright="0" compatLnSpc="0"/>
              <a:p>
                <a:pPr marL="0" marR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1800" b="0" i="0" u="none" strike="noStrike" cap="none" spc="0">
                    <a:ln>
                      <a:noFill/>
                    </a:ln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Queue</a:t>
                </a:r>
                <a:endParaRPr lang="en-US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654645730" name=""/>
              <p:cNvSpPr/>
              <p:nvPr/>
            </p:nvSpPr>
            <p:spPr bwMode="auto">
              <a:xfrm rot="0" flipH="0" flipV="0">
                <a:off x="5996065" y="3334928"/>
                <a:ext cx="2404671" cy="874425"/>
              </a:xfrm>
              <a:prstGeom prst="flowChartAlternateProcess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12699" cap="flat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upright="0" compatLnSpc="0"/>
              <a:p>
                <a:pPr algn="ctr">
                  <a:defRPr/>
                </a:pPr>
                <a:r>
                  <a:rPr sz="1800"/>
                  <a:t>Set</a:t>
                </a:r>
                <a:endParaRPr/>
              </a:p>
            </p:txBody>
          </p:sp>
          <p:cxnSp>
            <p:nvCxnSpPr>
              <p:cNvPr id="0" name=""/>
              <p:cNvCxnSpPr>
                <a:cxnSpLocks/>
                <a:stCxn id="712793800" idx="2"/>
                <a:endCxn id="1946586584" idx="0"/>
              </p:cNvCxnSpPr>
              <p:nvPr/>
            </p:nvCxnSpPr>
            <p:spPr bwMode="auto">
              <a:xfrm rot="5399977" flipH="0" flipV="0">
                <a:off x="3807597" y="1270945"/>
                <a:ext cx="793038" cy="0"/>
              </a:xfrm>
              <a:prstGeom prst="line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38099" cap="flat">
                <a:solidFill>
                  <a:schemeClr val="bg1"/>
                </a:solidFill>
                <a:prstDash val="solid"/>
                <a:miter lim="800000"/>
                <a:tailEnd type="arrow" len="med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</p:cxnSp>
          <p:cxnSp>
            <p:nvCxnSpPr>
              <p:cNvPr id="1697583084" name=""/>
              <p:cNvCxnSpPr>
                <a:cxnSpLocks/>
                <a:stCxn id="1946586584" idx="2"/>
                <a:endCxn id="1029700509" idx="0"/>
              </p:cNvCxnSpPr>
              <p:nvPr/>
            </p:nvCxnSpPr>
            <p:spPr bwMode="auto">
              <a:xfrm rot="5399977" flipH="0" flipV="0">
                <a:off x="2306707" y="1437519"/>
                <a:ext cx="793038" cy="3001780"/>
              </a:xfrm>
              <a:prstGeom prst="line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38099" cap="flat">
                <a:solidFill>
                  <a:schemeClr val="bg1"/>
                </a:solidFill>
                <a:prstDash val="solid"/>
                <a:miter lim="800000"/>
                <a:tailEnd type="arrow" len="med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</p:cxnSp>
          <p:cxnSp>
            <p:nvCxnSpPr>
              <p:cNvPr id="1669112747" name=""/>
              <p:cNvCxnSpPr>
                <a:cxnSpLocks/>
                <a:stCxn id="1946586584" idx="2"/>
                <a:endCxn id="1471183635" idx="0"/>
              </p:cNvCxnSpPr>
              <p:nvPr/>
            </p:nvCxnSpPr>
            <p:spPr bwMode="auto">
              <a:xfrm rot="5399977" flipH="0" flipV="0">
                <a:off x="3807597" y="2938409"/>
                <a:ext cx="793038" cy="0"/>
              </a:xfrm>
              <a:prstGeom prst="line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38099" cap="flat">
                <a:solidFill>
                  <a:schemeClr val="bg1"/>
                </a:solidFill>
                <a:prstDash val="solid"/>
                <a:miter lim="800000"/>
                <a:tailEnd type="arrow" len="med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</p:cxnSp>
          <p:cxnSp>
            <p:nvCxnSpPr>
              <p:cNvPr id="1128613816" name=""/>
              <p:cNvCxnSpPr>
                <a:cxnSpLocks/>
                <a:stCxn id="1946586584" idx="2"/>
                <a:endCxn id="1654645730" idx="0"/>
              </p:cNvCxnSpPr>
              <p:nvPr/>
            </p:nvCxnSpPr>
            <p:spPr bwMode="auto">
              <a:xfrm rot="5399977" flipH="0" flipV="1">
                <a:off x="5304740" y="1441267"/>
                <a:ext cx="793038" cy="2994284"/>
              </a:xfrm>
              <a:prstGeom prst="line">
                <a:avLst/>
              </a:prstGeom>
              <a:gradFill>
                <a:gsLst>
                  <a:gs pos="0">
                    <a:srgbClr val="E0E1E3"/>
                  </a:gs>
                  <a:gs pos="100000">
                    <a:srgbClr val="F3F3F5"/>
                  </a:gs>
                </a:gsLst>
                <a:lin ang="2700000" scaled="0"/>
              </a:gradFill>
              <a:ln w="38099" cap="flat">
                <a:solidFill>
                  <a:schemeClr val="bg1"/>
                </a:solidFill>
                <a:prstDash val="solid"/>
                <a:miter lim="800000"/>
                <a:tailEnd type="arrow" len="med"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none"/>
            </p:style>
          </p:cxnSp>
        </p:grpSp>
      </p:grpSp>
      <p:sp>
        <p:nvSpPr>
          <p:cNvPr id="1423575756" name=""/>
          <p:cNvSpPr txBox="1"/>
          <p:nvPr/>
        </p:nvSpPr>
        <p:spPr bwMode="auto">
          <a:xfrm flipH="0" flipV="0">
            <a:off x="1977360" y="1146527"/>
            <a:ext cx="16281774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6000"/>
              <a:t>Java Collection Framework. </a:t>
            </a:r>
            <a:br>
              <a:rPr sz="6000"/>
            </a:br>
            <a:r>
              <a:rPr lang="ru-RU" sz="6000"/>
              <a:t>Основные </a:t>
            </a:r>
            <a:r>
              <a:rPr lang="ru-RU" sz="6000"/>
              <a:t>интерфейсы</a:t>
            </a:r>
            <a:endParaRPr sz="6000"/>
          </a:p>
        </p:txBody>
      </p:sp>
      <p:sp>
        <p:nvSpPr>
          <p:cNvPr id="729440141" name=""/>
          <p:cNvSpPr txBox="1"/>
          <p:nvPr/>
        </p:nvSpPr>
        <p:spPr bwMode="auto">
          <a:xfrm flipH="0" flipV="0">
            <a:off x="1474778" y="8364604"/>
            <a:ext cx="9552052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800"/>
              <a:t>Каждый интерфейс имеет несколько реализаций, </a:t>
            </a:r>
            <a:br>
              <a:rPr lang="ru-RU" sz="2800"/>
            </a:br>
            <a:r>
              <a:rPr lang="ru-RU" sz="2800"/>
              <a:t>лучше подходящих для определенных ситуаций </a:t>
            </a:r>
            <a:endParaRPr lang="ru-RU" sz="2800"/>
          </a:p>
        </p:txBody>
      </p:sp>
      <p:sp>
        <p:nvSpPr>
          <p:cNvPr id="787340644" name=""/>
          <p:cNvSpPr txBox="1"/>
          <p:nvPr/>
        </p:nvSpPr>
        <p:spPr bwMode="auto">
          <a:xfrm flipH="0" flipV="0">
            <a:off x="11493122" y="6117090"/>
            <a:ext cx="661634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600"/>
              <a:t>Не наследует интерфейс </a:t>
            </a:r>
            <a:r>
              <a:rPr lang="en-US" sz="2600"/>
              <a:t>Collection</a:t>
            </a:r>
            <a:endParaRPr lang="ru-RU"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511712" name="Полилиния 42"/>
          <p:cNvSpPr/>
          <p:nvPr/>
        </p:nvSpPr>
        <p:spPr bwMode="auto">
          <a:xfrm>
            <a:off x="395286" y="401593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729080197" name="Овал 43"/>
          <p:cNvSpPr/>
          <p:nvPr/>
        </p:nvSpPr>
        <p:spPr bwMode="auto">
          <a:xfrm>
            <a:off x="5617544" y="448701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1108592891" name="Полилиния 21"/>
          <p:cNvSpPr/>
          <p:nvPr/>
        </p:nvSpPr>
        <p:spPr bwMode="auto">
          <a:xfrm>
            <a:off x="395286" y="568682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670669115" name="Овал 2"/>
          <p:cNvSpPr/>
          <p:nvPr/>
        </p:nvSpPr>
        <p:spPr bwMode="auto">
          <a:xfrm>
            <a:off x="5617544" y="9772251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2087165114" name="TextBox 3"/>
          <p:cNvSpPr txBox="1"/>
          <p:nvPr/>
        </p:nvSpPr>
        <p:spPr bwMode="auto">
          <a:xfrm>
            <a:off x="925083" y="7031007"/>
            <a:ext cx="475929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Множество уникальных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доступ по индексу невозможен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не может содержать дубликаты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719532078" name="TextBox 5"/>
          <p:cNvSpPr txBox="1"/>
          <p:nvPr/>
        </p:nvSpPr>
        <p:spPr bwMode="auto">
          <a:xfrm>
            <a:off x="925083" y="6257898"/>
            <a:ext cx="487917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Set</a:t>
            </a:r>
            <a:endParaRPr/>
          </a:p>
        </p:txBody>
      </p:sp>
      <p:pic>
        <p:nvPicPr>
          <p:cNvPr id="421184893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8" y="4718525"/>
            <a:ext cx="571761" cy="571761"/>
          </a:xfrm>
          <a:prstGeom prst="rect">
            <a:avLst/>
          </a:prstGeom>
        </p:spPr>
      </p:pic>
      <p:sp>
        <p:nvSpPr>
          <p:cNvPr id="81079668" name="Полилиния 22"/>
          <p:cNvSpPr/>
          <p:nvPr/>
        </p:nvSpPr>
        <p:spPr bwMode="auto">
          <a:xfrm>
            <a:off x="6767510" y="567543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865550160" name="Полилиния 23"/>
          <p:cNvSpPr/>
          <p:nvPr/>
        </p:nvSpPr>
        <p:spPr bwMode="auto">
          <a:xfrm>
            <a:off x="13176248" y="5675436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652331033" name="Овал 8"/>
          <p:cNvSpPr/>
          <p:nvPr/>
        </p:nvSpPr>
        <p:spPr bwMode="auto">
          <a:xfrm>
            <a:off x="12006645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2146914128" name="Овал 10"/>
          <p:cNvSpPr/>
          <p:nvPr/>
        </p:nvSpPr>
        <p:spPr bwMode="auto">
          <a:xfrm>
            <a:off x="18373771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1278391528" name="TextBox 11"/>
          <p:cNvSpPr txBox="1"/>
          <p:nvPr/>
        </p:nvSpPr>
        <p:spPr bwMode="auto">
          <a:xfrm flipH="0" flipV="0">
            <a:off x="13724506" y="6998837"/>
            <a:ext cx="5204548" cy="34007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Таблица пар «ключ-значение»: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все ключи уникальны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значения могут дублироваться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можно получить коллекции отдельно ключей, значений или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пар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«ключ-значение»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 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677052888" name="TextBox 13"/>
          <p:cNvSpPr txBox="1"/>
          <p:nvPr/>
        </p:nvSpPr>
        <p:spPr bwMode="auto">
          <a:xfrm>
            <a:off x="13724506" y="6225726"/>
            <a:ext cx="48798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Map</a:t>
            </a:r>
            <a:endParaRPr lang="en-GB"/>
          </a:p>
        </p:txBody>
      </p:sp>
      <p:sp>
        <p:nvSpPr>
          <p:cNvPr id="90464518" name="TextBox 14"/>
          <p:cNvSpPr txBox="1"/>
          <p:nvPr/>
        </p:nvSpPr>
        <p:spPr bwMode="auto">
          <a:xfrm>
            <a:off x="7324794" y="6998837"/>
            <a:ext cx="483093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 marL="0" marR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Очередь с реализацией принципа FIFO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(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first-in-first-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out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):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элементы упорядочены по порядку добавления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могут быть дубликаты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cs typeface="TINKOFFSANS-MEDIUM"/>
            </a:endParaRPr>
          </a:p>
        </p:txBody>
      </p:sp>
      <p:sp>
        <p:nvSpPr>
          <p:cNvPr id="1731269530" name="TextBox 15"/>
          <p:cNvSpPr txBox="1"/>
          <p:nvPr/>
        </p:nvSpPr>
        <p:spPr bwMode="auto">
          <a:xfrm>
            <a:off x="7324794" y="6225726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/>
              <a:t>Queue</a:t>
            </a:r>
            <a:endParaRPr lang="en-GB"/>
          </a:p>
        </p:txBody>
      </p:sp>
      <p:sp>
        <p:nvSpPr>
          <p:cNvPr id="546704424" name="Полилиния 24"/>
          <p:cNvSpPr/>
          <p:nvPr/>
        </p:nvSpPr>
        <p:spPr bwMode="auto">
          <a:xfrm>
            <a:off x="6767510" y="408492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109475025" name="Полилиния 27"/>
          <p:cNvSpPr/>
          <p:nvPr/>
        </p:nvSpPr>
        <p:spPr bwMode="auto">
          <a:xfrm>
            <a:off x="13176248" y="408492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748503463" name="Овал 28"/>
          <p:cNvSpPr/>
          <p:nvPr/>
        </p:nvSpPr>
        <p:spPr bwMode="auto">
          <a:xfrm>
            <a:off x="12006645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1541928409" name="Овал 29"/>
          <p:cNvSpPr/>
          <p:nvPr/>
        </p:nvSpPr>
        <p:spPr bwMode="auto">
          <a:xfrm>
            <a:off x="18373771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1223621771" name="TextBox 37"/>
          <p:cNvSpPr txBox="1"/>
          <p:nvPr/>
        </p:nvSpPr>
        <p:spPr bwMode="auto">
          <a:xfrm>
            <a:off x="13724506" y="1731893"/>
            <a:ext cx="4796379" cy="2449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Упорядоченный по числовому индексу список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каждый элемент доступен по индексу;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может содержать дубликаты 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237733507" name="TextBox 38"/>
          <p:cNvSpPr txBox="1"/>
          <p:nvPr/>
        </p:nvSpPr>
        <p:spPr bwMode="auto">
          <a:xfrm>
            <a:off x="13724506" y="958782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List</a:t>
            </a:r>
            <a:endParaRPr lang="ru-RU"/>
          </a:p>
        </p:txBody>
      </p:sp>
      <p:sp>
        <p:nvSpPr>
          <p:cNvPr id="626677493" name="TextBox 39"/>
          <p:cNvSpPr txBox="1"/>
          <p:nvPr/>
        </p:nvSpPr>
        <p:spPr bwMode="auto">
          <a:xfrm>
            <a:off x="7324794" y="1731893"/>
            <a:ext cx="4861179" cy="2916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Декларирует общие методы для перечислимых коллекций: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добавление/удаление элемента по значению;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размер;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наследуется от </a:t>
            </a:r>
            <a:r>
              <a:rPr lang="quz-EC"/>
              <a:t>Iterable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330604236" name="TextBox 40"/>
          <p:cNvSpPr txBox="1"/>
          <p:nvPr/>
        </p:nvSpPr>
        <p:spPr bwMode="auto">
          <a:xfrm>
            <a:off x="7324794" y="958782"/>
            <a:ext cx="488061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Collection</a:t>
            </a:r>
            <a:endParaRPr lang="ru-RU"/>
          </a:p>
        </p:txBody>
      </p:sp>
      <p:sp>
        <p:nvSpPr>
          <p:cNvPr id="1722347359" name="TextBox 44"/>
          <p:cNvSpPr txBox="1"/>
          <p:nvPr/>
        </p:nvSpPr>
        <p:spPr bwMode="auto">
          <a:xfrm>
            <a:off x="611185" y="1085445"/>
            <a:ext cx="5824022" cy="60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Интерфейсы коллекций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298636" name="Полилиния 42"/>
          <p:cNvSpPr/>
          <p:nvPr/>
        </p:nvSpPr>
        <p:spPr bwMode="auto">
          <a:xfrm>
            <a:off x="395286" y="401593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32975641" name="Овал 43"/>
          <p:cNvSpPr/>
          <p:nvPr/>
        </p:nvSpPr>
        <p:spPr bwMode="auto">
          <a:xfrm>
            <a:off x="5617544" y="448701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1022762938" name="Полилиния 21"/>
          <p:cNvSpPr/>
          <p:nvPr/>
        </p:nvSpPr>
        <p:spPr bwMode="auto">
          <a:xfrm>
            <a:off x="395286" y="568682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35462248" name="Овал 2"/>
          <p:cNvSpPr/>
          <p:nvPr/>
        </p:nvSpPr>
        <p:spPr bwMode="auto">
          <a:xfrm>
            <a:off x="5617544" y="9772251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1766366057" name="TextBox 3"/>
          <p:cNvSpPr txBox="1"/>
          <p:nvPr/>
        </p:nvSpPr>
        <p:spPr bwMode="auto">
          <a:xfrm>
            <a:off x="925083" y="7031007"/>
            <a:ext cx="475929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Множество уникальных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доступ по индексу невозможен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не может содержать дубликаты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606403458" name="TextBox 5"/>
          <p:cNvSpPr txBox="1"/>
          <p:nvPr/>
        </p:nvSpPr>
        <p:spPr bwMode="auto">
          <a:xfrm>
            <a:off x="925083" y="6257898"/>
            <a:ext cx="487917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Set</a:t>
            </a:r>
            <a:endParaRPr/>
          </a:p>
        </p:txBody>
      </p:sp>
      <p:pic>
        <p:nvPicPr>
          <p:cNvPr id="2041742071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8" y="4718525"/>
            <a:ext cx="571761" cy="571761"/>
          </a:xfrm>
          <a:prstGeom prst="rect">
            <a:avLst/>
          </a:prstGeom>
        </p:spPr>
      </p:pic>
      <p:sp>
        <p:nvSpPr>
          <p:cNvPr id="1878729053" name="Полилиния 22"/>
          <p:cNvSpPr/>
          <p:nvPr/>
        </p:nvSpPr>
        <p:spPr bwMode="auto">
          <a:xfrm>
            <a:off x="6767510" y="567543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762925275" name="Полилиния 23"/>
          <p:cNvSpPr/>
          <p:nvPr/>
        </p:nvSpPr>
        <p:spPr bwMode="auto">
          <a:xfrm>
            <a:off x="13176248" y="5675436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27279486" name="Овал 8"/>
          <p:cNvSpPr/>
          <p:nvPr/>
        </p:nvSpPr>
        <p:spPr bwMode="auto">
          <a:xfrm>
            <a:off x="12006645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1079511948" name="Овал 10"/>
          <p:cNvSpPr/>
          <p:nvPr/>
        </p:nvSpPr>
        <p:spPr bwMode="auto">
          <a:xfrm>
            <a:off x="18373771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994061964" name="TextBox 11"/>
          <p:cNvSpPr txBox="1"/>
          <p:nvPr/>
        </p:nvSpPr>
        <p:spPr bwMode="auto">
          <a:xfrm flipH="0" flipV="0">
            <a:off x="13724506" y="6998837"/>
            <a:ext cx="5204548" cy="34007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Таблица пар «ключ-значение»: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все ключи уникальны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значения могут дублироваться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можно получить коллекции отдельно ключей, значений или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пар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«ключ-значение»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 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624375932" name="TextBox 13"/>
          <p:cNvSpPr txBox="1"/>
          <p:nvPr/>
        </p:nvSpPr>
        <p:spPr bwMode="auto">
          <a:xfrm>
            <a:off x="13724506" y="6225726"/>
            <a:ext cx="48798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Map</a:t>
            </a:r>
            <a:endParaRPr lang="en-GB"/>
          </a:p>
        </p:txBody>
      </p:sp>
      <p:sp>
        <p:nvSpPr>
          <p:cNvPr id="1033371456" name="TextBox 14"/>
          <p:cNvSpPr txBox="1"/>
          <p:nvPr/>
        </p:nvSpPr>
        <p:spPr bwMode="auto">
          <a:xfrm>
            <a:off x="7324794" y="6998837"/>
            <a:ext cx="483093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 marL="0" marR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Очередь с реализацией принципа FIFO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(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first-in-first-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out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):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элементы упорядочены по порядку добавления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могут быть дубликаты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cs typeface="TINKOFFSANS-MEDIUM"/>
            </a:endParaRPr>
          </a:p>
        </p:txBody>
      </p:sp>
      <p:sp>
        <p:nvSpPr>
          <p:cNvPr id="1430409042" name="TextBox 15"/>
          <p:cNvSpPr txBox="1"/>
          <p:nvPr/>
        </p:nvSpPr>
        <p:spPr bwMode="auto">
          <a:xfrm>
            <a:off x="7324794" y="6225726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/>
              <a:t>Queue</a:t>
            </a:r>
            <a:endParaRPr lang="en-GB"/>
          </a:p>
        </p:txBody>
      </p:sp>
      <p:sp>
        <p:nvSpPr>
          <p:cNvPr id="1308978288" name="Полилиния 24"/>
          <p:cNvSpPr/>
          <p:nvPr/>
        </p:nvSpPr>
        <p:spPr bwMode="auto">
          <a:xfrm>
            <a:off x="6767510" y="408492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FDE36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450843468" name="Полилиния 27"/>
          <p:cNvSpPr/>
          <p:nvPr/>
        </p:nvSpPr>
        <p:spPr bwMode="auto">
          <a:xfrm>
            <a:off x="13176248" y="408492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474347822" name="Овал 28"/>
          <p:cNvSpPr/>
          <p:nvPr/>
        </p:nvSpPr>
        <p:spPr bwMode="auto">
          <a:xfrm>
            <a:off x="12006645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1040136899" name="Овал 29"/>
          <p:cNvSpPr/>
          <p:nvPr/>
        </p:nvSpPr>
        <p:spPr bwMode="auto">
          <a:xfrm>
            <a:off x="18373771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550291840" name="TextBox 37"/>
          <p:cNvSpPr txBox="1"/>
          <p:nvPr/>
        </p:nvSpPr>
        <p:spPr bwMode="auto">
          <a:xfrm>
            <a:off x="13724506" y="1731893"/>
            <a:ext cx="4796379" cy="2449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Упорядоченный по числовому индексу список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каждый элемент доступен по индексу;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может содержать дубликаты 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921326791" name="TextBox 38"/>
          <p:cNvSpPr txBox="1"/>
          <p:nvPr/>
        </p:nvSpPr>
        <p:spPr bwMode="auto">
          <a:xfrm>
            <a:off x="13724506" y="958782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List</a:t>
            </a:r>
            <a:endParaRPr lang="ru-RU"/>
          </a:p>
        </p:txBody>
      </p:sp>
      <p:sp>
        <p:nvSpPr>
          <p:cNvPr id="517217866" name="TextBox 39"/>
          <p:cNvSpPr txBox="1"/>
          <p:nvPr/>
        </p:nvSpPr>
        <p:spPr bwMode="auto">
          <a:xfrm>
            <a:off x="7324794" y="1731893"/>
            <a:ext cx="4861179" cy="2916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Декларирует общие методы для перечислимых коллекций: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добавление/удаление элемента по значению;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размер;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наследуется от </a:t>
            </a:r>
            <a:r>
              <a:rPr lang="quz-EC"/>
              <a:t>Iterable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341577127" name="TextBox 40"/>
          <p:cNvSpPr txBox="1"/>
          <p:nvPr/>
        </p:nvSpPr>
        <p:spPr bwMode="auto">
          <a:xfrm>
            <a:off x="7324794" y="958782"/>
            <a:ext cx="488061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Collection</a:t>
            </a:r>
            <a:endParaRPr lang="ru-RU"/>
          </a:p>
        </p:txBody>
      </p:sp>
      <p:sp>
        <p:nvSpPr>
          <p:cNvPr id="775636176" name="TextBox 44"/>
          <p:cNvSpPr txBox="1"/>
          <p:nvPr/>
        </p:nvSpPr>
        <p:spPr bwMode="auto">
          <a:xfrm>
            <a:off x="611185" y="1085445"/>
            <a:ext cx="5824022" cy="60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Интерфейсы коллекций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980406" name="Полилиния 42"/>
          <p:cNvSpPr/>
          <p:nvPr/>
        </p:nvSpPr>
        <p:spPr bwMode="auto">
          <a:xfrm>
            <a:off x="395286" y="401593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324457116" name="Овал 43"/>
          <p:cNvSpPr/>
          <p:nvPr/>
        </p:nvSpPr>
        <p:spPr bwMode="auto">
          <a:xfrm>
            <a:off x="5617544" y="448701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694776306" name="Полилиния 21"/>
          <p:cNvSpPr/>
          <p:nvPr/>
        </p:nvSpPr>
        <p:spPr bwMode="auto">
          <a:xfrm>
            <a:off x="395286" y="568682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30526081" name="Овал 2"/>
          <p:cNvSpPr/>
          <p:nvPr/>
        </p:nvSpPr>
        <p:spPr bwMode="auto">
          <a:xfrm>
            <a:off x="5617544" y="9772251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959247358" name="TextBox 3"/>
          <p:cNvSpPr txBox="1"/>
          <p:nvPr/>
        </p:nvSpPr>
        <p:spPr bwMode="auto">
          <a:xfrm>
            <a:off x="925083" y="7031007"/>
            <a:ext cx="475929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Множество уникальных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доступ по индексу невозможен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не может содержать дубликаты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871643978" name="TextBox 5"/>
          <p:cNvSpPr txBox="1"/>
          <p:nvPr/>
        </p:nvSpPr>
        <p:spPr bwMode="auto">
          <a:xfrm>
            <a:off x="925083" y="6257898"/>
            <a:ext cx="487917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Set</a:t>
            </a:r>
            <a:endParaRPr/>
          </a:p>
        </p:txBody>
      </p:sp>
      <p:pic>
        <p:nvPicPr>
          <p:cNvPr id="2137028721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8" y="4718525"/>
            <a:ext cx="571761" cy="571761"/>
          </a:xfrm>
          <a:prstGeom prst="rect">
            <a:avLst/>
          </a:prstGeom>
        </p:spPr>
      </p:pic>
      <p:sp>
        <p:nvSpPr>
          <p:cNvPr id="960999330" name="Полилиния 22"/>
          <p:cNvSpPr/>
          <p:nvPr/>
        </p:nvSpPr>
        <p:spPr bwMode="auto">
          <a:xfrm>
            <a:off x="6767510" y="567543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412578584" name="Полилиния 23"/>
          <p:cNvSpPr/>
          <p:nvPr/>
        </p:nvSpPr>
        <p:spPr bwMode="auto">
          <a:xfrm>
            <a:off x="13176248" y="5675436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188976825" name="Овал 8"/>
          <p:cNvSpPr/>
          <p:nvPr/>
        </p:nvSpPr>
        <p:spPr bwMode="auto">
          <a:xfrm>
            <a:off x="12006645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1143446043" name="Овал 10"/>
          <p:cNvSpPr/>
          <p:nvPr/>
        </p:nvSpPr>
        <p:spPr bwMode="auto">
          <a:xfrm>
            <a:off x="18373771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130496466" name="TextBox 11"/>
          <p:cNvSpPr txBox="1"/>
          <p:nvPr/>
        </p:nvSpPr>
        <p:spPr bwMode="auto">
          <a:xfrm flipH="0" flipV="0">
            <a:off x="13724506" y="6998837"/>
            <a:ext cx="5204548" cy="34007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Таблица пар «ключ-значение»: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все ключи уникальны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значения могут дублироваться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можно получить коллекции отдельно ключей, значений или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пар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«ключ-значение»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 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89820722" name="TextBox 13"/>
          <p:cNvSpPr txBox="1"/>
          <p:nvPr/>
        </p:nvSpPr>
        <p:spPr bwMode="auto">
          <a:xfrm>
            <a:off x="13724506" y="6225726"/>
            <a:ext cx="48798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Map</a:t>
            </a:r>
            <a:endParaRPr lang="en-GB"/>
          </a:p>
        </p:txBody>
      </p:sp>
      <p:sp>
        <p:nvSpPr>
          <p:cNvPr id="467232077" name="TextBox 14"/>
          <p:cNvSpPr txBox="1"/>
          <p:nvPr/>
        </p:nvSpPr>
        <p:spPr bwMode="auto">
          <a:xfrm>
            <a:off x="7324794" y="6998837"/>
            <a:ext cx="483093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 marL="0" marR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Очередь с реализацией принципа FIFO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(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first-in-first-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out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):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элементы упорядочены по порядку добавления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могут быть дубликаты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cs typeface="TINKOFFSANS-MEDIUM"/>
            </a:endParaRPr>
          </a:p>
        </p:txBody>
      </p:sp>
      <p:sp>
        <p:nvSpPr>
          <p:cNvPr id="1387798680" name="TextBox 15"/>
          <p:cNvSpPr txBox="1"/>
          <p:nvPr/>
        </p:nvSpPr>
        <p:spPr bwMode="auto">
          <a:xfrm>
            <a:off x="7324794" y="6225726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/>
              <a:t>Queue</a:t>
            </a:r>
            <a:endParaRPr lang="en-GB"/>
          </a:p>
        </p:txBody>
      </p:sp>
      <p:sp>
        <p:nvSpPr>
          <p:cNvPr id="690142689" name="Полилиния 24"/>
          <p:cNvSpPr/>
          <p:nvPr/>
        </p:nvSpPr>
        <p:spPr bwMode="auto">
          <a:xfrm>
            <a:off x="6767510" y="408492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039525205" name="Полилиния 27"/>
          <p:cNvSpPr/>
          <p:nvPr/>
        </p:nvSpPr>
        <p:spPr bwMode="auto">
          <a:xfrm>
            <a:off x="13176248" y="408492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FDE36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172272609" name="Овал 28"/>
          <p:cNvSpPr/>
          <p:nvPr/>
        </p:nvSpPr>
        <p:spPr bwMode="auto">
          <a:xfrm>
            <a:off x="12006645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1837637394" name="Овал 29"/>
          <p:cNvSpPr/>
          <p:nvPr/>
        </p:nvSpPr>
        <p:spPr bwMode="auto">
          <a:xfrm>
            <a:off x="18373771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1402963235" name="TextBox 37"/>
          <p:cNvSpPr txBox="1"/>
          <p:nvPr/>
        </p:nvSpPr>
        <p:spPr bwMode="auto">
          <a:xfrm>
            <a:off x="13724506" y="1731893"/>
            <a:ext cx="4796379" cy="2449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Упорядоченный по числовому индексу список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каждый элемент доступен по индексу;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может содержать дубликаты 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778961210" name="TextBox 38"/>
          <p:cNvSpPr txBox="1"/>
          <p:nvPr/>
        </p:nvSpPr>
        <p:spPr bwMode="auto">
          <a:xfrm>
            <a:off x="13724506" y="958782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List</a:t>
            </a:r>
            <a:endParaRPr lang="ru-RU"/>
          </a:p>
        </p:txBody>
      </p:sp>
      <p:sp>
        <p:nvSpPr>
          <p:cNvPr id="813702490" name="TextBox 39"/>
          <p:cNvSpPr txBox="1"/>
          <p:nvPr/>
        </p:nvSpPr>
        <p:spPr bwMode="auto">
          <a:xfrm>
            <a:off x="7324794" y="1731893"/>
            <a:ext cx="4861179" cy="2916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Декларирует общие методы для перечислимых коллекций: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добавление/удаление элемента по значению;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размер;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наследуется от </a:t>
            </a:r>
            <a:r>
              <a:rPr lang="quz-EC"/>
              <a:t>Iterable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753831067" name="TextBox 40"/>
          <p:cNvSpPr txBox="1"/>
          <p:nvPr/>
        </p:nvSpPr>
        <p:spPr bwMode="auto">
          <a:xfrm>
            <a:off x="7324794" y="958782"/>
            <a:ext cx="488061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Collection</a:t>
            </a:r>
            <a:endParaRPr lang="ru-RU"/>
          </a:p>
        </p:txBody>
      </p:sp>
      <p:sp>
        <p:nvSpPr>
          <p:cNvPr id="969249606" name="TextBox 44"/>
          <p:cNvSpPr txBox="1"/>
          <p:nvPr/>
        </p:nvSpPr>
        <p:spPr bwMode="auto">
          <a:xfrm>
            <a:off x="611185" y="1085445"/>
            <a:ext cx="5824022" cy="60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Интерфейсы коллекций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314177" name="Полилиния 42"/>
          <p:cNvSpPr/>
          <p:nvPr/>
        </p:nvSpPr>
        <p:spPr bwMode="auto">
          <a:xfrm>
            <a:off x="395286" y="401593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138767675" name="Овал 43"/>
          <p:cNvSpPr/>
          <p:nvPr/>
        </p:nvSpPr>
        <p:spPr bwMode="auto">
          <a:xfrm>
            <a:off x="5617544" y="448701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1339647962" name="Полилиния 21"/>
          <p:cNvSpPr/>
          <p:nvPr/>
        </p:nvSpPr>
        <p:spPr bwMode="auto">
          <a:xfrm>
            <a:off x="395286" y="568682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FDE36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602600165" name="Овал 2"/>
          <p:cNvSpPr/>
          <p:nvPr/>
        </p:nvSpPr>
        <p:spPr bwMode="auto">
          <a:xfrm>
            <a:off x="5617544" y="9772251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2103063656" name="TextBox 3"/>
          <p:cNvSpPr txBox="1"/>
          <p:nvPr/>
        </p:nvSpPr>
        <p:spPr bwMode="auto">
          <a:xfrm>
            <a:off x="925083" y="7031007"/>
            <a:ext cx="475929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Множество уникальных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доступ по индексу невозможен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не может содержать дубликаты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664755965" name="TextBox 5"/>
          <p:cNvSpPr txBox="1"/>
          <p:nvPr/>
        </p:nvSpPr>
        <p:spPr bwMode="auto">
          <a:xfrm>
            <a:off x="925083" y="6257898"/>
            <a:ext cx="487917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Set</a:t>
            </a:r>
            <a:endParaRPr/>
          </a:p>
        </p:txBody>
      </p:sp>
      <p:pic>
        <p:nvPicPr>
          <p:cNvPr id="18874336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8" y="4718525"/>
            <a:ext cx="571761" cy="571761"/>
          </a:xfrm>
          <a:prstGeom prst="rect">
            <a:avLst/>
          </a:prstGeom>
        </p:spPr>
      </p:pic>
      <p:sp>
        <p:nvSpPr>
          <p:cNvPr id="650787081" name="Полилиния 22"/>
          <p:cNvSpPr/>
          <p:nvPr/>
        </p:nvSpPr>
        <p:spPr bwMode="auto">
          <a:xfrm>
            <a:off x="6767510" y="567543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338648871" name="Полилиния 23"/>
          <p:cNvSpPr/>
          <p:nvPr/>
        </p:nvSpPr>
        <p:spPr bwMode="auto">
          <a:xfrm>
            <a:off x="13176248" y="5675436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094580733" name="Овал 8"/>
          <p:cNvSpPr/>
          <p:nvPr/>
        </p:nvSpPr>
        <p:spPr bwMode="auto">
          <a:xfrm>
            <a:off x="12006645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1318491578" name="Овал 10"/>
          <p:cNvSpPr/>
          <p:nvPr/>
        </p:nvSpPr>
        <p:spPr bwMode="auto">
          <a:xfrm>
            <a:off x="18373771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149737466" name="TextBox 11"/>
          <p:cNvSpPr txBox="1"/>
          <p:nvPr/>
        </p:nvSpPr>
        <p:spPr bwMode="auto">
          <a:xfrm flipH="0" flipV="0">
            <a:off x="13724506" y="6998837"/>
            <a:ext cx="5204548" cy="34007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Таблица пар «ключ-значение»: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все ключи уникальны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значения могут дублироваться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можно получить коллекции отдельно ключей, значений или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пар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«ключ-значение»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 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639567409" name="TextBox 13"/>
          <p:cNvSpPr txBox="1"/>
          <p:nvPr/>
        </p:nvSpPr>
        <p:spPr bwMode="auto">
          <a:xfrm>
            <a:off x="13724506" y="6225726"/>
            <a:ext cx="48798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Map</a:t>
            </a:r>
            <a:endParaRPr lang="en-GB"/>
          </a:p>
        </p:txBody>
      </p:sp>
      <p:sp>
        <p:nvSpPr>
          <p:cNvPr id="721667188" name="TextBox 14"/>
          <p:cNvSpPr txBox="1"/>
          <p:nvPr/>
        </p:nvSpPr>
        <p:spPr bwMode="auto">
          <a:xfrm>
            <a:off x="7324794" y="6998837"/>
            <a:ext cx="483093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 marL="0" marR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Очередь с реализацией принципа FIFO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(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first-in-first-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out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):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элементы упорядочены по порядку добавления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могут быть дубликаты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cs typeface="TINKOFFSANS-MEDIUM"/>
            </a:endParaRPr>
          </a:p>
        </p:txBody>
      </p:sp>
      <p:sp>
        <p:nvSpPr>
          <p:cNvPr id="430083385" name="TextBox 15"/>
          <p:cNvSpPr txBox="1"/>
          <p:nvPr/>
        </p:nvSpPr>
        <p:spPr bwMode="auto">
          <a:xfrm>
            <a:off x="7324794" y="6225726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/>
              <a:t>Queue</a:t>
            </a:r>
            <a:endParaRPr lang="en-GB"/>
          </a:p>
        </p:txBody>
      </p:sp>
      <p:sp>
        <p:nvSpPr>
          <p:cNvPr id="861576793" name="Полилиния 24"/>
          <p:cNvSpPr/>
          <p:nvPr/>
        </p:nvSpPr>
        <p:spPr bwMode="auto">
          <a:xfrm>
            <a:off x="6767510" y="408492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458798166" name="Полилиния 27"/>
          <p:cNvSpPr/>
          <p:nvPr/>
        </p:nvSpPr>
        <p:spPr bwMode="auto">
          <a:xfrm>
            <a:off x="13176248" y="408492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60358268" name="Овал 28"/>
          <p:cNvSpPr/>
          <p:nvPr/>
        </p:nvSpPr>
        <p:spPr bwMode="auto">
          <a:xfrm>
            <a:off x="12006645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1838622809" name="Овал 29"/>
          <p:cNvSpPr/>
          <p:nvPr/>
        </p:nvSpPr>
        <p:spPr bwMode="auto">
          <a:xfrm>
            <a:off x="18373771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1322465297" name="TextBox 37"/>
          <p:cNvSpPr txBox="1"/>
          <p:nvPr/>
        </p:nvSpPr>
        <p:spPr bwMode="auto">
          <a:xfrm>
            <a:off x="13724506" y="1731893"/>
            <a:ext cx="4796379" cy="2449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Упорядоченный по числовому индексу список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каждый элемент доступен по индексу;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может содержать дубликаты 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2039641681" name="TextBox 38"/>
          <p:cNvSpPr txBox="1"/>
          <p:nvPr/>
        </p:nvSpPr>
        <p:spPr bwMode="auto">
          <a:xfrm>
            <a:off x="13724506" y="958782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List</a:t>
            </a:r>
            <a:endParaRPr lang="ru-RU"/>
          </a:p>
        </p:txBody>
      </p:sp>
      <p:sp>
        <p:nvSpPr>
          <p:cNvPr id="1001610468" name="TextBox 39"/>
          <p:cNvSpPr txBox="1"/>
          <p:nvPr/>
        </p:nvSpPr>
        <p:spPr bwMode="auto">
          <a:xfrm>
            <a:off x="7324794" y="1731893"/>
            <a:ext cx="4861179" cy="2916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Декларирует общие методы для перечислимых коллекций: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добавление/удаление элемента по значению;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размер;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наследуется от </a:t>
            </a:r>
            <a:r>
              <a:rPr lang="quz-EC"/>
              <a:t>Iterable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792409234" name="TextBox 40"/>
          <p:cNvSpPr txBox="1"/>
          <p:nvPr/>
        </p:nvSpPr>
        <p:spPr bwMode="auto">
          <a:xfrm>
            <a:off x="7324794" y="958782"/>
            <a:ext cx="488061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Collection</a:t>
            </a:r>
            <a:endParaRPr lang="ru-RU"/>
          </a:p>
        </p:txBody>
      </p:sp>
      <p:sp>
        <p:nvSpPr>
          <p:cNvPr id="136870822" name="TextBox 44"/>
          <p:cNvSpPr txBox="1"/>
          <p:nvPr/>
        </p:nvSpPr>
        <p:spPr bwMode="auto">
          <a:xfrm>
            <a:off x="611185" y="1085445"/>
            <a:ext cx="5824022" cy="60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Интерфейсы коллекций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27747" name="Полилиния 42"/>
          <p:cNvSpPr/>
          <p:nvPr/>
        </p:nvSpPr>
        <p:spPr bwMode="auto">
          <a:xfrm>
            <a:off x="395286" y="401593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737600056" name="Овал 43"/>
          <p:cNvSpPr/>
          <p:nvPr/>
        </p:nvSpPr>
        <p:spPr bwMode="auto">
          <a:xfrm>
            <a:off x="5617544" y="448701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1266895011" name="Полилиния 21"/>
          <p:cNvSpPr/>
          <p:nvPr/>
        </p:nvSpPr>
        <p:spPr bwMode="auto">
          <a:xfrm>
            <a:off x="395286" y="568682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89997026" name="Овал 2"/>
          <p:cNvSpPr/>
          <p:nvPr/>
        </p:nvSpPr>
        <p:spPr bwMode="auto">
          <a:xfrm>
            <a:off x="5617544" y="9772251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512878173" name="TextBox 3"/>
          <p:cNvSpPr txBox="1"/>
          <p:nvPr/>
        </p:nvSpPr>
        <p:spPr bwMode="auto">
          <a:xfrm>
            <a:off x="925083" y="7031007"/>
            <a:ext cx="475929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Множество уникальных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доступ по индексу невозможен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не может содержать дубликаты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037306450" name="TextBox 5"/>
          <p:cNvSpPr txBox="1"/>
          <p:nvPr/>
        </p:nvSpPr>
        <p:spPr bwMode="auto">
          <a:xfrm>
            <a:off x="925083" y="6257898"/>
            <a:ext cx="487917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Set</a:t>
            </a:r>
            <a:endParaRPr/>
          </a:p>
        </p:txBody>
      </p:sp>
      <p:pic>
        <p:nvPicPr>
          <p:cNvPr id="1461667404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8" y="4718525"/>
            <a:ext cx="571761" cy="571761"/>
          </a:xfrm>
          <a:prstGeom prst="rect">
            <a:avLst/>
          </a:prstGeom>
        </p:spPr>
      </p:pic>
      <p:sp>
        <p:nvSpPr>
          <p:cNvPr id="1143000726" name="Полилиния 22"/>
          <p:cNvSpPr/>
          <p:nvPr/>
        </p:nvSpPr>
        <p:spPr bwMode="auto">
          <a:xfrm>
            <a:off x="6767510" y="567543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FDE36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868391401" name="Полилиния 23"/>
          <p:cNvSpPr/>
          <p:nvPr/>
        </p:nvSpPr>
        <p:spPr bwMode="auto">
          <a:xfrm>
            <a:off x="13176248" y="5675436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838651610" name="Овал 8"/>
          <p:cNvSpPr/>
          <p:nvPr/>
        </p:nvSpPr>
        <p:spPr bwMode="auto">
          <a:xfrm>
            <a:off x="12006645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842677106" name="Овал 10"/>
          <p:cNvSpPr/>
          <p:nvPr/>
        </p:nvSpPr>
        <p:spPr bwMode="auto">
          <a:xfrm>
            <a:off x="18373771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293093429" name="TextBox 11"/>
          <p:cNvSpPr txBox="1"/>
          <p:nvPr/>
        </p:nvSpPr>
        <p:spPr bwMode="auto">
          <a:xfrm flipH="0" flipV="0">
            <a:off x="13724506" y="6998837"/>
            <a:ext cx="5204548" cy="34007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Таблица пар «ключ-значение»: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все ключи уникальны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значения могут дублироваться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можно получить коллекции отдельно ключей, значений или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пар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«ключ-значение»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 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677436065" name="TextBox 13"/>
          <p:cNvSpPr txBox="1"/>
          <p:nvPr/>
        </p:nvSpPr>
        <p:spPr bwMode="auto">
          <a:xfrm>
            <a:off x="13724506" y="6225726"/>
            <a:ext cx="48798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Map</a:t>
            </a:r>
            <a:endParaRPr lang="en-GB"/>
          </a:p>
        </p:txBody>
      </p:sp>
      <p:sp>
        <p:nvSpPr>
          <p:cNvPr id="1078996948" name="TextBox 14"/>
          <p:cNvSpPr txBox="1"/>
          <p:nvPr/>
        </p:nvSpPr>
        <p:spPr bwMode="auto">
          <a:xfrm>
            <a:off x="7324794" y="6998837"/>
            <a:ext cx="483093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 marL="0" marR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Очередь с реализацией принципа FIFO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(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first-in-first-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out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):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элементы упорядочены по порядку добавления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могут быть дубликаты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cs typeface="TINKOFFSANS-MEDIUM"/>
            </a:endParaRPr>
          </a:p>
        </p:txBody>
      </p:sp>
      <p:sp>
        <p:nvSpPr>
          <p:cNvPr id="90739193" name="TextBox 15"/>
          <p:cNvSpPr txBox="1"/>
          <p:nvPr/>
        </p:nvSpPr>
        <p:spPr bwMode="auto">
          <a:xfrm>
            <a:off x="7324794" y="6225726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/>
              <a:t>Queue</a:t>
            </a:r>
            <a:endParaRPr lang="en-GB"/>
          </a:p>
        </p:txBody>
      </p:sp>
      <p:sp>
        <p:nvSpPr>
          <p:cNvPr id="1800503178" name="Полилиния 24"/>
          <p:cNvSpPr/>
          <p:nvPr/>
        </p:nvSpPr>
        <p:spPr bwMode="auto">
          <a:xfrm>
            <a:off x="6767510" y="408492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754170118" name="Полилиния 27"/>
          <p:cNvSpPr/>
          <p:nvPr/>
        </p:nvSpPr>
        <p:spPr bwMode="auto">
          <a:xfrm>
            <a:off x="13176248" y="408492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435029248" name="Овал 28"/>
          <p:cNvSpPr/>
          <p:nvPr/>
        </p:nvSpPr>
        <p:spPr bwMode="auto">
          <a:xfrm>
            <a:off x="12006645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1838762123" name="Овал 29"/>
          <p:cNvSpPr/>
          <p:nvPr/>
        </p:nvSpPr>
        <p:spPr bwMode="auto">
          <a:xfrm>
            <a:off x="18373771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399431392" name="TextBox 37"/>
          <p:cNvSpPr txBox="1"/>
          <p:nvPr/>
        </p:nvSpPr>
        <p:spPr bwMode="auto">
          <a:xfrm>
            <a:off x="13724506" y="1731893"/>
            <a:ext cx="4796379" cy="2449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Упорядоченный по числовому индексу список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каждый элемент доступен по индексу;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может содержать дубликаты 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785492886" name="TextBox 38"/>
          <p:cNvSpPr txBox="1"/>
          <p:nvPr/>
        </p:nvSpPr>
        <p:spPr bwMode="auto">
          <a:xfrm>
            <a:off x="13724506" y="958782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List</a:t>
            </a:r>
            <a:endParaRPr lang="ru-RU"/>
          </a:p>
        </p:txBody>
      </p:sp>
      <p:sp>
        <p:nvSpPr>
          <p:cNvPr id="1488602532" name="TextBox 39"/>
          <p:cNvSpPr txBox="1"/>
          <p:nvPr/>
        </p:nvSpPr>
        <p:spPr bwMode="auto">
          <a:xfrm>
            <a:off x="7324794" y="1731893"/>
            <a:ext cx="4861179" cy="2916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Декларирует общие методы для перечислимых коллекций: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добавление/удаление элемента по значению;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размер;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наследуется от </a:t>
            </a:r>
            <a:r>
              <a:rPr lang="quz-EC"/>
              <a:t>Iterable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473527776" name="TextBox 40"/>
          <p:cNvSpPr txBox="1"/>
          <p:nvPr/>
        </p:nvSpPr>
        <p:spPr bwMode="auto">
          <a:xfrm>
            <a:off x="7324794" y="958782"/>
            <a:ext cx="488061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Collection</a:t>
            </a:r>
            <a:endParaRPr lang="ru-RU"/>
          </a:p>
        </p:txBody>
      </p:sp>
      <p:sp>
        <p:nvSpPr>
          <p:cNvPr id="1763629379" name="TextBox 44"/>
          <p:cNvSpPr txBox="1"/>
          <p:nvPr/>
        </p:nvSpPr>
        <p:spPr bwMode="auto">
          <a:xfrm>
            <a:off x="611185" y="1085445"/>
            <a:ext cx="5824022" cy="60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Интерфейсы коллекций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584933" name="Полилиния 42"/>
          <p:cNvSpPr/>
          <p:nvPr/>
        </p:nvSpPr>
        <p:spPr bwMode="auto">
          <a:xfrm>
            <a:off x="395286" y="401593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113984644" name="Овал 43"/>
          <p:cNvSpPr/>
          <p:nvPr/>
        </p:nvSpPr>
        <p:spPr bwMode="auto">
          <a:xfrm>
            <a:off x="5617544" y="448701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1228548694" name="Полилиния 21"/>
          <p:cNvSpPr/>
          <p:nvPr/>
        </p:nvSpPr>
        <p:spPr bwMode="auto">
          <a:xfrm>
            <a:off x="395286" y="568682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884048219" name="Овал 2"/>
          <p:cNvSpPr/>
          <p:nvPr/>
        </p:nvSpPr>
        <p:spPr bwMode="auto">
          <a:xfrm>
            <a:off x="5617544" y="9772251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1563319646" name="TextBox 3"/>
          <p:cNvSpPr txBox="1"/>
          <p:nvPr/>
        </p:nvSpPr>
        <p:spPr bwMode="auto">
          <a:xfrm>
            <a:off x="925083" y="7031007"/>
            <a:ext cx="475929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Множество уникальных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доступ по индексу невозможен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не может содержать дубликаты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598640427" name="TextBox 5"/>
          <p:cNvSpPr txBox="1"/>
          <p:nvPr/>
        </p:nvSpPr>
        <p:spPr bwMode="auto">
          <a:xfrm>
            <a:off x="925083" y="6257898"/>
            <a:ext cx="487917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Set</a:t>
            </a:r>
            <a:endParaRPr/>
          </a:p>
        </p:txBody>
      </p:sp>
      <p:pic>
        <p:nvPicPr>
          <p:cNvPr id="281732577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8" y="4718525"/>
            <a:ext cx="571761" cy="571761"/>
          </a:xfrm>
          <a:prstGeom prst="rect">
            <a:avLst/>
          </a:prstGeom>
        </p:spPr>
      </p:pic>
      <p:sp>
        <p:nvSpPr>
          <p:cNvPr id="1957395515" name="Полилиния 22"/>
          <p:cNvSpPr/>
          <p:nvPr/>
        </p:nvSpPr>
        <p:spPr bwMode="auto">
          <a:xfrm>
            <a:off x="6767510" y="5675436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201277799" name="Полилиния 23"/>
          <p:cNvSpPr/>
          <p:nvPr/>
        </p:nvSpPr>
        <p:spPr bwMode="auto">
          <a:xfrm>
            <a:off x="13176248" y="5675436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FDE36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057115870" name="Овал 8"/>
          <p:cNvSpPr/>
          <p:nvPr/>
        </p:nvSpPr>
        <p:spPr bwMode="auto">
          <a:xfrm>
            <a:off x="12006645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1965298294" name="Овал 10"/>
          <p:cNvSpPr/>
          <p:nvPr/>
        </p:nvSpPr>
        <p:spPr bwMode="auto">
          <a:xfrm>
            <a:off x="18373771" y="9747649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77509682" name="TextBox 11"/>
          <p:cNvSpPr txBox="1"/>
          <p:nvPr/>
        </p:nvSpPr>
        <p:spPr bwMode="auto">
          <a:xfrm flipH="0" flipV="0">
            <a:off x="13724506" y="6998837"/>
            <a:ext cx="5204548" cy="34007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Таблица пар «ключ-значение»: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все ключи уникальны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значения могут дублироваться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можно получить коллекции отдельно ключей, значений или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пар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«ключ-значение»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 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157725432" name="TextBox 13"/>
          <p:cNvSpPr txBox="1"/>
          <p:nvPr/>
        </p:nvSpPr>
        <p:spPr bwMode="auto">
          <a:xfrm>
            <a:off x="13724506" y="6225726"/>
            <a:ext cx="48798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Map</a:t>
            </a:r>
            <a:endParaRPr lang="en-GB"/>
          </a:p>
        </p:txBody>
      </p:sp>
      <p:sp>
        <p:nvSpPr>
          <p:cNvPr id="91384323" name="TextBox 14"/>
          <p:cNvSpPr txBox="1"/>
          <p:nvPr/>
        </p:nvSpPr>
        <p:spPr bwMode="auto">
          <a:xfrm>
            <a:off x="7324794" y="6998837"/>
            <a:ext cx="4830939" cy="29252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 marL="0" marR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Очередь с реализацией принципа FIFO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(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first-in-first-</a:t>
            </a:r>
            <a:r>
              <a:rPr lang="en-GB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out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):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элементы упорядочены по порядку добавления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marR="0" indent="-349965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могут быть дубликаты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cs typeface="TINKOFFSANS-MEDIUM"/>
            </a:endParaRPr>
          </a:p>
        </p:txBody>
      </p:sp>
      <p:sp>
        <p:nvSpPr>
          <p:cNvPr id="1680749874" name="TextBox 15"/>
          <p:cNvSpPr txBox="1"/>
          <p:nvPr/>
        </p:nvSpPr>
        <p:spPr bwMode="auto">
          <a:xfrm>
            <a:off x="7324794" y="6225726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GB"/>
              <a:t>Queue</a:t>
            </a:r>
            <a:endParaRPr lang="en-GB"/>
          </a:p>
        </p:txBody>
      </p:sp>
      <p:sp>
        <p:nvSpPr>
          <p:cNvPr id="404149194" name="Полилиния 24"/>
          <p:cNvSpPr/>
          <p:nvPr/>
        </p:nvSpPr>
        <p:spPr bwMode="auto">
          <a:xfrm>
            <a:off x="6767510" y="408492"/>
            <a:ext cx="6240960" cy="5107686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885378256" name="Полилиния 27"/>
          <p:cNvSpPr/>
          <p:nvPr/>
        </p:nvSpPr>
        <p:spPr bwMode="auto">
          <a:xfrm>
            <a:off x="13176248" y="408492"/>
            <a:ext cx="6240961" cy="5107686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785004823" name="Овал 28"/>
          <p:cNvSpPr/>
          <p:nvPr/>
        </p:nvSpPr>
        <p:spPr bwMode="auto">
          <a:xfrm>
            <a:off x="12006645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1171044809" name="Овал 29"/>
          <p:cNvSpPr/>
          <p:nvPr/>
        </p:nvSpPr>
        <p:spPr bwMode="auto">
          <a:xfrm>
            <a:off x="18373771" y="4480705"/>
            <a:ext cx="1034772" cy="1034772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913874638" name="TextBox 37"/>
          <p:cNvSpPr txBox="1"/>
          <p:nvPr/>
        </p:nvSpPr>
        <p:spPr bwMode="auto">
          <a:xfrm>
            <a:off x="13724506" y="1731893"/>
            <a:ext cx="4796379" cy="2449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Упорядоченный по числовому индексу список элементов: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каждый элемент доступен по индексу;</a:t>
            </a:r>
            <a:endParaRPr lang="ru-RU" sz="2400" b="0" i="0" u="none" strike="noStrike" cap="none" spc="0">
              <a:ln>
                <a:noFill/>
              </a:ln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9965" indent="-349965">
              <a:lnSpc>
                <a:spcPct val="13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может содержать дубликаты 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729477509" name="TextBox 38"/>
          <p:cNvSpPr txBox="1"/>
          <p:nvPr/>
        </p:nvSpPr>
        <p:spPr bwMode="auto">
          <a:xfrm>
            <a:off x="13724506" y="958782"/>
            <a:ext cx="488349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List</a:t>
            </a:r>
            <a:endParaRPr lang="ru-RU"/>
          </a:p>
        </p:txBody>
      </p:sp>
      <p:sp>
        <p:nvSpPr>
          <p:cNvPr id="836925695" name="TextBox 39"/>
          <p:cNvSpPr txBox="1"/>
          <p:nvPr/>
        </p:nvSpPr>
        <p:spPr bwMode="auto">
          <a:xfrm>
            <a:off x="7324794" y="1731893"/>
            <a:ext cx="4861179" cy="2916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8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2" indent="-445131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2pPr>
            <a:lvl3pPr marL="2035648" indent="-526065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3pPr>
            <a:lvl4pPr marL="2862999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4pPr>
            <a:lvl5pPr marL="361779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5pPr>
            <a:lvl6pPr marL="4372583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6pPr>
            <a:lvl7pPr marL="5127375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7pPr>
            <a:lvl8pPr marL="5882166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0">
              <a:lnSpc>
                <a:spcPct val="90000"/>
              </a:lnSpc>
              <a:spcBef>
                <a:spcPts val="1598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Декларирует общие методы для перечислимых коллекций: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добавление/удаление элемента по значению;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размер;</a:t>
            </a:r>
            <a:endParaRPr lang="ru-RU"/>
          </a:p>
          <a:p>
            <a:pPr marL="349965" indent="-349965">
              <a:buClrTx/>
              <a:buSzTx/>
              <a:buFont typeface="Liberation Sans"/>
              <a:buChar char="•"/>
              <a:defRPr/>
            </a:pPr>
            <a:r>
              <a:rPr lang="ru-RU"/>
              <a:t>наследуется от </a:t>
            </a:r>
            <a:r>
              <a:rPr lang="quz-EC"/>
              <a:t>Iterable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258031455" name="TextBox 40"/>
          <p:cNvSpPr txBox="1"/>
          <p:nvPr/>
        </p:nvSpPr>
        <p:spPr bwMode="auto">
          <a:xfrm>
            <a:off x="7324794" y="958782"/>
            <a:ext cx="4880610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Collection</a:t>
            </a:r>
            <a:endParaRPr lang="ru-RU"/>
          </a:p>
        </p:txBody>
      </p:sp>
      <p:sp>
        <p:nvSpPr>
          <p:cNvPr id="1738168196" name="TextBox 44"/>
          <p:cNvSpPr txBox="1"/>
          <p:nvPr/>
        </p:nvSpPr>
        <p:spPr bwMode="auto">
          <a:xfrm>
            <a:off x="611185" y="1085445"/>
            <a:ext cx="5824022" cy="60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Интерфейсы коллекций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954658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693806DD-B595-16A2-8CF5-1D9B882998D6}" type="slidenum">
              <a:rPr lang="ru-RU"/>
              <a:t/>
            </a:fld>
            <a:endParaRPr lang="ru-RU"/>
          </a:p>
        </p:txBody>
      </p:sp>
      <p:sp>
        <p:nvSpPr>
          <p:cNvPr id="365992119" name="TextBox 6"/>
          <p:cNvSpPr txBox="1"/>
          <p:nvPr/>
        </p:nvSpPr>
        <p:spPr bwMode="auto">
          <a:xfrm>
            <a:off x="4800600" y="2294211"/>
            <a:ext cx="9915523" cy="523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endParaRPr lang="en" sz="2800" i="0" u="none" strike="noStrike">
              <a:solidFill>
                <a:srgbClr val="1F2328"/>
              </a:solidFill>
              <a:latin typeface="Tinkoff Sans"/>
            </a:endParaRPr>
          </a:p>
        </p:txBody>
      </p:sp>
      <p:sp>
        <p:nvSpPr>
          <p:cNvPr id="2134629306" name="TextBox 7"/>
          <p:cNvSpPr txBox="1"/>
          <p:nvPr/>
        </p:nvSpPr>
        <p:spPr bwMode="auto">
          <a:xfrm>
            <a:off x="15606712" y="8219158"/>
            <a:ext cx="9915523" cy="4001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>
            <a:spAutoFit/>
          </a:bodyPr>
          <a:lstStyle/>
          <a:p>
            <a:pPr>
              <a:defRPr/>
            </a:pPr>
            <a:endParaRPr lang="en" sz="2000">
              <a:solidFill>
                <a:srgbClr val="080808"/>
              </a:solidFill>
            </a:endParaRPr>
          </a:p>
        </p:txBody>
      </p:sp>
      <p:sp>
        <p:nvSpPr>
          <p:cNvPr id="612045657" name="Текст 17"/>
          <p:cNvSpPr txBox="1"/>
          <p:nvPr/>
        </p:nvSpPr>
        <p:spPr bwMode="auto">
          <a:xfrm>
            <a:off x="0" y="2397618"/>
            <a:ext cx="5404518" cy="2800516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no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0" marR="0" indent="11442" algn="ctr">
              <a:lnSpc>
                <a:spcPts val="6999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/>
            </a:pPr>
            <a: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Метод </a:t>
            </a:r>
            <a: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equals()</a:t>
            </a:r>
            <a:endParaRPr lang="ru-RU" sz="6000" b="1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302154640" name="TextBox 16"/>
          <p:cNvSpPr txBox="1"/>
          <p:nvPr/>
        </p:nvSpPr>
        <p:spPr bwMode="auto">
          <a:xfrm>
            <a:off x="7585970" y="3380960"/>
            <a:ext cx="11506348" cy="7623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320"/>
              </a:lnSpc>
              <a:defRPr/>
            </a:pPr>
            <a:r>
              <a:rPr lang="ru-RU" sz="3200" b="1">
                <a:solidFill>
                  <a:schemeClr val="tx1"/>
                </a:solidFill>
                <a:latin typeface="Tinkoff Sans"/>
              </a:rPr>
              <a:t>Условия, предъявляемые к методу </a:t>
            </a:r>
            <a:r>
              <a:rPr lang="en-US" sz="3200" b="1">
                <a:solidFill>
                  <a:schemeClr val="tx1"/>
                </a:solidFill>
                <a:latin typeface="Tinkoff Sans"/>
              </a:rPr>
              <a:t>equals()</a:t>
            </a:r>
            <a:endParaRPr lang="ru-RU" sz="3200" b="1">
              <a:solidFill>
                <a:schemeClr val="tx1"/>
              </a:solidFill>
              <a:latin typeface="Tinkoff Sans"/>
            </a:endParaRPr>
          </a:p>
          <a:p>
            <a:pPr>
              <a:lnSpc>
                <a:spcPts val="4320"/>
              </a:lnSpc>
              <a:defRPr/>
            </a:pPr>
            <a:r>
              <a:rPr lang="ru-RU" sz="2600">
                <a:solidFill>
                  <a:schemeClr val="tx1"/>
                </a:solidFill>
                <a:latin typeface="Tinkoff Sans"/>
              </a:rPr>
              <a:t>Пусть даны два объекта</a:t>
            </a:r>
            <a:r>
              <a:rPr lang="en-US" sz="2600">
                <a:solidFill>
                  <a:schemeClr val="tx1"/>
                </a:solidFill>
                <a:latin typeface="Tinkoff Sans"/>
              </a:rPr>
              <a:t> </a:t>
            </a:r>
            <a:r>
              <a:rPr lang="en-US" sz="2600" b="1">
                <a:solidFill>
                  <a:schemeClr val="tx1"/>
                </a:solidFill>
                <a:latin typeface="Tinkoff Sans"/>
              </a:rPr>
              <a:t>a</a:t>
            </a:r>
            <a:r>
              <a:rPr lang="en-US" sz="2600">
                <a:solidFill>
                  <a:schemeClr val="tx1"/>
                </a:solidFill>
                <a:latin typeface="Tinkoff Sans"/>
              </a:rPr>
              <a:t> </a:t>
            </a:r>
            <a:r>
              <a:rPr lang="ru-RU" sz="2600">
                <a:solidFill>
                  <a:schemeClr val="tx1"/>
                </a:solidFill>
                <a:latin typeface="Tinkoff Sans"/>
              </a:rPr>
              <a:t>и </a:t>
            </a:r>
            <a:r>
              <a:rPr lang="en-US" sz="2600" b="1">
                <a:solidFill>
                  <a:schemeClr val="tx1"/>
                </a:solidFill>
                <a:latin typeface="Tinkoff Sans"/>
              </a:rPr>
              <a:t>b</a:t>
            </a:r>
            <a:r>
              <a:rPr lang="ru-RU" sz="2600">
                <a:solidFill>
                  <a:schemeClr val="tx1"/>
                </a:solidFill>
                <a:latin typeface="Tinkoff Sans"/>
              </a:rPr>
              <a:t> класса</a:t>
            </a:r>
            <a:r>
              <a:rPr lang="en-US" sz="2600">
                <a:solidFill>
                  <a:schemeClr val="tx1"/>
                </a:solidFill>
                <a:latin typeface="Tinkoff Sans"/>
              </a:rPr>
              <a:t> </a:t>
            </a:r>
            <a:r>
              <a:rPr lang="en-US" sz="2600" b="1">
                <a:solidFill>
                  <a:schemeClr val="tx1"/>
                </a:solidFill>
                <a:latin typeface="Tinkoff Sans"/>
              </a:rPr>
              <a:t>T</a:t>
            </a:r>
            <a:r>
              <a:rPr lang="ru-RU" sz="2600">
                <a:solidFill>
                  <a:schemeClr val="tx1"/>
                </a:solidFill>
                <a:latin typeface="Tinkoff Sans"/>
              </a:rPr>
              <a:t>, такие что </a:t>
            </a:r>
            <a:r>
              <a:rPr lang="en-US" sz="2600" b="1">
                <a:solidFill>
                  <a:schemeClr val="tx1"/>
                </a:solidFill>
                <a:latin typeface="Tinkoff Sans"/>
              </a:rPr>
              <a:t>a != null </a:t>
            </a:r>
            <a:r>
              <a:rPr lang="ru-RU" sz="2600">
                <a:solidFill>
                  <a:schemeClr val="tx1"/>
                </a:solidFill>
                <a:latin typeface="Tinkoff Sans"/>
              </a:rPr>
              <a:t>и </a:t>
            </a:r>
            <a:r>
              <a:rPr lang="en-US" sz="2600" b="1">
                <a:solidFill>
                  <a:schemeClr val="tx1"/>
                </a:solidFill>
                <a:latin typeface="Tinkoff Sans"/>
              </a:rPr>
              <a:t>b != null</a:t>
            </a:r>
            <a:r>
              <a:rPr lang="en-US" sz="2600">
                <a:solidFill>
                  <a:schemeClr val="tx1"/>
                </a:solidFill>
                <a:latin typeface="Tinkoff Sans"/>
              </a:rPr>
              <a:t>. </a:t>
            </a:r>
            <a:endParaRPr/>
          </a:p>
          <a:p>
            <a:pPr>
              <a:lnSpc>
                <a:spcPts val="4320"/>
              </a:lnSpc>
              <a:defRPr/>
            </a:pPr>
            <a:r>
              <a:rPr lang="ru-RU" sz="2600">
                <a:solidFill>
                  <a:schemeClr val="tx1"/>
                </a:solidFill>
                <a:latin typeface="Tinkoff Sans"/>
              </a:rPr>
              <a:t>Реализация метода </a:t>
            </a:r>
            <a:r>
              <a:rPr lang="en-US" sz="2600" b="1">
                <a:solidFill>
                  <a:schemeClr val="tx1"/>
                </a:solidFill>
                <a:latin typeface="Tinkoff Sans"/>
              </a:rPr>
              <a:t>equals()</a:t>
            </a:r>
            <a:r>
              <a:rPr lang="en-US" sz="2600">
                <a:solidFill>
                  <a:schemeClr val="tx1"/>
                </a:solidFill>
                <a:latin typeface="Tinkoff Sans"/>
              </a:rPr>
              <a:t> </a:t>
            </a:r>
            <a:r>
              <a:rPr lang="ru-RU" sz="2600">
                <a:solidFill>
                  <a:schemeClr val="tx1"/>
                </a:solidFill>
                <a:latin typeface="Tinkoff Sans"/>
              </a:rPr>
              <a:t>в классе </a:t>
            </a:r>
            <a:r>
              <a:rPr lang="en-US" sz="2600" b="1">
                <a:solidFill>
                  <a:schemeClr val="tx1"/>
                </a:solidFill>
                <a:latin typeface="Tinkoff Sans"/>
              </a:rPr>
              <a:t>T</a:t>
            </a:r>
            <a:r>
              <a:rPr lang="en-US" sz="2600">
                <a:solidFill>
                  <a:schemeClr val="tx1"/>
                </a:solidFill>
                <a:latin typeface="Tinkoff Sans"/>
              </a:rPr>
              <a:t> </a:t>
            </a:r>
            <a:r>
              <a:rPr lang="ru-RU" sz="2600">
                <a:solidFill>
                  <a:schemeClr val="tx1"/>
                </a:solidFill>
                <a:latin typeface="Tinkoff Sans"/>
              </a:rPr>
              <a:t>должна удовлетворять следующим условиям</a:t>
            </a:r>
            <a:r>
              <a:rPr lang="en-US" sz="2600">
                <a:solidFill>
                  <a:schemeClr val="tx1"/>
                </a:solidFill>
                <a:latin typeface="Tinkoff Sans"/>
              </a:rPr>
              <a:t>:</a:t>
            </a:r>
            <a:endParaRPr lang="ru-RU" sz="2600">
              <a:solidFill>
                <a:schemeClr val="tx1"/>
              </a:solidFill>
              <a:latin typeface="Tinkoff Sans"/>
            </a:endParaRPr>
          </a:p>
          <a:p>
            <a:pPr marL="457200" indent="-457200" algn="l">
              <a:lnSpc>
                <a:spcPct val="130000"/>
              </a:lnSpc>
              <a:buFont typeface="Arial"/>
              <a:buChar char="•"/>
              <a:defRPr/>
            </a:pPr>
            <a:r>
              <a:rPr lang="ru-RU" sz="2600" b="1">
                <a:solidFill>
                  <a:srgbClr val="1F2328"/>
                </a:solidFill>
                <a:latin typeface="Tinkoff Sans"/>
              </a:rPr>
              <a:t>Рефлексивность</a:t>
            </a:r>
            <a:r>
              <a:rPr lang="en-US" sz="2600">
                <a:solidFill>
                  <a:srgbClr val="1F2328"/>
                </a:solidFill>
                <a:latin typeface="Tinkoff Sans"/>
              </a:rPr>
              <a:t> </a:t>
            </a:r>
            <a:endParaRPr lang="en-US" sz="2600" b="0" i="1">
              <a:solidFill>
                <a:srgbClr val="1F2328"/>
              </a:solidFill>
              <a:latin typeface="Cambria Math"/>
            </a:endParaRPr>
          </a:p>
          <a:p>
            <a:pPr algn="l">
              <a:lnSpc>
                <a:spcPct val="13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𝑎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.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𝑒𝑞𝑢𝑎𝑙𝑠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(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𝑎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) ==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𝑡𝑟𝑢𝑒</m:t>
                      </m:r>
                    </m:oMath>
                  </m:oMathPara>
                </a14:m>
              </mc:Choice>
              <mc:Fallback/>
            </mc:AlternateContent>
            <a:endParaRPr lang="en-GB" sz="2600" b="0">
              <a:solidFill>
                <a:srgbClr val="1F2328"/>
              </a:solidFill>
              <a:latin typeface="Tinkoff Sans"/>
            </a:endParaRPr>
          </a:p>
          <a:p>
            <a:pPr marL="457200" indent="-457200" algn="l">
              <a:lnSpc>
                <a:spcPct val="130000"/>
              </a:lnSpc>
              <a:buFont typeface="Arial"/>
              <a:buChar char="•"/>
              <a:defRPr/>
            </a:pPr>
            <a:r>
              <a:rPr lang="ru-RU" sz="2600" b="1">
                <a:solidFill>
                  <a:srgbClr val="1F2328"/>
                </a:solidFill>
                <a:latin typeface="Tinkoff Sans"/>
              </a:rPr>
              <a:t>Симметричность</a:t>
            </a:r>
            <a:r>
              <a:rPr lang="en-US" sz="2600" b="0">
                <a:solidFill>
                  <a:srgbClr val="1F2328"/>
                </a:solidFill>
                <a:latin typeface="Tinkoff Sans"/>
              </a:rPr>
              <a:t> </a:t>
            </a:r>
            <a:endParaRPr lang="en-US" sz="2600" b="0" i="1">
              <a:solidFill>
                <a:srgbClr val="1F2328"/>
              </a:solidFill>
              <a:latin typeface="Cambria Math"/>
            </a:endParaRPr>
          </a:p>
          <a:p>
            <a:pPr algn="l">
              <a:lnSpc>
                <a:spcPct val="13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𝑎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.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𝑒𝑞𝑢𝑎𝑙𝑠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(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𝑏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) == 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𝑏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.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𝑒𝑞𝑢𝑎𝑙𝑠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(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𝑎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GB" sz="2600" b="0">
              <a:solidFill>
                <a:srgbClr val="1F2328"/>
              </a:solidFill>
              <a:latin typeface="Tinkoff Sans"/>
            </a:endParaRPr>
          </a:p>
          <a:p>
            <a:pPr marL="457200" indent="-457200">
              <a:lnSpc>
                <a:spcPct val="130000"/>
              </a:lnSpc>
              <a:buFont typeface="Arial"/>
              <a:buChar char="•"/>
              <a:defRPr/>
            </a:pPr>
            <a:r>
              <a:rPr lang="ru-RU" sz="2600" b="1">
                <a:solidFill>
                  <a:srgbClr val="1F2328"/>
                </a:solidFill>
                <a:latin typeface="Tinkoff Sans"/>
              </a:rPr>
              <a:t>Транзитивность</a:t>
            </a:r>
            <a:r>
              <a:rPr lang="en-US" sz="2600" b="0">
                <a:solidFill>
                  <a:srgbClr val="1F2328"/>
                </a:solidFill>
                <a:latin typeface="Tinkoff Sans"/>
              </a:rPr>
              <a:t> </a:t>
            </a:r>
            <a:endParaRPr lang="en-US" sz="2600" b="0" i="1">
              <a:solidFill>
                <a:srgbClr val="1F2328"/>
              </a:solidFill>
              <a:latin typeface="Cambria Math"/>
            </a:endParaRPr>
          </a:p>
          <a:p>
            <a:pPr lvl="1" indent="0">
              <a:lnSpc>
                <a:spcPct val="13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sz="2600" b="0" i="1">
                              <a:solidFill>
                                <a:srgbClr val="1F232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60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m:rPr/>
                            <a:rPr lang="en-US" sz="2600" b="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m:rPr/>
                            <a:rPr lang="en-US" sz="2600" b="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𝑒𝑞𝑢𝑎𝑙𝑠</m:t>
                          </m:r>
                          <m:d>
                            <m:dPr>
                              <m:ctrlPr>
                                <a:rPr lang="en-US" sz="2600" b="0" i="1">
                                  <a:solidFill>
                                    <a:srgbClr val="1F2328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600" i="1">
                                  <a:solidFill>
                                    <a:srgbClr val="1F2328"/>
                                  </a:solidFill>
                                  <a:latin typeface="Cambria Math"/>
                                </a:rPr>
                                <m:t>𝑏</m:t>
                              </m:r>
                            </m:e>
                          </m:d>
                          <m:r>
                            <m:rPr/>
                            <a:rPr lang="en-US" sz="2600" b="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 &amp;&amp; </m:t>
                          </m:r>
                          <m:r>
                            <m:rPr/>
                            <a:rPr lang="en-US" sz="260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m:rPr/>
                            <a:rPr lang="en-US" sz="2600" b="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m:rPr/>
                            <a:rPr lang="en-US" sz="2600" b="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𝑒𝑞𝑢𝑎𝑙𝑠</m:t>
                          </m:r>
                          <m:d>
                            <m:dPr>
                              <m:ctrlPr>
                                <a:rPr lang="en-US" sz="2600" b="0" i="1">
                                  <a:solidFill>
                                    <a:srgbClr val="1F2328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600" b="0" i="1">
                                  <a:solidFill>
                                    <a:srgbClr val="1F2328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==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𝑡𝑟𝑢𝑒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 →</m:t>
                      </m:r>
                      <m:r>
                        <m:rPr/>
                        <a:rPr lang="en-US" sz="2600" i="1">
                          <a:solidFill>
                            <a:srgbClr val="1F2328"/>
                          </a:solidFill>
                          <a:latin typeface="Cambria Math"/>
                        </a:rPr>
                        <m:t>𝑎</m:t>
                      </m:r>
                      <m:r>
                        <m:rPr/>
                        <a:rPr lang="en-US" sz="2600" i="1">
                          <a:solidFill>
                            <a:srgbClr val="1F2328"/>
                          </a:solidFill>
                          <a:latin typeface="Cambria Math"/>
                        </a:rPr>
                        <m:t>.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𝑒𝑞𝑢𝑎𝑙𝑠</m:t>
                      </m:r>
                      <m:d>
                        <m:dPr>
                          <m:ctrlPr>
                            <a:rPr lang="en-US" sz="2600" b="0" i="1">
                              <a:solidFill>
                                <a:srgbClr val="1F232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60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==</m:t>
                      </m:r>
                      <m:r>
                        <m:rPr/>
                        <a:rPr lang="en-US" sz="2600" b="0" i="1">
                          <a:solidFill>
                            <a:srgbClr val="1F2328"/>
                          </a:solidFill>
                          <a:latin typeface="Cambria Math"/>
                        </a:rPr>
                        <m:t>𝑡𝑟𝑢𝑒</m:t>
                      </m:r>
                    </m:oMath>
                  </m:oMathPara>
                </a14:m>
              </mc:Choice>
              <mc:Fallback/>
            </mc:AlternateContent>
            <a:endParaRPr lang="en-US" sz="2600">
              <a:solidFill>
                <a:srgbClr val="1F2328"/>
              </a:solidFill>
              <a:latin typeface="Tinkoff Sans"/>
            </a:endParaRPr>
          </a:p>
          <a:p>
            <a:pPr marL="457200" indent="-457200">
              <a:lnSpc>
                <a:spcPct val="130000"/>
              </a:lnSpc>
              <a:buFont typeface="Arial"/>
              <a:buChar char="•"/>
              <a:defRPr/>
            </a:pPr>
            <a:r>
              <a:rPr lang="ru-RU" sz="2600" b="1">
                <a:solidFill>
                  <a:srgbClr val="1F2328"/>
                </a:solidFill>
                <a:latin typeface="Tinkoff Sans"/>
              </a:rPr>
              <a:t>Непротиворечивость</a:t>
            </a:r>
            <a:r>
              <a:rPr lang="ru-RU" sz="2600">
                <a:solidFill>
                  <a:srgbClr val="1F2328"/>
                </a:solidFill>
                <a:latin typeface="Tinkoff Sans"/>
              </a:rPr>
              <a:t> </a:t>
            </a:r>
            <a:endParaRPr lang="en-US" sz="2600">
              <a:solidFill>
                <a:srgbClr val="1F2328"/>
              </a:solidFill>
              <a:latin typeface="Tinkoff Sans"/>
            </a:endParaRPr>
          </a:p>
          <a:p>
            <a:pPr>
              <a:lnSpc>
                <a:spcPct val="13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sz="2600" i="1">
                          <a:latin typeface="Cambria Math"/>
                        </a:rPr>
                        <m:t>𝑎</m:t>
                      </m:r>
                      <m:r>
                        <m:rPr/>
                        <a:rPr lang="en-GB" sz="2600" i="1">
                          <a:latin typeface="Cambria Math"/>
                        </a:rPr>
                        <m:t>.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𝑒𝑞𝑢𝑎𝑙𝑠</m:t>
                      </m:r>
                      <m:d>
                        <m:dPr>
                          <m:ctrlPr>
                            <a:rPr lang="en-GB" sz="2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600" b="0" i="1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m:rPr/>
                        <a:rPr lang="en-GB" sz="2600" i="1">
                          <a:latin typeface="Cambria Math"/>
                        </a:rPr>
                        <m:t>=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=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𝑡𝑟𝑢𝑒</m:t>
                      </m:r>
                      <m:r>
                        <m:rPr/>
                        <a:rPr lang="en-GB" sz="2600" i="1">
                          <a:solidFill>
                            <a:srgbClr val="474747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sz="2600" b="0" i="1">
                          <a:solidFill>
                            <a:srgbClr val="474747"/>
                          </a:solidFill>
                          <a:latin typeface="Cambria Math"/>
                        </a:rPr>
                        <m:t>→</m:t>
                      </m:r>
                      <m:r>
                        <m:rPr/>
                        <a:rPr lang="en-GB" sz="2600" i="1">
                          <a:solidFill>
                            <a:srgbClr val="474747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𝑎</m:t>
                      </m:r>
                      <m:r>
                        <m:rPr/>
                        <a:rPr lang="en-GB" sz="2600" i="1">
                          <a:latin typeface="Cambria Math"/>
                        </a:rPr>
                        <m:t>.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𝑒𝑞𝑢𝑎𝑙𝑠</m:t>
                      </m:r>
                      <m:r>
                        <m:rPr/>
                        <a:rPr lang="en-GB" sz="2600" i="1">
                          <a:latin typeface="Cambria Math"/>
                        </a:rPr>
                        <m:t>(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𝑐</m:t>
                      </m:r>
                      <m:r>
                        <m:rPr/>
                        <a:rPr lang="en-GB" sz="2600" i="1">
                          <a:latin typeface="Cambria Math"/>
                        </a:rPr>
                        <m:t>) ==</m:t>
                      </m:r>
                      <m:r>
                        <m:rPr/>
                        <a:rPr lang="en-US" sz="2600" i="1">
                          <a:solidFill>
                            <a:srgbClr val="1F2328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𝑏</m:t>
                      </m:r>
                      <m:r>
                        <m:rPr/>
                        <a:rPr lang="en-GB" sz="2600" i="1">
                          <a:latin typeface="Cambria Math"/>
                        </a:rPr>
                        <m:t>.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𝑒𝑞𝑢𝑎𝑙𝑠</m:t>
                      </m:r>
                      <m:r>
                        <m:rPr/>
                        <a:rPr lang="en-GB" sz="2600" i="1">
                          <a:latin typeface="Cambria Math"/>
                        </a:rPr>
                        <m:t>(</m:t>
                      </m:r>
                      <m:r>
                        <m:rPr/>
                        <a:rPr lang="en-US" sz="2600" b="0" i="1">
                          <a:latin typeface="Cambria Math"/>
                        </a:rPr>
                        <m:t>𝑐</m:t>
                      </m:r>
                      <m:r>
                        <m:rPr/>
                        <a:rPr lang="en-GB" sz="260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ru-RU" sz="2600">
              <a:solidFill>
                <a:srgbClr val="1F2328"/>
              </a:solidFill>
              <a:latin typeface="Tinkoff Sans"/>
            </a:endParaRPr>
          </a:p>
          <a:p>
            <a:pPr marL="457200" indent="-457200" algn="l">
              <a:lnSpc>
                <a:spcPct val="130000"/>
              </a:lnSpc>
              <a:buFont typeface="Arial"/>
              <a:buChar char="•"/>
              <a:defRPr/>
            </a:pPr>
            <a:r>
              <a:rPr lang="ru-RU" sz="2600" b="1">
                <a:solidFill>
                  <a:srgbClr val="1F2328"/>
                </a:solidFill>
                <a:latin typeface="Tinkoff Sans"/>
              </a:rPr>
              <a:t>И</a:t>
            </a:r>
            <a:r>
              <a:rPr lang="ru-RU" sz="2600" b="1">
                <a:solidFill>
                  <a:srgbClr val="1F2328"/>
                </a:solidFill>
                <a:latin typeface="Tinkoff Sans"/>
              </a:rPr>
              <a:t>демпотентность</a:t>
            </a:r>
            <a:r>
              <a:rPr lang="ru-RU" sz="2600" b="0">
                <a:solidFill>
                  <a:srgbClr val="1F2328"/>
                </a:solidFill>
                <a:latin typeface="Tinkoff Sans"/>
              </a:rPr>
              <a:t> (при условии неизменности объектов)</a:t>
            </a:r>
            <a:endParaRPr/>
          </a:p>
          <a:p>
            <a:pPr marL="457200" indent="-457200">
              <a:lnSpc>
                <a:spcPts val="4320"/>
              </a:lnSpc>
              <a:buFont typeface="Arial"/>
              <a:buChar char="•"/>
              <a:defRPr/>
            </a:pPr>
            <a:endParaRPr lang="en-US" sz="2600">
              <a:solidFill>
                <a:schemeClr val="tx1"/>
              </a:solidFill>
              <a:latin typeface="Tinkoff Sans"/>
            </a:endParaRPr>
          </a:p>
        </p:txBody>
      </p:sp>
      <p:sp>
        <p:nvSpPr>
          <p:cNvPr id="1932433960" name="TextBox 17"/>
          <p:cNvSpPr txBox="1"/>
          <p:nvPr/>
        </p:nvSpPr>
        <p:spPr bwMode="auto">
          <a:xfrm>
            <a:off x="7609379" y="1804617"/>
            <a:ext cx="11023938" cy="1292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t">
            <a:spAutoFit/>
          </a:bodyPr>
          <a:lstStyle/>
          <a:p>
            <a:pPr algn="l">
              <a:defRPr/>
            </a:pPr>
            <a:r>
              <a:rPr lang="ru-RU" sz="2600" b="0" i="0">
                <a:solidFill>
                  <a:srgbClr val="1F2328"/>
                </a:solidFill>
                <a:latin typeface="Tinkoff Sans"/>
              </a:rPr>
              <a:t>При сравнении объектов с помощью </a:t>
            </a:r>
            <a:r>
              <a:rPr lang="ru-RU" sz="2600" b="1" i="0">
                <a:solidFill>
                  <a:srgbClr val="1F2328"/>
                </a:solidFill>
                <a:latin typeface="Tinkoff Sans"/>
              </a:rPr>
              <a:t>==</a:t>
            </a:r>
            <a:r>
              <a:rPr lang="ru-RU" sz="2600" b="0" i="0">
                <a:solidFill>
                  <a:srgbClr val="1F2328"/>
                </a:solidFill>
                <a:latin typeface="Tinkoff Sans"/>
              </a:rPr>
              <a:t> сравнение происходит лишь между ссылками. При сравнении с помощью </a:t>
            </a:r>
            <a:r>
              <a:rPr lang="en-GB" sz="2600" b="1" i="0">
                <a:solidFill>
                  <a:srgbClr val="1F2328"/>
                </a:solidFill>
                <a:latin typeface="Tinkoff Sans"/>
              </a:rPr>
              <a:t>equals()</a:t>
            </a:r>
            <a:r>
              <a:rPr lang="en-GB" sz="2600" b="0" i="0">
                <a:solidFill>
                  <a:srgbClr val="1F2328"/>
                </a:solidFill>
                <a:latin typeface="Tinkoff Sans"/>
              </a:rPr>
              <a:t> - </a:t>
            </a:r>
            <a:r>
              <a:rPr lang="ru-RU" sz="2600" b="0" i="0">
                <a:solidFill>
                  <a:srgbClr val="1F2328"/>
                </a:solidFill>
                <a:latin typeface="Tinkoff Sans"/>
              </a:rPr>
              <a:t>по внутреннему состоянию объектов.</a:t>
            </a:r>
            <a:endParaRPr/>
          </a:p>
        </p:txBody>
      </p:sp>
      <p:pic>
        <p:nvPicPr>
          <p:cNvPr id="740371001" name="Рисунок 15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977573" y="1835821"/>
            <a:ext cx="720000" cy="720000"/>
          </a:xfrm>
          <a:prstGeom prst="rect">
            <a:avLst/>
          </a:prstGeom>
        </p:spPr>
      </p:pic>
      <p:pic>
        <p:nvPicPr>
          <p:cNvPr id="1290332974" name="Рисунок 15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977573" y="3558082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539736" name="Текст 43"/>
          <p:cNvSpPr txBox="1"/>
          <p:nvPr/>
        </p:nvSpPr>
        <p:spPr bwMode="auto">
          <a:xfrm>
            <a:off x="4800600" y="573876"/>
            <a:ext cx="14810361" cy="1134680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 marL="0" marR="5079" indent="0" algn="l" defTabSz="457200">
              <a:lnSpc>
                <a:spcPts val="9799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Wingdings"/>
              <a:buNone/>
              <a:defRPr sz="8900" b="0" i="0" u="none" strike="noStrike" cap="none" spc="-99">
                <a:solidFill>
                  <a:srgbClr val="282828"/>
                </a:solidFill>
                <a:latin typeface="Tinkoff Sans"/>
                <a:ea typeface="Tinkoff Sans"/>
                <a:cs typeface="Tinkoff Sans"/>
              </a:defRPr>
            </a:lvl1pPr>
            <a:lvl2pPr marL="1199923" marR="0" indent="-445132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2035649" marR="0" indent="-52606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86300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6186"/>
              </a:lnSpc>
              <a:defRPr/>
            </a:pPr>
            <a:endParaRPr lang="en" sz="6600" b="1">
              <a:latin typeface="Tinkoff Sans"/>
            </a:endParaRPr>
          </a:p>
        </p:txBody>
      </p:sp>
      <p:sp>
        <p:nvSpPr>
          <p:cNvPr id="475136378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FC23E6EF-AA7B-A575-69E4-9767438F3404}" type="slidenum">
              <a:rPr lang="ru-RU"/>
              <a:t/>
            </a:fld>
            <a:endParaRPr lang="ru-RU"/>
          </a:p>
        </p:txBody>
      </p:sp>
      <p:sp>
        <p:nvSpPr>
          <p:cNvPr id="1917884350" name="TextBox 6"/>
          <p:cNvSpPr txBox="1"/>
          <p:nvPr/>
        </p:nvSpPr>
        <p:spPr bwMode="auto">
          <a:xfrm>
            <a:off x="4800600" y="2294211"/>
            <a:ext cx="9915523" cy="523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endParaRPr lang="en" sz="2800" i="0" u="none" strike="noStrike">
              <a:solidFill>
                <a:srgbClr val="1F2328"/>
              </a:solidFill>
              <a:latin typeface="Tinkoff Sans"/>
            </a:endParaRPr>
          </a:p>
        </p:txBody>
      </p:sp>
      <p:sp>
        <p:nvSpPr>
          <p:cNvPr id="831352222" name="TextBox 7"/>
          <p:cNvSpPr txBox="1"/>
          <p:nvPr/>
        </p:nvSpPr>
        <p:spPr bwMode="auto">
          <a:xfrm>
            <a:off x="15606712" y="8219158"/>
            <a:ext cx="9915523" cy="4001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>
            <a:spAutoFit/>
          </a:bodyPr>
          <a:lstStyle/>
          <a:p>
            <a:pPr>
              <a:defRPr/>
            </a:pPr>
            <a:endParaRPr lang="en" sz="2000">
              <a:solidFill>
                <a:srgbClr val="080808"/>
              </a:solidFill>
            </a:endParaRPr>
          </a:p>
        </p:txBody>
      </p:sp>
      <p:sp>
        <p:nvSpPr>
          <p:cNvPr id="1819744148" name="TextBox 12"/>
          <p:cNvSpPr txBox="1"/>
          <p:nvPr/>
        </p:nvSpPr>
        <p:spPr bwMode="auto">
          <a:xfrm flipH="0" flipV="0">
            <a:off x="7216110" y="5866650"/>
            <a:ext cx="11545446" cy="2713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320"/>
              </a:lnSpc>
              <a:defRPr/>
            </a:pPr>
            <a:r>
              <a:rPr lang="ru-RU" sz="2800" b="1">
                <a:solidFill>
                  <a:schemeClr val="tx1"/>
                </a:solidFill>
                <a:latin typeface="Tinkoff Sans"/>
              </a:rPr>
              <a:t>Условия, предъявляемые к методу </a:t>
            </a:r>
            <a:r>
              <a:rPr lang="en-US" sz="2800" b="1">
                <a:latin typeface="Tinkoff Sans"/>
              </a:rPr>
              <a:t>hashCode</a:t>
            </a:r>
            <a:r>
              <a:rPr lang="en-US" sz="2800" b="1">
                <a:solidFill>
                  <a:schemeClr val="tx1"/>
                </a:solidFill>
                <a:latin typeface="Tinkoff Sans"/>
              </a:rPr>
              <a:t>()</a:t>
            </a:r>
            <a:endParaRPr lang="ru-RU" sz="2800" b="1">
              <a:solidFill>
                <a:schemeClr val="tx1"/>
              </a:solidFill>
              <a:latin typeface="Tinkoff Sans"/>
            </a:endParaRPr>
          </a:p>
          <a:p>
            <a:pPr>
              <a:lnSpc>
                <a:spcPts val="4320"/>
              </a:lnSpc>
              <a:defRPr/>
            </a:pPr>
            <a:r>
              <a:rPr lang="ru-RU" sz="2800">
                <a:solidFill>
                  <a:schemeClr val="tx1"/>
                </a:solidFill>
                <a:latin typeface="Tinkoff Sans"/>
              </a:rPr>
              <a:t>Пусть даны два объекта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 a </a:t>
            </a:r>
            <a:r>
              <a:rPr lang="ru-RU" sz="2800">
                <a:solidFill>
                  <a:schemeClr val="tx1"/>
                </a:solidFill>
                <a:latin typeface="Tinkoff Sans"/>
              </a:rPr>
              <a:t>и 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b</a:t>
            </a:r>
            <a:r>
              <a:rPr lang="ru-RU" sz="2800">
                <a:solidFill>
                  <a:schemeClr val="tx1"/>
                </a:solidFill>
                <a:latin typeface="Tinkoff Sans"/>
              </a:rPr>
              <a:t> класса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 T</a:t>
            </a:r>
            <a:r>
              <a:rPr lang="ru-RU" sz="2800">
                <a:solidFill>
                  <a:schemeClr val="tx1"/>
                </a:solidFill>
                <a:latin typeface="Tinkoff Sans"/>
              </a:rPr>
              <a:t>, такие что 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a != null </a:t>
            </a:r>
            <a:r>
              <a:rPr lang="ru-RU" sz="2800">
                <a:solidFill>
                  <a:schemeClr val="tx1"/>
                </a:solidFill>
                <a:latin typeface="Tinkoff Sans"/>
              </a:rPr>
              <a:t>и 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b != null. </a:t>
            </a:r>
            <a:endParaRPr/>
          </a:p>
          <a:p>
            <a:pPr>
              <a:lnSpc>
                <a:spcPts val="4320"/>
              </a:lnSpc>
              <a:defRPr/>
            </a:pPr>
            <a:r>
              <a:rPr lang="ru-RU" sz="2800">
                <a:solidFill>
                  <a:schemeClr val="tx1"/>
                </a:solidFill>
                <a:latin typeface="Tinkoff Sans"/>
              </a:rPr>
              <a:t>Реализация метода </a:t>
            </a:r>
            <a:r>
              <a:rPr lang="en-GB" sz="2800" b="1" i="0">
                <a:solidFill>
                  <a:srgbClr val="1F2328"/>
                </a:solidFill>
                <a:latin typeface="Tinkoff Sans"/>
              </a:rPr>
              <a:t>hashCode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() </a:t>
            </a:r>
            <a:r>
              <a:rPr lang="ru-RU" sz="2800">
                <a:solidFill>
                  <a:schemeClr val="tx1"/>
                </a:solidFill>
                <a:latin typeface="Tinkoff Sans"/>
              </a:rPr>
              <a:t>в классе 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T </a:t>
            </a:r>
            <a:r>
              <a:rPr lang="ru-RU" sz="2800">
                <a:solidFill>
                  <a:schemeClr val="tx1"/>
                </a:solidFill>
                <a:latin typeface="Tinkoff Sans"/>
              </a:rPr>
              <a:t>должна удовлетворять следующему условию</a:t>
            </a:r>
            <a:r>
              <a:rPr lang="en-US" sz="2800">
                <a:solidFill>
                  <a:schemeClr val="tx1"/>
                </a:solidFill>
                <a:latin typeface="Tinkoff Sans"/>
              </a:rPr>
              <a:t>:</a:t>
            </a:r>
            <a:endParaRPr lang="ru-RU" sz="2800">
              <a:solidFill>
                <a:schemeClr val="tx1"/>
              </a:solidFill>
              <a:latin typeface="Tinkoff Sans"/>
            </a:endParaRPr>
          </a:p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𝑎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.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𝑒𝑞𝑢𝑎𝑙𝑠</m:t>
                      </m:r>
                      <m:d>
                        <m:dPr>
                          <m:ctrlPr>
                            <a:rPr lang="en-US" sz="2800" b="0" i="1">
                              <a:solidFill>
                                <a:srgbClr val="1F232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800" b="0" i="1">
                              <a:solidFill>
                                <a:srgbClr val="1F2328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m:rPr/>
                        <a:rPr lang="ru-RU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→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𝑎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.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h𝑎𝑠h𝐶𝑜𝑑𝑒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()==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𝑏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.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h𝑎𝑠h𝐶𝑜𝑑𝑒</m:t>
                      </m:r>
                      <m:r>
                        <m:rPr/>
                        <a:rPr lang="en-US" sz="2800" b="0" i="1">
                          <a:solidFill>
                            <a:srgbClr val="1F2328"/>
                          </a:solidFill>
                          <a:latin typeface="Cambria Math"/>
                        </a:rPr>
                        <m:t>()</m:t>
                      </m:r>
                    </m:oMath>
                  </m:oMathPara>
                </a14:m>
              </mc:Choice>
              <mc:Fallback/>
            </mc:AlternateContent>
            <a:endParaRPr lang="en-GB" sz="2800" b="0">
              <a:solidFill>
                <a:srgbClr val="1F2328"/>
              </a:solidFill>
              <a:latin typeface="Tinkoff Sans"/>
            </a:endParaRPr>
          </a:p>
        </p:txBody>
      </p:sp>
      <p:sp>
        <p:nvSpPr>
          <p:cNvPr id="461966217" name="TextBox 13"/>
          <p:cNvSpPr txBox="1"/>
          <p:nvPr/>
        </p:nvSpPr>
        <p:spPr bwMode="auto">
          <a:xfrm flipH="0" flipV="0">
            <a:off x="7636248" y="2012735"/>
            <a:ext cx="10941464" cy="22253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t">
            <a:spAutoFit/>
          </a:bodyPr>
          <a:lstStyle/>
          <a:p>
            <a:pPr>
              <a:defRPr/>
            </a:pPr>
            <a:r>
              <a:rPr lang="ru-RU" sz="2800" b="0" i="0">
                <a:solidFill>
                  <a:srgbClr val="1F2328"/>
                </a:solidFill>
                <a:latin typeface="Tinkoff Sans"/>
              </a:rPr>
              <a:t>Метод </a:t>
            </a:r>
            <a:r>
              <a:rPr lang="en-GB" sz="2800" b="1" i="0">
                <a:solidFill>
                  <a:srgbClr val="1F2328"/>
                </a:solidFill>
                <a:latin typeface="Tinkoff Sans"/>
              </a:rPr>
              <a:t>hashCode</a:t>
            </a:r>
            <a:r>
              <a:rPr lang="en-GB" sz="2800" b="1" i="0">
                <a:solidFill>
                  <a:srgbClr val="1F2328"/>
                </a:solidFill>
                <a:latin typeface="Tinkoff Sans"/>
              </a:rPr>
              <a:t>()</a:t>
            </a:r>
            <a:r>
              <a:rPr lang="en-GB" sz="2800" b="0" i="0">
                <a:solidFill>
                  <a:srgbClr val="1F2328"/>
                </a:solidFill>
                <a:latin typeface="Tinkoff Sans"/>
              </a:rPr>
              <a:t> </a:t>
            </a:r>
            <a:r>
              <a:rPr lang="ru-RU" sz="2800">
                <a:solidFill>
                  <a:srgbClr val="1F2328"/>
                </a:solidFill>
                <a:latin typeface="Tinkoff Sans"/>
              </a:rPr>
              <a:t>позволяет посчитать хэш-объекта – целочисленное значение, которое может быть ассоциировано с каждым объектом в </a:t>
            </a:r>
            <a:r>
              <a:rPr lang="en-US" sz="2800">
                <a:solidFill>
                  <a:srgbClr val="1F2328"/>
                </a:solidFill>
                <a:latin typeface="Tinkoff Sans"/>
              </a:rPr>
              <a:t>Java. </a:t>
            </a:r>
            <a:endParaRPr/>
          </a:p>
          <a:p>
            <a:pPr>
              <a:defRPr/>
            </a:pPr>
            <a:r>
              <a:rPr lang="ru-RU" sz="2800">
                <a:solidFill>
                  <a:srgbClr val="1F2328"/>
                </a:solidFill>
                <a:latin typeface="Tinkoff Sans"/>
              </a:rPr>
              <a:t>Так как тип возвращаемого значения – </a:t>
            </a:r>
            <a:r>
              <a:rPr lang="en-US" sz="2800" b="1">
                <a:solidFill>
                  <a:srgbClr val="1F2328"/>
                </a:solidFill>
                <a:latin typeface="Tinkoff Sans"/>
              </a:rPr>
              <a:t>int</a:t>
            </a:r>
            <a:r>
              <a:rPr lang="en-US" sz="2800">
                <a:solidFill>
                  <a:srgbClr val="1F2328"/>
                </a:solidFill>
                <a:latin typeface="Tinkoff Sans"/>
              </a:rPr>
              <a:t>, </a:t>
            </a:r>
            <a:r>
              <a:rPr lang="ru-RU" sz="2800">
                <a:solidFill>
                  <a:srgbClr val="1F2328"/>
                </a:solidFill>
                <a:latin typeface="Tinkoff Sans"/>
              </a:rPr>
              <a:t>значение </a:t>
            </a:r>
            <a:r>
              <a:rPr lang="en-GB" sz="2800" b="1" i="0">
                <a:solidFill>
                  <a:srgbClr val="1F2328"/>
                </a:solidFill>
                <a:latin typeface="Tinkoff Sans"/>
              </a:rPr>
              <a:t>hashCode</a:t>
            </a:r>
            <a:r>
              <a:rPr lang="en-GB" sz="2800" b="1" i="0">
                <a:solidFill>
                  <a:srgbClr val="1F2328"/>
                </a:solidFill>
                <a:latin typeface="Tinkoff Sans"/>
              </a:rPr>
              <a:t>() </a:t>
            </a:r>
            <a:r>
              <a:rPr lang="ru-RU" sz="2800" i="0">
                <a:solidFill>
                  <a:srgbClr val="1F2328"/>
                </a:solidFill>
                <a:latin typeface="Tinkoff Sans"/>
              </a:rPr>
              <a:t>не уникально, и ограничено </a:t>
            </a:r>
            <a:r>
              <a:rPr lang="en-US" sz="2800" b="1" i="0">
                <a:solidFill>
                  <a:srgbClr val="1F2328"/>
                </a:solidFill>
                <a:latin typeface="Tinkoff Sans"/>
              </a:rPr>
              <a:t>Integer.MAX_VALUE</a:t>
            </a:r>
            <a:r>
              <a:rPr lang="en-US" sz="2800" i="0">
                <a:solidFill>
                  <a:srgbClr val="1F2328"/>
                </a:solidFill>
                <a:latin typeface="Tinkoff Sans"/>
              </a:rPr>
              <a:t>.</a:t>
            </a:r>
            <a:endParaRPr lang="ru-RU" sz="2800" b="0" i="0">
              <a:solidFill>
                <a:srgbClr val="1F2328"/>
              </a:solidFill>
              <a:latin typeface="Tinkoff Sans"/>
            </a:endParaRPr>
          </a:p>
        </p:txBody>
      </p:sp>
      <p:sp>
        <p:nvSpPr>
          <p:cNvPr id="1703069929" name="Текст 17"/>
          <p:cNvSpPr txBox="1"/>
          <p:nvPr/>
        </p:nvSpPr>
        <p:spPr bwMode="auto">
          <a:xfrm>
            <a:off x="0" y="2397618"/>
            <a:ext cx="5404518" cy="2800516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no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0" marR="0" indent="11442" algn="ctr">
              <a:lnSpc>
                <a:spcPts val="6999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/>
            </a:pPr>
            <a: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Метод </a:t>
            </a:r>
            <a:b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</a:br>
            <a: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hashCode</a:t>
            </a:r>
            <a: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(</a:t>
            </a:r>
            <a: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)</a:t>
            </a:r>
            <a:endParaRPr lang="ru-RU" sz="6000" b="1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1992184086" name="Рисунок 15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004444" y="1942201"/>
            <a:ext cx="720000" cy="720000"/>
          </a:xfrm>
          <a:prstGeom prst="rect">
            <a:avLst/>
          </a:prstGeom>
        </p:spPr>
      </p:pic>
      <p:pic>
        <p:nvPicPr>
          <p:cNvPr id="130250259" name="Рисунок 15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004444" y="5781129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469131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07015484-9C81-B4EA-3D7A-7AA4C224E502}" type="slidenum">
              <a:rPr lang="ru-RU"/>
              <a:t/>
            </a:fld>
            <a:endParaRPr lang="ru-RU"/>
          </a:p>
        </p:txBody>
      </p:sp>
      <p:sp>
        <p:nvSpPr>
          <p:cNvPr id="998071096" name=""/>
          <p:cNvSpPr txBox="1"/>
          <p:nvPr/>
        </p:nvSpPr>
        <p:spPr bwMode="auto">
          <a:xfrm flipH="0" flipV="0">
            <a:off x="2740377" y="-309071"/>
            <a:ext cx="13357455" cy="10062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6000"/>
              <a:t>Коллекции, </a:t>
            </a:r>
            <a:r>
              <a:rPr lang="ru-RU" sz="6000"/>
              <a:t>использующие</a:t>
            </a:r>
            <a:r>
              <a:rPr lang="ru-RU" sz="6000"/>
              <a:t> </a:t>
            </a:r>
            <a:r>
              <a:rPr sz="6000"/>
              <a:t>hashCode</a:t>
            </a:r>
            <a:endParaRPr sz="6000"/>
          </a:p>
        </p:txBody>
      </p:sp>
      <p:sp>
        <p:nvSpPr>
          <p:cNvPr id="90650476" name=""/>
          <p:cNvSpPr/>
          <p:nvPr/>
        </p:nvSpPr>
        <p:spPr bwMode="auto">
          <a:xfrm flipH="0" flipV="0">
            <a:off x="896231" y="1366837"/>
            <a:ext cx="5056963" cy="118908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ru-RU"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Основные </a:t>
            </a:r>
            <a:r>
              <a:rPr lang="ru-RU"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представители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: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 </a:t>
            </a:r>
            <a:b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</a:b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HashMap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, 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HashSet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, </a:t>
            </a:r>
            <a:b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</a:b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LinkedHashMap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, 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LinkedHashSet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.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 </a:t>
            </a:r>
            <a:r>
              <a:rPr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 </a:t>
            </a:r>
            <a:endParaRPr sz="2400" b="0">
              <a:latin typeface="T-Sans"/>
              <a:ea typeface="T-Sans"/>
              <a:cs typeface="T-Sans"/>
            </a:endParaRPr>
          </a:p>
        </p:txBody>
      </p:sp>
      <p:graphicFrame>
        <p:nvGraphicFramePr>
          <p:cNvPr id="524552944" name="Google Shape;108;p15"/>
          <p:cNvGraphicFramePr>
            <a:graphicFrameLocks xmlns:a="http://schemas.openxmlformats.org/drawingml/2006/main"/>
          </p:cNvGraphicFramePr>
          <p:nvPr/>
        </p:nvGraphicFramePr>
        <p:xfrm>
          <a:off x="7392499" y="3168331"/>
          <a:ext cx="12544714" cy="5058079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3276038"/>
                <a:gridCol w="3432726"/>
                <a:gridCol w="4707060"/>
              </a:tblGrid>
              <a:tr h="6508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2600" b="1">
                          <a:solidFill>
                            <a:srgbClr val="333333"/>
                          </a:solidFill>
                        </a:rPr>
                        <a:t>Операция</a:t>
                      </a:r>
                      <a:endParaRPr sz="2600" b="1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 anchor="ctr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-RU" sz="2600" b="1">
                          <a:solidFill>
                            <a:srgbClr val="333333"/>
                          </a:solidFill>
                        </a:rPr>
                        <a:t>Реализация</a:t>
                      </a:r>
                      <a:endParaRPr sz="2600" b="1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 anchor="ctr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-RU" sz="2600" b="1">
                          <a:solidFill>
                            <a:srgbClr val="333333"/>
                          </a:solidFill>
                        </a:rPr>
                        <a:t>Сложность</a:t>
                      </a:r>
                      <a:endParaRPr sz="2600" b="1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 anchor="ctr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</a:tr>
              <a:tr h="1004719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2200">
                          <a:solidFill>
                            <a:srgbClr val="333333"/>
                          </a:solidFill>
                        </a:rPr>
                        <a:t>Поиск по ключу</a:t>
                      </a:r>
                      <a:endParaRPr/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get(K key)</a:t>
                      </a:r>
                      <a:endParaRPr sz="2200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220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O(1) </a:t>
                      </a:r>
                      <a:endParaRPr/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220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O(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logN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) – </a:t>
                      </a:r>
                      <a:r>
                        <a:rPr lang="ru-RU" sz="2200">
                          <a:solidFill>
                            <a:srgbClr val="333333"/>
                          </a:solidFill>
                        </a:rPr>
                        <a:t>коллизии в дереве</a:t>
                      </a:r>
                      <a:endParaRPr/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</a:tr>
              <a:tr h="1004719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2200">
                          <a:solidFill>
                            <a:srgbClr val="333333"/>
                          </a:solidFill>
                        </a:rPr>
                        <a:t>Проверка ключа</a:t>
                      </a:r>
                      <a:endParaRPr lang="ru-RU" sz="2200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contains(K key)</a:t>
                      </a:r>
                      <a:endParaRPr lang="en-US" sz="2200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200" b="0" i="0" u="none" strike="noStrike" cap="none" spc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O(1) </a:t>
                      </a:r>
                      <a:endParaRPr sz="2200"/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2200" b="0" i="0" u="none" strike="noStrike" cap="none" spc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0" i="0" u="none" strike="noStrike" cap="none" spc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O(</a:t>
                      </a:r>
                      <a:r>
                        <a:rPr lang="en-US" sz="2200" b="0" i="0" u="none" strike="noStrike" cap="none" spc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logN</a:t>
                      </a:r>
                      <a:r>
                        <a:rPr lang="en-US" sz="2200" b="0" i="0" u="none" strike="noStrike" cap="none" spc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) – </a:t>
                      </a:r>
                      <a:r>
                        <a:rPr lang="ru-RU" sz="2200" b="0" i="0" u="none" strike="noStrike" cap="none" spc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коллизии в дереве</a:t>
                      </a:r>
                      <a:endParaRPr sz="2200"/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</a:tr>
              <a:tr h="1004719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2200">
                          <a:solidFill>
                            <a:srgbClr val="333333"/>
                          </a:solidFill>
                        </a:rPr>
                        <a:t>Вставка элемента</a:t>
                      </a:r>
                      <a:endParaRPr sz="2200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put(K key, V value)</a:t>
                      </a:r>
                      <a:endParaRPr sz="2200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O(1)</a:t>
                      </a:r>
                      <a:endParaRPr lang="ru-RU" sz="2200">
                        <a:solidFill>
                          <a:srgbClr val="333333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O(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logN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) – </a:t>
                      </a:r>
                      <a:r>
                        <a:rPr lang="ru-RU" sz="2200">
                          <a:solidFill>
                            <a:srgbClr val="333333"/>
                          </a:solidFill>
                        </a:rPr>
                        <a:t>коллизии в дереве</a:t>
                      </a:r>
                      <a:endParaRPr/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</a:tr>
              <a:tr h="1004719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2200">
                          <a:solidFill>
                            <a:srgbClr val="333333"/>
                          </a:solidFill>
                        </a:rPr>
                        <a:t>Удаление</a:t>
                      </a:r>
                      <a:endParaRPr sz="2200">
                        <a:solidFill>
                          <a:srgbClr val="333333"/>
                        </a:solidFill>
                      </a:endParaRPr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remove(</a:t>
                      </a:r>
                      <a:r>
                        <a:rPr lang="en-US" sz="2200" b="0" i="0" u="none" strike="noStrike" cap="none" spc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K key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)</a:t>
                      </a:r>
                      <a:endParaRPr/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O(1)</a:t>
                      </a:r>
                      <a:endParaRPr lang="ru-RU" sz="2200">
                        <a:solidFill>
                          <a:srgbClr val="333333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O(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logN</a:t>
                      </a:r>
                      <a:r>
                        <a:rPr lang="en-US" sz="2200">
                          <a:solidFill>
                            <a:srgbClr val="333333"/>
                          </a:solidFill>
                        </a:rPr>
                        <a:t>) – </a:t>
                      </a:r>
                      <a:r>
                        <a:rPr lang="ru-RU" sz="2200">
                          <a:solidFill>
                            <a:srgbClr val="333333"/>
                          </a:solidFill>
                        </a:rPr>
                        <a:t>коллизии в дереве</a:t>
                      </a:r>
                      <a:endParaRPr/>
                    </a:p>
                  </a:txBody>
                  <a:tcPr marL="197959" marR="197959" marT="197959" marB="197959">
                    <a:lnL w="9524" algn="ctr">
                      <a:solidFill>
                        <a:srgbClr val="AFAFAF"/>
                      </a:solidFill>
                      <a:prstDash val="solid"/>
                    </a:lnL>
                    <a:lnR w="9524" algn="ctr">
                      <a:solidFill>
                        <a:srgbClr val="AFAFAF"/>
                      </a:solidFill>
                      <a:prstDash val="solid"/>
                    </a:lnR>
                    <a:lnT w="9524" algn="ctr">
                      <a:solidFill>
                        <a:srgbClr val="AFAFAF"/>
                      </a:solidFill>
                      <a:prstDash val="solid"/>
                    </a:lnT>
                    <a:lnB w="9524" algn="ctr">
                      <a:solidFill>
                        <a:srgbClr val="AFAFA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61874574" name=""/>
          <p:cNvSpPr/>
          <p:nvPr/>
        </p:nvSpPr>
        <p:spPr bwMode="auto">
          <a:xfrm flipH="0" flipV="0">
            <a:off x="531459" y="4014997"/>
            <a:ext cx="5792988" cy="2530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lang="ru-RU" sz="32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hashCode используется для быстрого сравнения объектов между собой, и для ускорения поиска положения ключа внутри коллекции</a:t>
            </a:r>
            <a:endParaRPr sz="3200" b="0">
              <a:latin typeface="T-Sans"/>
              <a:ea typeface="T-Sans"/>
              <a:cs typeface="T-Sans"/>
            </a:endParaRPr>
          </a:p>
        </p:txBody>
      </p:sp>
      <p:sp>
        <p:nvSpPr>
          <p:cNvPr id="1619242965" name=""/>
          <p:cNvSpPr/>
          <p:nvPr/>
        </p:nvSpPr>
        <p:spPr bwMode="auto">
          <a:xfrm flipH="0" flipV="0">
            <a:off x="1528711" y="8818881"/>
            <a:ext cx="4424483" cy="118908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r">
              <a:defRPr/>
            </a:pPr>
            <a:r>
              <a:rPr lang="ru-RU"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Время поиска по ключу </a:t>
            </a:r>
            <a:br>
              <a:rPr lang="ru-RU"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-Sans"/>
              </a:rPr>
              <a:t>меньше зависит</a:t>
            </a:r>
            <a:br>
              <a:rPr lang="ru-RU"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</a:br>
            <a:r>
              <a:rPr lang="ru-RU" sz="2400" b="0" i="0" u="none">
                <a:solidFill>
                  <a:srgbClr val="000000"/>
                </a:solidFill>
                <a:latin typeface="T-Sans"/>
                <a:ea typeface="T-Sans"/>
                <a:cs typeface="T-Sans"/>
              </a:rPr>
              <a:t>от размера коллекции</a:t>
            </a:r>
            <a:endParaRPr sz="2400" b="0">
              <a:latin typeface="T-Sans"/>
              <a:ea typeface="T-Sans"/>
              <a:cs typeface="T-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552" name="TextBox 1"/>
          <p:cNvSpPr txBox="1"/>
          <p:nvPr/>
        </p:nvSpPr>
        <p:spPr bwMode="auto">
          <a:xfrm flipH="0" flipV="0">
            <a:off x="1731609" y="3353282"/>
            <a:ext cx="9671037" cy="4461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8000" b="1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  <a:t>Почему для Map ключ должен быть </a:t>
            </a:r>
            <a:r>
              <a:rPr lang="ru-RU" sz="8000" b="1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  <a:t>неизменяемым</a:t>
            </a:r>
            <a:r>
              <a:rPr lang="ru-RU" sz="8000" b="1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  <a:t>?</a:t>
            </a:r>
            <a:endParaRPr lang="ru-RU" sz="8000"/>
          </a:p>
        </p:txBody>
      </p:sp>
      <p:sp>
        <p:nvSpPr>
          <p:cNvPr id="159317786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27F7D208-32E3-A1BB-DC0A-0A1E08A2FD50}" type="slidenum">
              <a:rPr lang="ru-RU"/>
              <a:t/>
            </a:fld>
            <a:endParaRPr lang="ru-RU"/>
          </a:p>
        </p:txBody>
      </p:sp>
      <p:pic>
        <p:nvPicPr>
          <p:cNvPr id="759913576" name="Рисунок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899966">
            <a:off x="9539488" y="698701"/>
            <a:ext cx="9404604" cy="94046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840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1C777232-2D48-521C-0922-BCF37BB86C21}" type="slidenum">
              <a:rPr lang="ru-RU"/>
              <a:t/>
            </a:fld>
            <a:endParaRPr lang="ru-RU"/>
          </a:p>
        </p:txBody>
      </p:sp>
      <p:sp>
        <p:nvSpPr>
          <p:cNvPr id="1522211102" name="TextBox 4"/>
          <p:cNvSpPr txBox="1"/>
          <p:nvPr/>
        </p:nvSpPr>
        <p:spPr bwMode="auto">
          <a:xfrm flipH="0" flipV="0">
            <a:off x="611550" y="1321531"/>
            <a:ext cx="18556139" cy="895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 algn="ctr">
              <a:defRPr/>
            </a:pPr>
            <a:r>
              <a:rPr lang="ru-RU"/>
              <a:t>Практика</a:t>
            </a:r>
            <a:endParaRPr/>
          </a:p>
        </p:txBody>
      </p:sp>
      <p:pic>
        <p:nvPicPr>
          <p:cNvPr id="713828351" name="Рисунок 2"/>
          <p:cNvPicPr>
            <a:picLocks noChangeAspect="1"/>
          </p:cNvPicPr>
          <p:nvPr/>
        </p:nvPicPr>
        <p:blipFill>
          <a:blip r:embed="rId2"/>
          <a:srcRect l="0" t="0" r="0" b="30420"/>
          <a:stretch/>
        </p:blipFill>
        <p:spPr bwMode="auto">
          <a:xfrm flipH="0" flipV="0">
            <a:off x="8843056" y="2518833"/>
            <a:ext cx="11483961" cy="7990416"/>
          </a:xfrm>
          <a:prstGeom prst="rect">
            <a:avLst/>
          </a:prstGeom>
        </p:spPr>
      </p:pic>
      <p:sp>
        <p:nvSpPr>
          <p:cNvPr id="2025141325" name="TextBox 4"/>
          <p:cNvSpPr txBox="1"/>
          <p:nvPr/>
        </p:nvSpPr>
        <p:spPr bwMode="auto">
          <a:xfrm flipH="0" flipV="0">
            <a:off x="1366837" y="3772681"/>
            <a:ext cx="10024822" cy="3851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 marL="482137" indent="-482137">
              <a:lnSpc>
                <a:spcPct val="200000"/>
              </a:lnSpc>
              <a:buClrTx/>
              <a:buSzTx/>
              <a:buFont typeface="Liberation Sans"/>
              <a:buChar char="•"/>
              <a:defRPr/>
            </a:pPr>
            <a:r>
              <a:rPr lang="ru-RU" sz="3600"/>
              <a:t>перепишем репозиторий инструментов</a:t>
            </a:r>
            <a:endParaRPr lang="ru-RU" sz="3600"/>
          </a:p>
          <a:p>
            <a:pPr marL="482137" indent="-482137">
              <a:lnSpc>
                <a:spcPct val="200000"/>
              </a:lnSpc>
              <a:buClrTx/>
              <a:buSzTx/>
              <a:buFont typeface="Liberation Sans"/>
              <a:buChar char="•"/>
              <a:defRPr/>
            </a:pPr>
            <a:r>
              <a:rPr lang="ru-RU" sz="3600"/>
              <a:t>добавим новую команду watch</a:t>
            </a:r>
            <a:endParaRPr lang="ru-RU" sz="3600"/>
          </a:p>
          <a:p>
            <a:pPr marL="371994" indent="-371994">
              <a:lnSpc>
                <a:spcPct val="100000"/>
              </a:lnSpc>
              <a:buClrTx/>
              <a:buSzTx/>
              <a:buFont typeface="Liberation Sans"/>
              <a:buChar char="–"/>
              <a:defRPr/>
            </a:pPr>
            <a:r>
              <a:rPr lang="ru-RU" sz="2600" b="0"/>
              <a:t>без параметров выводит список инструментов, которые отслеживает пользователь;</a:t>
            </a:r>
            <a:endParaRPr lang="ru-RU" sz="2600" b="0"/>
          </a:p>
          <a:p>
            <a:pPr marL="371994" indent="-371994">
              <a:lnSpc>
                <a:spcPct val="100000"/>
              </a:lnSpc>
              <a:buClrTx/>
              <a:buSzTx/>
              <a:buFont typeface="Liberation Sans"/>
              <a:buChar char="–"/>
              <a:defRPr/>
            </a:pPr>
            <a:r>
              <a:rPr lang="ru-RU" sz="2600" b="0"/>
              <a:t>при передаче одного или нескольких тикеров добавляет уникальные тикеры в список отслеживаемых инструментов.</a:t>
            </a:r>
            <a:endParaRPr lang="ru-RU"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086760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7" y="10623145"/>
            <a:ext cx="1068944" cy="246219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FEF6B51D-9CEC-110F-AA49-AEA2367AE2F4}" type="slidenum">
              <a:rPr lang="ru-RU"/>
              <a:t/>
            </a:fld>
            <a:endParaRPr lang="ru-RU"/>
          </a:p>
        </p:txBody>
      </p:sp>
      <p:sp>
        <p:nvSpPr>
          <p:cNvPr id="626570367" name="TextBox 4"/>
          <p:cNvSpPr txBox="1"/>
          <p:nvPr/>
        </p:nvSpPr>
        <p:spPr bwMode="auto">
          <a:xfrm flipH="0" flipV="0">
            <a:off x="611550" y="1321531"/>
            <a:ext cx="18556139" cy="895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 algn="ctr">
              <a:defRPr/>
            </a:pPr>
            <a:r>
              <a:rPr lang="ru-RU"/>
              <a:t>Практика</a:t>
            </a:r>
            <a:endParaRPr/>
          </a:p>
        </p:txBody>
      </p:sp>
      <p:sp>
        <p:nvSpPr>
          <p:cNvPr id="741503623" name="TextBox 4"/>
          <p:cNvSpPr txBox="1"/>
          <p:nvPr/>
        </p:nvSpPr>
        <p:spPr bwMode="auto">
          <a:xfrm flipH="0" flipV="0">
            <a:off x="1366837" y="4173781"/>
            <a:ext cx="9780082" cy="3150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 marL="482137" indent="-482137">
              <a:lnSpc>
                <a:spcPct val="200000"/>
              </a:lnSpc>
              <a:buClrTx/>
              <a:buSzTx/>
              <a:buFont typeface="Liberation Sans"/>
              <a:buChar char="•"/>
              <a:defRPr/>
            </a:pPr>
            <a:r>
              <a:rPr lang="ru-RU" sz="3600"/>
              <a:t>добавим новую команду quote</a:t>
            </a:r>
            <a:endParaRPr lang="ru-RU" sz="3600"/>
          </a:p>
          <a:p>
            <a:pPr marL="371994" indent="-371994">
              <a:lnSpc>
                <a:spcPct val="100000"/>
              </a:lnSpc>
              <a:buClrTx/>
              <a:buSzTx/>
              <a:buFont typeface="Liberation Sans"/>
              <a:buChar char="–"/>
              <a:defRPr/>
            </a:pPr>
            <a:r>
              <a:rPr lang="ru-RU" sz="2600" b="0"/>
              <a:t>команда выводит котировки по одному </a:t>
            </a:r>
            <a:br>
              <a:rPr lang="ru-RU" sz="2600" b="0"/>
            </a:br>
            <a:r>
              <a:rPr lang="ru-RU" sz="2600" b="0"/>
              <a:t>или нескольким тикерам;</a:t>
            </a:r>
            <a:endParaRPr lang="ru-RU" sz="2600" b="0"/>
          </a:p>
          <a:p>
            <a:pPr marL="371994" indent="-371994">
              <a:lnSpc>
                <a:spcPct val="100000"/>
              </a:lnSpc>
              <a:buClrTx/>
              <a:buSzTx/>
              <a:buFont typeface="Liberation Sans"/>
              <a:buChar char="–"/>
              <a:defRPr/>
            </a:pPr>
            <a:r>
              <a:rPr lang="ru-RU" sz="2600" b="0"/>
              <a:t>для получения котировок используется </a:t>
            </a:r>
            <a:r>
              <a:rPr lang="ru-RU" sz="2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  <a:t>QuoteService</a:t>
            </a:r>
            <a:r>
              <a:rPr lang="ru-RU" sz="2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  <a:t>;</a:t>
            </a:r>
            <a:endParaRPr lang="ru-RU" sz="2600" b="0" i="0" u="none" strike="noStrike" cap="none" spc="0">
              <a:ln>
                <a:noFill/>
              </a:ln>
              <a:solidFill>
                <a:schemeClr val="accent2"/>
              </a:solidFill>
              <a:latin typeface="Tinkoff Sans"/>
              <a:ea typeface="Tinkoff Sans"/>
              <a:cs typeface="Tinkoff Sans"/>
            </a:endParaRPr>
          </a:p>
          <a:p>
            <a:pPr marL="371994" indent="-371994">
              <a:lnSpc>
                <a:spcPct val="100000"/>
              </a:lnSpc>
              <a:buClrTx/>
              <a:buSzTx/>
              <a:buFont typeface="Liberation Sans"/>
              <a:buChar char="–"/>
              <a:defRPr/>
            </a:pPr>
            <a:r>
              <a:rPr lang="ru-RU" sz="2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  <a:t>для одинаковых тикеров </a:t>
            </a:r>
            <a:br>
              <a:rPr lang="ru-RU" sz="2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</a:br>
            <a:r>
              <a:rPr lang="ru-RU" sz="2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Tinkoff Sans"/>
              </a:rPr>
              <a:t>повторный запрос котировок не производится</a:t>
            </a:r>
            <a:endParaRPr lang="ru-RU" sz="2600"/>
          </a:p>
        </p:txBody>
      </p:sp>
      <p:pic>
        <p:nvPicPr>
          <p:cNvPr id="475745400" name="Рисунок 4"/>
          <p:cNvPicPr>
            <a:picLocks noChangeAspect="1"/>
          </p:cNvPicPr>
          <p:nvPr/>
        </p:nvPicPr>
        <p:blipFill>
          <a:blip r:embed="rId2"/>
          <a:srcRect l="15561" t="20341" r="9447" b="24944"/>
          <a:stretch/>
        </p:blipFill>
        <p:spPr bwMode="auto">
          <a:xfrm flipH="0" flipV="0">
            <a:off x="9766245" y="3077451"/>
            <a:ext cx="11525541" cy="84089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82006490" name="Группа 6"/>
          <p:cNvGrpSpPr/>
          <p:nvPr/>
        </p:nvGrpSpPr>
        <p:grpSpPr bwMode="auto">
          <a:xfrm flipH="0" flipV="0">
            <a:off x="395286" y="632804"/>
            <a:ext cx="9432924" cy="10132031"/>
            <a:chOff x="0" y="0"/>
            <a:chExt cx="9432924" cy="10132031"/>
          </a:xfrm>
        </p:grpSpPr>
        <p:sp>
          <p:nvSpPr>
            <p:cNvPr id="1037617467" name="Скругленный прямоугольник 8"/>
            <p:cNvSpPr/>
            <p:nvPr/>
          </p:nvSpPr>
          <p:spPr bwMode="auto">
            <a:xfrm>
              <a:off x="0" y="0"/>
              <a:ext cx="9432924" cy="10132031"/>
            </a:xfrm>
            <a:prstGeom prst="roundRect">
              <a:avLst>
                <a:gd name="adj" fmla="val 4620"/>
              </a:avLst>
            </a:prstGeom>
            <a:gradFill>
              <a:gsLst>
                <a:gs pos="0">
                  <a:schemeClr val="accent1"/>
                </a:gs>
                <a:gs pos="42000">
                  <a:schemeClr val="accent1"/>
                </a:gs>
                <a:gs pos="100000">
                  <a:srgbClr val="FFCB2C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>
              <a:innerShdw blurRad="571500">
                <a:schemeClr val="accent6"/>
              </a:innerShdw>
            </a:effectLst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/>
            </a:p>
          </p:txBody>
        </p:sp>
        <p:pic>
          <p:nvPicPr>
            <p:cNvPr id="67895778" name="Рисунок 12"/>
            <p:cNvPicPr>
              <a:picLocks noChangeAspect="1"/>
            </p:cNvPicPr>
            <p:nvPr/>
          </p:nvPicPr>
          <p:blipFill>
            <a:blip r:embed="rId2">
              <a:alphaModFix amt="80000"/>
            </a:blip>
            <a:srcRect l="22340" t="25668" r="0" b="0"/>
            <a:stretch/>
          </p:blipFill>
          <p:spPr bwMode="auto">
            <a:xfrm>
              <a:off x="0" y="0"/>
              <a:ext cx="7546693" cy="7057861"/>
            </a:xfrm>
            <a:prstGeom prst="roundRect">
              <a:avLst>
                <a:gd name="adj" fmla="val 5479"/>
              </a:avLst>
            </a:prstGeom>
          </p:spPr>
        </p:pic>
      </p:grpSp>
      <p:sp>
        <p:nvSpPr>
          <p:cNvPr id="133450281" name="Полилиния 13"/>
          <p:cNvSpPr/>
          <p:nvPr/>
        </p:nvSpPr>
        <p:spPr bwMode="auto">
          <a:xfrm>
            <a:off x="10017424" y="7383650"/>
            <a:ext cx="9180145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 fill="norm" stroke="1" extrusionOk="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0">
                <a:srgbClr val="F3F3F5"/>
              </a:gs>
              <a:gs pos="100000">
                <a:srgbClr val="E0E1E3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3680578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8522642B-7FD7-221F-570E-8B852A3C2431}" type="slidenum">
              <a:rPr lang="ru-RU"/>
              <a:t/>
            </a:fld>
            <a:endParaRPr lang="ru-RU"/>
          </a:p>
        </p:txBody>
      </p:sp>
      <p:sp>
        <p:nvSpPr>
          <p:cNvPr id="2136340859" name="Овал 50"/>
          <p:cNvSpPr/>
          <p:nvPr/>
        </p:nvSpPr>
        <p:spPr bwMode="auto">
          <a:xfrm>
            <a:off x="18389387" y="9719136"/>
            <a:ext cx="808182" cy="8081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200" b="1">
                <a:solidFill>
                  <a:schemeClr val="accent2"/>
                </a:solidFill>
                <a:latin typeface="T-Sans"/>
                <a:ea typeface="T-Sans"/>
              </a:rPr>
              <a:t>3</a:t>
            </a:r>
            <a:endParaRPr/>
          </a:p>
        </p:txBody>
      </p:sp>
      <p:sp>
        <p:nvSpPr>
          <p:cNvPr id="816279049" name="Полилиния 14"/>
          <p:cNvSpPr/>
          <p:nvPr/>
        </p:nvSpPr>
        <p:spPr bwMode="auto">
          <a:xfrm>
            <a:off x="10017424" y="4008661"/>
            <a:ext cx="9180145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 fill="norm" stroke="1" extrusionOk="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0">
                <a:srgbClr val="F3F3F5"/>
              </a:gs>
              <a:gs pos="100000">
                <a:srgbClr val="E0E1E3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00767329" name="Овал 15"/>
          <p:cNvSpPr/>
          <p:nvPr/>
        </p:nvSpPr>
        <p:spPr bwMode="auto">
          <a:xfrm>
            <a:off x="18389387" y="6343278"/>
            <a:ext cx="808182" cy="8081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200" b="1">
                <a:solidFill>
                  <a:schemeClr val="accent2"/>
                </a:solidFill>
                <a:latin typeface="T-Sans"/>
                <a:ea typeface="T-Sans"/>
              </a:rPr>
              <a:t>2</a:t>
            </a:r>
            <a:endParaRPr/>
          </a:p>
        </p:txBody>
      </p:sp>
      <p:sp>
        <p:nvSpPr>
          <p:cNvPr id="361929317" name="Полилиния 16"/>
          <p:cNvSpPr/>
          <p:nvPr/>
        </p:nvSpPr>
        <p:spPr bwMode="auto">
          <a:xfrm>
            <a:off x="10017424" y="632804"/>
            <a:ext cx="9180145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 fill="norm" stroke="1" extrusionOk="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0">
                <a:srgbClr val="F3F3F5"/>
              </a:gs>
              <a:gs pos="100000">
                <a:srgbClr val="E0E1E3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709267782" name="Овал 17"/>
          <p:cNvSpPr/>
          <p:nvPr/>
        </p:nvSpPr>
        <p:spPr bwMode="auto">
          <a:xfrm>
            <a:off x="18389387" y="2967421"/>
            <a:ext cx="808182" cy="8081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200" b="1">
                <a:solidFill>
                  <a:schemeClr val="accent2"/>
                </a:solidFill>
                <a:latin typeface="T-Sans"/>
                <a:ea typeface="T-Sans"/>
              </a:rPr>
              <a:t>1</a:t>
            </a:r>
            <a:endParaRPr/>
          </a:p>
        </p:txBody>
      </p:sp>
      <p:sp>
        <p:nvSpPr>
          <p:cNvPr id="1430622086" name="TextBox 8"/>
          <p:cNvSpPr txBox="1"/>
          <p:nvPr/>
        </p:nvSpPr>
        <p:spPr bwMode="auto">
          <a:xfrm>
            <a:off x="1366166" y="1264475"/>
            <a:ext cx="7847317" cy="13890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bg1"/>
                </a:solidFill>
                <a:latin typeface="T-Sans"/>
                <a:ea typeface="T-Sans"/>
              </a:rPr>
              <a:t>Iterator</a:t>
            </a:r>
            <a:br>
              <a:rPr lang="ru-RU">
                <a:solidFill>
                  <a:schemeClr val="bg1"/>
                </a:solidFill>
                <a:latin typeface="T-Sans"/>
                <a:ea typeface="T-Sans"/>
              </a:rPr>
            </a:br>
            <a:r>
              <a:rPr lang="ru-RU" sz="3600">
                <a:solidFill>
                  <a:schemeClr val="bg1"/>
                </a:solidFill>
                <a:latin typeface="T-Sans"/>
                <a:ea typeface="T-Sans"/>
              </a:rPr>
              <a:t>и модификация коллекций...</a:t>
            </a:r>
            <a:endParaRPr lang="ru-RU">
              <a:solidFill>
                <a:schemeClr val="accent6"/>
              </a:solidFill>
              <a:latin typeface="T-Sans"/>
              <a:ea typeface="T-Sans"/>
            </a:endParaRPr>
          </a:p>
        </p:txBody>
      </p:sp>
      <p:sp>
        <p:nvSpPr>
          <p:cNvPr id="2131624386" name="TextBox 10"/>
          <p:cNvSpPr txBox="1"/>
          <p:nvPr/>
        </p:nvSpPr>
        <p:spPr bwMode="auto">
          <a:xfrm>
            <a:off x="10637159" y="765866"/>
            <a:ext cx="6987897" cy="6758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/>
              <a:t>Не используйте удаление</a:t>
            </a:r>
            <a:endParaRPr lang="ru-RU"/>
          </a:p>
        </p:txBody>
      </p:sp>
      <p:sp>
        <p:nvSpPr>
          <p:cNvPr id="179923111" name="TextBox 12"/>
          <p:cNvSpPr txBox="1"/>
          <p:nvPr/>
        </p:nvSpPr>
        <p:spPr bwMode="auto">
          <a:xfrm flipH="0" flipV="0">
            <a:off x="10686850" y="1492817"/>
            <a:ext cx="7496420" cy="14988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При обходе коллекции используйте </a:t>
            </a:r>
            <a:r>
              <a:rPr lang="ru-RU" i="1"/>
              <a:t>remove(Object)</a:t>
            </a:r>
            <a:endParaRPr lang="ru-RU" i="1"/>
          </a:p>
          <a:p>
            <a:pPr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Итератор это замечает и на следующем шаге</a:t>
            </a:r>
            <a:endParaRPr lang="ru-RU" sz="2400" b="0" i="0" u="none" strike="noStrike" cap="none" spc="0">
              <a:ln>
                <a:noFill/>
              </a:ln>
              <a:solidFill>
                <a:schemeClr val="bg2">
                  <a:lumMod val="50000"/>
                </a:schemeClr>
              </a:solidFill>
              <a:latin typeface="T-Sans"/>
              <a:cs typeface="T-Sans"/>
            </a:endParaRPr>
          </a:p>
          <a:p>
            <a:pPr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бросает </a:t>
            </a:r>
            <a:r>
              <a:rPr lang="ru-RU" sz="2400" b="0" i="1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ConcurrentModificationException (fail-fast)</a:t>
            </a:r>
            <a:r>
              <a:rPr lang="ru-RU"/>
              <a:t>   </a:t>
            </a:r>
            <a:endParaRPr lang="ru-RU"/>
          </a:p>
        </p:txBody>
      </p:sp>
      <p:sp>
        <p:nvSpPr>
          <p:cNvPr id="637230146" name="TextBox 19"/>
          <p:cNvSpPr txBox="1"/>
          <p:nvPr/>
        </p:nvSpPr>
        <p:spPr bwMode="auto">
          <a:xfrm>
            <a:off x="10637159" y="4241263"/>
            <a:ext cx="7000497" cy="6758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"/>
                <a:cs typeface="T-Sans Medium"/>
              </a:rPr>
              <a:t>То же правило </a:t>
            </a: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"/>
                <a:cs typeface="T-Sans Medium"/>
              </a:rPr>
              <a:t>для</a:t>
            </a: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"/>
                <a:cs typeface="T-Sans Medium"/>
              </a:rPr>
              <a:t> </a:t>
            </a: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"/>
                <a:cs typeface="T-Sans Medium"/>
              </a:rPr>
              <a:t>for-each</a:t>
            </a:r>
            <a:endParaRPr sz="3600"/>
          </a:p>
        </p:txBody>
      </p:sp>
      <p:sp>
        <p:nvSpPr>
          <p:cNvPr id="275296262" name="TextBox 20"/>
          <p:cNvSpPr txBox="1"/>
          <p:nvPr/>
        </p:nvSpPr>
        <p:spPr bwMode="auto">
          <a:xfrm flipH="0" flipV="0">
            <a:off x="10637156" y="4952999"/>
            <a:ext cx="7563034" cy="14988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for-each [ </a:t>
            </a:r>
            <a:r>
              <a:rPr lang="en-US" sz="2400" b="0" i="1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for (var i: iterable)  </a:t>
            </a:r>
            <a:r>
              <a:rPr lang="en-US" sz="2400" b="0" i="0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] и метод </a:t>
            </a:r>
            <a:r>
              <a:rPr lang="en-US" sz="2400" b="0" i="1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forEach(...) </a:t>
            </a:r>
            <a:br>
              <a:rPr lang="en-US" sz="2400" b="0" i="1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</a:br>
            <a:r>
              <a:rPr lang="en-US" sz="2400" b="0" i="0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работают через итератор. </a:t>
            </a:r>
            <a:br>
              <a:rPr lang="en-US" sz="2400" b="0" i="0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</a:br>
            <a:r>
              <a:rPr lang="en-US" sz="2400" b="0" i="0" u="none" strike="noStrike" cap="none" spc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  <a:cs typeface="T-Sans"/>
              </a:rPr>
              <a:t>Поэтому правило работает и для этих конструкций.</a:t>
            </a:r>
            <a:endParaRPr sz="2400" i="0"/>
          </a:p>
        </p:txBody>
      </p:sp>
      <p:sp>
        <p:nvSpPr>
          <p:cNvPr id="771577141" name="TextBox 21"/>
          <p:cNvSpPr txBox="1"/>
          <p:nvPr/>
        </p:nvSpPr>
        <p:spPr bwMode="auto">
          <a:xfrm>
            <a:off x="10639208" y="7616499"/>
            <a:ext cx="7003737" cy="1279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"/>
                <a:cs typeface="T-Sans Medium"/>
              </a:rPr>
              <a:t>Итератор может удалять элементы</a:t>
            </a:r>
            <a:endParaRPr/>
          </a:p>
        </p:txBody>
      </p:sp>
      <p:sp>
        <p:nvSpPr>
          <p:cNvPr id="1017839841" name="TextBox 22"/>
          <p:cNvSpPr txBox="1"/>
          <p:nvPr/>
        </p:nvSpPr>
        <p:spPr bwMode="auto">
          <a:xfrm flipH="0" flipV="0">
            <a:off x="10637159" y="8732500"/>
            <a:ext cx="7547193" cy="14988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/>
                <a:ea typeface="T-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-Sans"/>
                <a:ea typeface="T-Sans"/>
                <a:cs typeface="T-Sans"/>
              </a:rPr>
              <a:t>В контракте </a:t>
            </a:r>
            <a:r>
              <a:rPr lang="ru-RU" sz="2400" b="0" i="1" u="none" strike="noStrike" cap="none" spc="0">
                <a:ln>
                  <a:noFill/>
                </a:ln>
                <a:solidFill>
                  <a:schemeClr val="bg1"/>
                </a:solidFill>
                <a:latin typeface="T-Sans"/>
                <a:ea typeface="T-Sans"/>
                <a:cs typeface="T-Sans"/>
              </a:rPr>
              <a:t>Iterator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-Sans"/>
                <a:ea typeface="T-Sans"/>
                <a:cs typeface="T-Sans"/>
              </a:rPr>
              <a:t> объявлен метод </a:t>
            </a:r>
            <a:r>
              <a:rPr lang="ru-RU" sz="2400" b="0" i="1" u="none" strike="noStrike" cap="none" spc="0">
                <a:ln>
                  <a:noFill/>
                </a:ln>
                <a:solidFill>
                  <a:schemeClr val="bg1"/>
                </a:solidFill>
                <a:latin typeface="T-Sans"/>
                <a:ea typeface="T-Sans"/>
                <a:cs typeface="T-Sans"/>
              </a:rPr>
              <a:t>remove()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-Sans"/>
                <a:ea typeface="T-Sans"/>
                <a:cs typeface="T-Sans"/>
              </a:rPr>
              <a:t>, который позволяет удалить элемент из коллекции,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-Sans"/>
                <a:ea typeface="T-Sans"/>
                <a:cs typeface="T-Sans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-Sans"/>
                <a:ea typeface="T-Sans"/>
                <a:cs typeface="T-Sans"/>
              </a:rPr>
              <a:t>не нарушая состояние итератора</a:t>
            </a:r>
            <a:endParaRPr/>
          </a:p>
        </p:txBody>
      </p:sp>
      <p:pic>
        <p:nvPicPr>
          <p:cNvPr id="610919158" name="Рисунок 9"/>
          <p:cNvPicPr>
            <a:picLocks noChangeAspect="1"/>
          </p:cNvPicPr>
          <p:nvPr/>
        </p:nvPicPr>
        <p:blipFill>
          <a:blip r:embed="rId3"/>
          <a:srcRect l="18286" t="6030" r="20408" b="6209"/>
          <a:stretch/>
        </p:blipFill>
        <p:spPr bwMode="auto">
          <a:xfrm>
            <a:off x="395287" y="3187908"/>
            <a:ext cx="9432923" cy="7595726"/>
          </a:xfrm>
          <a:prstGeom prst="roundRect">
            <a:avLst>
              <a:gd name="adj" fmla="val 6741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4676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412DF49D-F5EF-45F3-159C-2FE283BDB491}" type="slidenum">
              <a:rPr lang="ru-RU"/>
              <a:t/>
            </a:fld>
            <a:endParaRPr lang="ru-RU"/>
          </a:p>
        </p:txBody>
      </p:sp>
      <p:pic>
        <p:nvPicPr>
          <p:cNvPr id="991225345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419730" y="-109722"/>
            <a:ext cx="11379569" cy="11379569"/>
          </a:xfrm>
          <a:prstGeom prst="rect">
            <a:avLst/>
          </a:prstGeom>
        </p:spPr>
      </p:pic>
      <p:sp>
        <p:nvSpPr>
          <p:cNvPr id="1432656320" name="TextBox 4"/>
          <p:cNvSpPr txBox="1"/>
          <p:nvPr/>
        </p:nvSpPr>
        <p:spPr bwMode="auto">
          <a:xfrm>
            <a:off x="1366836" y="1352123"/>
            <a:ext cx="8751727" cy="11696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8000">
                <a:solidFill>
                  <a:schemeClr val="tx1"/>
                </a:solidFill>
                <a:latin typeface="T-Sans"/>
                <a:ea typeface="T-Sans"/>
              </a:rPr>
              <a:t>Итоги 5 семинара</a:t>
            </a:r>
            <a:endParaRPr/>
          </a:p>
        </p:txBody>
      </p:sp>
      <p:sp>
        <p:nvSpPr>
          <p:cNvPr id="646388575" name="TextBox 2"/>
          <p:cNvSpPr txBox="1"/>
          <p:nvPr/>
        </p:nvSpPr>
        <p:spPr bwMode="auto">
          <a:xfrm>
            <a:off x="2399769" y="2505609"/>
            <a:ext cx="8309533" cy="41151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t">
            <a:spAutoFit/>
          </a:bodyPr>
          <a:lstStyle/>
          <a:p>
            <a:pPr algn="l"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-Sans"/>
              </a:rPr>
              <a:t>Познакомились с наиболее известными коллекциями: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-Sans"/>
            </a:endParaRPr>
          </a:p>
          <a:p>
            <a:pPr algn="r"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-Sans"/>
              </a:rPr>
              <a:t>List, Set, Queue, Map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cs typeface="T-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-Sans"/>
              </a:rPr>
              <a:t>Лучше узнали особенности использования итераторов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-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/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Улучшили наше приложение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	</a:t>
            </a: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переписали репозиторий на более эффективную коллекцию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добавили две новые команды</a:t>
            </a:r>
            <a:endParaRPr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endParaRPr/>
          </a:p>
        </p:txBody>
      </p:sp>
      <p:pic>
        <p:nvPicPr>
          <p:cNvPr id="72805742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5987" y="2505609"/>
            <a:ext cx="720000" cy="720000"/>
          </a:xfrm>
          <a:prstGeom prst="rect">
            <a:avLst/>
          </a:prstGeom>
        </p:spPr>
      </p:pic>
      <p:pic>
        <p:nvPicPr>
          <p:cNvPr id="166699866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5987" y="3687067"/>
            <a:ext cx="720000" cy="720000"/>
          </a:xfrm>
          <a:prstGeom prst="rect">
            <a:avLst/>
          </a:prstGeom>
        </p:spPr>
      </p:pic>
      <p:pic>
        <p:nvPicPr>
          <p:cNvPr id="43724101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5987" y="4500060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 bwMode="auto"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/>
            <p:cNvSpPr txBox="1"/>
            <p:nvPr/>
          </p:nvSpPr>
          <p:spPr bwMode="auto"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>
              <a:spAutoFit/>
            </a:bodyPr>
            <a:lstStyle>
              <a:defPPr marL="0" marR="0" indent="0" algn="l" defTabSz="90006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/>
                </a:defRPr>
              </a:lvl1pPr>
            </a:lstStyle>
            <a:p>
              <a:pPr>
                <a:defRPr/>
              </a:pPr>
              <a:r>
                <a:rPr lang="ru-RU" sz="7200" b="0">
                  <a:latin typeface="T-Sans"/>
                  <a:ea typeface="T-Sans"/>
                </a:rPr>
                <a:t>Оставьте, пожалуйста, обратную связь!</a:t>
              </a:r>
              <a:endParaRPr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>
              <a:spAutoFit/>
            </a:bodyPr>
            <a:lstStyle>
              <a:defPPr marL="0" marR="0" indent="0" algn="l" defTabSz="90006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pPr>
                <a:defRPr/>
              </a:pPr>
              <a:r>
                <a:rPr lang="ru-RU">
                  <a:solidFill>
                    <a:schemeClr val="tx2">
                      <a:lumMod val="50000"/>
                    </a:schemeClr>
                  </a:solidFill>
                  <a:latin typeface="T-Sans"/>
                  <a:ea typeface="T-Sans"/>
                </a:rPr>
                <a:t>Обратная связь позволяет нам самосовершенствоваться и делать курс лучше!</a:t>
              </a:r>
              <a:endParaRPr/>
            </a:p>
          </p:txBody>
        </p:sp>
      </p:grpSp>
      <p:pic>
        <p:nvPicPr>
          <p:cNvPr id="8" name="Picture Placeholder 7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rcRect l="206" t="0" r="206" b="0"/>
          <a:stretch/>
        </p:blipFill>
        <p:spPr bwMode="auto"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 bwMode="auto"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  <a:t>Спасибо </a:t>
            </a:r>
            <a:b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</a:br>
            <a: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  <a:t>за внимание! </a:t>
            </a:r>
            <a:endParaRPr/>
          </a:p>
        </p:txBody>
      </p:sp>
      <p:pic>
        <p:nvPicPr>
          <p:cNvPr id="23" name="Рисунок 22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tretch/>
        </p:blipFill>
        <p:spPr bwMode="auto">
          <a:xfrm>
            <a:off x="13139738" y="647700"/>
            <a:ext cx="6045749" cy="98647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/>
        <a:ea typeface="Liberation Sans"/>
        <a:cs typeface="Liberation Sans"/>
      </a:majorFont>
      <a:minorFont>
        <a:latin typeface="Arial"/>
        <a:ea typeface="Liberation Sans"/>
        <a:cs typeface="Liberation Sans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">
      <a:majorFont>
        <a:latin typeface="Arial"/>
        <a:ea typeface="Liberation Sans"/>
        <a:cs typeface="Liberation Sans"/>
      </a:majorFont>
      <a:minorFont>
        <a:latin typeface="Arial"/>
        <a:ea typeface="Liberation Sans"/>
        <a:cs typeface="Liberation Sans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Р7-Офис/2026.1.2.1942</Application>
  <DocSecurity>0</DocSecurity>
  <PresentationFormat>Произвольный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/>
  <cp:lastModifiedBy>s nemets</cp:lastModifiedBy>
  <cp:revision>1198</cp:revision>
  <dcterms:modified xsi:type="dcterms:W3CDTF">2026-10-02T10:56:07Z</dcterms:modified>
  <cp:category/>
  <cp:contentStatus/>
  <cp:version/>
</cp:coreProperties>
</file>