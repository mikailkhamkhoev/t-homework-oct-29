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147377467" r:id="rId3"/>
    <p:sldId id="2147377475" r:id="rId4"/>
    <p:sldId id="2147377484" r:id="rId5"/>
    <p:sldId id="2147377420" r:id="rId6"/>
    <p:sldId id="2147377599" r:id="rId7"/>
    <p:sldId id="2147377603" r:id="rId8"/>
    <p:sldId id="2147377602" r:id="rId9"/>
    <p:sldId id="2147377601" r:id="rId10"/>
    <p:sldId id="2147377600" r:id="rId11"/>
    <p:sldId id="2147377593" r:id="rId12"/>
    <p:sldId id="2147377604" r:id="rId13"/>
    <p:sldId id="2147377605" r:id="rId14"/>
    <p:sldId id="2147377607" r:id="rId15"/>
    <p:sldId id="2147377609" r:id="rId16"/>
    <p:sldId id="2147377608" r:id="rId17"/>
    <p:sldId id="2147377557" r:id="rId18"/>
    <p:sldId id="2147377594" r:id="rId19"/>
    <p:sldId id="2147377598" r:id="rId20"/>
    <p:sldId id="2147377559" r:id="rId21"/>
    <p:sldId id="2147377558" r:id="rId22"/>
    <p:sldId id="2147377446" r:id="rId23"/>
    <p:sldId id="2147377591" r:id="rId24"/>
    <p:sldId id="2147377590" r:id="rId25"/>
    <p:sldId id="2147377595" r:id="rId26"/>
    <p:sldId id="2147377596" r:id="rId27"/>
    <p:sldId id="2147377597" r:id="rId28"/>
    <p:sldId id="2147377504" r:id="rId29"/>
    <p:sldId id="2147377465" r:id="rId30"/>
    <p:sldId id="2147377466" r:id="rId31"/>
    <p:sldId id="275" r:id="rId32"/>
  </p:sldIdLst>
  <p:sldSz cx="19799300" cy="11160125"/>
  <p:notesSz cx="6858000" cy="9144000"/>
  <p:embeddedFontLst>
    <p:embeddedFont>
      <p:font typeface="T-Sans" pitchFamily="2" charset="0"/>
      <p:regular r:id="rId35"/>
      <p:bold r:id="rId36"/>
    </p:embeddedFont>
    <p:embeddedFont>
      <p:font typeface="T-Sans Medium" pitchFamily="2" charset="0"/>
      <p:regular r:id="rId37"/>
    </p:embeddedFont>
    <p:embeddedFont>
      <p:font typeface="Tinkoff Sans" panose="02000506050000020004" pitchFamily="2" charset="0"/>
      <p:regular r:id="rId38"/>
      <p:bold r:id="rId39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861" userDrawn="1">
          <p15:clr>
            <a:srgbClr val="A4A3A4"/>
          </p15:clr>
        </p15:guide>
        <p15:guide id="2" orient="horz" pos="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134"/>
    <a:srgbClr val="79B9D5"/>
    <a:srgbClr val="A9E5F8"/>
    <a:srgbClr val="FFE459"/>
    <a:srgbClr val="EBEBEC"/>
    <a:srgbClr val="FFE45A"/>
    <a:srgbClr val="FFE45C"/>
    <a:srgbClr val="B5B1EF"/>
    <a:srgbClr val="EFF1F2"/>
    <a:srgbClr val="FFE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46"/>
    <p:restoredTop sz="93342"/>
  </p:normalViewPr>
  <p:slideViewPr>
    <p:cSldViewPr snapToGrid="0" snapToObjects="1" showGuides="1">
      <p:cViewPr varScale="1">
        <p:scale>
          <a:sx n="75" d="100"/>
          <a:sy n="75" d="100"/>
        </p:scale>
        <p:origin x="1280" y="168"/>
      </p:cViewPr>
      <p:guideLst>
        <p:guide pos="861"/>
        <p:guide orient="horz" pos="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>
                <a:latin typeface="T-Sans" pitchFamily="2" charset="0"/>
                <a:ea typeface="T-Sans" pitchFamily="2" charset="0"/>
              </a:rPr>
              <a:t>07.10.2026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>
                <a:latin typeface="T-Sans" pitchFamily="2" charset="0"/>
                <a:ea typeface="T-Sans" pitchFamily="2" charset="0"/>
              </a:rPr>
              <a:t>‹#›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latin typeface="T-Sans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0073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9183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2675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853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5631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3814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2499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602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8407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9157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72945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2615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185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 b="0" i="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125966-8232-9AC4-8683-EE4F730CA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5759176" cy="111601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D350B-6697-71DD-45DA-AAE4591C9E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224688" y="1779477"/>
            <a:ext cx="4394057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03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pos="5170" userDrawn="1">
          <p15:clr>
            <a:srgbClr val="FBAE40"/>
          </p15:clr>
        </p15:guide>
        <p15:guide id="24" orient="horz" pos="1111" userDrawn="1">
          <p15:clr>
            <a:srgbClr val="FBAE40"/>
          </p15:clr>
        </p15:guide>
        <p15:guide id="26" orient="horz" pos="1542" userDrawn="1">
          <p15:clr>
            <a:srgbClr val="FBAE40"/>
          </p15:clr>
        </p15:guide>
        <p15:guide id="30" orient="horz" pos="2653" userDrawn="1">
          <p15:clr>
            <a:srgbClr val="FBAE40"/>
          </p15:clr>
        </p15:guide>
        <p15:guide id="39" orient="horz" pos="4422" userDrawn="1">
          <p15:clr>
            <a:srgbClr val="FBAE40"/>
          </p15:clr>
        </p15:guide>
        <p15:guide id="43" orient="horz" pos="5533" userDrawn="1">
          <p15:clr>
            <a:srgbClr val="FBAE40"/>
          </p15:clr>
        </p15:guide>
        <p15:guide id="44" orient="horz" pos="59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A8CCF61-34E1-A7FE-253D-38968BB9DED6}"/>
              </a:ext>
            </a:extLst>
          </p:cNvPr>
          <p:cNvSpPr/>
          <p:nvPr userDrawn="1"/>
        </p:nvSpPr>
        <p:spPr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solidFill>
                <a:srgbClr val="000000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89F2E-9007-1111-5F2A-7177336F66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427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9E0DDE-5486-2C50-C638-7E159326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C97689-0B14-BAB4-075D-08F8243A70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12104" y="1510158"/>
            <a:ext cx="488228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2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AC7EC11E-6AF4-DD27-3F92-218937F2CF6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614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Желт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AE3D09BE-CDCC-BEAE-26D7-66AC1CF209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33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2FBF9586-44EC-4E13-AED7-14C258C34A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23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B69617-8869-9649-F99C-69FDA9C1E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1C91763-0915-F4BA-6A23-BA87B1885B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3769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24" orient="horz" pos="61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бел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00FDC96-810D-CFD9-6E58-04A3A2505C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8540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ер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00516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желт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8B3D8D3C-755C-BEF7-93C5-FD57275918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88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56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B31166E-5B2E-161F-80C4-671886F8EC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5535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паттерно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0F91C1-1A78-58C6-CB42-CC30A05BA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96DED21-0FBB-16BD-4DC9-B015EE6354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1823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черн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1BCFD17-C1D9-8EDD-22C9-22186C3311D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3944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4BFEFE7-FB2B-3859-C2EE-78C10CF7D7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94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15F1DD-95F6-4971-D888-6A6491841E9A}"/>
              </a:ext>
            </a:extLst>
          </p:cNvPr>
          <p:cNvGrpSpPr/>
          <p:nvPr userDrawn="1"/>
        </p:nvGrpSpPr>
        <p:grpSpPr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38B58920-520D-ECD2-F228-4BCC7CF3CE49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2B7D3A56-805B-13E2-7063-6B9B4EC8A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30C1799-08EA-B949-D626-A8CCD88143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048CF9FC-F84E-B682-74A5-DBD5C6B0F2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9B1BD348-2498-84F2-C965-C41594850914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771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F21671-BB96-2971-101E-D1089DBA17F8}"/>
              </a:ext>
            </a:extLst>
          </p:cNvPr>
          <p:cNvGrpSpPr/>
          <p:nvPr userDrawn="1"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3E92DA5-6108-6ED0-6D68-5064067EF090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DC590063-5A42-FB1A-E53B-185C753C3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6828266-A2B8-ABD5-B32A-F0002CFDC0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4F931CE-FB41-24EA-227F-5FDF32D136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5862E01E-E516-3B53-62A9-B59CBE13424B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5024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аттерн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65FB45-97BD-7225-E420-C825F595E3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78"/>
          <a:stretch/>
        </p:blipFill>
        <p:spPr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CDC5362-4493-F8E4-812F-FB74B56668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9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E61101-FB36-7188-BEAF-FDF7940DFCCF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584EAB4-0304-4FEF-C52A-A2CB0150F1FC}"/>
              </a:ext>
            </a:extLst>
          </p:cNvPr>
          <p:cNvSpPr/>
          <p:nvPr userDrawn="1"/>
        </p:nvSpPr>
        <p:spPr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13E127B-8DEA-CC96-30EA-8B45282E4E78}"/>
              </a:ext>
            </a:extLst>
          </p:cNvPr>
          <p:cNvSpPr/>
          <p:nvPr userDrawn="1"/>
        </p:nvSpPr>
        <p:spPr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079FC53-DDC0-CA9F-5B63-3CAEBFE2C5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94602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47CB827-92DF-1E19-4556-7F26AEF2ED94}"/>
              </a:ext>
            </a:extLst>
          </p:cNvPr>
          <p:cNvGrpSpPr/>
          <p:nvPr userDrawn="1"/>
        </p:nvGrpSpPr>
        <p:grpSpPr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8A5DABA1-1DC3-E38B-4750-89870BC3EF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9D503385-2B01-BB65-0260-EAC7605709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D702DD45-F95F-F325-33A5-6B018D62D0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</p:grp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4F8FCCF-EC84-FD71-19BC-21BC6FE5EE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BAC04F5-2F11-88B0-A40D-7E022C490DC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426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3A67B3-FB4F-3CB2-6C6A-D1F535CF1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F3C1F4A-9CD7-F8ED-CE66-6400EF28413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29677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6B5DC0-C588-DA97-CCB3-A681ADD9E7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126BD4C-C383-9301-0090-1D4E13EA6F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6170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>
            <a:extLst>
              <a:ext uri="{FF2B5EF4-FFF2-40B4-BE49-F238E27FC236}">
                <a16:creationId xmlns:a16="http://schemas.microsoft.com/office/drawing/2014/main" id="{3329BF57-8247-BE21-5523-C8E3F8A144D2}"/>
              </a:ext>
            </a:extLst>
          </p:cNvPr>
          <p:cNvCxnSpPr>
            <a:cxnSpLocks/>
            <a:stCxn id="36" idx="3"/>
            <a:endCxn id="31" idx="0"/>
          </p:cNvCxnSpPr>
          <p:nvPr userDrawn="1"/>
        </p:nvCxnSpPr>
        <p:spPr>
          <a:xfrm>
            <a:off x="12151144" y="4294991"/>
            <a:ext cx="4458796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Соединительная линия уступом 53">
            <a:extLst>
              <a:ext uri="{FF2B5EF4-FFF2-40B4-BE49-F238E27FC236}">
                <a16:creationId xmlns:a16="http://schemas.microsoft.com/office/drawing/2014/main" id="{04558508-EE6A-D763-E9A4-260659A92926}"/>
              </a:ext>
            </a:extLst>
          </p:cNvPr>
          <p:cNvCxnSpPr>
            <a:stCxn id="36" idx="1"/>
            <a:endCxn id="21" idx="0"/>
          </p:cNvCxnSpPr>
          <p:nvPr userDrawn="1"/>
        </p:nvCxnSpPr>
        <p:spPr>
          <a:xfrm rot="10800000" flipV="1">
            <a:off x="3189361" y="4294991"/>
            <a:ext cx="4458794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6D2594A-1FA6-F933-CFE2-93DB69279023}"/>
              </a:ext>
            </a:extLst>
          </p:cNvPr>
          <p:cNvCxnSpPr>
            <a:endCxn id="26" idx="0"/>
          </p:cNvCxnSpPr>
          <p:nvPr userDrawn="1"/>
        </p:nvCxnSpPr>
        <p:spPr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4243908-EBE6-D74B-9B81-D2D458B76874}"/>
              </a:ext>
            </a:extLst>
          </p:cNvPr>
          <p:cNvSpPr/>
          <p:nvPr/>
        </p:nvSpPr>
        <p:spPr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26194E7-DE29-A96E-FDA8-40CFCD3F6B45}"/>
              </a:ext>
            </a:extLst>
          </p:cNvPr>
          <p:cNvSpPr/>
          <p:nvPr/>
        </p:nvSpPr>
        <p:spPr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DF6D686-21DA-23E3-2D02-5BE4F58DB73E}"/>
              </a:ext>
            </a:extLst>
          </p:cNvPr>
          <p:cNvSpPr/>
          <p:nvPr/>
        </p:nvSpPr>
        <p:spPr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652039D-D3E9-0FE2-7C76-04F1BDC0CEFA}"/>
              </a:ext>
            </a:extLst>
          </p:cNvPr>
          <p:cNvSpPr/>
          <p:nvPr/>
        </p:nvSpPr>
        <p:spPr>
          <a:xfrm>
            <a:off x="937866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F8517EF7-A9CB-6060-9B5B-9284F8008B5A}"/>
              </a:ext>
            </a:extLst>
          </p:cNvPr>
          <p:cNvSpPr/>
          <p:nvPr/>
        </p:nvSpPr>
        <p:spPr>
          <a:xfrm>
            <a:off x="764815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CF12E7D5-8E67-5FD6-7DFB-40783541066C}"/>
              </a:ext>
            </a:extLst>
          </p:cNvPr>
          <p:cNvSpPr/>
          <p:nvPr/>
        </p:nvSpPr>
        <p:spPr>
          <a:xfrm>
            <a:off x="1435844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3523BD01-495C-0508-6528-37435F16CD29}"/>
              </a:ext>
            </a:extLst>
          </p:cNvPr>
          <p:cNvSpPr/>
          <p:nvPr/>
        </p:nvSpPr>
        <p:spPr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97CAB214-D26D-6764-37C0-88A38712D8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2" name="Рисунок 40">
            <a:extLst>
              <a:ext uri="{FF2B5EF4-FFF2-40B4-BE49-F238E27FC236}">
                <a16:creationId xmlns:a16="http://schemas.microsoft.com/office/drawing/2014/main" id="{4E271671-026B-BC66-8298-F846D467F5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3" name="Рисунок 40">
            <a:extLst>
              <a:ext uri="{FF2B5EF4-FFF2-40B4-BE49-F238E27FC236}">
                <a16:creationId xmlns:a16="http://schemas.microsoft.com/office/drawing/2014/main" id="{E8008964-7207-DFFA-6167-432E9AD5B6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40">
            <a:extLst>
              <a:ext uri="{FF2B5EF4-FFF2-40B4-BE49-F238E27FC236}">
                <a16:creationId xmlns:a16="http://schemas.microsoft.com/office/drawing/2014/main" id="{5E4B7693-F81F-64E5-BB12-AAC0176AB5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40">
            <a:extLst>
              <a:ext uri="{FF2B5EF4-FFF2-40B4-BE49-F238E27FC236}">
                <a16:creationId xmlns:a16="http://schemas.microsoft.com/office/drawing/2014/main" id="{3985D896-4BC0-FE98-0455-E62069DEA7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40">
            <a:extLst>
              <a:ext uri="{FF2B5EF4-FFF2-40B4-BE49-F238E27FC236}">
                <a16:creationId xmlns:a16="http://schemas.microsoft.com/office/drawing/2014/main" id="{AF4B2BA9-A809-F832-C663-0BECDCD782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40">
            <a:extLst>
              <a:ext uri="{FF2B5EF4-FFF2-40B4-BE49-F238E27FC236}">
                <a16:creationId xmlns:a16="http://schemas.microsoft.com/office/drawing/2014/main" id="{923EEA1F-8180-AACE-C114-19FA98CFD4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F6424D5-BD53-B501-EFCF-A7094B14AA1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566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>
            <a:extLst>
              <a:ext uri="{FF2B5EF4-FFF2-40B4-BE49-F238E27FC236}">
                <a16:creationId xmlns:a16="http://schemas.microsoft.com/office/drawing/2014/main" id="{7ADDD9D5-E467-DCAB-F59E-6F8A5FFA3F89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Ф</a:t>
            </a:r>
            <a:r>
              <a:rPr lang="ru-RU" dirty="0"/>
              <a:t>ото</a:t>
            </a:r>
          </a:p>
        </p:txBody>
      </p:sp>
      <p:sp>
        <p:nvSpPr>
          <p:cNvPr id="43" name="Рисунок 4">
            <a:extLst>
              <a:ext uri="{FF2B5EF4-FFF2-40B4-BE49-F238E27FC236}">
                <a16:creationId xmlns:a16="http://schemas.microsoft.com/office/drawing/2014/main" id="{547DBDDA-3E5E-2E2A-CA25-69A84B4606A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5">
            <a:extLst>
              <a:ext uri="{FF2B5EF4-FFF2-40B4-BE49-F238E27FC236}">
                <a16:creationId xmlns:a16="http://schemas.microsoft.com/office/drawing/2014/main" id="{68BEC38C-6C26-D162-9776-6CB9B0E4BD6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30">
            <a:extLst>
              <a:ext uri="{FF2B5EF4-FFF2-40B4-BE49-F238E27FC236}">
                <a16:creationId xmlns:a16="http://schemas.microsoft.com/office/drawing/2014/main" id="{6C42DA80-BE83-D5E0-8D52-5405B0A37A2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870F61A5-CF3B-2E6C-40A1-0A664B10706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32">
            <a:extLst>
              <a:ext uri="{FF2B5EF4-FFF2-40B4-BE49-F238E27FC236}">
                <a16:creationId xmlns:a16="http://schemas.microsoft.com/office/drawing/2014/main" id="{4AC76CDA-79C5-A6DB-DBD5-E05F8652ABD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8" name="Рисунок 33">
            <a:extLst>
              <a:ext uri="{FF2B5EF4-FFF2-40B4-BE49-F238E27FC236}">
                <a16:creationId xmlns:a16="http://schemas.microsoft.com/office/drawing/2014/main" id="{4FAB1FFA-D21B-3AC7-A1F0-371662B3291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9" name="Рисунок 34">
            <a:extLst>
              <a:ext uri="{FF2B5EF4-FFF2-40B4-BE49-F238E27FC236}">
                <a16:creationId xmlns:a16="http://schemas.microsoft.com/office/drawing/2014/main" id="{ABA1AF5F-8612-0C40-322D-391C28D2DD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0" name="Рисунок 35">
            <a:extLst>
              <a:ext uri="{FF2B5EF4-FFF2-40B4-BE49-F238E27FC236}">
                <a16:creationId xmlns:a16="http://schemas.microsoft.com/office/drawing/2014/main" id="{2D939B1D-098B-DEB9-E778-BA6A389EACE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1" name="Рисунок 36">
            <a:extLst>
              <a:ext uri="{FF2B5EF4-FFF2-40B4-BE49-F238E27FC236}">
                <a16:creationId xmlns:a16="http://schemas.microsoft.com/office/drawing/2014/main" id="{02B9D7DE-05FA-09CF-FF40-CD53D77312E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2" name="Рисунок 37">
            <a:extLst>
              <a:ext uri="{FF2B5EF4-FFF2-40B4-BE49-F238E27FC236}">
                <a16:creationId xmlns:a16="http://schemas.microsoft.com/office/drawing/2014/main" id="{8054396C-013F-A853-A3BA-AA5324B50A69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3" name="Рисунок 38">
            <a:extLst>
              <a:ext uri="{FF2B5EF4-FFF2-40B4-BE49-F238E27FC236}">
                <a16:creationId xmlns:a16="http://schemas.microsoft.com/office/drawing/2014/main" id="{A044A316-30D4-CB52-3155-96A21134363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4" name="Рисунок 39">
            <a:extLst>
              <a:ext uri="{FF2B5EF4-FFF2-40B4-BE49-F238E27FC236}">
                <a16:creationId xmlns:a16="http://schemas.microsoft.com/office/drawing/2014/main" id="{89AE198D-E9CE-6294-4035-0F86E63F6B9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2F7E8D1-0C8D-E16D-7364-33B86D9E00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51339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B84011A-5000-94AF-6126-2744109098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869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ACEFA16-0A2C-CC3C-97F3-2BF76F5270A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331410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24B0A02-5030-1F59-1E9F-B3ECF5EEC6C4}"/>
              </a:ext>
            </a:extLst>
          </p:cNvPr>
          <p:cNvSpPr/>
          <p:nvPr userDrawn="1"/>
        </p:nvSpPr>
        <p:spPr>
          <a:xfrm>
            <a:off x="13175044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688013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40525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9A8E54B-CAB1-51F3-2D62-9BBAE2D25F7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67927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33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локов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920BB3-B504-FDE4-54A6-D08E9D591175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56291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5DBF272-939B-8648-6910-34827077F523}"/>
              </a:ext>
            </a:extLst>
          </p:cNvPr>
          <p:cNvSpPr/>
          <p:nvPr userDrawn="1"/>
        </p:nvSpPr>
        <p:spPr>
          <a:xfrm>
            <a:off x="13159266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7D1BFEE7-0825-0753-4E97-E04E80E683BC}"/>
              </a:ext>
            </a:extLst>
          </p:cNvPr>
          <p:cNvSpPr/>
          <p:nvPr userDrawn="1"/>
        </p:nvSpPr>
        <p:spPr>
          <a:xfrm>
            <a:off x="13159266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0F8788BB-1EFA-9E1C-ECD6-6E922EA133F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4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полнители с вырез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>
            <a:extLst>
              <a:ext uri="{FF2B5EF4-FFF2-40B4-BE49-F238E27FC236}">
                <a16:creationId xmlns:a16="http://schemas.microsoft.com/office/drawing/2014/main" id="{E3195EB8-BAA6-98A2-ED4A-761390F8922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4" name="Рисунок 10">
            <a:extLst>
              <a:ext uri="{FF2B5EF4-FFF2-40B4-BE49-F238E27FC236}">
                <a16:creationId xmlns:a16="http://schemas.microsoft.com/office/drawing/2014/main" id="{1736C7D4-7D97-6FF3-B2A9-90EFA450F87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2A0538B-EBA4-07B0-F30A-251A02B76DDF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2D17354B-548F-4A7B-2533-BB9F942475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4360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3">
            <a:extLst>
              <a:ext uri="{FF2B5EF4-FFF2-40B4-BE49-F238E27FC236}">
                <a16:creationId xmlns:a16="http://schemas.microsoft.com/office/drawing/2014/main" id="{01515A73-04C3-20AC-0CFB-39D743234689}"/>
              </a:ext>
            </a:extLst>
          </p:cNvPr>
          <p:cNvSpPr/>
          <p:nvPr/>
        </p:nvSpPr>
        <p:spPr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DE8C40DE-1372-D837-6A2D-7DED59BAD1C0}"/>
              </a:ext>
            </a:extLst>
          </p:cNvPr>
          <p:cNvSpPr/>
          <p:nvPr userDrawn="1"/>
        </p:nvSpPr>
        <p:spPr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AC10503E-8046-7476-D9B2-778878EE1D11}"/>
              </a:ext>
            </a:extLst>
          </p:cNvPr>
          <p:cNvSpPr/>
          <p:nvPr userDrawn="1"/>
        </p:nvSpPr>
        <p:spPr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BE82D4E0-C7D9-F4C5-5F35-AEA5153AC6D4}"/>
              </a:ext>
            </a:extLst>
          </p:cNvPr>
          <p:cNvSpPr/>
          <p:nvPr userDrawn="1"/>
        </p:nvSpPr>
        <p:spPr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FABD9EAD-22E6-5B1C-D342-6F9320852561}"/>
              </a:ext>
            </a:extLst>
          </p:cNvPr>
          <p:cNvSpPr/>
          <p:nvPr userDrawn="1"/>
        </p:nvSpPr>
        <p:spPr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2FF0358-5E97-8E4F-7D36-C076A812679C}"/>
              </a:ext>
            </a:extLst>
          </p:cNvPr>
          <p:cNvSpPr/>
          <p:nvPr userDrawn="1"/>
        </p:nvSpPr>
        <p:spPr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ACB921E-34F4-B39F-CB56-695B4094A7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22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55B62F-4A6E-2A82-8A84-5903ADA9D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351C10-78BB-5B20-4FF5-0DB0E767E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2FB24B-11AB-60BA-2CC4-A900838138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0D87DE-52A9-9D4F-8F6F-A0E7DE0FD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6BD939-3B26-76D5-C800-C54CAF8335E2}"/>
              </a:ext>
            </a:extLst>
          </p:cNvPr>
          <p:cNvSpPr/>
          <p:nvPr userDrawn="1"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BF3750D-2DFD-F99F-B82A-E3DC5B9FF4B2}"/>
              </a:ext>
            </a:extLst>
          </p:cNvPr>
          <p:cNvSpPr/>
          <p:nvPr userDrawn="1"/>
        </p:nvSpPr>
        <p:spPr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2D75B98-C8BD-7E80-EB35-404F3A4E5085}"/>
              </a:ext>
            </a:extLst>
          </p:cNvPr>
          <p:cNvSpPr/>
          <p:nvPr userDrawn="1"/>
        </p:nvSpPr>
        <p:spPr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B3A63ED-36B1-28D9-148F-2B61F8224B1E}"/>
              </a:ext>
            </a:extLst>
          </p:cNvPr>
          <p:cNvSpPr/>
          <p:nvPr userDrawn="1"/>
        </p:nvSpPr>
        <p:spPr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454C450-F9B0-9EAD-A161-CF618C3A67C7}"/>
              </a:ext>
            </a:extLst>
          </p:cNvPr>
          <p:cNvSpPr/>
          <p:nvPr userDrawn="1"/>
        </p:nvSpPr>
        <p:spPr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D1B6CA6C-26DC-2726-A85C-C4574E4DC18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1046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7209C-701D-EFF1-D053-EF206B5C7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75CAD5DB-3636-72FD-E8CC-C6F5AF1416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8313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16979B78-5F90-43E6-DDA5-D62A47926D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8573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-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385ED10-9BB3-A085-119F-84355A318DF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0488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2 го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D4F7591-5947-6E56-E200-33ABEB45DD29}"/>
              </a:ext>
            </a:extLst>
          </p:cNvPr>
          <p:cNvSpPr/>
          <p:nvPr userDrawn="1"/>
        </p:nvSpPr>
        <p:spPr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4C91BC5-2FEE-6EFE-0AB5-DC32049551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5626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2 плашк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2686D7D-2C5B-7C59-DE64-DB7826C86F4C}"/>
              </a:ext>
            </a:extLst>
          </p:cNvPr>
          <p:cNvSpPr/>
          <p:nvPr userDrawn="1"/>
        </p:nvSpPr>
        <p:spPr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15A0197-1B36-BE20-0422-B841D0AD33C5}"/>
              </a:ext>
            </a:extLst>
          </p:cNvPr>
          <p:cNvSpPr/>
          <p:nvPr userDrawn="1"/>
        </p:nvSpPr>
        <p:spPr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DEE51519-DF49-690F-5A20-FF1251D62E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37873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orient="horz" pos="199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6024128-7667-9EE3-6AEF-FBE898BBBA29}"/>
              </a:ext>
            </a:extLst>
          </p:cNvPr>
          <p:cNvSpPr/>
          <p:nvPr userDrawn="1"/>
        </p:nvSpPr>
        <p:spPr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32AD7565-3801-157D-ECCD-DA0A097572B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6011862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CCA51760-F1E4-DA5E-F681-1C48225929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39106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106D8025-2673-9F76-9704-0B62B7C9F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D415FCC-F8A2-1C2F-AB16-D14F96D831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9839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6" orient="horz" pos="1451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6" name="Рисунок 5">
            <a:extLst>
              <a:ext uri="{FF2B5EF4-FFF2-40B4-BE49-F238E27FC236}">
                <a16:creationId xmlns:a16="http://schemas.microsoft.com/office/drawing/2014/main" id="{680A0F9C-C6DA-ED07-DC42-9B1392F55F9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4D0E89C-6459-1FB5-B952-0CABBE20CC35}"/>
              </a:ext>
            </a:extLst>
          </p:cNvPr>
          <p:cNvSpPr/>
          <p:nvPr userDrawn="1"/>
        </p:nvSpPr>
        <p:spPr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F108BE3-E3A8-7336-4912-8058FF9630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8878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16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6">
            <a:extLst>
              <a:ext uri="{FF2B5EF4-FFF2-40B4-BE49-F238E27FC236}">
                <a16:creationId xmlns:a16="http://schemas.microsoft.com/office/drawing/2014/main" id="{62235652-E410-14E7-3325-0B78EE2EEA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19E53CE-B623-6004-1366-6FDE2EE962AF}"/>
              </a:ext>
            </a:extLst>
          </p:cNvPr>
          <p:cNvSpPr/>
          <p:nvPr userDrawn="1"/>
        </p:nvSpPr>
        <p:spPr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26B087EB-98BE-198C-78E9-848208EC6FF9}"/>
              </a:ext>
            </a:extLst>
          </p:cNvPr>
          <p:cNvSpPr/>
          <p:nvPr userDrawn="1"/>
        </p:nvSpPr>
        <p:spPr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847AE31-56A8-C4CA-4584-F00061C3F0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5448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02" userDrawn="1">
          <p15:clr>
            <a:srgbClr val="FBAE40"/>
          </p15:clr>
        </p15:guide>
        <p15:guide id="2" pos="11611">
          <p15:clr>
            <a:srgbClr val="FBAE40"/>
          </p15:clr>
        </p15:guide>
        <p15:guide id="45" pos="573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FD35A26-9840-8880-8120-6C5FC4EAA5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В</a:t>
            </a:r>
            <a:r>
              <a:rPr lang="ru-RU" dirty="0"/>
              <a:t>ставка фото</a:t>
            </a:r>
          </a:p>
        </p:txBody>
      </p:sp>
    </p:spTree>
    <p:extLst>
      <p:ext uri="{BB962C8B-B14F-4D97-AF65-F5344CB8AC3E}">
        <p14:creationId xmlns:p14="http://schemas.microsoft.com/office/powerpoint/2010/main" val="8869638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2924A27-D394-98E3-CF54-68EDEDD5F6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43565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E37D892-9D21-89E3-C92D-1E02B16D5A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0256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>
            <a:extLst>
              <a:ext uri="{FF2B5EF4-FFF2-40B4-BE49-F238E27FC236}">
                <a16:creationId xmlns:a16="http://schemas.microsoft.com/office/drawing/2014/main" id="{5EFFCDDF-1F21-226F-65C3-03CF23E901E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265689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16ECE12F-E94E-5DF9-C802-07CB291461A7}"/>
              </a:ext>
            </a:extLst>
          </p:cNvPr>
          <p:cNvSpPr/>
          <p:nvPr userDrawn="1"/>
        </p:nvSpPr>
        <p:spPr>
          <a:xfrm>
            <a:off x="611188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Прямоугольник с двумя скругленными противолежащими углами 3">
            <a:extLst>
              <a:ext uri="{FF2B5EF4-FFF2-40B4-BE49-F238E27FC236}">
                <a16:creationId xmlns:a16="http://schemas.microsoft.com/office/drawing/2014/main" id="{177F3DFA-214B-31F0-477D-973A9FB2B4D2}"/>
              </a:ext>
            </a:extLst>
          </p:cNvPr>
          <p:cNvSpPr/>
          <p:nvPr userDrawn="1"/>
        </p:nvSpPr>
        <p:spPr>
          <a:xfrm>
            <a:off x="611188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16E0473F-DC3B-EB5F-D6CB-70E3142AA8D0}"/>
              </a:ext>
            </a:extLst>
          </p:cNvPr>
          <p:cNvSpPr/>
          <p:nvPr userDrawn="1"/>
        </p:nvSpPr>
        <p:spPr>
          <a:xfrm>
            <a:off x="6881359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E0A1433B-30EB-EFDC-0992-2C3BB276A930}"/>
              </a:ext>
            </a:extLst>
          </p:cNvPr>
          <p:cNvSpPr/>
          <p:nvPr userDrawn="1"/>
        </p:nvSpPr>
        <p:spPr>
          <a:xfrm>
            <a:off x="6881359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>
            <a:extLst>
              <a:ext uri="{FF2B5EF4-FFF2-40B4-BE49-F238E27FC236}">
                <a16:creationId xmlns:a16="http://schemas.microsoft.com/office/drawing/2014/main" id="{32F60909-E504-EC34-C0C7-D5EE3AE8BB78}"/>
              </a:ext>
            </a:extLst>
          </p:cNvPr>
          <p:cNvSpPr/>
          <p:nvPr userDrawn="1"/>
        </p:nvSpPr>
        <p:spPr>
          <a:xfrm>
            <a:off x="13170192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Прямоугольник с двумя скругленными противолежащими углами 7">
            <a:extLst>
              <a:ext uri="{FF2B5EF4-FFF2-40B4-BE49-F238E27FC236}">
                <a16:creationId xmlns:a16="http://schemas.microsoft.com/office/drawing/2014/main" id="{88323E56-13FA-8C59-3760-10F1E812EC2A}"/>
              </a:ext>
            </a:extLst>
          </p:cNvPr>
          <p:cNvSpPr/>
          <p:nvPr userDrawn="1"/>
        </p:nvSpPr>
        <p:spPr>
          <a:xfrm>
            <a:off x="13170192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C41D6-7FF2-E141-BD24-D68D3A216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445A317-693C-BA35-F9FD-0B38D53916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4F36A5-A931-90F9-DC15-681991E82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>
            <a:extLst>
              <a:ext uri="{FF2B5EF4-FFF2-40B4-BE49-F238E27FC236}">
                <a16:creationId xmlns:a16="http://schemas.microsoft.com/office/drawing/2014/main" id="{53343718-A296-C12B-FA60-5A585FE120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E59DDE-998C-8E98-753D-CF60D7FFD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>
            <a:extLst>
              <a:ext uri="{FF2B5EF4-FFF2-40B4-BE49-F238E27FC236}">
                <a16:creationId xmlns:a16="http://schemas.microsoft.com/office/drawing/2014/main" id="{F525E12E-69F5-046C-095E-1760440BDA8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2D44E80A-C031-2044-8ECC-DF913BC174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8716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FD5FB0-9A81-3A7C-DAA4-91299088F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>
            <a:extLst>
              <a:ext uri="{FF2B5EF4-FFF2-40B4-BE49-F238E27FC236}">
                <a16:creationId xmlns:a16="http://schemas.microsoft.com/office/drawing/2014/main" id="{E85B5318-DE9B-9E64-A615-755452FB57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433A600-8A53-F440-CF3F-CC91E1C6FAE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0401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qr код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5706C0-6A13-4923-6574-EDE169364610}"/>
              </a:ext>
            </a:extLst>
          </p:cNvPr>
          <p:cNvSpPr/>
          <p:nvPr userDrawn="1"/>
        </p:nvSpPr>
        <p:spPr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A53F8555-2432-3EC8-BA86-230CA1B757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Место для </a:t>
            </a:r>
            <a:r>
              <a:rPr lang="ru-RU" dirty="0" err="1"/>
              <a:t>Q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FF5EF554-4206-B400-460C-2445949829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2962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6C56D-6598-4535-7307-3F3BBAC1A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312" y="5134647"/>
            <a:ext cx="6040677" cy="89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66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44" orient="horz" pos="616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353CD5-1AE7-9078-EC33-FEC734B29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665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99E0437-D66B-F092-7B3D-AE4F22893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74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20B71-BE2A-77F8-6142-EABEC8324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D6ABF4-FA5E-C290-265D-F03687E87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87019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3">
    <p:bg>
      <p:bg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51D5F1-2AF4-9D4F-5EDA-3B14ECB84BB3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936FF7C-912E-C469-CC6F-F4D6C411C6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8130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27BB1A-232A-915D-0822-9E971DAD31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3F4BB79-CBF9-9F96-D712-095F36FD85C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4599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C0AF5F-F272-25C3-6AE1-16E696AAA311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DE8B3DF-6BA0-8D54-AF33-0EE7727168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3709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полнители для 2 изоб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E6E654A9-B1D1-CD31-7491-449722C6F86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997108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ECADC6E-2223-DA1B-2C88-95151E1F101A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0036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3563591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3B56008-A337-B822-0430-FAE6377E5C0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45" r:id="rId2"/>
    <p:sldLayoutId id="2147483854" r:id="rId3"/>
    <p:sldLayoutId id="2147483782" r:id="rId4"/>
    <p:sldLayoutId id="2147483837" r:id="rId5"/>
    <p:sldLayoutId id="2147483776" r:id="rId6"/>
    <p:sldLayoutId id="2147483836" r:id="rId7"/>
    <p:sldLayoutId id="2147483789" r:id="rId8"/>
    <p:sldLayoutId id="2147483799" r:id="rId9"/>
    <p:sldLayoutId id="2147483769" r:id="rId10"/>
    <p:sldLayoutId id="2147483784" r:id="rId11"/>
    <p:sldLayoutId id="2147483786" r:id="rId12"/>
    <p:sldLayoutId id="2147483772" r:id="rId13"/>
    <p:sldLayoutId id="2147483785" r:id="rId14"/>
    <p:sldLayoutId id="2147483859" r:id="rId15"/>
    <p:sldLayoutId id="2147483860" r:id="rId16"/>
    <p:sldLayoutId id="2147483783" r:id="rId17"/>
    <p:sldLayoutId id="2147483852" r:id="rId18"/>
    <p:sldLayoutId id="2147483820" r:id="rId19"/>
    <p:sldLayoutId id="2147483777" r:id="rId20"/>
    <p:sldLayoutId id="2147483823" r:id="rId21"/>
    <p:sldLayoutId id="2147483813" r:id="rId22"/>
    <p:sldLayoutId id="2147483814" r:id="rId23"/>
    <p:sldLayoutId id="2147483787" r:id="rId24"/>
    <p:sldLayoutId id="2147483846" r:id="rId25"/>
    <p:sldLayoutId id="2147483790" r:id="rId26"/>
    <p:sldLayoutId id="2147483791" r:id="rId27"/>
    <p:sldLayoutId id="2147483849" r:id="rId28"/>
    <p:sldLayoutId id="2147483792" r:id="rId29"/>
    <p:sldLayoutId id="2147483839" r:id="rId30"/>
    <p:sldLayoutId id="2147483840" r:id="rId31"/>
    <p:sldLayoutId id="2147483810" r:id="rId32"/>
    <p:sldLayoutId id="2147483829" r:id="rId33"/>
    <p:sldLayoutId id="2147483830" r:id="rId34"/>
    <p:sldLayoutId id="2147483831" r:id="rId35"/>
    <p:sldLayoutId id="2147483838" r:id="rId36"/>
    <p:sldLayoutId id="2147483800" r:id="rId37"/>
    <p:sldLayoutId id="2147483825" r:id="rId38"/>
    <p:sldLayoutId id="2147483826" r:id="rId39"/>
    <p:sldLayoutId id="2147483828" r:id="rId40"/>
    <p:sldLayoutId id="2147483801" r:id="rId41"/>
    <p:sldLayoutId id="2147483802" r:id="rId42"/>
    <p:sldLayoutId id="2147483858" r:id="rId43"/>
    <p:sldLayoutId id="2147483851" r:id="rId44"/>
    <p:sldLayoutId id="2147483809" r:id="rId45"/>
    <p:sldLayoutId id="2147483841" r:id="rId46"/>
    <p:sldLayoutId id="2147483847" r:id="rId47"/>
    <p:sldLayoutId id="2147483863" r:id="rId48"/>
    <p:sldLayoutId id="2147483834" r:id="rId49"/>
    <p:sldLayoutId id="2147483832" r:id="rId50"/>
    <p:sldLayoutId id="2147483835" r:id="rId51"/>
    <p:sldLayoutId id="2147483833" r:id="rId52"/>
    <p:sldLayoutId id="2147483843" r:id="rId53"/>
    <p:sldLayoutId id="2147483864" r:id="rId54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385" userDrawn="1">
          <p15:clr>
            <a:srgbClr val="F26B43"/>
          </p15:clr>
        </p15:guide>
        <p15:guide id="2" orient="horz" pos="408" userDrawn="1">
          <p15:clr>
            <a:srgbClr val="F26B43"/>
          </p15:clr>
        </p15:guide>
        <p15:guide id="3" pos="12087" userDrawn="1">
          <p15:clr>
            <a:srgbClr val="F26B43"/>
          </p15:clr>
        </p15:guide>
        <p15:guide id="4" orient="horz" pos="66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15313" y="4320139"/>
            <a:ext cx="10972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Семинар</a:t>
            </a:r>
            <a:r>
              <a:rPr sz="80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lang="ru-RU" sz="8000" dirty="0">
                <a:solidFill>
                  <a:srgbClr val="0A0A0A"/>
                </a:solidFill>
                <a:latin typeface="T-Sans"/>
                <a:ea typeface="T-Sans" pitchFamily="2" charset="0"/>
              </a:rPr>
              <a:t>6</a:t>
            </a:r>
            <a:r>
              <a:rPr sz="8000" dirty="0">
                <a:solidFill>
                  <a:srgbClr val="0A0A0A"/>
                </a:solidFill>
                <a:latin typeface="T-Sans"/>
                <a:ea typeface="T-Sans" pitchFamily="2" charset="0"/>
              </a:rPr>
              <a:t>. </a:t>
            </a:r>
            <a:endParaRPr lang="ru-RU" sz="80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r>
              <a:rPr lang="en-US"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Stream API</a:t>
            </a:r>
            <a:endParaRPr sz="4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15313" y="655826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-Sans" pitchFamily="2" charset="0"/>
                <a:ea typeface="T-Sans" pitchFamily="2" charset="0"/>
              </a:rPr>
              <a:t>Stream API, </a:t>
            </a:r>
            <a:r>
              <a:rPr lang="en-US" sz="2400" dirty="0" err="1">
                <a:latin typeface="T-Sans" pitchFamily="2" charset="0"/>
                <a:ea typeface="T-Sans" pitchFamily="2" charset="0"/>
              </a:rPr>
              <a:t>Spliterator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, Gatherer API</a:t>
            </a:r>
            <a:endParaRPr sz="2400" dirty="0">
              <a:solidFill>
                <a:srgbClr val="0A0A0A"/>
              </a:solidFill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55DE2C4-35F6-8C4D-B91D-924FBBFD2B8F}"/>
              </a:ext>
            </a:extLst>
          </p:cNvPr>
          <p:cNvGrpSpPr/>
          <p:nvPr/>
        </p:nvGrpSpPr>
        <p:grpSpPr>
          <a:xfrm>
            <a:off x="8211312" y="8783778"/>
            <a:ext cx="612776" cy="612776"/>
            <a:chOff x="6884958" y="8711671"/>
            <a:chExt cx="921394" cy="921394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78E7EA02-44CE-2ABC-35A3-219AA4555040}"/>
                </a:ext>
              </a:extLst>
            </p:cNvPr>
            <p:cNvSpPr/>
            <p:nvPr/>
          </p:nvSpPr>
          <p:spPr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AC7CB32-9B69-7078-94B9-BC913DD96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172D3CE-B46B-70A8-D436-3F23C015C980}"/>
              </a:ext>
            </a:extLst>
          </p:cNvPr>
          <p:cNvSpPr txBox="1"/>
          <p:nvPr/>
        </p:nvSpPr>
        <p:spPr>
          <a:xfrm>
            <a:off x="9046660" y="8943027"/>
            <a:ext cx="1012900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Алексей Ковалев</a:t>
            </a:r>
            <a:r>
              <a:rPr lang="en-US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| Ведущий разработчик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6838" y="647701"/>
            <a:ext cx="73133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План</a:t>
            </a:r>
            <a:r>
              <a:rPr sz="60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6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семинара</a:t>
            </a:r>
            <a:endParaRPr sz="60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6837" y="1965825"/>
            <a:ext cx="7660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Stream API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для чего нужен и как работает</a:t>
            </a:r>
            <a:endParaRPr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C476A-EE4E-35DB-F541-BE51DC45941A}"/>
              </a:ext>
            </a:extLst>
          </p:cNvPr>
          <p:cNvSpPr txBox="1"/>
          <p:nvPr/>
        </p:nvSpPr>
        <p:spPr>
          <a:xfrm>
            <a:off x="1360044" y="8741330"/>
            <a:ext cx="7871303" cy="6514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Gatherer API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 – когда просто </a:t>
            </a: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Stream API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мало</a:t>
            </a:r>
            <a:endParaRPr lang="en-US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14764B-B398-4D06-21A1-F58C6C9B45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/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ACFB48-4CBB-0492-6F64-CC07353610D3}"/>
              </a:ext>
            </a:extLst>
          </p:cNvPr>
          <p:cNvSpPr txBox="1"/>
          <p:nvPr/>
        </p:nvSpPr>
        <p:spPr>
          <a:xfrm>
            <a:off x="1360044" y="7905281"/>
            <a:ext cx="186845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Advanced</a:t>
            </a:r>
            <a:endParaRPr kumimoji="0" lang="ru-RU" sz="36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5438D-9CA3-4B83-BF9E-BC4A9D451478}"/>
              </a:ext>
            </a:extLst>
          </p:cNvPr>
          <p:cNvSpPr txBox="1"/>
          <p:nvPr/>
        </p:nvSpPr>
        <p:spPr>
          <a:xfrm>
            <a:off x="1366838" y="2737657"/>
            <a:ext cx="7660767" cy="10823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Spliterator</a:t>
            </a: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и параллельные стримы, залезем под капот (и посмотрим новый бенчмарк!)</a:t>
            </a:r>
            <a:endParaRPr lang="en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30038C-692B-D87F-D1AC-FCC8D164BCEF}"/>
              </a:ext>
            </a:extLst>
          </p:cNvPr>
          <p:cNvSpPr txBox="1"/>
          <p:nvPr/>
        </p:nvSpPr>
        <p:spPr>
          <a:xfrm>
            <a:off x="1366838" y="4902869"/>
            <a:ext cx="7660766" cy="16414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Добавим новые команды (</a:t>
            </a: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stats, compare, mover)</a:t>
            </a:r>
            <a:endParaRPr lang="en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Зарефакторим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 наш старый код через стримы, везде где они применимы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14991-548B-4457-9AFC-9803DFBB0237}"/>
              </a:ext>
            </a:extLst>
          </p:cNvPr>
          <p:cNvSpPr txBox="1"/>
          <p:nvPr/>
        </p:nvSpPr>
        <p:spPr>
          <a:xfrm>
            <a:off x="1366838" y="4220705"/>
            <a:ext cx="7864509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ru-RU" sz="3600" dirty="0">
                <a:solidFill>
                  <a:srgbClr val="0A0A0A"/>
                </a:solidFill>
                <a:latin typeface="T-Sans"/>
                <a:ea typeface="T-Sans" pitchFamily="2" charset="0"/>
              </a:rPr>
              <a:t>Улучшим наш проект!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Stream API</a:t>
            </a:r>
            <a:endParaRPr lang="ru-RU" sz="7200" b="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539705" y="2461128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Конвейер операций над коллекциями и не только</a:t>
            </a:r>
          </a:p>
        </p:txBody>
      </p:sp>
    </p:spTree>
    <p:extLst>
      <p:ext uri="{BB962C8B-B14F-4D97-AF65-F5344CB8AC3E}">
        <p14:creationId xmlns:p14="http://schemas.microsoft.com/office/powerpoint/2010/main" val="42309879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4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467039"/>
            <a:ext cx="414707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>
                <a:latin typeface="T-Sans" pitchFamily="2" charset="77"/>
                <a:ea typeface="T-Sans" pitchFamily="2" charset="77"/>
              </a:rPr>
              <a:t>Stream API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69" y="467039"/>
            <a:ext cx="11931245" cy="10156108"/>
            <a:chOff x="7477170" y="647700"/>
            <a:chExt cx="11448000" cy="9864725"/>
          </a:xfrm>
          <a:solidFill>
            <a:srgbClr val="79B9D5"/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solidFill>
                  <a:srgbClr val="FF0000"/>
                </a:solidFill>
                <a:highlight>
                  <a:srgbClr val="FFFF00"/>
                </a:highlight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solidFill>
                  <a:srgbClr val="FF0000"/>
                </a:solidFill>
                <a:highlight>
                  <a:srgbClr val="FFFF00"/>
                </a:highlight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C2D4D1D-760C-F69D-225F-478A936E01AA}"/>
              </a:ext>
            </a:extLst>
          </p:cNvPr>
          <p:cNvSpPr txBox="1"/>
          <p:nvPr/>
        </p:nvSpPr>
        <p:spPr>
          <a:xfrm>
            <a:off x="594911" y="1537525"/>
            <a:ext cx="6661955" cy="4832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Фреймворк для последовательной обработки элементов.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2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200" dirty="0"/>
              <a:t>Можно представить как  конвейер операций, которые описывают действия над данными.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200" dirty="0"/>
              <a:t>Имеет множество промежуточных операций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Отфильтруй </a:t>
            </a:r>
            <a:r>
              <a:rPr kumimoji="0" lang="ru-RU" sz="22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(</a:t>
            </a:r>
            <a:r>
              <a:rPr kumimoji="0" lang="en-US" sz="22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filter)</a:t>
            </a:r>
            <a:endParaRPr kumimoji="0" lang="ru-RU" sz="2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Преобразуй</a:t>
            </a:r>
            <a:r>
              <a:rPr lang="en-US" sz="2200" dirty="0"/>
              <a:t> </a:t>
            </a:r>
            <a:r>
              <a:rPr lang="en-US" sz="2200" i="1" dirty="0"/>
              <a:t>(map)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Отсортируй </a:t>
            </a:r>
            <a:r>
              <a:rPr lang="ru-RU" sz="2200" i="1" dirty="0"/>
              <a:t>(</a:t>
            </a:r>
            <a:r>
              <a:rPr lang="en-US" sz="2200" i="1" dirty="0"/>
              <a:t>sort)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200" dirty="0"/>
              <a:t>И одну терминальную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Собери </a:t>
            </a:r>
            <a:r>
              <a:rPr lang="ru-RU" sz="2200" i="1" dirty="0"/>
              <a:t>(</a:t>
            </a:r>
            <a:r>
              <a:rPr lang="en-US" sz="2200" i="1" dirty="0"/>
              <a:t>collect / </a:t>
            </a:r>
            <a:r>
              <a:rPr lang="en-US" sz="2200" i="1" dirty="0" err="1"/>
              <a:t>toList</a:t>
            </a:r>
            <a:r>
              <a:rPr lang="en-US" sz="2200" i="1" dirty="0"/>
              <a:t> </a:t>
            </a:r>
            <a:r>
              <a:rPr lang="ru-RU" sz="2200" i="1" dirty="0"/>
              <a:t>и </a:t>
            </a:r>
            <a:r>
              <a:rPr lang="ru-RU" sz="2200" i="1" dirty="0" err="1"/>
              <a:t>тд</a:t>
            </a:r>
            <a:r>
              <a:rPr lang="ru-RU" sz="2200" i="1" dirty="0"/>
              <a:t>)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Выполни для каждого</a:t>
            </a:r>
            <a:r>
              <a:rPr lang="ru-RU" sz="2200" i="1" dirty="0"/>
              <a:t> (</a:t>
            </a:r>
            <a:r>
              <a:rPr lang="en-US" sz="2200" i="1" dirty="0" err="1"/>
              <a:t>forEach</a:t>
            </a:r>
            <a:r>
              <a:rPr lang="en-US" sz="2200" i="1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EF995-7BDE-6A32-7565-24E29D61A004}"/>
              </a:ext>
            </a:extLst>
          </p:cNvPr>
          <p:cNvSpPr txBox="1"/>
          <p:nvPr/>
        </p:nvSpPr>
        <p:spPr>
          <a:xfrm>
            <a:off x="594910" y="8198921"/>
            <a:ext cx="6661955" cy="2123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Плюсы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Декларативность (вспоминаем лекцию 3)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Идиоматичность (читаемость)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Компактность</a:t>
            </a:r>
            <a:endParaRPr kumimoji="0" lang="ru-RU" sz="2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200" dirty="0"/>
              <a:t>Lazy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Параллелизм из коробки</a:t>
            </a:r>
            <a:endParaRPr kumimoji="0" lang="ru-RU" sz="2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1026" name="Picture 2" descr="Глубокое погружение в Stream API Java: Понимание и Применение">
            <a:extLst>
              <a:ext uri="{FF2B5EF4-FFF2-40B4-BE49-F238E27FC236}">
                <a16:creationId xmlns:a16="http://schemas.microsoft.com/office/drawing/2014/main" id="{EB06D096-05A6-6D3E-1F1C-F0655A6F8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292" y="1537525"/>
            <a:ext cx="8779404" cy="876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24B7B8-3E0A-4297-0025-323DDB14513E}"/>
              </a:ext>
            </a:extLst>
          </p:cNvPr>
          <p:cNvSpPr txBox="1"/>
          <p:nvPr/>
        </p:nvSpPr>
        <p:spPr>
          <a:xfrm>
            <a:off x="7835954" y="702648"/>
            <a:ext cx="9782484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Пример из интернета про рыбный конвейер – отсортируй / измени / собери</a:t>
            </a: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78757175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промежуточные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7170" name="Picture 2" descr="думающий котик на прозрачном фоне 22 фото">
            <a:extLst>
              <a:ext uri="{FF2B5EF4-FFF2-40B4-BE49-F238E27FC236}">
                <a16:creationId xmlns:a16="http://schemas.microsoft.com/office/drawing/2014/main" id="{0D59E004-BE3E-8A4B-5770-1C9A00A18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1066" y="8211079"/>
            <a:ext cx="3933702" cy="294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39E1318-A26B-A7AD-9537-19AE5DB66784}"/>
              </a:ext>
            </a:extLst>
          </p:cNvPr>
          <p:cNvSpPr txBox="1"/>
          <p:nvPr/>
        </p:nvSpPr>
        <p:spPr>
          <a:xfrm>
            <a:off x="12632267" y="7552267"/>
            <a:ext cx="622061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Пройдемся по основным самым используемым</a:t>
            </a:r>
          </a:p>
        </p:txBody>
      </p:sp>
    </p:spTree>
    <p:extLst>
      <p:ext uri="{BB962C8B-B14F-4D97-AF65-F5344CB8AC3E}">
        <p14:creationId xmlns:p14="http://schemas.microsoft.com/office/powerpoint/2010/main" val="263235233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2709F6C8-9E0A-5729-8D7C-36C4B9945984}"/>
              </a:ext>
            </a:extLst>
          </p:cNvPr>
          <p:cNvSpPr/>
          <p:nvPr/>
        </p:nvSpPr>
        <p:spPr>
          <a:xfrm>
            <a:off x="6810477" y="466349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Проверяет каждый элемент стрима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T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на соответствие предикату (какому то условию)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s.getPrice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&gt; 100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Predicate&lt;T&gt;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.filter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промежуточные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62542622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F0EF9B8D-F8F0-C2D9-735D-6CA333A7CE1E}"/>
              </a:ext>
            </a:extLst>
          </p:cNvPr>
          <p:cNvSpPr/>
          <p:nvPr/>
        </p:nvSpPr>
        <p:spPr>
          <a:xfrm>
            <a:off x="13166998" y="47237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Проверяет каждый элемент стрима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T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на соответствие предикату (какому то условию)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s.getPrice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&gt; 100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.map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Predicate&lt;T&gt;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.filter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промежуточные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Function&lt;T, R&gt;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элемент Т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R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 помощью функции, превращает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&lt;R&gt;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u.getName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57915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3A29F2A3-2098-B302-90AA-A677AA7E31D2}"/>
              </a:ext>
            </a:extLst>
          </p:cNvPr>
          <p:cNvSpPr/>
          <p:nvPr/>
        </p:nvSpPr>
        <p:spPr>
          <a:xfrm>
            <a:off x="395288" y="5769946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01083" y="7347045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некоторую операцию над элементом, но не меняет его. Стрим не меняется, в основном используется для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логгирования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и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тд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x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log.debug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(“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el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= “ + x)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.peek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Проверяет каждый элемент стрима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T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на соответствие предикату (какому то условию)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s.getPrice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&gt; 100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.map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Predicate&lt;T&gt;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.filter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промежуточные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Function&lt;T, R&gt;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элемент Т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R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 помощью функции, превращает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&lt;R&gt;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u.getName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D8F0-D2F9-ED58-57C9-51E5D23FE28A}"/>
              </a:ext>
            </a:extLst>
          </p:cNvPr>
          <p:cNvSpPr txBox="1"/>
          <p:nvPr/>
        </p:nvSpPr>
        <p:spPr>
          <a:xfrm>
            <a:off x="901083" y="679878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3496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0A24639C-6E0A-2C64-E001-F938332BC061}"/>
              </a:ext>
            </a:extLst>
          </p:cNvPr>
          <p:cNvSpPr/>
          <p:nvPr/>
        </p:nvSpPr>
        <p:spPr>
          <a:xfrm>
            <a:off x="6813070" y="57611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01083" y="7347045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некоторую операцию над элементом, но не меняет его. Стрим не меняется, в основном используется для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логгирования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и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тд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x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log.debug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(“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el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= “ + x)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.peek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74A11-2316-9778-A54E-D9291C93FA6D}"/>
              </a:ext>
            </a:extLst>
          </p:cNvPr>
          <p:cNvSpPr txBox="1"/>
          <p:nvPr/>
        </p:nvSpPr>
        <p:spPr>
          <a:xfrm>
            <a:off x="7290184" y="7348056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Удаляет дубликаты,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оствляет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&lt;T&gt;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но с уникальными элементами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.distinct()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  <a:sym typeface="Wingdings" pitchFamily="2" charset="2"/>
              </a:rPr>
              <a:t>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.distinct</a:t>
            </a:r>
            <a:endParaRPr lang="ru-RU" dirty="0"/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Проверяет каждый элемент стрима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T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на соответствие предикату (какому то условию)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s.getPrice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&gt; 100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.map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Predicate&lt;T&gt;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.filter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промежуточные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Function&lt;T, R&gt;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элемент Т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R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 помощью функции, превращает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&lt;R&gt;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u.getName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D8F0-D2F9-ED58-57C9-51E5D23FE28A}"/>
              </a:ext>
            </a:extLst>
          </p:cNvPr>
          <p:cNvSpPr txBox="1"/>
          <p:nvPr/>
        </p:nvSpPr>
        <p:spPr>
          <a:xfrm>
            <a:off x="901083" y="679878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C93F1-2C1D-5B1C-DCEA-5EB693604A76}"/>
              </a:ext>
            </a:extLst>
          </p:cNvPr>
          <p:cNvSpPr txBox="1"/>
          <p:nvPr/>
        </p:nvSpPr>
        <p:spPr>
          <a:xfrm>
            <a:off x="7324797" y="6797624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Ничего не принимает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47788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3FB6317-96C2-0B4B-5804-72661C384524}"/>
              </a:ext>
            </a:extLst>
          </p:cNvPr>
          <p:cNvSpPr/>
          <p:nvPr/>
        </p:nvSpPr>
        <p:spPr>
          <a:xfrm>
            <a:off x="13163050" y="5699339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79860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01083" y="7347045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некоторую операцию над элементом, но не меняет его. Стрим не меняется, в основном используется для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логгирования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и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тд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x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log.debug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(“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el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= “ + x)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.peek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D9FD5FE2-3858-E863-1F9E-02ED4DC5A4E3}"/>
              </a:ext>
            </a:extLst>
          </p:cNvPr>
          <p:cNvSpPr/>
          <p:nvPr/>
        </p:nvSpPr>
        <p:spPr>
          <a:xfrm>
            <a:off x="6767513" y="5675438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0EF26C3-8987-8434-B70C-A5EB1125BBFB}"/>
              </a:ext>
            </a:extLst>
          </p:cNvPr>
          <p:cNvSpPr/>
          <p:nvPr/>
        </p:nvSpPr>
        <p:spPr>
          <a:xfrm>
            <a:off x="18373772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758A7-6D17-F0A2-4C2C-665CF35595DB}"/>
              </a:ext>
            </a:extLst>
          </p:cNvPr>
          <p:cNvSpPr txBox="1"/>
          <p:nvPr/>
        </p:nvSpPr>
        <p:spPr>
          <a:xfrm>
            <a:off x="13724509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А ещё есть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74A11-2316-9778-A54E-D9291C93FA6D}"/>
              </a:ext>
            </a:extLst>
          </p:cNvPr>
          <p:cNvSpPr txBox="1"/>
          <p:nvPr/>
        </p:nvSpPr>
        <p:spPr>
          <a:xfrm>
            <a:off x="7290184" y="7348056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Удаляет дубликаты,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оствляет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&lt;T&gt;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но с уникальными элементами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.distinct()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  <a:sym typeface="Wingdings" pitchFamily="2" charset="2"/>
              </a:rPr>
              <a:t>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.distinct</a:t>
            </a:r>
            <a:endParaRPr lang="ru-RU" dirty="0"/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Проверяет каждый элемент стрима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T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на соответствие предикату (какому то условию)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s.getPrice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&gt; 100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.map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Predicate&lt;T&gt;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.filter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промежуточные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Function&lt;T, R&gt;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элемент Т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R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 помощью функции, превращает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&lt;R&gt;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u.getName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D8F0-D2F9-ED58-57C9-51E5D23FE28A}"/>
              </a:ext>
            </a:extLst>
          </p:cNvPr>
          <p:cNvSpPr txBox="1"/>
          <p:nvPr/>
        </p:nvSpPr>
        <p:spPr>
          <a:xfrm>
            <a:off x="901083" y="679878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C93F1-2C1D-5B1C-DCEA-5EB693604A76}"/>
              </a:ext>
            </a:extLst>
          </p:cNvPr>
          <p:cNvSpPr txBox="1"/>
          <p:nvPr/>
        </p:nvSpPr>
        <p:spPr>
          <a:xfrm>
            <a:off x="7324797" y="6797624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Ничего не принимает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B8C8F6-9E0B-B3F4-9A04-4E1B10077042}"/>
              </a:ext>
            </a:extLst>
          </p:cNvPr>
          <p:cNvSpPr txBox="1"/>
          <p:nvPr/>
        </p:nvSpPr>
        <p:spPr>
          <a:xfrm>
            <a:off x="13724508" y="6907993"/>
            <a:ext cx="5807897" cy="40934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-Sans" pitchFamily="2" charset="0"/>
                <a:ea typeface="T-Sans" pitchFamily="2" charset="0"/>
              </a:rPr>
              <a:t>.skip(n)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–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пропусти </a:t>
            </a:r>
            <a:r>
              <a:rPr lang="en-US" dirty="0">
                <a:latin typeface="T-Sans" pitchFamily="2" charset="0"/>
                <a:ea typeface="T-Sans" pitchFamily="2" charset="0"/>
              </a:rPr>
              <a:t>n </a:t>
            </a:r>
            <a:r>
              <a:rPr lang="ru-RU" dirty="0">
                <a:latin typeface="T-Sans" pitchFamily="2" charset="0"/>
                <a:ea typeface="T-Sans" pitchFamily="2" charset="0"/>
              </a:rPr>
              <a:t>элементов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-Sans" pitchFamily="2" charset="0"/>
                <a:ea typeface="T-Sans" pitchFamily="2" charset="0"/>
              </a:rPr>
              <a:t>.limit(n)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– максимум </a:t>
            </a:r>
            <a:r>
              <a:rPr lang="en-US" dirty="0">
                <a:latin typeface="T-Sans" pitchFamily="2" charset="0"/>
                <a:ea typeface="T-Sans" pitchFamily="2" charset="0"/>
              </a:rPr>
              <a:t>n </a:t>
            </a:r>
            <a:r>
              <a:rPr lang="ru-RU" dirty="0">
                <a:latin typeface="T-Sans" pitchFamily="2" charset="0"/>
                <a:ea typeface="T-Sans" pitchFamily="2" charset="0"/>
              </a:rPr>
              <a:t>элементов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-Sans" pitchFamily="2" charset="0"/>
                <a:ea typeface="T-Sans" pitchFamily="2" charset="0"/>
              </a:rPr>
              <a:t>.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flatMap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(Function&lt;T, Stream&lt;R&gt;&gt;) </a:t>
            </a:r>
            <a:r>
              <a:rPr lang="en-US" dirty="0">
                <a:latin typeface="T-Sans" pitchFamily="2" charset="0"/>
                <a:ea typeface="T-Sans" pitchFamily="2" charset="0"/>
              </a:rPr>
              <a:t>– </a:t>
            </a:r>
            <a:r>
              <a:rPr lang="ru-RU" dirty="0">
                <a:latin typeface="T-Sans" pitchFamily="2" charset="0"/>
                <a:ea typeface="T-Sans" pitchFamily="2" charset="0"/>
              </a:rPr>
              <a:t>разверни внутренние коллекции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-Sans" pitchFamily="2" charset="0"/>
                <a:ea typeface="T-Sans" pitchFamily="2" charset="0"/>
              </a:rPr>
              <a:t>.sorted(?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Comporator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&lt;T&gt;) </a:t>
            </a:r>
            <a:r>
              <a:rPr lang="en-US" dirty="0">
                <a:latin typeface="T-Sans" pitchFamily="2" charset="0"/>
                <a:ea typeface="T-Sans" pitchFamily="2" charset="0"/>
              </a:rPr>
              <a:t>– </a:t>
            </a:r>
            <a:r>
              <a:rPr lang="ru-RU" dirty="0">
                <a:latin typeface="T-Sans" pitchFamily="2" charset="0"/>
                <a:ea typeface="T-Sans" pitchFamily="2" charset="0"/>
              </a:rPr>
              <a:t>отсортируй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>
              <a:latin typeface="T-Sans" pitchFamily="2" charset="0"/>
              <a:ea typeface="T-Sans" pitchFamily="2" charset="0"/>
            </a:endParaRPr>
          </a:p>
          <a:p>
            <a:pPr algn="l"/>
            <a:endParaRPr lang="ru-RU" dirty="0">
              <a:latin typeface="T-Sans" pitchFamily="2" charset="0"/>
              <a:ea typeface="T-Sans" pitchFamily="2" charset="0"/>
            </a:endParaRPr>
          </a:p>
          <a:p>
            <a:pPr algn="l"/>
            <a:endParaRPr lang="ru-RU" dirty="0">
              <a:latin typeface="T-Sans" pitchFamily="2" charset="0"/>
              <a:ea typeface="T-Sans" pitchFamily="2" charset="0"/>
            </a:endParaRPr>
          </a:p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И ещё много всего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pPr algn="l"/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9240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терминальные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8194" name="Picture 2" descr="Кот Задумался Мем | TikTok">
            <a:extLst>
              <a:ext uri="{FF2B5EF4-FFF2-40B4-BE49-F238E27FC236}">
                <a16:creationId xmlns:a16="http://schemas.microsoft.com/office/drawing/2014/main" id="{AC115857-8858-06B7-DFEE-69456B016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2580"/>
            <a:ext cx="5617545" cy="561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2F9B26-0415-4764-EEDE-02A24BB85CDC}"/>
              </a:ext>
            </a:extLst>
          </p:cNvPr>
          <p:cNvSpPr txBox="1"/>
          <p:nvPr/>
        </p:nvSpPr>
        <p:spPr>
          <a:xfrm>
            <a:off x="1716728" y="6441226"/>
            <a:ext cx="3291925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А теперь терминальные,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для завершения стрима</a:t>
            </a:r>
          </a:p>
        </p:txBody>
      </p:sp>
    </p:spTree>
    <p:extLst>
      <p:ext uri="{BB962C8B-B14F-4D97-AF65-F5344CB8AC3E}">
        <p14:creationId xmlns:p14="http://schemas.microsoft.com/office/powerpoint/2010/main" val="30630795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3A0DB2B9-6A42-9C84-267E-0676CE1213C3}"/>
              </a:ext>
            </a:extLst>
          </p:cNvPr>
          <p:cNvSpPr/>
          <p:nvPr/>
        </p:nvSpPr>
        <p:spPr>
          <a:xfrm>
            <a:off x="6800458" y="47237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411357" y="407793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какое то действие над каждым элементом, закрывает стрим, возвращает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void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System.out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::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println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forEach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терминальные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95935891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43CC9BF7-70B0-5D75-231D-FCDD08BE27FC}"/>
              </a:ext>
            </a:extLst>
          </p:cNvPr>
          <p:cNvSpPr/>
          <p:nvPr/>
        </p:nvSpPr>
        <p:spPr>
          <a:xfrm>
            <a:off x="13167584" y="407793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0754" y="47237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какое то действие над каждым элементом, закрывает стрим, возвращает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void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System.out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::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println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.collect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forEach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терминальные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миллион всего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стрим во что то финальное – коллекцию, мапу или вообще что угодно, например в строку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toList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toMap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joining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62762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7C2FF5E-0F98-72DD-91E4-2A619E4FB21C}"/>
              </a:ext>
            </a:extLst>
          </p:cNvPr>
          <p:cNvSpPr/>
          <p:nvPr/>
        </p:nvSpPr>
        <p:spPr>
          <a:xfrm>
            <a:off x="395288" y="5740789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01083" y="7347045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Сжимает стрим попарно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схлопывая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его элементы по какой то логике, в результате будет 1 результат 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(или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null /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дефолтное значение).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a, b) -&gt; a + b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.reduce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какое то действие над каждым элементом, закрывает стрим, возвращает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void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System.out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::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println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.collect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forEach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терминальные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миллион всего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стрим во что то финальное – коллекцию, мапу или вообще что угодно, например в строку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toList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toMap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joining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D8F0-D2F9-ED58-57C9-51E5D23FE28A}"/>
              </a:ext>
            </a:extLst>
          </p:cNvPr>
          <p:cNvSpPr txBox="1"/>
          <p:nvPr/>
        </p:nvSpPr>
        <p:spPr>
          <a:xfrm>
            <a:off x="901083" y="679878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BiOperator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&lt;T&gt; </a:t>
            </a:r>
            <a:r>
              <a:rPr lang="en-US" sz="1600" dirty="0">
                <a:latin typeface="T-Sans" pitchFamily="2" charset="0"/>
                <a:ea typeface="T-Sans" pitchFamily="2" charset="0"/>
              </a:rPr>
              <a:t>(</a:t>
            </a:r>
            <a:r>
              <a:rPr lang="ru-RU" sz="1600" dirty="0">
                <a:latin typeface="T-Sans" pitchFamily="2" charset="0"/>
                <a:ea typeface="T-Sans" pitchFamily="2" charset="0"/>
              </a:rPr>
              <a:t>и не только)</a:t>
            </a:r>
          </a:p>
        </p:txBody>
      </p:sp>
    </p:spTree>
    <p:extLst>
      <p:ext uri="{BB962C8B-B14F-4D97-AF65-F5344CB8AC3E}">
        <p14:creationId xmlns:p14="http://schemas.microsoft.com/office/powerpoint/2010/main" val="112364681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3A392107-0DB2-704E-D199-4EE7DD758EEE}"/>
              </a:ext>
            </a:extLst>
          </p:cNvPr>
          <p:cNvSpPr/>
          <p:nvPr/>
        </p:nvSpPr>
        <p:spPr>
          <a:xfrm>
            <a:off x="680045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01083" y="7347045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Сжимает стрим попарно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схлопывая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его элементы по какой то логике, в результате будет 1 результат 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(или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null /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дефолтное значение).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a, b) -&gt; a + b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.reduce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74A11-2316-9778-A54E-D9291C93FA6D}"/>
              </a:ext>
            </a:extLst>
          </p:cNvPr>
          <p:cNvSpPr txBox="1"/>
          <p:nvPr/>
        </p:nvSpPr>
        <p:spPr>
          <a:xfrm>
            <a:off x="7290184" y="7348056"/>
            <a:ext cx="4716462" cy="33302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Находит первый или любой элемент стрима, обычно используется после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.filter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то есть отфильтруй и возьми первый подошедший. Возвращает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Optional&lt;T&gt;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findFirst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  <a:sym typeface="Wingdings" pitchFamily="2" charset="2"/>
              </a:rPr>
              <a:t>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findFirst</a:t>
            </a:r>
            <a:r>
              <a:rPr lang="en-US" dirty="0"/>
              <a:t> / .</a:t>
            </a:r>
            <a:r>
              <a:rPr lang="en-US" dirty="0" err="1"/>
              <a:t>findAny</a:t>
            </a:r>
            <a:endParaRPr lang="ru-RU" dirty="0"/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какое то действие над каждым элементом, закрывает стрим, возвращает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void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System.out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::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println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.collect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forEach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терминальные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миллион всего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стрим во что то финальное – коллекцию, мапу или вообще что угодно, например в строку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toList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toMap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joining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D8F0-D2F9-ED58-57C9-51E5D23FE28A}"/>
              </a:ext>
            </a:extLst>
          </p:cNvPr>
          <p:cNvSpPr txBox="1"/>
          <p:nvPr/>
        </p:nvSpPr>
        <p:spPr>
          <a:xfrm>
            <a:off x="901083" y="679878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BiOperator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&lt;T&gt; </a:t>
            </a:r>
            <a:r>
              <a:rPr lang="en-US" sz="1600" dirty="0">
                <a:latin typeface="T-Sans" pitchFamily="2" charset="0"/>
                <a:ea typeface="T-Sans" pitchFamily="2" charset="0"/>
              </a:rPr>
              <a:t>(</a:t>
            </a:r>
            <a:r>
              <a:rPr lang="ru-RU" sz="1600" dirty="0">
                <a:latin typeface="T-Sans" pitchFamily="2" charset="0"/>
                <a:ea typeface="T-Sans" pitchFamily="2" charset="0"/>
              </a:rPr>
              <a:t>и не только)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C93F1-2C1D-5B1C-DCEA-5EB693604A76}"/>
              </a:ext>
            </a:extLst>
          </p:cNvPr>
          <p:cNvSpPr txBox="1"/>
          <p:nvPr/>
        </p:nvSpPr>
        <p:spPr>
          <a:xfrm>
            <a:off x="7324797" y="6797624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Ничего не принимает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66860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C464C46E-74E9-A911-D86A-73F83155CE00}"/>
              </a:ext>
            </a:extLst>
          </p:cNvPr>
          <p:cNvSpPr/>
          <p:nvPr/>
        </p:nvSpPr>
        <p:spPr>
          <a:xfrm>
            <a:off x="13176250" y="5673792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01083" y="7347045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Сжимает стрим попарно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схлопывая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его элементы по какой то логике, в результате будет 1 результат 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(или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null /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дефолтное значение).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a, b) -&gt; a + b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.reduce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D9FD5FE2-3858-E863-1F9E-02ED4DC5A4E3}"/>
              </a:ext>
            </a:extLst>
          </p:cNvPr>
          <p:cNvSpPr/>
          <p:nvPr/>
        </p:nvSpPr>
        <p:spPr>
          <a:xfrm>
            <a:off x="6767513" y="5675438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0EF26C3-8987-8434-B70C-A5EB1125BBFB}"/>
              </a:ext>
            </a:extLst>
          </p:cNvPr>
          <p:cNvSpPr/>
          <p:nvPr/>
        </p:nvSpPr>
        <p:spPr>
          <a:xfrm>
            <a:off x="18373772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758A7-6D17-F0A2-4C2C-665CF35595DB}"/>
              </a:ext>
            </a:extLst>
          </p:cNvPr>
          <p:cNvSpPr txBox="1"/>
          <p:nvPr/>
        </p:nvSpPr>
        <p:spPr>
          <a:xfrm>
            <a:off x="13724509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А ещё есть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74A11-2316-9778-A54E-D9291C93FA6D}"/>
              </a:ext>
            </a:extLst>
          </p:cNvPr>
          <p:cNvSpPr txBox="1"/>
          <p:nvPr/>
        </p:nvSpPr>
        <p:spPr>
          <a:xfrm>
            <a:off x="7290184" y="7348056"/>
            <a:ext cx="4716462" cy="33302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Находит первый или любой элемент стрима, обычно используется после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.filter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то есть отфильтруй и возьми первый подошедший. Возвращает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Optional&lt;T&gt;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findFirst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  <a:sym typeface="Wingdings" pitchFamily="2" charset="2"/>
              </a:rPr>
              <a:t>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findFirst</a:t>
            </a:r>
            <a:r>
              <a:rPr lang="en-US" dirty="0"/>
              <a:t> / .</a:t>
            </a:r>
            <a:r>
              <a:rPr lang="en-US" dirty="0" err="1"/>
              <a:t>findAny</a:t>
            </a:r>
            <a:endParaRPr lang="ru-RU" dirty="0"/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какое то действие над каждым элементом, закрывает стрим, возвращает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void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System.out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::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println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.collect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forEach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терминальные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миллион всего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стрим во что то финальное – коллекцию, мапу или вообще что угодно, например в строку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toList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toMap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joining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D8F0-D2F9-ED58-57C9-51E5D23FE28A}"/>
              </a:ext>
            </a:extLst>
          </p:cNvPr>
          <p:cNvSpPr txBox="1"/>
          <p:nvPr/>
        </p:nvSpPr>
        <p:spPr>
          <a:xfrm>
            <a:off x="901083" y="679878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BiOperator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&lt;T&gt; </a:t>
            </a:r>
            <a:r>
              <a:rPr lang="en-US" sz="1600" dirty="0">
                <a:latin typeface="T-Sans" pitchFamily="2" charset="0"/>
                <a:ea typeface="T-Sans" pitchFamily="2" charset="0"/>
              </a:rPr>
              <a:t>(</a:t>
            </a:r>
            <a:r>
              <a:rPr lang="ru-RU" sz="1600" dirty="0">
                <a:latin typeface="T-Sans" pitchFamily="2" charset="0"/>
                <a:ea typeface="T-Sans" pitchFamily="2" charset="0"/>
              </a:rPr>
              <a:t>и не только)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C93F1-2C1D-5B1C-DCEA-5EB693604A76}"/>
              </a:ext>
            </a:extLst>
          </p:cNvPr>
          <p:cNvSpPr txBox="1"/>
          <p:nvPr/>
        </p:nvSpPr>
        <p:spPr>
          <a:xfrm>
            <a:off x="7324797" y="6797624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Ничего не принимает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B8C8F6-9E0B-B3F4-9A04-4E1B10077042}"/>
              </a:ext>
            </a:extLst>
          </p:cNvPr>
          <p:cNvSpPr txBox="1"/>
          <p:nvPr/>
        </p:nvSpPr>
        <p:spPr>
          <a:xfrm>
            <a:off x="13724508" y="6907993"/>
            <a:ext cx="5807897" cy="24519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en-US" b="1" dirty="0">
                <a:latin typeface="T-Sans" pitchFamily="2" charset="0"/>
                <a:ea typeface="T-Sans" pitchFamily="2" charset="0"/>
              </a:rPr>
              <a:t>.count()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–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сколько элементов в стриме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pPr algn="l"/>
            <a:r>
              <a:rPr lang="en-US" b="1" dirty="0">
                <a:latin typeface="T-Sans" pitchFamily="2" charset="0"/>
                <a:ea typeface="T-Sans" pitchFamily="2" charset="0"/>
              </a:rPr>
              <a:t>.max/min(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Comporator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&lt;T&gt;)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– максимальный или минимальный элемент</a:t>
            </a:r>
          </a:p>
          <a:p>
            <a:pPr algn="l"/>
            <a:r>
              <a:rPr lang="en-US" b="1" dirty="0">
                <a:latin typeface="T-Sans" pitchFamily="2" charset="0"/>
                <a:ea typeface="T-Sans" pitchFamily="2" charset="0"/>
              </a:rPr>
              <a:t>.all/any/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noneMatch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(Predicate&lt;T&gt;) </a:t>
            </a:r>
            <a:r>
              <a:rPr lang="en-US" dirty="0">
                <a:latin typeface="T-Sans" pitchFamily="2" charset="0"/>
                <a:ea typeface="T-Sans" pitchFamily="2" charset="0"/>
              </a:rPr>
              <a:t>– </a:t>
            </a:r>
            <a:r>
              <a:rPr lang="ru-RU" dirty="0">
                <a:latin typeface="T-Sans" pitchFamily="2" charset="0"/>
                <a:ea typeface="T-Sans" pitchFamily="2" charset="0"/>
              </a:rPr>
              <a:t>удовлетворяют ли элементы условию (все / один или наоборот ни одного)</a:t>
            </a:r>
          </a:p>
        </p:txBody>
      </p:sp>
    </p:spTree>
    <p:extLst>
      <p:ext uri="{BB962C8B-B14F-4D97-AF65-F5344CB8AC3E}">
        <p14:creationId xmlns:p14="http://schemas.microsoft.com/office/powerpoint/2010/main" val="99929232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B0E2CD71-4130-BA89-8E8B-95B11390B2CF}"/>
              </a:ext>
            </a:extLst>
          </p:cNvPr>
          <p:cNvSpPr/>
          <p:nvPr/>
        </p:nvSpPr>
        <p:spPr>
          <a:xfrm flipH="1">
            <a:off x="9971088" y="395288"/>
            <a:ext cx="9432000" cy="10366619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5715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80713D8-4ECA-1480-75B3-5BC605500275}"/>
              </a:ext>
            </a:extLst>
          </p:cNvPr>
          <p:cNvSpPr/>
          <p:nvPr/>
        </p:nvSpPr>
        <p:spPr>
          <a:xfrm>
            <a:off x="396212" y="396752"/>
            <a:ext cx="9432000" cy="10366619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4DBBC05-A6EA-8ADC-B115-2E6D4DEF9E44}"/>
              </a:ext>
            </a:extLst>
          </p:cNvPr>
          <p:cNvGrpSpPr/>
          <p:nvPr/>
        </p:nvGrpSpPr>
        <p:grpSpPr>
          <a:xfrm>
            <a:off x="9232860" y="4913271"/>
            <a:ext cx="1333581" cy="1333581"/>
            <a:chOff x="8084123" y="4913271"/>
            <a:chExt cx="1333581" cy="1333581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54321441-1039-1AB2-7F43-2A0C0A942D5D}"/>
                </a:ext>
              </a:extLst>
            </p:cNvPr>
            <p:cNvSpPr/>
            <p:nvPr/>
          </p:nvSpPr>
          <p:spPr>
            <a:xfrm>
              <a:off x="8084123" y="4913271"/>
              <a:ext cx="1333581" cy="13335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prstDash val="solid"/>
              <a:miter lim="800000"/>
            </a:ln>
            <a:effectLst>
              <a:innerShdw blurRad="317009">
                <a:schemeClr val="accent6"/>
              </a:inn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5F9B4C-BD4A-AC0C-A1D4-E63DB6602DA4}"/>
                </a:ext>
              </a:extLst>
            </p:cNvPr>
            <p:cNvSpPr txBox="1"/>
            <p:nvPr/>
          </p:nvSpPr>
          <p:spPr>
            <a:xfrm>
              <a:off x="8314660" y="5249201"/>
              <a:ext cx="872508" cy="6617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 anchor="t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ts val="3800"/>
                </a:lnSpc>
                <a:defRPr sz="3200">
                  <a:solidFill>
                    <a:schemeClr val="accent2"/>
                  </a:solidFill>
                  <a:latin typeface="TINKOFFSANS-MEDIUM" panose="02000506050000020004" pitchFamily="2" charset="0"/>
                </a:defRPr>
              </a:lvl1pPr>
            </a:lstStyle>
            <a:p>
              <a:pPr algn="ctr">
                <a:lnSpc>
                  <a:spcPct val="110000"/>
                </a:lnSpc>
              </a:pPr>
              <a:r>
                <a:rPr lang="ru-RU" sz="4000" dirty="0">
                  <a:latin typeface="T-Sans" pitchFamily="2" charset="0"/>
                  <a:ea typeface="T-Sans" pitchFamily="2" charset="0"/>
                </a:rPr>
                <a:t>V</a:t>
              </a:r>
              <a:r>
                <a:rPr lang="en-US" sz="4000" dirty="0">
                  <a:latin typeface="T-Sans" pitchFamily="2" charset="0"/>
                  <a:ea typeface="T-Sans" pitchFamily="2" charset="0"/>
                </a:rPr>
                <a:t>S</a:t>
              </a:r>
              <a:endParaRPr lang="ru-RU" sz="40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38BC4C6-ACCD-7C6D-56E3-C082886AE388}"/>
              </a:ext>
            </a:extLst>
          </p:cNvPr>
          <p:cNvSpPr txBox="1"/>
          <p:nvPr/>
        </p:nvSpPr>
        <p:spPr>
          <a:xfrm>
            <a:off x="1150938" y="1120463"/>
            <a:ext cx="7232627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sz="4800" b="0" dirty="0"/>
              <a:t>Java &lt; 1.8</a:t>
            </a:r>
            <a:endParaRPr lang="ru-RU" sz="4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62205-7F19-CD86-8CA8-B30443AC311C}"/>
              </a:ext>
            </a:extLst>
          </p:cNvPr>
          <p:cNvSpPr txBox="1"/>
          <p:nvPr/>
        </p:nvSpPr>
        <p:spPr>
          <a:xfrm>
            <a:off x="1150938" y="9099731"/>
            <a:ext cx="6780512" cy="11633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 err="1">
                <a:latin typeface="T-Sans" pitchFamily="2" charset="0"/>
                <a:ea typeface="T-Sans" pitchFamily="2" charset="0"/>
              </a:rPr>
              <a:t>А</a:t>
            </a:r>
            <a:r>
              <a:rPr lang="ru-RU" dirty="0">
                <a:latin typeface="T-Sans" pitchFamily="2" charset="0"/>
                <a:ea typeface="T-Sans" pitchFamily="2" charset="0"/>
              </a:rPr>
              <a:t>АААА!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latin typeface="T-Sans" pitchFamily="2" charset="0"/>
                <a:ea typeface="T-Sans" pitchFamily="2" charset="0"/>
              </a:rPr>
              <a:t>Фу, много императивного нечитабельного кода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D58F9-9940-8725-46CD-B16174E55B87}"/>
              </a:ext>
            </a:extLst>
          </p:cNvPr>
          <p:cNvSpPr txBox="1"/>
          <p:nvPr/>
        </p:nvSpPr>
        <p:spPr>
          <a:xfrm>
            <a:off x="10800024" y="1120463"/>
            <a:ext cx="8016486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sz="4800" b="0" dirty="0"/>
              <a:t>Java &gt; 1.8</a:t>
            </a:r>
            <a:endParaRPr lang="ru-RU" sz="4800" b="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181F7AC-7811-3E6A-F4B9-6DB73468A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7180" y="2078251"/>
            <a:ext cx="7769330" cy="235606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51310B3-BBDF-2EDF-AE50-C3DB64786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67" y="2096037"/>
            <a:ext cx="8063452" cy="688802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9E635EA-D99A-43F7-0A9A-EFB3E0823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082" y="8256711"/>
            <a:ext cx="2088983" cy="2006415"/>
          </a:xfrm>
          <a:prstGeom prst="rect">
            <a:avLst/>
          </a:prstGeom>
        </p:spPr>
      </p:pic>
      <p:pic>
        <p:nvPicPr>
          <p:cNvPr id="24" name="Picture 2" descr="Huh cat side on &quot; Sticker for Sale by rbuser4 | Redbubble">
            <a:extLst>
              <a:ext uri="{FF2B5EF4-FFF2-40B4-BE49-F238E27FC236}">
                <a16:creationId xmlns:a16="http://schemas.microsoft.com/office/drawing/2014/main" id="{C1B4115E-85A4-B969-E807-F2C741B1E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494" y="4542652"/>
            <a:ext cx="2348203" cy="313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36E644-698D-C262-B92A-7653B6E384AE}"/>
              </a:ext>
            </a:extLst>
          </p:cNvPr>
          <p:cNvSpPr txBox="1"/>
          <p:nvPr/>
        </p:nvSpPr>
        <p:spPr>
          <a:xfrm>
            <a:off x="13029819" y="4658205"/>
            <a:ext cx="2564284" cy="4524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И это весь код???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F8F370-C625-32F1-35DD-960B860D781D}"/>
              </a:ext>
            </a:extLst>
          </p:cNvPr>
          <p:cNvSpPr txBox="1"/>
          <p:nvPr/>
        </p:nvSpPr>
        <p:spPr>
          <a:xfrm>
            <a:off x="10566440" y="9099731"/>
            <a:ext cx="8512867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latin typeface="T-Sans" pitchFamily="2" charset="0"/>
                <a:ea typeface="T-Sans" pitchFamily="2" charset="0"/>
              </a:rPr>
              <a:t>Стало сильно меньше, код стал декларативным.</a:t>
            </a:r>
            <a:br>
              <a:rPr lang="ru-RU" dirty="0">
                <a:latin typeface="T-Sans" pitchFamily="2" charset="0"/>
                <a:ea typeface="T-Sans" pitchFamily="2" charset="0"/>
              </a:rPr>
            </a:br>
            <a:r>
              <a:rPr lang="ru-RU" dirty="0">
                <a:latin typeface="T-Sans" pitchFamily="2" charset="0"/>
                <a:ea typeface="T-Sans" pitchFamily="2" charset="0"/>
              </a:rPr>
              <a:t>Но да, тут надо привыкнуть к его чтению, изначально может выглядеть страшно.</a:t>
            </a:r>
          </a:p>
        </p:txBody>
      </p:sp>
    </p:spTree>
    <p:extLst>
      <p:ext uri="{BB962C8B-B14F-4D97-AF65-F5344CB8AC3E}">
        <p14:creationId xmlns:p14="http://schemas.microsoft.com/office/powerpoint/2010/main" val="302360653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A1CC713-6638-B051-DE5B-D72BC1A4512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18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1D9ED3-5D42-B993-8C58-065A41527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9730" y="-109723"/>
            <a:ext cx="11379570" cy="11379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A4D5B0-3517-BE1E-47E7-1B04259B55B3}"/>
              </a:ext>
            </a:extLst>
          </p:cNvPr>
          <p:cNvSpPr txBox="1"/>
          <p:nvPr/>
        </p:nvSpPr>
        <p:spPr>
          <a:xfrm>
            <a:off x="1355989" y="1054848"/>
            <a:ext cx="8750289" cy="9394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66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Что еще важно знать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A6E844-842D-DCAC-4BBA-EF20FBB40F02}"/>
              </a:ext>
            </a:extLst>
          </p:cNvPr>
          <p:cNvSpPr txBox="1"/>
          <p:nvPr/>
        </p:nvSpPr>
        <p:spPr>
          <a:xfrm>
            <a:off x="1459523" y="2426677"/>
            <a:ext cx="9091246" cy="61863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marR="0" indent="-45720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400" dirty="0"/>
              <a:t>Элементы проходят этапы стрима по 1 до конца, а не сначала все </a:t>
            </a:r>
            <a:r>
              <a:rPr lang="en-US" sz="2400" dirty="0"/>
              <a:t>.filter</a:t>
            </a:r>
            <a:r>
              <a:rPr lang="ru-RU" sz="2400" dirty="0"/>
              <a:t>, потом все </a:t>
            </a:r>
            <a:r>
              <a:rPr lang="en-US" sz="2400" dirty="0"/>
              <a:t>.map </a:t>
            </a:r>
            <a:r>
              <a:rPr lang="ru-RU" sz="2400" dirty="0"/>
              <a:t>и так далее</a:t>
            </a:r>
          </a:p>
          <a:p>
            <a:pPr marL="457200" marR="0" indent="-45720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400" dirty="0"/>
              <a:t>Стримы </a:t>
            </a:r>
            <a:r>
              <a:rPr lang="en-US" sz="2400" u="sng" dirty="0"/>
              <a:t>Lazy</a:t>
            </a:r>
            <a:r>
              <a:rPr lang="en-US" sz="2400" dirty="0"/>
              <a:t> (</a:t>
            </a:r>
            <a:r>
              <a:rPr lang="ru-RU" sz="2400" dirty="0"/>
              <a:t>ленивые) – то есть они не будут вызваны, если нет терминальной операции</a:t>
            </a:r>
          </a:p>
          <a:p>
            <a:pPr marL="457200" marR="0" indent="-45720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Существуют стримы для примитивов </a:t>
            </a:r>
            <a:r>
              <a:rPr kumimoji="0" lang="ru-RU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– </a:t>
            </a:r>
            <a:r>
              <a:rPr kumimoji="0" lang="en-US" sz="24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IntStream</a:t>
            </a: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/ </a:t>
            </a:r>
            <a:r>
              <a:rPr kumimoji="0" lang="en-US" sz="24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LongStream</a:t>
            </a: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 так далее. Они не используют </a:t>
            </a:r>
            <a:r>
              <a:rPr kumimoji="0" lang="ru-RU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боксинг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поэтому более оптимизированы в отличии от например </a:t>
            </a: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Stream&lt;Integer&gt;</a:t>
            </a:r>
          </a:p>
          <a:p>
            <a:pPr marL="457200" marR="0" indent="-45720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Java</a:t>
            </a:r>
            <a:r>
              <a:rPr lang="en-US" sz="2400" dirty="0"/>
              <a:t>11 </a:t>
            </a:r>
            <a:r>
              <a:rPr lang="ru-RU" sz="2400" dirty="0"/>
              <a:t>есть терминальные операции сборки </a:t>
            </a:r>
            <a:r>
              <a:rPr lang="ru-RU" sz="2400" dirty="0" err="1"/>
              <a:t>иммутабельных</a:t>
            </a:r>
            <a:r>
              <a:rPr lang="ru-RU" sz="2400" dirty="0"/>
              <a:t> </a:t>
            </a:r>
            <a:r>
              <a:rPr lang="ru-RU" sz="2400" dirty="0" err="1"/>
              <a:t>коллеций</a:t>
            </a:r>
            <a:r>
              <a:rPr lang="ru-RU" sz="2400" dirty="0"/>
              <a:t> - </a:t>
            </a:r>
            <a:r>
              <a:rPr lang="en-US" sz="2400" i="1" dirty="0"/>
              <a:t>.</a:t>
            </a:r>
            <a:r>
              <a:rPr lang="en-US" sz="2400" i="1" dirty="0" err="1"/>
              <a:t>toList</a:t>
            </a:r>
            <a:r>
              <a:rPr lang="en-US" sz="2400" i="1" dirty="0"/>
              <a:t> / .</a:t>
            </a:r>
            <a:r>
              <a:rPr lang="en-US" sz="2400" i="1" dirty="0" err="1"/>
              <a:t>toSet</a:t>
            </a:r>
            <a:r>
              <a:rPr lang="ru-RU" sz="2400" i="1" dirty="0"/>
              <a:t> и </a:t>
            </a:r>
            <a:r>
              <a:rPr lang="ru-RU" sz="2400" i="1" dirty="0" err="1"/>
              <a:t>тд</a:t>
            </a:r>
            <a:r>
              <a:rPr lang="ru-RU" sz="2400" i="1" dirty="0"/>
              <a:t> (Вместо </a:t>
            </a:r>
            <a:r>
              <a:rPr lang="en-US" sz="2400" i="1" dirty="0" err="1"/>
              <a:t>Collectors.toList</a:t>
            </a:r>
            <a:r>
              <a:rPr lang="en-US" sz="2400" i="1" dirty="0"/>
              <a:t>())</a:t>
            </a:r>
          </a:p>
          <a:p>
            <a:pPr marL="457200" marR="0" indent="-45720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sz="2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Ме</a:t>
            </a:r>
            <a:r>
              <a:rPr lang="ru-RU" sz="2400" dirty="0"/>
              <a:t>тод </a:t>
            </a:r>
            <a:r>
              <a:rPr lang="en-US" sz="2400" dirty="0"/>
              <a:t>.collect </a:t>
            </a:r>
            <a:r>
              <a:rPr lang="ru-RU" sz="2400" dirty="0"/>
              <a:t>заслуживает отдельного изучения, в нем просто тонны возможностей</a:t>
            </a:r>
            <a:endParaRPr kumimoji="0" lang="ru-RU" sz="24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42111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6838" y="647701"/>
            <a:ext cx="7313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Теперь можно и </a:t>
            </a:r>
            <a:r>
              <a:rPr lang="ru-RU" sz="4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покодить</a:t>
            </a:r>
            <a:endParaRPr sz="4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14764B-B398-4D06-21A1-F58C6C9B45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/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30038C-692B-D87F-D1AC-FCC8D164BCEF}"/>
              </a:ext>
            </a:extLst>
          </p:cNvPr>
          <p:cNvSpPr txBox="1"/>
          <p:nvPr/>
        </p:nvSpPr>
        <p:spPr>
          <a:xfrm>
            <a:off x="1019444" y="1861711"/>
            <a:ext cx="7660766" cy="73609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spcAft>
                <a:spcPts val="1000"/>
              </a:spcAft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Добавим новые команды</a:t>
            </a:r>
            <a:endParaRPr lang="en-US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Stats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сводка по каталогу котировок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Compare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сравнение доходностей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Movers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топ по доходности</a:t>
            </a:r>
            <a:endParaRPr lang="en-US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History (adv)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скользящее среднее по истории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ru-RU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>
              <a:spcAft>
                <a:spcPts val="1000"/>
              </a:spcAft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Немного перепишем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ListCommand</a:t>
            </a: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перейдем на стримы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Repository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тоже перейдем на стримы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ru-RU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>
              <a:spcAft>
                <a:spcPts val="1000"/>
              </a:spcAft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А так же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Новый бенчмарк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Новый демо-класс</a:t>
            </a:r>
          </a:p>
        </p:txBody>
      </p:sp>
    </p:spTree>
    <p:extLst>
      <p:ext uri="{BB962C8B-B14F-4D97-AF65-F5344CB8AC3E}">
        <p14:creationId xmlns:p14="http://schemas.microsoft.com/office/powerpoint/2010/main" val="746481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20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 err="1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Spliterator</a:t>
            </a:r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 + FJP + parallel</a:t>
            </a:r>
            <a:endParaRPr lang="ru-RU" sz="7200" b="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Stream API </a:t>
            </a: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под капотом, плюс немного затронем параллельную обработку</a:t>
            </a:r>
          </a:p>
        </p:txBody>
      </p:sp>
    </p:spTree>
    <p:extLst>
      <p:ext uri="{BB962C8B-B14F-4D97-AF65-F5344CB8AC3E}">
        <p14:creationId xmlns:p14="http://schemas.microsoft.com/office/powerpoint/2010/main" val="41831637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21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1" y="1727716"/>
            <a:ext cx="8081650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en-US" b="1" dirty="0" err="1">
                <a:latin typeface="T-Sans" pitchFamily="2" charset="77"/>
                <a:ea typeface="T-Sans" pitchFamily="2" charset="77"/>
              </a:rPr>
              <a:t>Spliterator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 = .</a:t>
            </a:r>
            <a:r>
              <a:rPr lang="en-US" b="1" dirty="0" err="1">
                <a:latin typeface="T-Sans" pitchFamily="2" charset="77"/>
                <a:ea typeface="T-Sans" pitchFamily="2" charset="77"/>
              </a:rPr>
              <a:t>trySplit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() + iterator</a:t>
            </a:r>
            <a:r>
              <a:rPr lang="ru-RU" dirty="0">
                <a:latin typeface="T-Sans" pitchFamily="2" charset="77"/>
                <a:ea typeface="T-Sans" pitchFamily="2" charset="77"/>
              </a:rPr>
              <a:t>, то есть это почти как обычный итератор, но умеет делиться на части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024" y="1760270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522066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 err="1">
                <a:latin typeface="T-Sans" pitchFamily="2" charset="77"/>
                <a:ea typeface="T-Sans" pitchFamily="2" charset="77"/>
              </a:rPr>
              <a:t>Spliterator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9899650" y="1321119"/>
            <a:ext cx="9288462" cy="7460274"/>
            <a:chOff x="7477170" y="647700"/>
            <a:chExt cx="11448000" cy="7911560"/>
          </a:xfrm>
          <a:solidFill>
            <a:schemeClr val="accent6"/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727454" y="1245510"/>
              <a:ext cx="11053716" cy="7107367"/>
            </a:xfrm>
            <a:prstGeom prst="roundRect">
              <a:avLst>
                <a:gd name="adj" fmla="val 216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pic>
        <p:nvPicPr>
          <p:cNvPr id="53" name="Рисунок 20">
            <a:extLst>
              <a:ext uri="{FF2B5EF4-FFF2-40B4-BE49-F238E27FC236}">
                <a16:creationId xmlns:a16="http://schemas.microsoft.com/office/drawing/2014/main" id="{9341772A-FBF2-5A18-0679-19F4C4C4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574" y="3075057"/>
            <a:ext cx="612000" cy="612000"/>
          </a:xfrm>
          <a:prstGeom prst="rect">
            <a:avLst/>
          </a:prstGeom>
        </p:spPr>
      </p:pic>
      <p:pic>
        <p:nvPicPr>
          <p:cNvPr id="2050" name="Picture 2" descr="Was ist eigentlich ein Spliterator?">
            <a:extLst>
              <a:ext uri="{FF2B5EF4-FFF2-40B4-BE49-F238E27FC236}">
                <a16:creationId xmlns:a16="http://schemas.microsoft.com/office/drawing/2014/main" id="{C5E983DF-72CB-4BBB-5CFF-7AE95DF6E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28" y="3031368"/>
            <a:ext cx="7642041" cy="5435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371F0B-C8D9-284E-9F41-FAD3815A8129}"/>
              </a:ext>
            </a:extLst>
          </p:cNvPr>
          <p:cNvSpPr txBox="1"/>
          <p:nvPr/>
        </p:nvSpPr>
        <p:spPr>
          <a:xfrm>
            <a:off x="12385974" y="2323485"/>
            <a:ext cx="426494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Визуализация деления задачи через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trySplit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75CD1E-F9C6-C909-1F85-AB50AA94E9EA}"/>
              </a:ext>
            </a:extLst>
          </p:cNvPr>
          <p:cNvSpPr txBox="1"/>
          <p:nvPr/>
        </p:nvSpPr>
        <p:spPr>
          <a:xfrm>
            <a:off x="1484381" y="3042503"/>
            <a:ext cx="8081650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Используется под капотом </a:t>
            </a:r>
            <a:r>
              <a:rPr lang="en-US" dirty="0">
                <a:latin typeface="T-Sans" pitchFamily="2" charset="77"/>
                <a:ea typeface="T-Sans" pitchFamily="2" charset="77"/>
              </a:rPr>
              <a:t>Stream API</a:t>
            </a:r>
            <a:r>
              <a:rPr lang="ru-RU" dirty="0">
                <a:latin typeface="T-Sans" pitchFamily="2" charset="77"/>
                <a:ea typeface="T-Sans" pitchFamily="2" charset="77"/>
              </a:rPr>
              <a:t>, по сути это «движок» стримов. Причем как последовательных (по умолчанию) так и параллельных.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7F5DF6-72E6-1285-EC4B-CDCAD4A6EB9B}"/>
              </a:ext>
            </a:extLst>
          </p:cNvPr>
          <p:cNvSpPr txBox="1"/>
          <p:nvPr/>
        </p:nvSpPr>
        <p:spPr>
          <a:xfrm>
            <a:off x="398917" y="8630416"/>
            <a:ext cx="8973683" cy="31393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  обычном режиме </a:t>
            </a:r>
            <a:r>
              <a:rPr kumimoji="0" lang="en-US" sz="22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spliterator</a:t>
            </a:r>
            <a:r>
              <a:rPr kumimoji="0" lang="en-US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lang="ru-RU" sz="2200" dirty="0"/>
              <a:t>создается на основе исходной коллекции или того что поступило на вход и обрабатывается потоком через </a:t>
            </a:r>
            <a:r>
              <a:rPr lang="en-US" sz="2200" b="1" dirty="0" err="1"/>
              <a:t>tryAdvance</a:t>
            </a:r>
            <a:r>
              <a:rPr lang="en-US" sz="2200" dirty="0"/>
              <a:t> </a:t>
            </a:r>
            <a:r>
              <a:rPr lang="ru-RU" sz="2200" dirty="0"/>
              <a:t>до завершения стрима.</a:t>
            </a:r>
            <a:r>
              <a:rPr lang="en-US" sz="2200" dirty="0"/>
              <a:t> </a:t>
            </a:r>
            <a:r>
              <a:rPr lang="ru-RU" sz="2200" dirty="0"/>
              <a:t>То есть прохождение всех промежуточных операций и накопление результата в терминальной.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2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200" dirty="0"/>
              <a:t>В параллельном режиме всё так же, но еще будет использоваться </a:t>
            </a:r>
            <a:r>
              <a:rPr lang="en-US" sz="2200" b="1" dirty="0" err="1"/>
              <a:t>trySplit</a:t>
            </a:r>
            <a:r>
              <a:rPr lang="en-US" sz="2200" dirty="0"/>
              <a:t> </a:t>
            </a:r>
            <a:r>
              <a:rPr lang="ru-RU" sz="2200" dirty="0"/>
              <a:t>для деления задачи на подзадачи.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2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D9ACE-BB64-B47F-DF6D-72C5D62E7EF1}"/>
              </a:ext>
            </a:extLst>
          </p:cNvPr>
          <p:cNvSpPr txBox="1"/>
          <p:nvPr/>
        </p:nvSpPr>
        <p:spPr>
          <a:xfrm>
            <a:off x="611188" y="4258190"/>
            <a:ext cx="8081650" cy="35125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5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Два основных метода для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spliterator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b="1" dirty="0" err="1">
                <a:latin typeface="T-Sans" pitchFamily="2" charset="0"/>
                <a:ea typeface="T-Sans" pitchFamily="2" charset="0"/>
              </a:rPr>
              <a:t>tryAdvance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(</a:t>
            </a:r>
            <a:r>
              <a:rPr lang="en-US" b="1" dirty="0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Consumer&lt;T&gt; action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) : </a:t>
            </a:r>
            <a:r>
              <a:rPr lang="en-US" b="1" dirty="0" err="1">
                <a:solidFill>
                  <a:srgbClr val="00B050"/>
                </a:solidFill>
                <a:latin typeface="T-Sans" pitchFamily="2" charset="0"/>
                <a:ea typeface="T-Sans" pitchFamily="2" charset="0"/>
              </a:rPr>
              <a:t>boolean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 </a:t>
            </a:r>
            <a:r>
              <a:rPr lang="en-US" dirty="0">
                <a:latin typeface="T-Sans" pitchFamily="2" charset="0"/>
                <a:ea typeface="T-Sans" pitchFamily="2" charset="0"/>
              </a:rPr>
              <a:t>– </a:t>
            </a:r>
            <a:r>
              <a:rPr lang="ru-RU" dirty="0">
                <a:latin typeface="T-Sans" pitchFamily="2" charset="0"/>
                <a:ea typeface="T-Sans" pitchFamily="2" charset="0"/>
              </a:rPr>
              <a:t>аналог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hasNext</a:t>
            </a:r>
            <a:r>
              <a:rPr lang="en-US" dirty="0">
                <a:latin typeface="T-Sans" pitchFamily="2" charset="0"/>
                <a:ea typeface="T-Sans" pitchFamily="2" charset="0"/>
              </a:rPr>
              <a:t>()+next() </a:t>
            </a:r>
            <a:r>
              <a:rPr lang="ru-RU" dirty="0">
                <a:latin typeface="T-Sans" pitchFamily="2" charset="0"/>
                <a:ea typeface="T-Sans" pitchFamily="2" charset="0"/>
              </a:rPr>
              <a:t>методов итератора. Если следующий элемент есть, примени к нему </a:t>
            </a:r>
            <a:r>
              <a:rPr lang="en-US" dirty="0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action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и верни </a:t>
            </a:r>
            <a:r>
              <a:rPr lang="en-US" dirty="0">
                <a:solidFill>
                  <a:srgbClr val="00B050"/>
                </a:solidFill>
                <a:latin typeface="T-Sans" pitchFamily="2" charset="0"/>
                <a:ea typeface="T-Sans" pitchFamily="2" charset="0"/>
              </a:rPr>
              <a:t>true</a:t>
            </a:r>
            <a:r>
              <a:rPr lang="en-US" dirty="0">
                <a:latin typeface="T-Sans" pitchFamily="2" charset="0"/>
                <a:ea typeface="T-Sans" pitchFamily="2" charset="0"/>
              </a:rPr>
              <a:t>. </a:t>
            </a:r>
            <a:r>
              <a:rPr lang="ru-RU" dirty="0">
                <a:latin typeface="T-Sans" pitchFamily="2" charset="0"/>
                <a:ea typeface="T-Sans" pitchFamily="2" charset="0"/>
              </a:rPr>
              <a:t>Если элемента нет (стрим кончился) – верни </a:t>
            </a:r>
            <a:r>
              <a:rPr lang="en-US" dirty="0">
                <a:solidFill>
                  <a:srgbClr val="00B050"/>
                </a:solidFill>
                <a:latin typeface="T-Sans" pitchFamily="2" charset="0"/>
                <a:ea typeface="T-Sans" pitchFamily="2" charset="0"/>
              </a:rPr>
              <a:t>false</a:t>
            </a:r>
            <a:r>
              <a:rPr lang="en-US" dirty="0">
                <a:latin typeface="T-Sans" pitchFamily="2" charset="0"/>
                <a:ea typeface="T-Sans" pitchFamily="2" charset="0"/>
              </a:rPr>
              <a:t>. </a:t>
            </a: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b="1" dirty="0" err="1">
                <a:latin typeface="T-Sans" pitchFamily="2" charset="0"/>
                <a:ea typeface="T-Sans" pitchFamily="2" charset="0"/>
              </a:rPr>
              <a:t>trySplit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() : </a:t>
            </a:r>
            <a:r>
              <a:rPr lang="en" b="1" dirty="0" err="1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Spliterator</a:t>
            </a:r>
            <a:r>
              <a:rPr lang="en" b="1" dirty="0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&lt;T&gt;</a:t>
            </a:r>
            <a:r>
              <a:rPr lang="en-US" b="1" dirty="0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en-US" dirty="0">
                <a:latin typeface="T-Sans" pitchFamily="2" charset="0"/>
                <a:ea typeface="T-Sans" pitchFamily="2" charset="0"/>
              </a:rPr>
              <a:t>- </a:t>
            </a:r>
            <a:r>
              <a:rPr lang="ru-RU" dirty="0">
                <a:latin typeface="T-Sans" pitchFamily="2" charset="0"/>
                <a:ea typeface="T-Sans" pitchFamily="2" charset="0"/>
              </a:rPr>
              <a:t>деление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сплитератора</a:t>
            </a:r>
            <a:r>
              <a:rPr lang="ru-RU" dirty="0">
                <a:latin typeface="T-Sans" pitchFamily="2" charset="0"/>
                <a:ea typeface="T-Sans" pitchFamily="2" charset="0"/>
              </a:rPr>
              <a:t> пополам, возвращает новую </a:t>
            </a:r>
            <a:r>
              <a:rPr lang="ru-RU" u="sng" dirty="0">
                <a:latin typeface="T-Sans" pitchFamily="2" charset="0"/>
                <a:ea typeface="T-Sans" pitchFamily="2" charset="0"/>
              </a:rPr>
              <a:t>левую</a:t>
            </a:r>
            <a:r>
              <a:rPr lang="ru-RU" dirty="0">
                <a:latin typeface="T-Sans" pitchFamily="2" charset="0"/>
                <a:ea typeface="T-Sans" pitchFamily="2" charset="0"/>
              </a:rPr>
              <a:t> часть, 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у себя оставляет </a:t>
            </a:r>
            <a:r>
              <a:rPr lang="ru-RU" u="sng" dirty="0">
                <a:latin typeface="T-Sans" pitchFamily="2" charset="0"/>
                <a:ea typeface="T-Sans" pitchFamily="2" charset="0"/>
              </a:rPr>
              <a:t>правую</a:t>
            </a:r>
            <a:r>
              <a:rPr lang="ru-RU" dirty="0">
                <a:latin typeface="T-Sans" pitchFamily="2" charset="0"/>
                <a:ea typeface="T-Sans" pitchFamily="2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E072BB-9FFF-AE56-74BC-99595CB13E9E}"/>
              </a:ext>
            </a:extLst>
          </p:cNvPr>
          <p:cNvSpPr txBox="1"/>
          <p:nvPr/>
        </p:nvSpPr>
        <p:spPr>
          <a:xfrm>
            <a:off x="12385974" y="9527814"/>
            <a:ext cx="4462117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Задачи </a:t>
            </a:r>
            <a:r>
              <a:rPr kumimoji="0" lang="ru-RU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сплитератора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попадут в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Fork Join Pool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(</a:t>
            </a:r>
            <a:r>
              <a:rPr lang="ru-RU" sz="1800" dirty="0"/>
              <a:t>о нем подробнее в многопоточности </a:t>
            </a:r>
            <a:r>
              <a:rPr lang="ru-RU" sz="1800" dirty="0">
                <a:sym typeface="Wingdings" pitchFamily="2" charset="2"/>
              </a:rPr>
              <a:t></a:t>
            </a:r>
            <a:r>
              <a:rPr lang="ru-RU" sz="1800" dirty="0"/>
              <a:t>)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9" name="Открывающая фигурная скобка 18">
            <a:extLst>
              <a:ext uri="{FF2B5EF4-FFF2-40B4-BE49-F238E27FC236}">
                <a16:creationId xmlns:a16="http://schemas.microsoft.com/office/drawing/2014/main" id="{1685CF98-D6A3-1100-2E16-0AE2AE26945D}"/>
              </a:ext>
            </a:extLst>
          </p:cNvPr>
          <p:cNvSpPr/>
          <p:nvPr/>
        </p:nvSpPr>
        <p:spPr>
          <a:xfrm rot="16200000">
            <a:off x="14169808" y="5423321"/>
            <a:ext cx="834378" cy="6910756"/>
          </a:xfrm>
          <a:prstGeom prst="leftBrace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miter lim="800000"/>
          </a:ln>
          <a:effectLst>
            <a:glow rad="31040">
              <a:schemeClr val="bg1">
                <a:lumMod val="50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95830042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348971" y="5018371"/>
            <a:ext cx="8644611" cy="11233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0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Есть ли преимущества у параллельных стримов?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22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5906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Овал 18">
            <a:extLst>
              <a:ext uri="{FF2B5EF4-FFF2-40B4-BE49-F238E27FC236}">
                <a16:creationId xmlns:a16="http://schemas.microsoft.com/office/drawing/2014/main" id="{288CEEEE-BCBD-7734-3252-FF3AC14C10D4}"/>
              </a:ext>
            </a:extLst>
          </p:cNvPr>
          <p:cNvSpPr/>
          <p:nvPr/>
        </p:nvSpPr>
        <p:spPr>
          <a:xfrm>
            <a:off x="8793439" y="561758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46DD5D0-73BB-6478-1A6F-959CDA08A8F2}"/>
              </a:ext>
            </a:extLst>
          </p:cNvPr>
          <p:cNvSpPr/>
          <p:nvPr/>
        </p:nvSpPr>
        <p:spPr>
          <a:xfrm>
            <a:off x="18364159" y="561758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16E54-30FD-C24F-4510-1B530E508BE2}"/>
              </a:ext>
            </a:extLst>
          </p:cNvPr>
          <p:cNvSpPr txBox="1"/>
          <p:nvPr/>
        </p:nvSpPr>
        <p:spPr>
          <a:xfrm>
            <a:off x="466285" y="6995722"/>
            <a:ext cx="18932647" cy="34932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Малый объём (</a:t>
            </a:r>
            <a:r>
              <a:rPr lang="en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N=100):</a:t>
            </a:r>
            <a:r>
              <a:rPr lang="en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параллельный стрим проигрывает в ~</a:t>
            </a:r>
            <a:r>
              <a:rPr lang="ru-RU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28 раз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— накладные расходы на </a:t>
            </a:r>
            <a:r>
              <a:rPr lang="en-US" sz="2000" i="0" dirty="0" err="1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trySpli</a:t>
            </a:r>
            <a:r>
              <a:rPr lang="en-US" sz="2000" dirty="0" err="1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t</a:t>
            </a:r>
            <a:r>
              <a:rPr lang="en-US" sz="2000" dirty="0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()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 + </a:t>
            </a:r>
            <a:r>
              <a:rPr lang="en" sz="2000" b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merge 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через </a:t>
            </a:r>
            <a:r>
              <a:rPr lang="en" sz="2000" b="1" dirty="0" err="1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ForkJoinPool</a:t>
            </a:r>
            <a:r>
              <a:rPr lang="en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и синхронизацию потоков превышают выигрыш.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Средний объём (</a:t>
            </a:r>
            <a:r>
              <a:rPr lang="en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N=10 000):</a:t>
            </a:r>
            <a:r>
              <a:rPr lang="en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порог, за которым параллелизм начинает окупаться — преимущество всего ~</a:t>
            </a:r>
            <a:r>
              <a:rPr lang="ru-RU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1,2 раза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(52,9 мкс против 64,6 мкс), параллель чуть впереди.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Большой объём (</a:t>
            </a:r>
            <a:r>
              <a:rPr lang="en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N=1 000 000):</a:t>
            </a:r>
            <a:r>
              <a:rPr lang="en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параллельный стрим быстрее в ~</a:t>
            </a:r>
            <a:r>
              <a:rPr lang="ru-RU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5,1 раза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— распараллеливание агрегации окупается полностью.</a:t>
            </a:r>
          </a:p>
          <a:p>
            <a:pPr algn="l"/>
            <a:endParaRPr lang="ru-RU" sz="2000" b="0" i="0" dirty="0">
              <a:solidFill>
                <a:schemeClr val="bg1">
                  <a:lumMod val="50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  <a:p>
            <a:pPr algn="l"/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Порог, за которым параллелизм начинает выигрывать, лежит примерно в районе </a:t>
            </a:r>
            <a:r>
              <a:rPr lang="en-US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N=10.000</a:t>
            </a:r>
            <a:r>
              <a:rPr lang="en-US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и зависит от объёма данных, стоимости операции на элемент, делимости источника и </a:t>
            </a:r>
            <a:r>
              <a:rPr lang="ru-RU" sz="20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боксирования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.</a:t>
            </a:r>
            <a:r>
              <a:rPr lang="en-US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То есть простыми словами – зависит от 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конкретной 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задачи и данных.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532F74-78B8-925F-9225-4C0C6D389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53" y="5807701"/>
            <a:ext cx="654545" cy="6545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161B69-DBB5-828D-65CF-C05E0D67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792" y="5807701"/>
            <a:ext cx="654545" cy="6545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99F528-54DF-9B36-47EE-67B7C5B52BF9}"/>
              </a:ext>
            </a:extLst>
          </p:cNvPr>
          <p:cNvSpPr txBox="1"/>
          <p:nvPr/>
        </p:nvSpPr>
        <p:spPr>
          <a:xfrm>
            <a:off x="3504467" y="591305"/>
            <a:ext cx="4728215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Тестовый сценарий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83E9F-EBE9-0A5D-3B95-16A98E5CEC5F}"/>
              </a:ext>
            </a:extLst>
          </p:cNvPr>
          <p:cNvSpPr txBox="1"/>
          <p:nvPr/>
        </p:nvSpPr>
        <p:spPr>
          <a:xfrm>
            <a:off x="13689138" y="591304"/>
            <a:ext cx="2453555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400" dirty="0"/>
              <a:t>Результат</a:t>
            </a:r>
            <a:endParaRPr kumimoji="0" lang="ru-RU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35A6EC5-6091-D073-6178-375C6F3F1BC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249" b="-16249"/>
          <a:stretch/>
        </p:blipFill>
        <p:spPr>
          <a:xfrm>
            <a:off x="400050" y="1506538"/>
            <a:ext cx="9429750" cy="5108575"/>
          </a:xfr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317A071-BA3B-AF3A-D320-3087084D5F0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9" b="3419"/>
          <a:stretch>
            <a:fillRect/>
          </a:stretch>
        </p:blipFill>
        <p:spPr>
          <a:xfrm>
            <a:off x="9969502" y="1506538"/>
            <a:ext cx="9429592" cy="5107688"/>
          </a:xfrm>
        </p:spPr>
      </p:pic>
    </p:spTree>
    <p:extLst>
      <p:ext uri="{BB962C8B-B14F-4D97-AF65-F5344CB8AC3E}">
        <p14:creationId xmlns:p14="http://schemas.microsoft.com/office/powerpoint/2010/main" val="415978296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24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71557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Advanced – Gatherer API</a:t>
            </a:r>
            <a:endParaRPr lang="ru-RU" sz="7200" b="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366838" y="239319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Когда обычного </a:t>
            </a:r>
            <a:r>
              <a:rPr lang="en-US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Stream API </a:t>
            </a: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уже мало</a:t>
            </a:r>
          </a:p>
        </p:txBody>
      </p:sp>
    </p:spTree>
    <p:extLst>
      <p:ext uri="{BB962C8B-B14F-4D97-AF65-F5344CB8AC3E}">
        <p14:creationId xmlns:p14="http://schemas.microsoft.com/office/powerpoint/2010/main" val="316209171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25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231632" y="1716479"/>
            <a:ext cx="8298433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Расширяет функционал обычного </a:t>
            </a:r>
            <a:r>
              <a:rPr lang="en-US" dirty="0">
                <a:latin typeface="T-Sans" pitchFamily="2" charset="77"/>
                <a:ea typeface="T-Sans" pitchFamily="2" charset="77"/>
              </a:rPr>
              <a:t>Stream API </a:t>
            </a:r>
            <a:r>
              <a:rPr lang="ru-RU" dirty="0">
                <a:latin typeface="T-Sans" pitchFamily="2" charset="77"/>
                <a:ea typeface="T-Sans" pitchFamily="2" charset="77"/>
              </a:rPr>
              <a:t>добавляя метод 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.gather&lt;</a:t>
            </a:r>
            <a:r>
              <a:rPr lang="en-US" b="1" dirty="0">
                <a:solidFill>
                  <a:srgbClr val="FF0000"/>
                </a:solidFill>
                <a:latin typeface="T-Sans" pitchFamily="2" charset="77"/>
                <a:ea typeface="T-Sans" pitchFamily="2" charset="77"/>
              </a:rPr>
              <a:t>T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T-Sans" pitchFamily="2" charset="77"/>
                <a:ea typeface="T-Sans" pitchFamily="2" charset="77"/>
              </a:rPr>
              <a:t>A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, </a:t>
            </a:r>
            <a:r>
              <a:rPr lang="en-US" b="1" dirty="0">
                <a:solidFill>
                  <a:srgbClr val="7030A0"/>
                </a:solidFill>
                <a:latin typeface="T-Sans" pitchFamily="2" charset="77"/>
                <a:ea typeface="T-Sans" pitchFamily="2" charset="77"/>
              </a:rPr>
              <a:t>R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&gt;</a:t>
            </a:r>
            <a:r>
              <a:rPr lang="ru-RU" dirty="0">
                <a:latin typeface="T-Sans" pitchFamily="2" charset="77"/>
                <a:ea typeface="T-Sans" pitchFamily="2" charset="77"/>
              </a:rPr>
              <a:t> начиная с </a:t>
            </a:r>
            <a:r>
              <a:rPr lang="en-US" dirty="0">
                <a:latin typeface="T-Sans" pitchFamily="2" charset="77"/>
                <a:ea typeface="T-Sans" pitchFamily="2" charset="77"/>
              </a:rPr>
              <a:t>Java 24+. </a:t>
            </a:r>
            <a:r>
              <a:rPr lang="ru-RU" dirty="0">
                <a:latin typeface="T-Sans" pitchFamily="2" charset="77"/>
                <a:ea typeface="T-Sans" pitchFamily="2" charset="77"/>
              </a:rPr>
              <a:t>Добавляет стримам </a:t>
            </a:r>
            <a:r>
              <a:rPr lang="ru-RU" dirty="0">
                <a:solidFill>
                  <a:srgbClr val="FF0000"/>
                </a:solidFill>
                <a:latin typeface="T-Sans" pitchFamily="2" charset="77"/>
                <a:ea typeface="T-Sans" pitchFamily="2" charset="77"/>
              </a:rPr>
              <a:t>Т</a:t>
            </a:r>
            <a:r>
              <a:rPr lang="ru-RU" dirty="0">
                <a:latin typeface="T-Sans" pitchFamily="2" charset="77"/>
                <a:ea typeface="T-Sans" pitchFamily="2" charset="77"/>
              </a:rPr>
              <a:t> –</a:t>
            </a:r>
            <a:r>
              <a:rPr lang="en-US" dirty="0">
                <a:latin typeface="T-Sans" pitchFamily="2" charset="77"/>
                <a:ea typeface="T-Sans" pitchFamily="2" charset="77"/>
              </a:rPr>
              <a:t>&gt; </a:t>
            </a:r>
            <a:r>
              <a:rPr lang="en-US" dirty="0">
                <a:solidFill>
                  <a:srgbClr val="7030A0"/>
                </a:solidFill>
                <a:latin typeface="T-Sans" pitchFamily="2" charset="77"/>
                <a:ea typeface="T-Sans" pitchFamily="2" charset="77"/>
              </a:rPr>
              <a:t>R</a:t>
            </a:r>
            <a:r>
              <a:rPr lang="ru-RU" dirty="0">
                <a:latin typeface="T-Sans" pitchFamily="2" charset="77"/>
                <a:ea typeface="T-Sans" pitchFamily="2" charset="77"/>
              </a:rPr>
              <a:t> промежуточное состояние</a:t>
            </a:r>
            <a:r>
              <a:rPr lang="en-US" dirty="0">
                <a:latin typeface="T-Sans" pitchFamily="2" charset="77"/>
                <a:ea typeface="T-Sans" pitchFamily="2" charset="77"/>
              </a:rPr>
              <a:t> </a:t>
            </a:r>
            <a:r>
              <a:rPr lang="en-US" dirty="0">
                <a:solidFill>
                  <a:srgbClr val="00B050"/>
                </a:solidFill>
                <a:latin typeface="T-Sans" pitchFamily="2" charset="77"/>
                <a:ea typeface="T-Sans" pitchFamily="2" charset="77"/>
              </a:rPr>
              <a:t>A</a:t>
            </a:r>
            <a:r>
              <a:rPr lang="ru-RU" dirty="0">
                <a:latin typeface="T-Sans" pitchFamily="2" charset="77"/>
                <a:ea typeface="T-Sans" pitchFamily="2" charset="77"/>
              </a:rPr>
              <a:t>.</a:t>
            </a:r>
            <a:r>
              <a:rPr lang="en-US" dirty="0">
                <a:latin typeface="T-Sans" pitchFamily="2" charset="77"/>
                <a:ea typeface="T-Sans" pitchFamily="2" charset="77"/>
              </a:rPr>
              <a:t> </a:t>
            </a:r>
            <a:r>
              <a:rPr lang="ru-RU" dirty="0">
                <a:latin typeface="T-Sans" pitchFamily="2" charset="77"/>
                <a:ea typeface="T-Sans" pitchFamily="2" charset="77"/>
              </a:rPr>
              <a:t>Похож на коллектор, но не терминальный.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971" y="1572549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522066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0" dirty="0">
                <a:latin typeface="T-Sans" pitchFamily="2" charset="77"/>
                <a:ea typeface="T-Sans" pitchFamily="2" charset="77"/>
              </a:rPr>
              <a:t> </a:t>
            </a:r>
            <a:r>
              <a:rPr lang="en-US" b="0" dirty="0">
                <a:latin typeface="T-Sans" pitchFamily="2" charset="77"/>
                <a:ea typeface="T-Sans" pitchFamily="2" charset="77"/>
              </a:rPr>
              <a:t>Gatherer API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9899650" y="1321119"/>
            <a:ext cx="9288462" cy="7460274"/>
            <a:chOff x="7477170" y="647700"/>
            <a:chExt cx="11448000" cy="7911560"/>
          </a:xfrm>
          <a:solidFill>
            <a:schemeClr val="accent6"/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727454" y="1245510"/>
              <a:ext cx="11053716" cy="7107367"/>
            </a:xfrm>
            <a:prstGeom prst="roundRect">
              <a:avLst>
                <a:gd name="adj" fmla="val 216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2371F0B-C8D9-284E-9F41-FAD3815A8129}"/>
              </a:ext>
            </a:extLst>
          </p:cNvPr>
          <p:cNvSpPr txBox="1"/>
          <p:nvPr/>
        </p:nvSpPr>
        <p:spPr>
          <a:xfrm>
            <a:off x="12385974" y="2323485"/>
            <a:ext cx="426494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Визуализация деления задачи через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trySplit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D9ACE-BB64-B47F-DF6D-72C5D62E7EF1}"/>
              </a:ext>
            </a:extLst>
          </p:cNvPr>
          <p:cNvSpPr txBox="1"/>
          <p:nvPr/>
        </p:nvSpPr>
        <p:spPr>
          <a:xfrm>
            <a:off x="1231632" y="5653801"/>
            <a:ext cx="8081650" cy="46297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 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основные функции</a:t>
            </a:r>
          </a:p>
          <a:p>
            <a:pPr marL="457200" indent="-457200">
              <a:buFont typeface="+mj-lt"/>
              <a:buAutoNum type="arabicPeriod"/>
            </a:pP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initializer()</a:t>
            </a:r>
            <a:r>
              <a:rPr lang="en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 — 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создаёт новое состояние </a:t>
            </a:r>
            <a:r>
              <a:rPr lang="en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A 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для каждой последовательной секции.</a:t>
            </a:r>
          </a:p>
          <a:p>
            <a:pPr marL="457200" indent="-457200">
              <a:buFont typeface="+mj-lt"/>
              <a:buAutoNum type="arabicPeriod"/>
            </a:pP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integrator(</a:t>
            </a:r>
            <a:r>
              <a:rPr lang="en" b="1" dirty="0">
                <a:solidFill>
                  <a:srgbClr val="00B050"/>
                </a:solidFill>
                <a:effectLst/>
                <a:latin typeface="T-Sans" pitchFamily="2" charset="0"/>
                <a:ea typeface="T-Sans" pitchFamily="2" charset="0"/>
              </a:rPr>
              <a:t>state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, </a:t>
            </a:r>
            <a:r>
              <a:rPr lang="en" b="1" dirty="0">
                <a:solidFill>
                  <a:srgbClr val="FF0000"/>
                </a:solidFill>
                <a:effectLst/>
                <a:latin typeface="T-Sans" pitchFamily="2" charset="0"/>
                <a:ea typeface="T-Sans" pitchFamily="2" charset="0"/>
              </a:rPr>
              <a:t>element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, </a:t>
            </a:r>
            <a:r>
              <a:rPr lang="en" b="1" dirty="0">
                <a:solidFill>
                  <a:srgbClr val="0070C0"/>
                </a:solidFill>
                <a:effectLst/>
                <a:latin typeface="T-Sans" pitchFamily="2" charset="0"/>
                <a:ea typeface="T-Sans" pitchFamily="2" charset="0"/>
              </a:rPr>
              <a:t>downstream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)</a:t>
            </a:r>
            <a:r>
              <a:rPr lang="en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 — 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обрабатывает </a:t>
            </a:r>
            <a:r>
              <a:rPr lang="en" dirty="0">
                <a:solidFill>
                  <a:srgbClr val="FF0000"/>
                </a:solidFill>
                <a:effectLst/>
                <a:latin typeface="T-Sans" pitchFamily="2" charset="0"/>
                <a:ea typeface="T-Sans" pitchFamily="2" charset="0"/>
              </a:rPr>
              <a:t>element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: обновляет </a:t>
            </a:r>
            <a:r>
              <a:rPr lang="en" dirty="0">
                <a:solidFill>
                  <a:srgbClr val="00B050"/>
                </a:solidFill>
                <a:effectLst/>
                <a:latin typeface="T-Sans" pitchFamily="2" charset="0"/>
                <a:ea typeface="T-Sans" pitchFamily="2" charset="0"/>
              </a:rPr>
              <a:t>state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, запускает </a:t>
            </a:r>
            <a:r>
              <a:rPr lang="en" dirty="0">
                <a:solidFill>
                  <a:srgbClr val="0070C0"/>
                </a:solidFill>
                <a:effectLst/>
                <a:latin typeface="T-Sans" pitchFamily="2" charset="0"/>
                <a:ea typeface="T-Sans" pitchFamily="2" charset="0"/>
              </a:rPr>
              <a:t>downstream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 (при необходимости)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. Возвращает </a:t>
            </a:r>
            <a:r>
              <a:rPr lang="en-US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Boolean 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как </a:t>
            </a:r>
            <a:r>
              <a:rPr lang="en-US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.</a:t>
            </a:r>
            <a:r>
              <a:rPr lang="en-US" dirty="0" err="1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tryAdvance</a:t>
            </a:r>
            <a:r>
              <a:rPr lang="en-US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()</a:t>
            </a:r>
            <a:endParaRPr lang="ru-RU" dirty="0">
              <a:solidFill>
                <a:schemeClr val="bg1"/>
              </a:solidFill>
              <a:effectLst/>
              <a:latin typeface="T-Sans" pitchFamily="2" charset="0"/>
              <a:ea typeface="T-Sans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combiner(</a:t>
            </a:r>
            <a:r>
              <a:rPr lang="en" b="1" dirty="0">
                <a:solidFill>
                  <a:srgbClr val="00B050"/>
                </a:solidFill>
                <a:effectLst/>
                <a:latin typeface="T-Sans" pitchFamily="2" charset="0"/>
                <a:ea typeface="T-Sans" pitchFamily="2" charset="0"/>
              </a:rPr>
              <a:t>state1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, </a:t>
            </a:r>
            <a:r>
              <a:rPr lang="en" b="1" dirty="0">
                <a:solidFill>
                  <a:srgbClr val="00B050"/>
                </a:solidFill>
                <a:effectLst/>
                <a:latin typeface="T-Sans" pitchFamily="2" charset="0"/>
                <a:ea typeface="T-Sans" pitchFamily="2" charset="0"/>
              </a:rPr>
              <a:t>state2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)</a:t>
            </a:r>
            <a:r>
              <a:rPr lang="en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 — 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сливает два состояния (для параллельных стримов), </a:t>
            </a:r>
            <a:r>
              <a:rPr lang="ru-RU" u="sng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необязателен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finisher(</a:t>
            </a:r>
            <a:r>
              <a:rPr lang="en" b="1" dirty="0">
                <a:solidFill>
                  <a:srgbClr val="00B050"/>
                </a:solidFill>
                <a:effectLst/>
                <a:latin typeface="T-Sans" pitchFamily="2" charset="0"/>
                <a:ea typeface="T-Sans" pitchFamily="2" charset="0"/>
              </a:rPr>
              <a:t>state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, </a:t>
            </a:r>
            <a:r>
              <a:rPr lang="en" b="1" dirty="0">
                <a:solidFill>
                  <a:srgbClr val="0070C0"/>
                </a:solidFill>
                <a:effectLst/>
                <a:latin typeface="T-Sans" pitchFamily="2" charset="0"/>
                <a:ea typeface="T-Sans" pitchFamily="2" charset="0"/>
              </a:rPr>
              <a:t>downstream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)</a:t>
            </a:r>
            <a:r>
              <a:rPr lang="en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 — 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завершающий выброс остатков из состояния, </a:t>
            </a:r>
            <a:r>
              <a:rPr lang="ru-RU" u="sng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необязателен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ru-RU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35341-8D3C-AC8A-128F-A5BAADB15F97}"/>
              </a:ext>
            </a:extLst>
          </p:cNvPr>
          <p:cNvSpPr txBox="1"/>
          <p:nvPr/>
        </p:nvSpPr>
        <p:spPr>
          <a:xfrm>
            <a:off x="1299587" y="2992953"/>
            <a:ext cx="8298433" cy="23698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Позволяет делать </a:t>
            </a:r>
            <a:r>
              <a:rPr lang="ru-RU" dirty="0" err="1">
                <a:latin typeface="T-Sans" pitchFamily="2" charset="77"/>
                <a:ea typeface="T-Sans" pitchFamily="2" charset="77"/>
              </a:rPr>
              <a:t>промежеточные</a:t>
            </a:r>
            <a:r>
              <a:rPr lang="ru-RU" dirty="0">
                <a:latin typeface="T-Sans" pitchFamily="2" charset="77"/>
                <a:ea typeface="T-Sans" pitchFamily="2" charset="77"/>
              </a:rPr>
              <a:t> операции с состоянием, например: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77"/>
                <a:ea typeface="T-Sans" pitchFamily="2" charset="77"/>
              </a:rPr>
              <a:t>Скользящее окно / окно с шагом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77"/>
                <a:ea typeface="T-Sans" pitchFamily="2" charset="77"/>
              </a:rPr>
              <a:t>Накопление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77"/>
                <a:ea typeface="T-Sans" pitchFamily="2" charset="77"/>
              </a:rPr>
              <a:t>Группировка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dirty="0">
              <a:latin typeface="T-Sans" pitchFamily="2" charset="77"/>
              <a:ea typeface="T-Sans" pitchFamily="2" charset="77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Реальная задача – собрать разницу между мин/макс значениями в скользящем окне из </a:t>
            </a:r>
            <a:r>
              <a:rPr lang="en-US" dirty="0">
                <a:latin typeface="T-Sans" pitchFamily="2" charset="77"/>
                <a:ea typeface="T-Sans" pitchFamily="2" charset="77"/>
              </a:rPr>
              <a:t>N.</a:t>
            </a:r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7BDEA5-307B-5B20-7B6B-B81011B0D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516" y="2992953"/>
            <a:ext cx="612000" cy="612000"/>
          </a:xfrm>
          <a:prstGeom prst="rect">
            <a:avLst/>
          </a:prstGeom>
        </p:spPr>
      </p:pic>
      <p:pic>
        <p:nvPicPr>
          <p:cNvPr id="3074" name="Picture 2" descr="L'API Gatherers : l'outil qui manquait à vos Streams | Java &amp; Moi">
            <a:extLst>
              <a:ext uri="{FF2B5EF4-FFF2-40B4-BE49-F238E27FC236}">
                <a16:creationId xmlns:a16="http://schemas.microsoft.com/office/drawing/2014/main" id="{D147F264-381C-8365-AC15-8A563B694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2721" y="2867890"/>
            <a:ext cx="8968555" cy="339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5ABDDDB-9E3E-5801-0176-5306F2D79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036" y="5653801"/>
            <a:ext cx="612000" cy="612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A7B97A2-766C-2647-E73B-ECA51433CD9F}"/>
              </a:ext>
            </a:extLst>
          </p:cNvPr>
          <p:cNvSpPr txBox="1"/>
          <p:nvPr/>
        </p:nvSpPr>
        <p:spPr>
          <a:xfrm>
            <a:off x="10315783" y="6502963"/>
            <a:ext cx="8615684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Визуализация рабо</a:t>
            </a:r>
            <a:r>
              <a:rPr lang="ru-RU" sz="1800" dirty="0"/>
              <a:t>ты параллельного стрима с </a:t>
            </a:r>
            <a:r>
              <a:rPr lang="en-US" sz="1800" dirty="0"/>
              <a:t>Gatherer.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4 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параллельных стрима проводят элементы через </a:t>
            </a:r>
            <a:r>
              <a:rPr kumimoji="0" lang="ru-RU" sz="1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i</a:t>
            </a:r>
            <a:r>
              <a:rPr kumimoji="0" lang="en-US" sz="1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ntegrator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получают 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state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 </a:t>
            </a:r>
            <a:r>
              <a:rPr lang="ru-RU" sz="1800" dirty="0"/>
              <a:t> затем объединяют результаты в </a:t>
            </a:r>
            <a:r>
              <a:rPr lang="en-US" sz="1800" b="1" dirty="0"/>
              <a:t>combiner</a:t>
            </a:r>
            <a:r>
              <a:rPr lang="en-US" sz="1800" dirty="0"/>
              <a:t>.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465877-9508-553D-FA06-A481951416AC}"/>
              </a:ext>
            </a:extLst>
          </p:cNvPr>
          <p:cNvSpPr txBox="1"/>
          <p:nvPr/>
        </p:nvSpPr>
        <p:spPr>
          <a:xfrm>
            <a:off x="13360400" y="9347200"/>
            <a:ext cx="185082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/>
              <a:t>Пример дальше </a:t>
            </a:r>
            <a:r>
              <a:rPr lang="ru-RU" sz="1800" dirty="0">
                <a:sym typeface="Wingdings" pitchFamily="2" charset="2"/>
              </a:rPr>
              <a:t>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81908212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7384CADA-A489-64A9-F8AC-63DB5042AF8C}"/>
              </a:ext>
            </a:extLst>
          </p:cNvPr>
          <p:cNvGrpSpPr/>
          <p:nvPr/>
        </p:nvGrpSpPr>
        <p:grpSpPr>
          <a:xfrm>
            <a:off x="-1747" y="3408023"/>
            <a:ext cx="8314096" cy="3729832"/>
            <a:chOff x="7477170" y="647700"/>
            <a:chExt cx="11448000" cy="7911560"/>
          </a:xfrm>
          <a:solidFill>
            <a:schemeClr val="accent6"/>
          </a:solidFill>
        </p:grpSpPr>
        <p:sp>
          <p:nvSpPr>
            <p:cNvPr id="25" name="Скругленный прямоугольник 24">
              <a:extLst>
                <a:ext uri="{FF2B5EF4-FFF2-40B4-BE49-F238E27FC236}">
                  <a16:creationId xmlns:a16="http://schemas.microsoft.com/office/drawing/2014/main" id="{83B6637D-DB36-CA02-4A83-03B3DB8234E8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46F9A9B8-BF6A-530D-066C-06C9531FC3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AEDB4A57-3570-CF23-0E8F-E4194E0B0B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2123D66B-857D-30F5-7A0C-A03F0BC2C5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29" name="Скругленный прямоугольник 28">
              <a:extLst>
                <a:ext uri="{FF2B5EF4-FFF2-40B4-BE49-F238E27FC236}">
                  <a16:creationId xmlns:a16="http://schemas.microsoft.com/office/drawing/2014/main" id="{37404FE0-1F39-ABB5-B90C-81381D4AA398}"/>
                </a:ext>
              </a:extLst>
            </p:cNvPr>
            <p:cNvSpPr/>
            <p:nvPr/>
          </p:nvSpPr>
          <p:spPr>
            <a:xfrm>
              <a:off x="7727454" y="1245510"/>
              <a:ext cx="11053716" cy="7107367"/>
            </a:xfrm>
            <a:prstGeom prst="roundRect">
              <a:avLst>
                <a:gd name="adj" fmla="val 2168"/>
              </a:avLst>
            </a:prstGeom>
            <a:solidFill>
              <a:schemeClr val="bg1">
                <a:lumMod val="50000"/>
              </a:scheme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26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7" y="492559"/>
            <a:ext cx="10806372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0" dirty="0">
                <a:latin typeface="T-Sans" pitchFamily="2" charset="77"/>
                <a:ea typeface="T-Sans" pitchFamily="2" charset="77"/>
              </a:rPr>
              <a:t> Примеры обычных </a:t>
            </a:r>
            <a:r>
              <a:rPr lang="en-US" b="0" dirty="0">
                <a:latin typeface="T-Sans" pitchFamily="2" charset="77"/>
                <a:ea typeface="T-Sans" pitchFamily="2" charset="77"/>
              </a:rPr>
              <a:t>Gatherer API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8144933" y="1100666"/>
            <a:ext cx="10806372" cy="8868257"/>
            <a:chOff x="7477170" y="647700"/>
            <a:chExt cx="11448000" cy="7911560"/>
          </a:xfrm>
          <a:solidFill>
            <a:schemeClr val="accent6"/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727454" y="1245510"/>
              <a:ext cx="11053716" cy="7107367"/>
            </a:xfrm>
            <a:prstGeom prst="roundRect">
              <a:avLst>
                <a:gd name="adj" fmla="val 2168"/>
              </a:avLst>
            </a:prstGeom>
            <a:solidFill>
              <a:srgbClr val="293134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8D5E5E9-A263-C74B-6C81-56E83C4F5126}"/>
              </a:ext>
            </a:extLst>
          </p:cNvPr>
          <p:cNvSpPr txBox="1"/>
          <p:nvPr/>
        </p:nvSpPr>
        <p:spPr>
          <a:xfrm>
            <a:off x="11557061" y="1422541"/>
            <a:ext cx="300498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/>
              <a:t>Получаем вот такой результат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8705879-C542-E2DA-A1DF-D283CA0AD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95" y="3874471"/>
            <a:ext cx="7772400" cy="295139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7132662-37AE-2063-30AD-C09C4E9D2AD0}"/>
              </a:ext>
            </a:extLst>
          </p:cNvPr>
          <p:cNvSpPr txBox="1"/>
          <p:nvPr/>
        </p:nvSpPr>
        <p:spPr>
          <a:xfrm>
            <a:off x="456913" y="1838365"/>
            <a:ext cx="5470406" cy="1569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Напишем вот такие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gatherer</a:t>
            </a:r>
            <a:r>
              <a:rPr lang="en-US" sz="2400" dirty="0"/>
              <a:t>’</a:t>
            </a:r>
            <a:r>
              <a:rPr lang="ru-RU" sz="2400" dirty="0"/>
              <a:t>ы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- </a:t>
            </a:r>
            <a:r>
              <a:rPr lang="ru-RU" sz="2400" dirty="0"/>
              <a:t>П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росто выведем что у нас есть и</a:t>
            </a:r>
            <a:r>
              <a:rPr lang="ru-RU" sz="2400" dirty="0"/>
              <a:t>сходное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- </a:t>
            </a:r>
            <a:r>
              <a:rPr lang="ru-RU" sz="2400" dirty="0"/>
              <a:t>Разобьем все на окна по 3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- Посчитаем плавающее среднее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5A18737-207D-39B0-B72B-356D7E24C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782" y="1968807"/>
            <a:ext cx="10102457" cy="756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3672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27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7" y="492559"/>
            <a:ext cx="10806372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0" dirty="0">
                <a:latin typeface="T-Sans" pitchFamily="2" charset="77"/>
                <a:ea typeface="T-Sans" pitchFamily="2" charset="77"/>
              </a:rPr>
              <a:t> Пример </a:t>
            </a:r>
            <a:r>
              <a:rPr lang="ru-RU" b="0" dirty="0" err="1">
                <a:latin typeface="T-Sans" pitchFamily="2" charset="77"/>
                <a:ea typeface="T-Sans" pitchFamily="2" charset="77"/>
              </a:rPr>
              <a:t>кастомного</a:t>
            </a:r>
            <a:r>
              <a:rPr lang="ru-RU" b="0" dirty="0">
                <a:latin typeface="T-Sans" pitchFamily="2" charset="77"/>
                <a:ea typeface="T-Sans" pitchFamily="2" charset="77"/>
              </a:rPr>
              <a:t> </a:t>
            </a:r>
            <a:r>
              <a:rPr lang="en-US" b="0" dirty="0">
                <a:latin typeface="T-Sans" pitchFamily="2" charset="77"/>
                <a:ea typeface="T-Sans" pitchFamily="2" charset="77"/>
              </a:rPr>
              <a:t>Gatherer API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8144932" y="1100666"/>
            <a:ext cx="11043179" cy="9768701"/>
            <a:chOff x="7477170" y="647700"/>
            <a:chExt cx="11448000" cy="7911560"/>
          </a:xfrm>
          <a:solidFill>
            <a:schemeClr val="accent6"/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727454" y="1245510"/>
              <a:ext cx="11053716" cy="7107367"/>
            </a:xfrm>
            <a:prstGeom prst="roundRect">
              <a:avLst>
                <a:gd name="adj" fmla="val 2168"/>
              </a:avLst>
            </a:prstGeom>
            <a:solidFill>
              <a:schemeClr val="bg1">
                <a:lumMod val="50000"/>
              </a:scheme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663D90-3724-E9E2-AA42-48F46035E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1838365"/>
            <a:ext cx="10339542" cy="85953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924ACA-B506-815B-7419-CE6473E3868F}"/>
              </a:ext>
            </a:extLst>
          </p:cNvPr>
          <p:cNvSpPr txBox="1"/>
          <p:nvPr/>
        </p:nvSpPr>
        <p:spPr>
          <a:xfrm>
            <a:off x="611187" y="1838365"/>
            <a:ext cx="7747951" cy="71096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Примерно так может выглядеть </a:t>
            </a:r>
            <a:r>
              <a:rPr kumimoji="0" lang="ru-RU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самописный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Gatherer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Тут мы будем считать максимальную сумму в скользящих окнах произвольной длины </a:t>
            </a:r>
            <a:r>
              <a:rPr lang="en-US" sz="2400" dirty="0"/>
              <a:t>k.</a:t>
            </a:r>
            <a:endParaRPr lang="ru-RU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То есть для последовательности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i="1" dirty="0"/>
              <a:t>1</a:t>
            </a:r>
            <a:r>
              <a:rPr lang="en-US" sz="2400" i="1" dirty="0"/>
              <a:t>, 2, 3, 2, 2, 1, 1 </a:t>
            </a:r>
            <a:r>
              <a:rPr lang="ru-RU" sz="2400" i="1" dirty="0"/>
              <a:t>и </a:t>
            </a:r>
            <a:r>
              <a:rPr lang="en-US" sz="2400" i="1" dirty="0"/>
              <a:t>k = 3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Ответ будет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i="1" dirty="0"/>
              <a:t>1</a:t>
            </a:r>
            <a:r>
              <a:rPr lang="en-US" sz="2400" i="1" dirty="0"/>
              <a:t> -&gt; 1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1, 2 -&gt; 2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i="1" dirty="0"/>
              <a:t>1, 2, 3 -&gt; 3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    </a:t>
            </a: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2, 3, 2 -&gt; 3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i="1" dirty="0"/>
              <a:t>          </a:t>
            </a:r>
            <a:r>
              <a:rPr lang="en-US" sz="2400" i="1" dirty="0"/>
              <a:t>3, 2, 2 -&gt; 3</a:t>
            </a:r>
            <a:br>
              <a:rPr lang="en-US" sz="2400" i="1" dirty="0"/>
            </a:br>
            <a:r>
              <a:rPr lang="ru-RU" sz="2400" i="1" dirty="0"/>
              <a:t>               </a:t>
            </a:r>
            <a:r>
              <a:rPr lang="en-US" sz="2400" i="1" dirty="0"/>
              <a:t>2, 2, 1 -&gt; 2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i="1" dirty="0"/>
              <a:t>                    </a:t>
            </a:r>
            <a:r>
              <a:rPr lang="en-US" sz="2400" i="1" dirty="0"/>
              <a:t>2, 1, 1 -&gt; 2,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                        </a:t>
            </a: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1, 1 -&gt; 1</a:t>
            </a:r>
            <a:endParaRPr lang="en-US" sz="2400" i="1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                             </a:t>
            </a: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1 -&gt; 1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5122" name="Picture 2" descr="Peepo_Mind_Blown - Discord Emoji">
            <a:extLst>
              <a:ext uri="{FF2B5EF4-FFF2-40B4-BE49-F238E27FC236}">
                <a16:creationId xmlns:a16="http://schemas.microsoft.com/office/drawing/2014/main" id="{75A712FC-AE2A-46A9-7E95-6B0586CA6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766" y="9534525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D5E5E9-A263-C74B-6C81-56E83C4F5126}"/>
              </a:ext>
            </a:extLst>
          </p:cNvPr>
          <p:cNvSpPr txBox="1"/>
          <p:nvPr/>
        </p:nvSpPr>
        <p:spPr>
          <a:xfrm>
            <a:off x="750096" y="9968923"/>
            <a:ext cx="506805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/>
              <a:t>К счастью такое писать приходится крайне редко </a:t>
            </a:r>
            <a:r>
              <a:rPr lang="ru-RU" sz="1800" dirty="0">
                <a:sym typeface="Wingdings" pitchFamily="2" charset="2"/>
              </a:rPr>
              <a:t>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95410023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A1CC713-6638-B051-DE5B-D72BC1A4512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28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1D9ED3-5D42-B993-8C58-065A41527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9730" y="-109723"/>
            <a:ext cx="11379570" cy="11379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A4D5B0-3517-BE1E-47E7-1B04259B55B3}"/>
              </a:ext>
            </a:extLst>
          </p:cNvPr>
          <p:cNvSpPr txBox="1"/>
          <p:nvPr/>
        </p:nvSpPr>
        <p:spPr>
          <a:xfrm>
            <a:off x="1366838" y="1366838"/>
            <a:ext cx="8750289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Итоги 6 семинара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671E9-E545-2FF1-F98E-9597F7D63B6D}"/>
              </a:ext>
            </a:extLst>
          </p:cNvPr>
          <p:cNvSpPr txBox="1"/>
          <p:nvPr/>
        </p:nvSpPr>
        <p:spPr>
          <a:xfrm>
            <a:off x="2388920" y="2360622"/>
            <a:ext cx="8149695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Разобрались со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Stream API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 – что это такое, зачем нужно и как его удобно использовать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69CA67-02F8-05BF-3211-08F0759CC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553" y="2392311"/>
            <a:ext cx="720000" cy="72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269B33-6EA9-92CE-8356-C38C8C1C1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553" y="3719011"/>
            <a:ext cx="720000" cy="72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126706-17BD-D746-4022-3C1894AB4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324" y="5631398"/>
            <a:ext cx="720000" cy="72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14A320-0977-1701-F68D-5E31A7CAF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553" y="7888958"/>
            <a:ext cx="720000" cy="72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949F1F-EEB1-A8D8-305C-74BDB788CB7A}"/>
              </a:ext>
            </a:extLst>
          </p:cNvPr>
          <p:cNvSpPr txBox="1"/>
          <p:nvPr/>
        </p:nvSpPr>
        <p:spPr>
          <a:xfrm>
            <a:off x="2388920" y="3719011"/>
            <a:ext cx="8149695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Н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емного залезли под его капот – познакомились со </a:t>
            </a:r>
            <a:r>
              <a:rPr kumimoji="0" lang="ru-RU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сплитератором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 и базовыми подходами к параллельной обработке (к ней вернемся позже)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 + 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бенчмарк</a:t>
            </a:r>
            <a:endParaRPr lang="en-US" sz="24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A9FE00-9AE7-33A0-ED99-14F828E50959}"/>
              </a:ext>
            </a:extLst>
          </p:cNvPr>
          <p:cNvSpPr txBox="1"/>
          <p:nvPr/>
        </p:nvSpPr>
        <p:spPr>
          <a:xfrm>
            <a:off x="2388920" y="5631398"/>
            <a:ext cx="814969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Для совсем сложных задач познакомились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c Gatherer API</a:t>
            </a: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C76D31-F83F-39A6-BEC4-4BFADA2D266C}"/>
              </a:ext>
            </a:extLst>
          </p:cNvPr>
          <p:cNvSpPr txBox="1"/>
          <p:nvPr/>
        </p:nvSpPr>
        <p:spPr>
          <a:xfrm>
            <a:off x="2388919" y="7888958"/>
            <a:ext cx="8149695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Улучшили наше приложение</a:t>
            </a: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Добавили 3 новые команды</a:t>
            </a:r>
            <a:endParaRPr lang="ru-RU" sz="2400" dirty="0">
              <a:latin typeface="T-Sans" pitchFamily="2" charset="0"/>
              <a:ea typeface="T-Sans" pitchFamily="2" charset="0"/>
            </a:endParaRP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Улучшили наш старый код, теперь он весь на стримах</a:t>
            </a:r>
            <a:endParaRPr lang="en-US" sz="2400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81495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13036B3-80E0-4378-42AA-E09684F42BE9}"/>
              </a:ext>
            </a:extLst>
          </p:cNvPr>
          <p:cNvGrpSpPr/>
          <p:nvPr/>
        </p:nvGrpSpPr>
        <p:grpSpPr>
          <a:xfrm>
            <a:off x="1943100" y="3075009"/>
            <a:ext cx="7302500" cy="4529976"/>
            <a:chOff x="1943100" y="2934186"/>
            <a:chExt cx="7302500" cy="45299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16822C-1161-C64B-5143-FB1B67D9D1BA}"/>
                </a:ext>
              </a:extLst>
            </p:cNvPr>
            <p:cNvSpPr txBox="1"/>
            <p:nvPr/>
          </p:nvSpPr>
          <p:spPr>
            <a:xfrm>
              <a:off x="1946564" y="2934186"/>
              <a:ext cx="7299036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sz="7200" b="0" dirty="0">
                  <a:latin typeface="T-Sans" pitchFamily="2" charset="0"/>
                  <a:ea typeface="T-Sans" pitchFamily="2" charset="0"/>
                </a:rPr>
                <a:t>Оставьте, пожалуйста, обратную связь!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5D8327-AB0B-6ED6-BC38-664C67DF128C}"/>
                </a:ext>
              </a:extLst>
            </p:cNvPr>
            <p:cNvSpPr txBox="1"/>
            <p:nvPr/>
          </p:nvSpPr>
          <p:spPr>
            <a:xfrm>
              <a:off x="1943100" y="6531599"/>
              <a:ext cx="7302500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Обратная связь позволяет нам самосовершенствоваться и делать курс лучше!</a:t>
              </a:r>
            </a:p>
          </p:txBody>
        </p:sp>
      </p:grp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31F5F82-6E5A-CBC1-4863-FF922E508B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" r="206"/>
          <a:stretch>
            <a:fillRect/>
          </a:stretch>
        </p:blipFill>
        <p:spPr/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82FE40B-D930-B8C8-967E-4D55B74CFB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298480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2230F0-CF79-107D-8823-9E107D8A6CF9}"/>
              </a:ext>
            </a:extLst>
          </p:cNvPr>
          <p:cNvSpPr txBox="1"/>
          <p:nvPr/>
        </p:nvSpPr>
        <p:spPr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Спасибо </a:t>
            </a:r>
            <a:b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</a:br>
            <a: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за внимание!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588F52-4DD6-A73F-50AE-C643A67752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39738" y="647700"/>
            <a:ext cx="6045749" cy="9864725"/>
          </a:xfr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  <p:extLst>
      <p:ext uri="{BB962C8B-B14F-4D97-AF65-F5344CB8AC3E}">
        <p14:creationId xmlns:p14="http://schemas.microsoft.com/office/powerpoint/2010/main" val="275845288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algn="l" defTabSz="457200">
          <a:defRPr sz="1800" dirty="0">
            <a:latin typeface="T-Sans" pitchFamily="2" charset="0"/>
            <a:ea typeface="T-Sans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58283</TotalTime>
  <Words>2366</Words>
  <Application>Microsoft Macintosh PowerPoint</Application>
  <PresentationFormat>Произвольный</PresentationFormat>
  <Paragraphs>380</Paragraphs>
  <Slides>31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T-Sans</vt:lpstr>
      <vt:lpstr>Wingdings</vt:lpstr>
      <vt:lpstr>Arial</vt:lpstr>
      <vt:lpstr>T-Sans Medium</vt:lpstr>
      <vt:lpstr>Tinkoff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Microsoft Office User</cp:lastModifiedBy>
  <cp:revision>1208</cp:revision>
  <dcterms:modified xsi:type="dcterms:W3CDTF">2026-10-09T06:43:34Z</dcterms:modified>
</cp:coreProperties>
</file>