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147377643" r:id="rId58"/>
    <p:sldId id="2147377644" r:id="rId59"/>
    <p:sldId id="2147377645" r:id="rId60"/>
    <p:sldId id="2147377646" r:id="rId61"/>
    <p:sldId id="2147377647" r:id="rId62"/>
    <p:sldId id="2147377648" r:id="rId63"/>
    <p:sldId id="2147377649" r:id="rId64"/>
    <p:sldId id="2147377650" r:id="rId65"/>
    <p:sldId id="2147377651" r:id="rId66"/>
    <p:sldId id="2147377652" r:id="rId67"/>
    <p:sldId id="2147377653" r:id="rId68"/>
    <p:sldId id="2147377654" r:id="rId69"/>
    <p:sldId id="2147377655" r:id="rId70"/>
    <p:sldId id="2147377656" r:id="rId71"/>
    <p:sldId id="2147377657" r:id="rId72"/>
    <p:sldId id="2147377658" r:id="rId73"/>
    <p:sldId id="2147377659" r:id="rId74"/>
    <p:sldId id="2147377660" r:id="rId75"/>
    <p:sldId id="2147377661" r:id="rId76"/>
    <p:sldId id="2147377662" r:id="rId77"/>
    <p:sldId id="2147377663" r:id="rId78"/>
    <p:sldId id="2147377664" r:id="rId79"/>
    <p:sldId id="2147377665" r:id="rId80"/>
    <p:sldId id="2147377666" r:id="rId81"/>
    <p:sldId id="2147377667" r:id="rId82"/>
    <p:sldId id="2147377668" r:id="rId83"/>
    <p:sldId id="2147377669" r:id="rId84"/>
    <p:sldId id="2147377670" r:id="rId85"/>
    <p:sldId id="2147377671" r:id="rId86"/>
    <p:sldId id="2147377672" r:id="rId87"/>
    <p:sldId id="2147377673" r:id="rId88"/>
    <p:sldId id="2147377674" r:id="rId89"/>
    <p:sldId id="2147377675" r:id="rId90"/>
  </p:sldIdLst>
  <p:sldSz cx="19799300" cy="11160125"/>
  <p:notesSz cx="6858000" cy="9144000"/>
  <p:embeddedFontLst>
    <p:embeddedFont>
      <p:font typeface="T-Sans" pitchFamily="2" charset="77"/>
      <p:regular r:id="rId49"/>
      <p:bold r:id="rId50"/>
    </p:embeddedFont>
    <p:embeddedFont>
      <p:font typeface="Tinkoff Sans" panose="02000506050000020004" pitchFamily="2" charset="77"/>
      <p:regular r:id="rId51"/>
      <p:bold r:id="rId52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DFBFA"/>
    <a:srgbClr val="FFDB2B"/>
    <a:srgbClr val="E7B804"/>
    <a:srgbClr val="F8F8F8"/>
    <a:srgbClr val="7ABAD9"/>
    <a:srgbClr val="293134"/>
    <a:srgbClr val="79B9D5"/>
    <a:srgbClr val="A9E5F8"/>
    <a:srgbClr val="FFE4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92"/>
    <p:restoredTop sz="93342"/>
  </p:normalViewPr>
  <p:slideViewPr>
    <p:cSldViewPr snapToGrid="0" snapToObjects="1" showGuides="1">
      <p:cViewPr varScale="1">
        <p:scale>
          <a:sx n="75" d="100"/>
          <a:sy n="75" d="100"/>
        </p:scale>
        <p:origin x="1000" y="168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viewProps" Target="viewProps.xml"/><Relationship Id="rId53" Type="http://schemas.openxmlformats.org/officeDocument/2006/relationships/commentAuthors" Target="commentAuthors.xml"/><Relationship Id="rId48" Type="http://schemas.openxmlformats.org/officeDocument/2006/relationships/handoutMaster" Target="handoutMasters/handoutMaster1.xml"/><Relationship Id="rId56" Type="http://schemas.openxmlformats.org/officeDocument/2006/relationships/theme" Target="theme/theme1.xml"/><Relationship Id="rId51" Type="http://schemas.openxmlformats.org/officeDocument/2006/relationships/font" Target="fonts/font3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49" Type="http://schemas.openxmlformats.org/officeDocument/2006/relationships/font" Target="fonts/font1.fntdata"/><Relationship Id="rId57" Type="http://schemas.openxmlformats.org/officeDocument/2006/relationships/tableStyles" Target="tableStyles.xml"/><Relationship Id="rId52" Type="http://schemas.openxmlformats.org/officeDocument/2006/relationships/font" Target="fonts/font4.fntdata"/>  <Relationship Id="rId58" Type="http://schemas.openxmlformats.org/officeDocument/2006/relationships/slide" Target="slides/slide46.xml"/>
  <Relationship Id="rId59" Type="http://schemas.openxmlformats.org/officeDocument/2006/relationships/slide" Target="slides/slide47.xml"/>
  <Relationship Id="rId60" Type="http://schemas.openxmlformats.org/officeDocument/2006/relationships/slide" Target="slides/slide48.xml"/>
  <Relationship Id="rId61" Type="http://schemas.openxmlformats.org/officeDocument/2006/relationships/slide" Target="slides/slide49.xml"/>
  <Relationship Id="rId62" Type="http://schemas.openxmlformats.org/officeDocument/2006/relationships/slide" Target="slides/slide50.xml"/>
  <Relationship Id="rId63" Type="http://schemas.openxmlformats.org/officeDocument/2006/relationships/slide" Target="slides/slide51.xml"/>
  <Relationship Id="rId64" Type="http://schemas.openxmlformats.org/officeDocument/2006/relationships/slide" Target="slides/slide52.xml"/>
  <Relationship Id="rId65" Type="http://schemas.openxmlformats.org/officeDocument/2006/relationships/slide" Target="slides/slide53.xml"/>
  <Relationship Id="rId66" Type="http://schemas.openxmlformats.org/officeDocument/2006/relationships/slide" Target="slides/slide54.xml"/>
  <Relationship Id="rId67" Type="http://schemas.openxmlformats.org/officeDocument/2006/relationships/slide" Target="slides/slide55.xml"/>
  <Relationship Id="rId68" Type="http://schemas.openxmlformats.org/officeDocument/2006/relationships/slide" Target="slides/slide56.xml"/>
  <Relationship Id="rId69" Type="http://schemas.openxmlformats.org/officeDocument/2006/relationships/slide" Target="slides/slide57.xml"/>
  <Relationship Id="rId70" Type="http://schemas.openxmlformats.org/officeDocument/2006/relationships/slide" Target="slides/slide58.xml"/>
  <Relationship Id="rId71" Type="http://schemas.openxmlformats.org/officeDocument/2006/relationships/slide" Target="slides/slide59.xml"/>
  <Relationship Id="rId72" Type="http://schemas.openxmlformats.org/officeDocument/2006/relationships/slide" Target="slides/slide60.xml"/>
  <Relationship Id="rId73" Type="http://schemas.openxmlformats.org/officeDocument/2006/relationships/slide" Target="slides/slide61.xml"/>
  <Relationship Id="rId74" Type="http://schemas.openxmlformats.org/officeDocument/2006/relationships/slide" Target="slides/slide62.xml"/>
  <Relationship Id="rId75" Type="http://schemas.openxmlformats.org/officeDocument/2006/relationships/slide" Target="slides/slide63.xml"/>
  <Relationship Id="rId76" Type="http://schemas.openxmlformats.org/officeDocument/2006/relationships/slide" Target="slides/slide64.xml"/>
  <Relationship Id="rId77" Type="http://schemas.openxmlformats.org/officeDocument/2006/relationships/slide" Target="slides/slide65.xml"/>
  <Relationship Id="rId78" Type="http://schemas.openxmlformats.org/officeDocument/2006/relationships/slide" Target="slides/slide66.xml"/>
  <Relationship Id="rId79" Type="http://schemas.openxmlformats.org/officeDocument/2006/relationships/slide" Target="slides/slide67.xml"/>
  <Relationship Id="rId80" Type="http://schemas.openxmlformats.org/officeDocument/2006/relationships/slide" Target="slides/slide68.xml"/>
  <Relationship Id="rId81" Type="http://schemas.openxmlformats.org/officeDocument/2006/relationships/slide" Target="slides/slide69.xml"/>
  <Relationship Id="rId82" Type="http://schemas.openxmlformats.org/officeDocument/2006/relationships/slide" Target="slides/slide70.xml"/>
  <Relationship Id="rId83" Type="http://schemas.openxmlformats.org/officeDocument/2006/relationships/slide" Target="slides/slide71.xml"/>
  <Relationship Id="rId84" Type="http://schemas.openxmlformats.org/officeDocument/2006/relationships/slide" Target="slides/slide72.xml"/>
  <Relationship Id="rId85" Type="http://schemas.openxmlformats.org/officeDocument/2006/relationships/slide" Target="slides/slide73.xml"/>
  <Relationship Id="rId86" Type="http://schemas.openxmlformats.org/officeDocument/2006/relationships/slide" Target="slides/slide74.xml"/>
  <Relationship Id="rId87" Type="http://schemas.openxmlformats.org/officeDocument/2006/relationships/slide" Target="slides/slide75.xml"/>
  <Relationship Id="rId88" Type="http://schemas.openxmlformats.org/officeDocument/2006/relationships/slide" Target="slides/slide76.xml"/>
  <Relationship Id="rId89" Type="http://schemas.openxmlformats.org/officeDocument/2006/relationships/slide" Target="slides/slide77.xml"/>
  <Relationship Id="rId90" Type="http://schemas.openxmlformats.org/officeDocument/2006/relationships/slide" Target="slides/slide78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14.10.2026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b="0" i="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8" r:id="rId43"/>
    <p:sldLayoutId id="2147483851" r:id="rId44"/>
    <p:sldLayoutId id="2147483809" r:id="rId45"/>
    <p:sldLayoutId id="2147483841" r:id="rId46"/>
    <p:sldLayoutId id="2147483847" r:id="rId47"/>
    <p:sldLayoutId id="2147483863" r:id="rId48"/>
    <p:sldLayoutId id="2147483834" r:id="rId49"/>
    <p:sldLayoutId id="2147483832" r:id="rId50"/>
    <p:sldLayoutId id="2147483835" r:id="rId51"/>
    <p:sldLayoutId id="2147483833" r:id="rId52"/>
    <p:sldLayoutId id="2147483843" r:id="rId53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46.xml.rels><?xml version="1.0" encoding="UTF-8" standalone="yes"?>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45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4" Type="http://schemas.openxmlformats.org/officeDocument/2006/relationships/image" Target="../media/nio_image21.png"/><Relationship Id="rId5" Type="http://schemas.openxmlformats.org/officeDocument/2006/relationships/image" Target="../media/nio_image22.png"/><Relationship Id="rId6" Type="http://schemas.openxmlformats.org/officeDocument/2006/relationships/image" Target="../media/nio_image23.png"/><Relationship Id="rId7" Type="http://schemas.openxmlformats.org/officeDocument/2006/relationships/image" Target="../media/nio_image23.png"/><Relationship Id="rId8" Type="http://schemas.openxmlformats.org/officeDocument/2006/relationships/image" Target="../media/nio_image23.png"/><Relationship Id="rId9" Type="http://schemas.openxmlformats.org/officeDocument/2006/relationships/image" Target="../media/nio_image24.png"/><Relationship Id="rId10" Type="http://schemas.openxmlformats.org/officeDocument/2006/relationships/image" Target="../media/nio_image25.png"/><Relationship Id="rId11" Type="http://schemas.openxmlformats.org/officeDocument/2006/relationships/image" Target="../media/nio_image25.png"/><Relationship Id="rId12" Type="http://schemas.openxmlformats.org/officeDocument/2006/relationships/image" Target="../media/nio_image25.png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4" Type="http://schemas.openxmlformats.org/officeDocument/2006/relationships/image" Target="../media/nio_image26.png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4" Type="http://schemas.openxmlformats.org/officeDocument/2006/relationships/image" Target="../media/nio_image22.png"/><Relationship Id="rId5" Type="http://schemas.openxmlformats.org/officeDocument/2006/relationships/image" Target="../media/nio_image21.png"/><Relationship Id="rId6" Type="http://schemas.openxmlformats.org/officeDocument/2006/relationships/image" Target="../media/nio_image24.png"/><Relationship Id="rId7" Type="http://schemas.openxmlformats.org/officeDocument/2006/relationships/image" Target="../media/nio_image25.png"/><Relationship Id="rId8" Type="http://schemas.openxmlformats.org/officeDocument/2006/relationships/image" Target="../media/nio_image24.png"/><Relationship Id="rId9" Type="http://schemas.openxmlformats.org/officeDocument/2006/relationships/image" Target="../media/nio_image25.png"/><Relationship Id="rId10" Type="http://schemas.openxmlformats.org/officeDocument/2006/relationships/image" Target="../media/nio_image25.png"/><Relationship Id="rId11" Type="http://schemas.openxmlformats.org/officeDocument/2006/relationships/image" Target="../media/nio_image24.png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Relationship Id="rId4" Type="http://schemas.openxmlformats.org/officeDocument/2006/relationships/image" Target="../media/nio_image27.png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6.xml"/></Relationships>
</file>

<file path=ppt/slides/_rels/slide77.xml.rels><?xml version="1.0" encoding="UTF-8" standalone="yes"?>
<Relationships xmlns="http://schemas.openxmlformats.org/package/2006/relationships"><Relationship Id="rId3" Type="http://schemas.openxmlformats.org/officeDocument/2006/relationships/image" Target="../media/image40.png"/><Relationship Id="rId1" Type="http://schemas.openxmlformats.org/officeDocument/2006/relationships/slideLayout" Target="../slideLayouts/slideLayout48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15313" y="4250721"/>
            <a:ext cx="10972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8000" b="1" dirty="0">
                <a:solidFill>
                  <a:srgbClr val="0A0A0A"/>
                </a:solidFill>
                <a:latin typeface="T-Sans"/>
                <a:ea typeface="T-Sans" pitchFamily="2" charset="0"/>
              </a:rPr>
              <a:t>Сетевое взаимодействие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15313" y="6643851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-Sans" pitchFamily="2" charset="0"/>
                <a:ea typeface="T-Sans" pitchFamily="2" charset="0"/>
              </a:rPr>
              <a:t>HTTP-клиенты, сбои сети и персистентность на диске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55DE2C4-35F6-8C4D-B91D-924FBBFD2B8F}"/>
              </a:ext>
            </a:extLst>
          </p:cNvPr>
          <p:cNvGrpSpPr/>
          <p:nvPr/>
        </p:nvGrpSpPr>
        <p:grpSpPr>
          <a:xfrm>
            <a:off x="8211312" y="8783778"/>
            <a:ext cx="612776" cy="612776"/>
            <a:chOff x="6884958" y="8711671"/>
            <a:chExt cx="921394" cy="921394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78E7EA02-44CE-2ABC-35A3-219AA4555040}"/>
                </a:ext>
              </a:extLst>
            </p:cNvPr>
            <p:cNvSpPr/>
            <p:nvPr/>
          </p:nvSpPr>
          <p:spPr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AC7CB32-9B69-7078-94B9-BC913DD96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72D3CE-B46B-70A8-D436-3F23C015C980}"/>
              </a:ext>
            </a:extLst>
          </p:cNvPr>
          <p:cNvSpPr txBox="1"/>
          <p:nvPr/>
        </p:nvSpPr>
        <p:spPr>
          <a:xfrm>
            <a:off x="9046660" y="8943027"/>
            <a:ext cx="10129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Хватов Сергей | Ведущий разработчик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215C97-89F0-8726-9B74-20C91248E24D}"/>
              </a:ext>
            </a:extLst>
          </p:cNvPr>
          <p:cNvSpPr txBox="1"/>
          <p:nvPr/>
        </p:nvSpPr>
        <p:spPr>
          <a:xfrm>
            <a:off x="1366838" y="1281545"/>
            <a:ext cx="5935475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9400"/>
              </a:lnSpc>
              <a:defRPr sz="8800" b="1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ru-RU" sz="60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План семинара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9F034E-A4C6-7F11-4102-9F92DDB39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8566" y="4455977"/>
            <a:ext cx="720000" cy="72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77DA60-DE8D-9857-D423-7CEAD2E0826D}"/>
              </a:ext>
            </a:extLst>
          </p:cNvPr>
          <p:cNvSpPr txBox="1"/>
          <p:nvPr/>
        </p:nvSpPr>
        <p:spPr>
          <a:xfrm>
            <a:off x="2274326" y="2524454"/>
            <a:ext cx="6082863" cy="1935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Разберёмся, как устроено сетевое взаимодействие и протокол HTTP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B5016-6544-D4A3-E45C-B132B4619EFB}"/>
              </a:ext>
            </a:extLst>
          </p:cNvPr>
          <p:cNvSpPr txBox="1"/>
          <p:nvPr/>
        </p:nvSpPr>
        <p:spPr>
          <a:xfrm>
            <a:off x="2274326" y="4579374"/>
            <a:ext cx="6082863" cy="14478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Посмотрим на разные способы написать HTTP-клиент и разберём, что делать, если сервер не отвечает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0049181-FE17-E34C-3DB1-22CDF715B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8566" y="2401057"/>
            <a:ext cx="720000" cy="720000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CEC6BBCA-AFFC-1FCD-904C-9C83D81E6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FA0B44-C9E0-D08B-A2C5-C053481BDF6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79860" y="647700"/>
            <a:ext cx="10619440" cy="9864725"/>
          </a:xfrm>
        </p:spPr>
      </p:pic>
      <p:pic>
        <p:nvPicPr>
          <p:cNvPr id="2" name="Рисунок 7">
            <a:extLst>
              <a:ext uri="{FF2B5EF4-FFF2-40B4-BE49-F238E27FC236}">
                <a16:creationId xmlns:a16="http://schemas.microsoft.com/office/drawing/2014/main" id="{542E17DF-99E6-EC8B-9AB5-A849E847E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08566" y="6146981"/>
            <a:ext cx="720000" cy="72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6B5EB9-E049-BFE7-2773-D2CFE667A337}"/>
              </a:ext>
            </a:extLst>
          </p:cNvPr>
          <p:cNvSpPr txBox="1"/>
          <p:nvPr/>
        </p:nvSpPr>
        <p:spPr>
          <a:xfrm>
            <a:off x="2274326" y="6270378"/>
            <a:ext cx="6082863" cy="9605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Научимся работать с файлами: класс Path, утилиты Files и отслеживание изменений через WatchService</a:t>
            </a:r>
          </a:p>
        </p:txBody>
      </p:sp>
    </p:spTree>
    <p:extLst>
      <p:ext uri="{BB962C8B-B14F-4D97-AF65-F5344CB8AC3E}">
        <p14:creationId xmlns:p14="http://schemas.microsoft.com/office/powerpoint/2010/main" val="1742224068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Клиент и сервер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Кто кого спрашивает, и кто кому отвечает</a:t>
            </a:r>
          </a:p>
        </p:txBody>
      </p:sp>
    </p:spTree>
    <p:extLst>
      <p:ext uri="{BB962C8B-B14F-4D97-AF65-F5344CB8AC3E}">
        <p14:creationId xmlns:p14="http://schemas.microsoft.com/office/powerpoint/2010/main" val="1408592391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043DC-6BA5-4BAB-2D90-D1C81F7FE107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Как клиент и сервер обмениваются данными</a:t>
            </a:r>
          </a:p>
        </p:txBody>
      </p:sp>
      <p:sp>
        <p:nvSpPr>
          <p:cNvPr id="1010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11" name="Box"/>
          <p:cNvSpPr/>
          <p:nvPr/>
        </p:nvSpPr>
        <p:spPr>
          <a:xfrm>
            <a:off x="611187" y="424396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12" name="Text"/>
          <p:cNvSpPr txBox="1"/>
          <p:nvPr/>
        </p:nvSpPr>
        <p:spPr>
          <a:xfrm>
            <a:off x="1031187" y="410396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Клиент формирует запрос и отправляет его по сети, а затем ждёт ответа.</a:t>
            </a:r>
          </a:p>
        </p:txBody>
      </p:sp>
      <p:sp>
        <p:nvSpPr>
          <p:cNvPr id="1013" name="Box"/>
          <p:cNvSpPr/>
          <p:nvPr/>
        </p:nvSpPr>
        <p:spPr>
          <a:xfrm>
            <a:off x="611187" y="572451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14" name="Text"/>
          <p:cNvSpPr txBox="1"/>
          <p:nvPr/>
        </p:nvSpPr>
        <p:spPr>
          <a:xfrm>
            <a:off x="1031187" y="558451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Сервер принимает запрос, обрабатывает его и формирует ответ с данными.</a:t>
            </a:r>
          </a:p>
        </p:txBody>
      </p:sp>
      <p:sp>
        <p:nvSpPr>
          <p:cNvPr id="1015" name="Box"/>
          <p:cNvSpPr/>
          <p:nvPr/>
        </p:nvSpPr>
        <p:spPr>
          <a:xfrm>
            <a:off x="611187" y="720506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16" name="Text"/>
          <p:cNvSpPr txBox="1"/>
          <p:nvPr/>
        </p:nvSpPr>
        <p:spPr>
          <a:xfrm>
            <a:off x="1031187" y="706506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Обмен данными идёт поверх транспортного протокола TCP, который гарантирует доставку байт по порядку.</a:t>
            </a:r>
          </a:p>
        </p:txBody>
      </p:sp>
      <p:sp>
        <p:nvSpPr>
          <p:cNvPr id="1017" name="Box"/>
          <p:cNvSpPr/>
          <p:nvPr/>
        </p:nvSpPr>
        <p:spPr>
          <a:xfrm>
            <a:off x="611187" y="868561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18" name="Text"/>
          <p:cNvSpPr txBox="1"/>
          <p:nvPr/>
        </p:nvSpPr>
        <p:spPr>
          <a:xfrm>
            <a:off x="1031187" y="854561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Сегодня мы разбираем только клиентскую часть. Устройство самого сервера — тема будущих занятий.</a:t>
            </a:r>
          </a:p>
        </p:txBody>
      </p:sp>
      <p:sp>
        <p:nvSpPr>
          <p:cNvPr id="1001" name="Box"/>
          <p:cNvSpPr/>
          <p:nvPr/>
        </p:nvSpPr>
        <p:spPr>
          <a:xfrm>
            <a:off x="12274650" y="4513963"/>
            <a:ext cx="2500000" cy="150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02" name="Text"/>
          <p:cNvSpPr txBox="1"/>
          <p:nvPr/>
        </p:nvSpPr>
        <p:spPr>
          <a:xfrm>
            <a:off x="12274650" y="4513963"/>
            <a:ext cx="2500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300" b="1" dirty="0">
                <a:solidFill>
                  <a:srgbClr val="333333"/>
                </a:solidFill>
                <a:latin typeface="T-Sans"/>
                <a:ea typeface="T-Sans"/>
              </a:rPr>
              <a:t>Клиент</a:t>
            </a:r>
          </a:p>
        </p:txBody>
      </p:sp>
      <p:sp>
        <p:nvSpPr>
          <p:cNvPr id="1003" name="Box"/>
          <p:cNvSpPr/>
          <p:nvPr/>
        </p:nvSpPr>
        <p:spPr>
          <a:xfrm>
            <a:off x="12274650" y="7936163"/>
            <a:ext cx="2500000" cy="150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04" name="Text"/>
          <p:cNvSpPr txBox="1"/>
          <p:nvPr/>
        </p:nvSpPr>
        <p:spPr>
          <a:xfrm>
            <a:off x="12274650" y="7936163"/>
            <a:ext cx="2500000" cy="15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300" b="1" dirty="0">
                <a:solidFill>
                  <a:srgbClr val="333333"/>
                </a:solidFill>
                <a:latin typeface="T-Sans"/>
                <a:ea typeface="T-Sans"/>
              </a:rPr>
              <a:t>Сервер</a:t>
            </a:r>
          </a:p>
        </p:txBody>
      </p:sp>
      <p:cxnSp>
        <p:nvCxnSpPr>
          <p:cNvPr id="1005" name="Arrow"/>
          <p:cNvCxnSpPr/>
          <p:nvPr/>
        </p:nvCxnSpPr>
        <p:spPr>
          <a:xfrm flipH="0" flipV="0">
            <a:off x="13124650" y="6013963"/>
            <a:ext cx="1" cy="19222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006" name="Text"/>
          <p:cNvSpPr txBox="1"/>
          <p:nvPr/>
        </p:nvSpPr>
        <p:spPr>
          <a:xfrm>
            <a:off x="10774650" y="6325063"/>
            <a:ext cx="5500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ru-RU" sz="1800" b="0" dirty="0">
                <a:solidFill>
                  <a:srgbClr val="757675"/>
                </a:solidFill>
                <a:latin typeface="T-Sans"/>
                <a:ea typeface="T-Sans"/>
              </a:rPr>
              <a:t>запрос по сети</a:t>
            </a:r>
          </a:p>
        </p:txBody>
      </p:sp>
      <p:cxnSp>
        <p:nvCxnSpPr>
          <p:cNvPr id="1007" name="Arrow"/>
          <p:cNvCxnSpPr/>
          <p:nvPr/>
        </p:nvCxnSpPr>
        <p:spPr>
          <a:xfrm flipH="0" flipV="1">
            <a:off x="13924650" y="6013963"/>
            <a:ext cx="1" cy="1922200"/>
          </a:xfrm>
          <a:prstGeom prst="straightConnector1">
            <a:avLst/>
          </a:prstGeom>
          <a:ln w="25400">
            <a:solidFill>
              <a:srgbClr val="757675"/>
            </a:solidFill>
            <a:prstDash val="dash"/>
            <a:tailEnd type="triangle" w="med" len="med"/>
          </a:ln>
        </p:spPr>
        <p:style>
          <a:lnRef idx="1">
            <a:srgbClr val="757675"/>
          </a:lnRef>
          <a:fillRef idx="0">
            <a:srgbClr val="757675"/>
          </a:fillRef>
          <a:effectRef idx="0">
            <a:srgbClr val="757675"/>
          </a:effectRef>
          <a:fontRef idx="minor"/>
        </p:style>
      </p:cxnSp>
      <p:sp>
        <p:nvSpPr>
          <p:cNvPr id="1008" name="Text"/>
          <p:cNvSpPr txBox="1"/>
          <p:nvPr/>
        </p:nvSpPr>
        <p:spPr>
          <a:xfrm>
            <a:off x="10774650" y="7195063"/>
            <a:ext cx="5500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ru-RU" sz="1800" b="0" dirty="0">
                <a:solidFill>
                  <a:srgbClr val="757675"/>
                </a:solidFill>
                <a:latin typeface="T-Sans"/>
                <a:ea typeface="T-Sans"/>
              </a:rPr>
              <a:t>ответ по сети</a:t>
            </a:r>
          </a:p>
        </p:txBody>
      </p:sp>
    </p:spTree>
    <p:extLst>
      <p:ext uri="{BB962C8B-B14F-4D97-AF65-F5344CB8AC3E}">
        <p14:creationId xmlns:p14="http://schemas.microsoft.com/office/powerpoint/2010/main" val="1829850746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863E3-836A-4EE6-9A32-A782020F4915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Структура HTTP-запроса и ответа</a:t>
            </a:r>
          </a:p>
        </p:txBody>
      </p:sp>
      <p:sp>
        <p:nvSpPr>
          <p:cNvPr id="1020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21" name="Скругленный прямоугольник 2">
            <a:extLst>
              <a:ext uri="{FF2B5EF4-FFF2-40B4-BE49-F238E27FC236}">
                <a16:creationId xmlns:a16="http://schemas.microsoft.com/office/drawing/2014/main" id="{938A1772-DAFD-44D8-8EBB-DAE456D2E711}"/>
              </a:ext>
            </a:extLst>
          </p:cNvPr>
          <p:cNvSpPr/>
          <p:nvPr/>
        </p:nvSpPr>
        <p:spPr>
          <a:xfrm>
            <a:off x="611187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22" name="TextBox 16">
            <a:extLst>
              <a:ext uri="{FF2B5EF4-FFF2-40B4-BE49-F238E27FC236}">
                <a16:creationId xmlns:a16="http://schemas.microsoft.com/office/drawing/2014/main" id="{C165B677-2DD0-4C7E-9A37-FACF976DE3C0}"/>
              </a:ext>
            </a:extLst>
          </p:cNvPr>
          <p:cNvSpPr txBox="1"/>
          <p:nvPr/>
        </p:nvSpPr>
        <p:spPr>
          <a:xfrm>
            <a:off x="1175338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Запрос</a:t>
            </a:r>
          </a:p>
        </p:txBody>
      </p:sp>
      <p:sp>
        <p:nvSpPr>
          <p:cNvPr id="1023" name="TextBox 15">
            <a:extLst>
              <a:ext uri="{FF2B5EF4-FFF2-40B4-BE49-F238E27FC236}">
                <a16:creationId xmlns:a16="http://schemas.microsoft.com/office/drawing/2014/main" id="{19302F33-F906-4D1B-91D3-AF644D9AAB35}"/>
              </a:ext>
            </a:extLst>
          </p:cNvPr>
          <p:cNvSpPr txBox="1"/>
          <p:nvPr/>
        </p:nvSpPr>
        <p:spPr>
          <a:xfrm>
            <a:off x="1175338" y="7725862"/>
            <a:ext cx="8029390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Состоит из строки запроса с методом и путём, набора заголовков и тела. У GET тело обычно пустое.</a:t>
            </a:r>
          </a:p>
        </p:txBody>
      </p:sp>
      <p:sp>
        <p:nvSpPr>
          <p:cNvPr id="1024" name="Скругленный прямоугольник 3">
            <a:extLst>
              <a:ext uri="{FF2B5EF4-FFF2-40B4-BE49-F238E27FC236}">
                <a16:creationId xmlns:a16="http://schemas.microsoft.com/office/drawing/2014/main" id="{CD2508A2-7ED1-4414-B16C-3DA3E430185B}"/>
              </a:ext>
            </a:extLst>
          </p:cNvPr>
          <p:cNvSpPr/>
          <p:nvPr/>
        </p:nvSpPr>
        <p:spPr>
          <a:xfrm>
            <a:off x="10030421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25" name="TextBox 12">
            <a:extLst>
              <a:ext uri="{FF2B5EF4-FFF2-40B4-BE49-F238E27FC236}">
                <a16:creationId xmlns:a16="http://schemas.microsoft.com/office/drawing/2014/main" id="{762E1C51-C0D1-4879-84B7-A3490C459BC6}"/>
              </a:ext>
            </a:extLst>
          </p:cNvPr>
          <p:cNvSpPr txBox="1"/>
          <p:nvPr/>
        </p:nvSpPr>
        <p:spPr>
          <a:xfrm>
            <a:off x="10594572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Ответ</a:t>
            </a:r>
          </a:p>
        </p:txBody>
      </p:sp>
      <p:sp>
        <p:nvSpPr>
          <p:cNvPr id="1026" name="TextBox 11">
            <a:extLst>
              <a:ext uri="{FF2B5EF4-FFF2-40B4-BE49-F238E27FC236}">
                <a16:creationId xmlns:a16="http://schemas.microsoft.com/office/drawing/2014/main" id="{9E1ECD2B-AC00-4A8A-B545-067D20588C01}"/>
              </a:ext>
            </a:extLst>
          </p:cNvPr>
          <p:cNvSpPr txBox="1"/>
          <p:nvPr/>
        </p:nvSpPr>
        <p:spPr>
          <a:xfrm>
            <a:off x="10594572" y="7725862"/>
            <a:ext cx="8029390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Содержит код состояния, заголовки и тело ответа. Часто тело приходит в формате JSON.</a:t>
            </a:r>
          </a:p>
        </p:txBody>
      </p:sp>
    </p:spTree>
    <p:extLst>
      <p:ext uri="{BB962C8B-B14F-4D97-AF65-F5344CB8AC3E}">
        <p14:creationId xmlns:p14="http://schemas.microsoft.com/office/powerpoint/2010/main" val="932049419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C54C3B2B-BBCD-4D48-AB75-9A0A86EE45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04BB97-4DE1-4B8A-9236-AAB8931EB8A0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Три способа написать HTTP-клиента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D1E407-FE74-4DA1-944C-DDE03BEB3FC4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Императивно, декларативно, или с полным контролем</a:t>
            </a:r>
          </a:p>
        </p:txBody>
      </p:sp>
    </p:spTree>
    <p:extLst>
      <p:ext uri="{BB962C8B-B14F-4D97-AF65-F5344CB8AC3E}">
        <p14:creationId xmlns:p14="http://schemas.microsoft.com/office/powerpoint/2010/main" val="1894090515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E57E7-45E6-4DBE-B0F0-6B46533C322D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Три способа</a:t>
            </a:r>
          </a:p>
        </p:txBody>
      </p:sp>
      <p:sp>
        <p:nvSpPr>
          <p:cNvPr id="1028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29" name="Скругленный прямоугольник 2">
            <a:extLst>
              <a:ext uri="{FF2B5EF4-FFF2-40B4-BE49-F238E27FC236}">
                <a16:creationId xmlns:a16="http://schemas.microsoft.com/office/drawing/2014/main" id="{44A69AE2-E41D-472E-AD6E-51AEDDC1C74A}"/>
              </a:ext>
            </a:extLst>
          </p:cNvPr>
          <p:cNvSpPr/>
          <p:nvPr/>
        </p:nvSpPr>
        <p:spPr>
          <a:xfrm>
            <a:off x="611187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30" name="TextBox 16">
            <a:extLst>
              <a:ext uri="{FF2B5EF4-FFF2-40B4-BE49-F238E27FC236}">
                <a16:creationId xmlns:a16="http://schemas.microsoft.com/office/drawing/2014/main" id="{C69F5378-8F8F-44AA-B614-FC92DDB500FD}"/>
              </a:ext>
            </a:extLst>
          </p:cNvPr>
          <p:cNvSpPr txBox="1"/>
          <p:nvPr/>
        </p:nvSpPr>
        <p:spPr>
          <a:xfrm>
            <a:off x="1175338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HttpClient</a:t>
            </a:r>
          </a:p>
        </p:txBody>
      </p:sp>
      <p:sp>
        <p:nvSpPr>
          <p:cNvPr id="1031" name="TextBox 15">
            <a:extLst>
              <a:ext uri="{FF2B5EF4-FFF2-40B4-BE49-F238E27FC236}">
                <a16:creationId xmlns:a16="http://schemas.microsoft.com/office/drawing/2014/main" id="{B5180181-EA78-46D0-A4FD-CAC6DE093A64}"/>
              </a:ext>
            </a:extLst>
          </p:cNvPr>
          <p:cNvSpPr txBox="1"/>
          <p:nvPr/>
        </p:nvSpPr>
        <p:spPr>
          <a:xfrm>
            <a:off x="1175338" y="7725862"/>
            <a:ext cx="4889645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Часть стандартной библиотеки Java. Запрос собирается и отправляется вручную, ответ разбирается самостоятельно.</a:t>
            </a:r>
          </a:p>
        </p:txBody>
      </p:sp>
      <p:sp>
        <p:nvSpPr>
          <p:cNvPr id="1032" name="Скругленный прямоугольник 3">
            <a:extLst>
              <a:ext uri="{FF2B5EF4-FFF2-40B4-BE49-F238E27FC236}">
                <a16:creationId xmlns:a16="http://schemas.microsoft.com/office/drawing/2014/main" id="{752D8664-8EF6-4F87-9442-0C3E5E34BB6A}"/>
              </a:ext>
            </a:extLst>
          </p:cNvPr>
          <p:cNvSpPr/>
          <p:nvPr/>
        </p:nvSpPr>
        <p:spPr>
          <a:xfrm>
            <a:off x="6890676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33" name="TextBox 12">
            <a:extLst>
              <a:ext uri="{FF2B5EF4-FFF2-40B4-BE49-F238E27FC236}">
                <a16:creationId xmlns:a16="http://schemas.microsoft.com/office/drawing/2014/main" id="{5B416EDD-3247-432C-A01A-2D8ED8C572ED}"/>
              </a:ext>
            </a:extLst>
          </p:cNvPr>
          <p:cNvSpPr txBox="1"/>
          <p:nvPr/>
        </p:nvSpPr>
        <p:spPr>
          <a:xfrm>
            <a:off x="7454827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Feign</a:t>
            </a:r>
          </a:p>
        </p:txBody>
      </p:sp>
      <p:sp>
        <p:nvSpPr>
          <p:cNvPr id="1034" name="TextBox 11">
            <a:extLst>
              <a:ext uri="{FF2B5EF4-FFF2-40B4-BE49-F238E27FC236}">
                <a16:creationId xmlns:a16="http://schemas.microsoft.com/office/drawing/2014/main" id="{7BB6EF42-E333-4138-A357-945B4730D9C6}"/>
              </a:ext>
            </a:extLst>
          </p:cNvPr>
          <p:cNvSpPr txBox="1"/>
          <p:nvPr/>
        </p:nvSpPr>
        <p:spPr>
          <a:xfrm>
            <a:off x="7454827" y="7725862"/>
            <a:ext cx="4889645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Декларативный подход: достаточно описать интерфейс с аннотациями, реализацию библиотека сгенерирует сама.</a:t>
            </a:r>
          </a:p>
        </p:txBody>
      </p:sp>
      <p:sp>
        <p:nvSpPr>
          <p:cNvPr id="1035" name="Скругленный прямоугольник 3">
            <a:extLst>
              <a:ext uri="{FF2B5EF4-FFF2-40B4-BE49-F238E27FC236}">
                <a16:creationId xmlns:a16="http://schemas.microsoft.com/office/drawing/2014/main" id="{20FF8041-B0AE-4C66-A933-2BAFD84BA463}"/>
              </a:ext>
            </a:extLst>
          </p:cNvPr>
          <p:cNvSpPr/>
          <p:nvPr/>
        </p:nvSpPr>
        <p:spPr>
          <a:xfrm>
            <a:off x="13170165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36" name="TextBox 12">
            <a:extLst>
              <a:ext uri="{FF2B5EF4-FFF2-40B4-BE49-F238E27FC236}">
                <a16:creationId xmlns:a16="http://schemas.microsoft.com/office/drawing/2014/main" id="{FFF20DA0-02EF-4C62-916F-46331F76C993}"/>
              </a:ext>
            </a:extLst>
          </p:cNvPr>
          <p:cNvSpPr txBox="1"/>
          <p:nvPr/>
        </p:nvSpPr>
        <p:spPr>
          <a:xfrm>
            <a:off x="13734316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OkHttp</a:t>
            </a:r>
          </a:p>
        </p:txBody>
      </p:sp>
      <p:sp>
        <p:nvSpPr>
          <p:cNvPr id="1037" name="TextBox 11">
            <a:extLst>
              <a:ext uri="{FF2B5EF4-FFF2-40B4-BE49-F238E27FC236}">
                <a16:creationId xmlns:a16="http://schemas.microsoft.com/office/drawing/2014/main" id="{EF45A521-493A-46B4-A964-9B7631F39276}"/>
              </a:ext>
            </a:extLst>
          </p:cNvPr>
          <p:cNvSpPr txBox="1"/>
          <p:nvPr/>
        </p:nvSpPr>
        <p:spPr>
          <a:xfrm>
            <a:off x="13734316" y="7725862"/>
            <a:ext cx="4889645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Низкоуровневый клиент с полным контролем над таймаутами, интерсепторами и пулом соединений.</a:t>
            </a:r>
          </a:p>
        </p:txBody>
      </p:sp>
    </p:spTree>
    <p:extLst>
      <p:ext uri="{BB962C8B-B14F-4D97-AF65-F5344CB8AC3E}">
        <p14:creationId xmlns:p14="http://schemas.microsoft.com/office/powerpoint/2010/main" val="610718770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26631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339468" y="10586794"/>
            <a:ext cx="1068945" cy="318924"/>
          </a:xfrm>
          <a:prstGeom prst="rect">
            <a:avLst/>
          </a:prstGeom>
        </p:spPr>
        <p:txBody>
          <a:bodyPr wrap="square" lIns="36000" tIns="36000" rIns="36000" bIns="36000" anchor="ctr">
            <a:spAutoFit/>
          </a:bodyPr>
          <a:lstStyle>
            <a:lvl1pPr>
              <a:defRPr lang="ru-RU" sz="1600"/>
            </a:lvl1pPr>
          </a:lstStyle>
          <a:p>
            <a:pPr algn="r">
              <a:buFont typeface="Wingdings"/>
              <a:buNone/>
              <a:defRPr/>
            </a:pPr>
            <a:fld id="{B96E4F7D-15E8-8800-B3D3-85E11A9CD904}" type="slidenum">
              <a:rPr lang="ru-RU">
                <a:latin typeface="T-Sans" pitchFamily="2" charset="77"/>
                <a:ea typeface="T-Sans" pitchFamily="2" charset="77"/>
              </a:rPr>
              <a:t>35</a:t>
            </a:fld>
            <a:endParaRPr lang="ru-RU">
              <a:latin typeface="T-Sans" pitchFamily="2" charset="77"/>
              <a:ea typeface="T-Sans" pitchFamily="2" charset="77"/>
            </a:endParaRPr>
          </a:p>
        </p:txBody>
      </p:sp>
      <p:sp>
        <p:nvSpPr>
          <p:cNvPr id="593929785" name="TextBox 1"/>
          <p:cNvSpPr txBox="1"/>
          <p:nvPr/>
        </p:nvSpPr>
        <p:spPr bwMode="auto">
          <a:xfrm>
            <a:off x="611187" y="1232922"/>
            <a:ext cx="6993338" cy="17577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 lIns="36000" tIns="36000" rIns="36000" bIns="36000">
            <a:spAutoFit/>
          </a:bodyPr>
          <a:lstStyle>
            <a:defPPr marL="0" marR="0" indent="0" algn="l" defTabSz="90005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/>
              </a:defRPr>
            </a:lvl1pPr>
          </a:lstStyle>
          <a:p>
            <a:pPr>
              <a:defRPr/>
            </a:pPr>
            <a:r>
              <a:rPr lang="ru-RU" dirty="0">
                <a:latin typeface="T-Sans" pitchFamily="2" charset="77"/>
                <a:ea typeface="T-Sans" pitchFamily="2" charset="77"/>
              </a:rPr>
              <a:t>Давайте программировать!</a:t>
            </a:r>
            <a:endParaRPr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8A54363-992C-01F8-5B6C-7D4A7B082F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5126" name="Picture 6" descr="programming GIF - Find &amp; Share on GIPHY">
            <a:extLst>
              <a:ext uri="{FF2B5EF4-FFF2-40B4-BE49-F238E27FC236}">
                <a16:creationId xmlns:a16="http://schemas.microsoft.com/office/drawing/2014/main" id="{D5314BF5-E773-03F5-F69A-C0A3D6912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1570" y="2120387"/>
            <a:ext cx="11217730" cy="630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2A251D3A-355F-4E65-BFC8-9BB72ACE3EA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5D26B-75F9-47E0-9D49-852DC0111633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А если сервер не отвечает?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87F0E3-5B0F-4217-B19B-CF21CC8DADCA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Сеть ненадёжна: сервер может ответить ошибкой или не ответить вовсе</a:t>
            </a:r>
          </a:p>
        </p:txBody>
      </p:sp>
    </p:spTree>
    <p:extLst>
      <p:ext uri="{BB962C8B-B14F-4D97-AF65-F5344CB8AC3E}">
        <p14:creationId xmlns:p14="http://schemas.microsoft.com/office/powerpoint/2010/main" val="151461178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76B44-1217-4E03-88D4-FE232055AE2A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Что может пойти не так</a:t>
            </a:r>
          </a:p>
        </p:txBody>
      </p:sp>
      <p:sp>
        <p:nvSpPr>
          <p:cNvPr id="1056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57" name="Box"/>
          <p:cNvSpPr/>
          <p:nvPr/>
        </p:nvSpPr>
        <p:spPr>
          <a:xfrm>
            <a:off x="611187" y="424396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58" name="Text"/>
          <p:cNvSpPr txBox="1"/>
          <p:nvPr/>
        </p:nvSpPr>
        <p:spPr>
          <a:xfrm>
            <a:off x="1031187" y="410396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Сеть ненадёжна: запрос может не дойти, а ответ — не вернуться вовремя или вовсе.</a:t>
            </a:r>
          </a:p>
        </p:txBody>
      </p:sp>
      <p:sp>
        <p:nvSpPr>
          <p:cNvPr id="1059" name="Box"/>
          <p:cNvSpPr/>
          <p:nvPr/>
        </p:nvSpPr>
        <p:spPr>
          <a:xfrm>
            <a:off x="611187" y="572451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60" name="Text"/>
          <p:cNvSpPr txBox="1"/>
          <p:nvPr/>
        </p:nvSpPr>
        <p:spPr>
          <a:xfrm>
            <a:off x="1031187" y="558451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Сервер может ответить ошибкой — кодом статуса 4xx или 5xx вместо ожидаемых данных.</a:t>
            </a:r>
          </a:p>
        </p:txBody>
      </p:sp>
      <p:sp>
        <p:nvSpPr>
          <p:cNvPr id="1061" name="Box"/>
          <p:cNvSpPr/>
          <p:nvPr/>
        </p:nvSpPr>
        <p:spPr>
          <a:xfrm>
            <a:off x="611187" y="720506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62" name="Text"/>
          <p:cNvSpPr txBox="1"/>
          <p:nvPr/>
        </p:nvSpPr>
        <p:spPr>
          <a:xfrm>
            <a:off x="1031187" y="706506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А может не ответить совсем: клиент ждёт, пока не истечёт тайм-аут, или соединение вовсе не устанавливается.</a:t>
            </a:r>
          </a:p>
        </p:txBody>
      </p:sp>
      <p:sp>
        <p:nvSpPr>
          <p:cNvPr id="1063" name="Box"/>
          <p:cNvSpPr/>
          <p:nvPr/>
        </p:nvSpPr>
        <p:spPr>
          <a:xfrm>
            <a:off x="611187" y="868561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64" name="Text"/>
          <p:cNvSpPr txBox="1"/>
          <p:nvPr/>
        </p:nvSpPr>
        <p:spPr>
          <a:xfrm>
            <a:off x="1031187" y="854561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Сам по себе клиент такой сбой только обнаруживает и сообщает о нём — что делать дальше, решают отдельные паттерны.</a:t>
            </a:r>
          </a:p>
        </p:txBody>
      </p:sp>
      <p:sp>
        <p:nvSpPr>
          <p:cNvPr id="1038" name="Box"/>
          <p:cNvSpPr/>
          <p:nvPr/>
        </p:nvSpPr>
        <p:spPr>
          <a:xfrm>
            <a:off x="8161187" y="4163963"/>
            <a:ext cx="2300000" cy="8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39" name="Text"/>
          <p:cNvSpPr txBox="1"/>
          <p:nvPr/>
        </p:nvSpPr>
        <p:spPr>
          <a:xfrm>
            <a:off x="8161187" y="4163963"/>
            <a:ext cx="2300000" cy="8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300" b="1" dirty="0">
                <a:solidFill>
                  <a:srgbClr val="333333"/>
                </a:solidFill>
                <a:latin typeface="T-Sans"/>
                <a:ea typeface="T-Sans"/>
              </a:rPr>
              <a:t>Клиент</a:t>
            </a:r>
          </a:p>
        </p:txBody>
      </p:sp>
      <p:sp>
        <p:nvSpPr>
          <p:cNvPr id="1040" name="Box"/>
          <p:cNvSpPr/>
          <p:nvPr/>
        </p:nvSpPr>
        <p:spPr>
          <a:xfrm>
            <a:off x="8161187" y="8936163"/>
            <a:ext cx="2300000" cy="8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41" name="Text"/>
          <p:cNvSpPr txBox="1"/>
          <p:nvPr/>
        </p:nvSpPr>
        <p:spPr>
          <a:xfrm>
            <a:off x="8161187" y="8936163"/>
            <a:ext cx="2300000" cy="8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300" b="1" dirty="0">
                <a:solidFill>
                  <a:srgbClr val="333333"/>
                </a:solidFill>
                <a:latin typeface="T-Sans"/>
                <a:ea typeface="T-Sans"/>
              </a:rPr>
              <a:t>Сервер</a:t>
            </a:r>
          </a:p>
        </p:txBody>
      </p:sp>
      <p:cxnSp>
        <p:nvCxnSpPr>
          <p:cNvPr id="1042" name="Arrow"/>
          <p:cNvCxnSpPr/>
          <p:nvPr/>
        </p:nvCxnSpPr>
        <p:spPr>
          <a:xfrm flipH="0" flipV="0">
            <a:off x="9311187" y="5013963"/>
            <a:ext cx="1" cy="3922200"/>
          </a:xfrm>
          <a:prstGeom prst="straightConnector1">
            <a:avLst/>
          </a:prstGeom>
          <a:ln w="25400">
            <a:solidFill>
              <a:srgbClr val="B00020"/>
            </a:solidFill>
            <a:prstDash val="dash"/>
            <a:tailEnd type="triangle" w="med" len="med"/>
          </a:ln>
        </p:spPr>
        <p:style>
          <a:lnRef idx="1">
            <a:srgbClr val="B00020"/>
          </a:lnRef>
          <a:fillRef idx="0">
            <a:srgbClr val="B00020"/>
          </a:fillRef>
          <a:effectRef idx="0">
            <a:srgbClr val="B00020"/>
          </a:effectRef>
          <a:fontRef idx="minor"/>
        </p:style>
      </p:cxnSp>
      <p:sp>
        <p:nvSpPr>
          <p:cNvPr id="1043" name="Box"/>
          <p:cNvSpPr/>
          <p:nvPr/>
        </p:nvSpPr>
        <p:spPr>
          <a:xfrm>
            <a:off x="11161187" y="5308963"/>
            <a:ext cx="170000" cy="170000"/>
          </a:xfrm>
          <a:prstGeom prst="roundRect">
            <a:avLst>
              <a:gd name="adj" fmla="val 6000"/>
            </a:avLst>
          </a:prstGeom>
          <a:solidFill>
            <a:srgbClr val="B00020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44" name="Text"/>
          <p:cNvSpPr txBox="1"/>
          <p:nvPr/>
        </p:nvSpPr>
        <p:spPr>
          <a:xfrm>
            <a:off x="11551187" y="5013963"/>
            <a:ext cx="7636926" cy="7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ru-RU" sz="1900" b="0" dirty="0">
                <a:solidFill>
                  <a:srgbClr val="333333"/>
                </a:solidFill>
                <a:latin typeface="T-Sans"/>
                <a:ea typeface="T-Sans"/>
              </a:rPr>
              <a:t>Ошибка — сервер ответил кодом 4xx/5xx вместо данных</a:t>
            </a:r>
          </a:p>
        </p:txBody>
      </p:sp>
      <p:cxnSp>
        <p:nvCxnSpPr>
          <p:cNvPr id="1045" name="Arrow"/>
          <p:cNvCxnSpPr/>
          <p:nvPr/>
        </p:nvCxnSpPr>
        <p:spPr>
          <a:xfrm flipH="0" flipV="0">
            <a:off x="9311187" y="5393963"/>
            <a:ext cx="1700000" cy="1"/>
          </a:xfrm>
          <a:prstGeom prst="straightConnector1">
            <a:avLst/>
          </a:prstGeom>
          <a:ln w="12700">
            <a:solidFill>
              <a:srgbClr val="BFBFBF"/>
            </a:solidFill>
            <a:prstDash val="dash"/>
            <a:tailEnd type="triangle" w="med" len="med"/>
          </a:ln>
        </p:spPr>
        <p:style>
          <a:lnRef idx="1">
            <a:srgbClr val="BFBFBF"/>
          </a:lnRef>
          <a:fillRef idx="0">
            <a:srgbClr val="BFBFBF"/>
          </a:fillRef>
          <a:effectRef idx="0">
            <a:srgbClr val="BFBFBF"/>
          </a:effectRef>
          <a:fontRef idx="minor"/>
        </p:style>
      </p:cxnSp>
      <p:sp>
        <p:nvSpPr>
          <p:cNvPr id="1046" name="Box"/>
          <p:cNvSpPr/>
          <p:nvPr/>
        </p:nvSpPr>
        <p:spPr>
          <a:xfrm>
            <a:off x="11161187" y="6363029"/>
            <a:ext cx="170000" cy="170000"/>
          </a:xfrm>
          <a:prstGeom prst="roundRect">
            <a:avLst>
              <a:gd name="adj" fmla="val 6000"/>
            </a:avLst>
          </a:prstGeom>
          <a:solidFill>
            <a:srgbClr val="757675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47" name="Text"/>
          <p:cNvSpPr txBox="1"/>
          <p:nvPr/>
        </p:nvSpPr>
        <p:spPr>
          <a:xfrm>
            <a:off x="11551187" y="6068029"/>
            <a:ext cx="7636926" cy="7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ru-RU" sz="1900" b="0" dirty="0">
                <a:solidFill>
                  <a:srgbClr val="333333"/>
                </a:solidFill>
                <a:latin typeface="T-Sans"/>
                <a:ea typeface="T-Sans"/>
              </a:rPr>
              <a:t>Таймаут — сервер молчит, клиент ждёт</a:t>
            </a:r>
          </a:p>
        </p:txBody>
      </p:sp>
      <p:cxnSp>
        <p:nvCxnSpPr>
          <p:cNvPr id="1048" name="Arrow"/>
          <p:cNvCxnSpPr/>
          <p:nvPr/>
        </p:nvCxnSpPr>
        <p:spPr>
          <a:xfrm flipH="0" flipV="0">
            <a:off x="9311187" y="6448029"/>
            <a:ext cx="1700000" cy="1"/>
          </a:xfrm>
          <a:prstGeom prst="straightConnector1">
            <a:avLst/>
          </a:prstGeom>
          <a:ln w="12700">
            <a:solidFill>
              <a:srgbClr val="BFBFBF"/>
            </a:solidFill>
            <a:prstDash val="dash"/>
            <a:tailEnd type="triangle" w="med" len="med"/>
          </a:ln>
        </p:spPr>
        <p:style>
          <a:lnRef idx="1">
            <a:srgbClr val="BFBFBF"/>
          </a:lnRef>
          <a:fillRef idx="0">
            <a:srgbClr val="BFBFBF"/>
          </a:fillRef>
          <a:effectRef idx="0">
            <a:srgbClr val="BFBFBF"/>
          </a:effectRef>
          <a:fontRef idx="minor"/>
        </p:style>
      </p:cxnSp>
      <p:sp>
        <p:nvSpPr>
          <p:cNvPr id="1049" name="Box"/>
          <p:cNvSpPr/>
          <p:nvPr/>
        </p:nvSpPr>
        <p:spPr>
          <a:xfrm>
            <a:off x="11161187" y="7417095"/>
            <a:ext cx="170000" cy="170000"/>
          </a:xfrm>
          <a:prstGeom prst="roundRect">
            <a:avLst>
              <a:gd name="adj" fmla="val 6000"/>
            </a:avLst>
          </a:prstGeom>
          <a:solidFill>
            <a:srgbClr val="B00020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50" name="Text"/>
          <p:cNvSpPr txBox="1"/>
          <p:nvPr/>
        </p:nvSpPr>
        <p:spPr>
          <a:xfrm>
            <a:off x="11551187" y="7122095"/>
            <a:ext cx="7636926" cy="7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ru-RU" sz="1900" b="0" dirty="0">
                <a:solidFill>
                  <a:srgbClr val="333333"/>
                </a:solidFill>
                <a:latin typeface="T-Sans"/>
                <a:ea typeface="T-Sans"/>
              </a:rPr>
              <a:t>Соединение не устанавливается</a:t>
            </a:r>
          </a:p>
        </p:txBody>
      </p:sp>
      <p:cxnSp>
        <p:nvCxnSpPr>
          <p:cNvPr id="1051" name="Arrow"/>
          <p:cNvCxnSpPr/>
          <p:nvPr/>
        </p:nvCxnSpPr>
        <p:spPr>
          <a:xfrm flipH="0" flipV="0">
            <a:off x="9311187" y="7502095"/>
            <a:ext cx="1700000" cy="1"/>
          </a:xfrm>
          <a:prstGeom prst="straightConnector1">
            <a:avLst/>
          </a:prstGeom>
          <a:ln w="12700">
            <a:solidFill>
              <a:srgbClr val="BFBFBF"/>
            </a:solidFill>
            <a:prstDash val="dash"/>
            <a:tailEnd type="triangle" w="med" len="med"/>
          </a:ln>
        </p:spPr>
        <p:style>
          <a:lnRef idx="1">
            <a:srgbClr val="BFBFBF"/>
          </a:lnRef>
          <a:fillRef idx="0">
            <a:srgbClr val="BFBFBF"/>
          </a:fillRef>
          <a:effectRef idx="0">
            <a:srgbClr val="BFBFBF"/>
          </a:effectRef>
          <a:fontRef idx="minor"/>
        </p:style>
      </p:cxnSp>
      <p:sp>
        <p:nvSpPr>
          <p:cNvPr id="1052" name="Box"/>
          <p:cNvSpPr/>
          <p:nvPr/>
        </p:nvSpPr>
        <p:spPr>
          <a:xfrm>
            <a:off x="11161187" y="8471161"/>
            <a:ext cx="170000" cy="170000"/>
          </a:xfrm>
          <a:prstGeom prst="roundRect">
            <a:avLst>
              <a:gd name="adj" fmla="val 6000"/>
            </a:avLst>
          </a:prstGeom>
          <a:solidFill>
            <a:srgbClr val="757675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53" name="Text"/>
          <p:cNvSpPr txBox="1"/>
          <p:nvPr/>
        </p:nvSpPr>
        <p:spPr>
          <a:xfrm>
            <a:off x="11551187" y="8176161"/>
            <a:ext cx="7636926" cy="7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</a:pPr>
            <a:r>
              <a:rPr lang="ru-RU" sz="1900" b="0" dirty="0">
                <a:solidFill>
                  <a:srgbClr val="333333"/>
                </a:solidFill>
                <a:latin typeface="T-Sans"/>
                <a:ea typeface="T-Sans"/>
              </a:rPr>
              <a:t>Повреждённый или неожиданный ответ</a:t>
            </a:r>
          </a:p>
        </p:txBody>
      </p:sp>
      <p:cxnSp>
        <p:nvCxnSpPr>
          <p:cNvPr id="1054" name="Arrow"/>
          <p:cNvCxnSpPr/>
          <p:nvPr/>
        </p:nvCxnSpPr>
        <p:spPr>
          <a:xfrm flipH="0" flipV="0">
            <a:off x="9311187" y="8556161"/>
            <a:ext cx="1700000" cy="1"/>
          </a:xfrm>
          <a:prstGeom prst="straightConnector1">
            <a:avLst/>
          </a:prstGeom>
          <a:ln w="12700">
            <a:solidFill>
              <a:srgbClr val="BFBFBF"/>
            </a:solidFill>
            <a:prstDash val="dash"/>
            <a:tailEnd type="triangle" w="med" len="med"/>
          </a:ln>
        </p:spPr>
        <p:style>
          <a:lnRef idx="1">
            <a:srgbClr val="BFBFBF"/>
          </a:lnRef>
          <a:fillRef idx="0">
            <a:srgbClr val="BFBFBF"/>
          </a:fillRef>
          <a:effectRef idx="0">
            <a:srgbClr val="BFBFBF"/>
          </a:effectRef>
          <a:fontRef idx="minor"/>
        </p:style>
      </p:cxnSp>
    </p:spTree>
    <p:extLst>
      <p:ext uri="{BB962C8B-B14F-4D97-AF65-F5344CB8AC3E}">
        <p14:creationId xmlns:p14="http://schemas.microsoft.com/office/powerpoint/2010/main" val="1034358641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72645-0A15-40DF-8E33-635E7866AA22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Что с этим обычно делают</a:t>
            </a:r>
          </a:p>
        </p:txBody>
      </p:sp>
      <p:sp>
        <p:nvSpPr>
          <p:cNvPr id="1066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67" name="Скругленный прямоугольник 2">
            <a:extLst>
              <a:ext uri="{FF2B5EF4-FFF2-40B4-BE49-F238E27FC236}">
                <a16:creationId xmlns:a16="http://schemas.microsoft.com/office/drawing/2014/main" id="{38E51C32-1E41-4F37-B4EE-2E702722FE1E}"/>
              </a:ext>
            </a:extLst>
          </p:cNvPr>
          <p:cNvSpPr/>
          <p:nvPr/>
        </p:nvSpPr>
        <p:spPr>
          <a:xfrm>
            <a:off x="611187" y="4013963"/>
            <a:ext cx="4448075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68" name="TextBox 16">
            <a:extLst>
              <a:ext uri="{FF2B5EF4-FFF2-40B4-BE49-F238E27FC236}">
                <a16:creationId xmlns:a16="http://schemas.microsoft.com/office/drawing/2014/main" id="{E9B536E8-2BD9-4D1F-A0A4-276B214AF6E2}"/>
              </a:ext>
            </a:extLst>
          </p:cNvPr>
          <p:cNvSpPr txBox="1"/>
          <p:nvPr/>
        </p:nvSpPr>
        <p:spPr>
          <a:xfrm>
            <a:off x="1175338" y="6300788"/>
            <a:ext cx="3319773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4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Timeout</a:t>
            </a:r>
          </a:p>
        </p:txBody>
      </p:sp>
      <p:sp>
        <p:nvSpPr>
          <p:cNvPr id="1069" name="TextBox 15">
            <a:extLst>
              <a:ext uri="{FF2B5EF4-FFF2-40B4-BE49-F238E27FC236}">
                <a16:creationId xmlns:a16="http://schemas.microsoft.com/office/drawing/2014/main" id="{A69D1D98-BAEF-44E8-B543-475D22EE4B28}"/>
              </a:ext>
            </a:extLst>
          </p:cNvPr>
          <p:cNvSpPr txBox="1"/>
          <p:nvPr/>
        </p:nvSpPr>
        <p:spPr>
          <a:xfrm>
            <a:off x="1175338" y="7725862"/>
            <a:ext cx="3319773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Не ждать ответ вечно — разрыв по истечении разумного времени.</a:t>
            </a:r>
          </a:p>
        </p:txBody>
      </p:sp>
      <p:sp>
        <p:nvSpPr>
          <p:cNvPr id="1070" name="Скругленный прямоугольник 3">
            <a:extLst>
              <a:ext uri="{FF2B5EF4-FFF2-40B4-BE49-F238E27FC236}">
                <a16:creationId xmlns:a16="http://schemas.microsoft.com/office/drawing/2014/main" id="{B6A532AA-D0C7-419E-820A-3AC3FE0B647D}"/>
              </a:ext>
            </a:extLst>
          </p:cNvPr>
          <p:cNvSpPr/>
          <p:nvPr/>
        </p:nvSpPr>
        <p:spPr>
          <a:xfrm>
            <a:off x="5320804" y="4013963"/>
            <a:ext cx="4448075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71" name="TextBox 12">
            <a:extLst>
              <a:ext uri="{FF2B5EF4-FFF2-40B4-BE49-F238E27FC236}">
                <a16:creationId xmlns:a16="http://schemas.microsoft.com/office/drawing/2014/main" id="{52838816-E46D-48E6-A6DD-EACE713A58DB}"/>
              </a:ext>
            </a:extLst>
          </p:cNvPr>
          <p:cNvSpPr txBox="1"/>
          <p:nvPr/>
        </p:nvSpPr>
        <p:spPr>
          <a:xfrm>
            <a:off x="5884955" y="6300788"/>
            <a:ext cx="3319773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4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Retry</a:t>
            </a:r>
          </a:p>
        </p:txBody>
      </p:sp>
      <p:sp>
        <p:nvSpPr>
          <p:cNvPr id="1072" name="TextBox 11">
            <a:extLst>
              <a:ext uri="{FF2B5EF4-FFF2-40B4-BE49-F238E27FC236}">
                <a16:creationId xmlns:a16="http://schemas.microsoft.com/office/drawing/2014/main" id="{93E9FE40-B51A-4866-AFE4-0860B9552912}"/>
              </a:ext>
            </a:extLst>
          </p:cNvPr>
          <p:cNvSpPr txBox="1"/>
          <p:nvPr/>
        </p:nvSpPr>
        <p:spPr>
          <a:xfrm>
            <a:off x="5884955" y="7725862"/>
            <a:ext cx="3319773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Повторная попытка после сбоя — только для идемпотентных операций вроде GET.</a:t>
            </a:r>
          </a:p>
        </p:txBody>
      </p:sp>
      <p:sp>
        <p:nvSpPr>
          <p:cNvPr id="1073" name="Скругленный прямоугольник 3">
            <a:extLst>
              <a:ext uri="{FF2B5EF4-FFF2-40B4-BE49-F238E27FC236}">
                <a16:creationId xmlns:a16="http://schemas.microsoft.com/office/drawing/2014/main" id="{DE092C4C-32C9-4874-B46F-445663015387}"/>
              </a:ext>
            </a:extLst>
          </p:cNvPr>
          <p:cNvSpPr/>
          <p:nvPr/>
        </p:nvSpPr>
        <p:spPr>
          <a:xfrm>
            <a:off x="10030421" y="4013963"/>
            <a:ext cx="4448075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74" name="TextBox 12">
            <a:extLst>
              <a:ext uri="{FF2B5EF4-FFF2-40B4-BE49-F238E27FC236}">
                <a16:creationId xmlns:a16="http://schemas.microsoft.com/office/drawing/2014/main" id="{7AAF7369-30AD-49F5-8129-EFB70CAADF27}"/>
              </a:ext>
            </a:extLst>
          </p:cNvPr>
          <p:cNvSpPr txBox="1"/>
          <p:nvPr/>
        </p:nvSpPr>
        <p:spPr>
          <a:xfrm>
            <a:off x="10594572" y="6300788"/>
            <a:ext cx="3319773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4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Circuit Breaker</a:t>
            </a:r>
          </a:p>
        </p:txBody>
      </p:sp>
      <p:sp>
        <p:nvSpPr>
          <p:cNvPr id="1075" name="TextBox 11">
            <a:extLst>
              <a:ext uri="{FF2B5EF4-FFF2-40B4-BE49-F238E27FC236}">
                <a16:creationId xmlns:a16="http://schemas.microsoft.com/office/drawing/2014/main" id="{F4672B53-F369-4B47-964F-D3F2E5F786FB}"/>
              </a:ext>
            </a:extLst>
          </p:cNvPr>
          <p:cNvSpPr txBox="1"/>
          <p:nvPr/>
        </p:nvSpPr>
        <p:spPr>
          <a:xfrm>
            <a:off x="10594572" y="7725862"/>
            <a:ext cx="3319773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После серии сбоев сервис временно перестаёт опрашиваться.</a:t>
            </a:r>
          </a:p>
        </p:txBody>
      </p:sp>
      <p:sp>
        <p:nvSpPr>
          <p:cNvPr id="1076" name="Скругленный прямоугольник 3">
            <a:extLst>
              <a:ext uri="{FF2B5EF4-FFF2-40B4-BE49-F238E27FC236}">
                <a16:creationId xmlns:a16="http://schemas.microsoft.com/office/drawing/2014/main" id="{C904BE29-16D9-4A58-AED0-EAEA094D4DDE}"/>
              </a:ext>
            </a:extLst>
          </p:cNvPr>
          <p:cNvSpPr/>
          <p:nvPr/>
        </p:nvSpPr>
        <p:spPr>
          <a:xfrm>
            <a:off x="14740038" y="4013963"/>
            <a:ext cx="4448075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77" name="TextBox 12">
            <a:extLst>
              <a:ext uri="{FF2B5EF4-FFF2-40B4-BE49-F238E27FC236}">
                <a16:creationId xmlns:a16="http://schemas.microsoft.com/office/drawing/2014/main" id="{71E8118F-DE80-47DC-8036-9E96359D0CD3}"/>
              </a:ext>
            </a:extLst>
          </p:cNvPr>
          <p:cNvSpPr txBox="1"/>
          <p:nvPr/>
        </p:nvSpPr>
        <p:spPr>
          <a:xfrm>
            <a:off x="15304189" y="6300788"/>
            <a:ext cx="3319773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4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Fallback</a:t>
            </a:r>
          </a:p>
        </p:txBody>
      </p:sp>
      <p:sp>
        <p:nvSpPr>
          <p:cNvPr id="1078" name="TextBox 11">
            <a:extLst>
              <a:ext uri="{FF2B5EF4-FFF2-40B4-BE49-F238E27FC236}">
                <a16:creationId xmlns:a16="http://schemas.microsoft.com/office/drawing/2014/main" id="{657342B0-CE78-4DEC-B6B8-03D2445D346F}"/>
              </a:ext>
            </a:extLst>
          </p:cNvPr>
          <p:cNvSpPr txBox="1"/>
          <p:nvPr/>
        </p:nvSpPr>
        <p:spPr>
          <a:xfrm>
            <a:off x="15304189" y="7725862"/>
            <a:ext cx="3319773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5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Клиент возвращает что-то осмысленное вместо ошибки, например старые данные.</a:t>
            </a:r>
          </a:p>
        </p:txBody>
      </p:sp>
    </p:spTree>
    <p:extLst>
      <p:ext uri="{BB962C8B-B14F-4D97-AF65-F5344CB8AC3E}">
        <p14:creationId xmlns:p14="http://schemas.microsoft.com/office/powerpoint/2010/main" val="555578031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EE49000-6DAD-428C-B390-7452071BFF3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33E79-F9A5-4362-AF3F-0597A65461CA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Работа с файлами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5C45BC-D919-43F8-8C21-7CBAF9E28B91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Как сослаться на файл, прочитать и записать в него</a:t>
            </a:r>
          </a:p>
        </p:txBody>
      </p:sp>
    </p:spTree>
    <p:extLst>
      <p:ext uri="{BB962C8B-B14F-4D97-AF65-F5344CB8AC3E}">
        <p14:creationId xmlns:p14="http://schemas.microsoft.com/office/powerpoint/2010/main" val="954470166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3E97A-7C7E-4B2E-8101-9C787C015F55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java.io.File и java.nio.Path</a:t>
            </a:r>
          </a:p>
        </p:txBody>
      </p:sp>
      <p:sp>
        <p:nvSpPr>
          <p:cNvPr id="1080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81" name="Скругленный прямоугольник 2">
            <a:extLst>
              <a:ext uri="{FF2B5EF4-FFF2-40B4-BE49-F238E27FC236}">
                <a16:creationId xmlns:a16="http://schemas.microsoft.com/office/drawing/2014/main" id="{8CD87D74-46EF-4DDB-8205-15CEF57EAFF3}"/>
              </a:ext>
            </a:extLst>
          </p:cNvPr>
          <p:cNvSpPr/>
          <p:nvPr/>
        </p:nvSpPr>
        <p:spPr>
          <a:xfrm>
            <a:off x="611187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82" name="TextBox 16">
            <a:extLst>
              <a:ext uri="{FF2B5EF4-FFF2-40B4-BE49-F238E27FC236}">
                <a16:creationId xmlns:a16="http://schemas.microsoft.com/office/drawing/2014/main" id="{AF25AA2E-72FE-4383-992E-14A52A19FC3C}"/>
              </a:ext>
            </a:extLst>
          </p:cNvPr>
          <p:cNvSpPr txBox="1"/>
          <p:nvPr/>
        </p:nvSpPr>
        <p:spPr>
          <a:xfrm>
            <a:off x="1175338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java.io.File</a:t>
            </a:r>
          </a:p>
        </p:txBody>
      </p:sp>
      <p:sp>
        <p:nvSpPr>
          <p:cNvPr id="1083" name="TextBox 15">
            <a:extLst>
              <a:ext uri="{FF2B5EF4-FFF2-40B4-BE49-F238E27FC236}">
                <a16:creationId xmlns:a16="http://schemas.microsoft.com/office/drawing/2014/main" id="{132F10FB-20FB-4BF5-96B5-17E1AD7B9FB0}"/>
              </a:ext>
            </a:extLst>
          </p:cNvPr>
          <p:cNvSpPr txBox="1"/>
          <p:nvPr/>
        </p:nvSpPr>
        <p:spPr>
          <a:xfrm>
            <a:off x="1175338" y="7725862"/>
            <a:ext cx="8029390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Исторический класс ещё из Java 1.0. Набор операций ограничен, а ошибки часто выражены просто false или null.</a:t>
            </a:r>
          </a:p>
        </p:txBody>
      </p:sp>
      <p:sp>
        <p:nvSpPr>
          <p:cNvPr id="1084" name="Скругленный прямоугольник 3">
            <a:extLst>
              <a:ext uri="{FF2B5EF4-FFF2-40B4-BE49-F238E27FC236}">
                <a16:creationId xmlns:a16="http://schemas.microsoft.com/office/drawing/2014/main" id="{5D80F6C5-06B6-4C70-A129-9885F5B742EB}"/>
              </a:ext>
            </a:extLst>
          </p:cNvPr>
          <p:cNvSpPr/>
          <p:nvPr/>
        </p:nvSpPr>
        <p:spPr>
          <a:xfrm>
            <a:off x="10030421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85" name="TextBox 12">
            <a:extLst>
              <a:ext uri="{FF2B5EF4-FFF2-40B4-BE49-F238E27FC236}">
                <a16:creationId xmlns:a16="http://schemas.microsoft.com/office/drawing/2014/main" id="{3FA11F06-81CF-4C2C-BE81-95FDFAABECBE}"/>
              </a:ext>
            </a:extLst>
          </p:cNvPr>
          <p:cNvSpPr txBox="1"/>
          <p:nvPr/>
        </p:nvSpPr>
        <p:spPr>
          <a:xfrm>
            <a:off x="10594572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java.nio.Path</a:t>
            </a:r>
          </a:p>
        </p:txBody>
      </p:sp>
      <p:sp>
        <p:nvSpPr>
          <p:cNvPr id="1086" name="TextBox 11">
            <a:extLst>
              <a:ext uri="{FF2B5EF4-FFF2-40B4-BE49-F238E27FC236}">
                <a16:creationId xmlns:a16="http://schemas.microsoft.com/office/drawing/2014/main" id="{033F162E-851E-44EE-B971-5B943481D618}"/>
              </a:ext>
            </a:extLst>
          </p:cNvPr>
          <p:cNvSpPr txBox="1"/>
          <p:nvPr/>
        </p:nvSpPr>
        <p:spPr>
          <a:xfrm>
            <a:off x="10594572" y="7725862"/>
            <a:ext cx="8029390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Современный способ сослаться на файл, появился в Java 7. Основные операции вынесены в отдельный класс Files.</a:t>
            </a:r>
          </a:p>
        </p:txBody>
      </p:sp>
    </p:spTree>
    <p:extLst>
      <p:ext uri="{BB962C8B-B14F-4D97-AF65-F5344CB8AC3E}">
        <p14:creationId xmlns:p14="http://schemas.microsoft.com/office/powerpoint/2010/main" val="396159416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796C5-F40D-44B2-96AF-58E72B328DE4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Байты и символы</a:t>
            </a:r>
          </a:p>
        </p:txBody>
      </p:sp>
      <p:sp>
        <p:nvSpPr>
          <p:cNvPr id="1088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89" name="Скругленный прямоугольник 2">
            <a:extLst>
              <a:ext uri="{FF2B5EF4-FFF2-40B4-BE49-F238E27FC236}">
                <a16:creationId xmlns:a16="http://schemas.microsoft.com/office/drawing/2014/main" id="{1121778E-4A29-4EBA-B22E-BFA4AEBF7FF3}"/>
              </a:ext>
            </a:extLst>
          </p:cNvPr>
          <p:cNvSpPr/>
          <p:nvPr/>
        </p:nvSpPr>
        <p:spPr>
          <a:xfrm>
            <a:off x="611187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90" name="TextBox 16">
            <a:extLst>
              <a:ext uri="{FF2B5EF4-FFF2-40B4-BE49-F238E27FC236}">
                <a16:creationId xmlns:a16="http://schemas.microsoft.com/office/drawing/2014/main" id="{4E4B2216-0E10-4611-88F5-7CF64845FC6D}"/>
              </a:ext>
            </a:extLst>
          </p:cNvPr>
          <p:cNvSpPr txBox="1"/>
          <p:nvPr/>
        </p:nvSpPr>
        <p:spPr>
          <a:xfrm>
            <a:off x="1175338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InputStream, OutputStream</a:t>
            </a:r>
          </a:p>
        </p:txBody>
      </p:sp>
      <p:sp>
        <p:nvSpPr>
          <p:cNvPr id="1091" name="TextBox 15">
            <a:extLst>
              <a:ext uri="{FF2B5EF4-FFF2-40B4-BE49-F238E27FC236}">
                <a16:creationId xmlns:a16="http://schemas.microsoft.com/office/drawing/2014/main" id="{59FAB334-DAD4-4AA9-85FD-4B1BC98D3BAF}"/>
              </a:ext>
            </a:extLst>
          </p:cNvPr>
          <p:cNvSpPr txBox="1"/>
          <p:nvPr/>
        </p:nvSpPr>
        <p:spPr>
          <a:xfrm>
            <a:off x="1175338" y="7725862"/>
            <a:ext cx="8029390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Базовая абстракция над потоком байт. Ничего не знает о структуре данных и их кодировке.</a:t>
            </a:r>
          </a:p>
        </p:txBody>
      </p:sp>
      <p:sp>
        <p:nvSpPr>
          <p:cNvPr id="1092" name="Скругленный прямоугольник 3">
            <a:extLst>
              <a:ext uri="{FF2B5EF4-FFF2-40B4-BE49-F238E27FC236}">
                <a16:creationId xmlns:a16="http://schemas.microsoft.com/office/drawing/2014/main" id="{523ED1A5-F9B7-47A5-8A17-1D022B9CEF1F}"/>
              </a:ext>
            </a:extLst>
          </p:cNvPr>
          <p:cNvSpPr/>
          <p:nvPr/>
        </p:nvSpPr>
        <p:spPr>
          <a:xfrm>
            <a:off x="10030421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93" name="TextBox 12">
            <a:extLst>
              <a:ext uri="{FF2B5EF4-FFF2-40B4-BE49-F238E27FC236}">
                <a16:creationId xmlns:a16="http://schemas.microsoft.com/office/drawing/2014/main" id="{A09B6620-DB7D-437E-961F-7A609D8F00E3}"/>
              </a:ext>
            </a:extLst>
          </p:cNvPr>
          <p:cNvSpPr txBox="1"/>
          <p:nvPr/>
        </p:nvSpPr>
        <p:spPr>
          <a:xfrm>
            <a:off x="10594572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Reader, Writer</a:t>
            </a:r>
          </a:p>
        </p:txBody>
      </p:sp>
      <p:sp>
        <p:nvSpPr>
          <p:cNvPr id="1094" name="TextBox 11">
            <a:extLst>
              <a:ext uri="{FF2B5EF4-FFF2-40B4-BE49-F238E27FC236}">
                <a16:creationId xmlns:a16="http://schemas.microsoft.com/office/drawing/2014/main" id="{E2D0C557-1C68-4550-9A06-FB7DC630D63B}"/>
              </a:ext>
            </a:extLst>
          </p:cNvPr>
          <p:cNvSpPr txBox="1"/>
          <p:nvPr/>
        </p:nvSpPr>
        <p:spPr>
          <a:xfrm>
            <a:off x="10594572" y="7725862"/>
            <a:ext cx="8029390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Надстройка над байтовым потоком. Работает уже с символами и учитывает кодировку текста.</a:t>
            </a:r>
          </a:p>
        </p:txBody>
      </p:sp>
    </p:spTree>
    <p:extLst>
      <p:ext uri="{BB962C8B-B14F-4D97-AF65-F5344CB8AC3E}">
        <p14:creationId xmlns:p14="http://schemas.microsoft.com/office/powerpoint/2010/main" val="1597263783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E56A1-5D4E-44AA-B69C-0F9853A2ED11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try-with-resources</a:t>
            </a:r>
          </a:p>
        </p:txBody>
      </p:sp>
      <p:sp>
        <p:nvSpPr>
          <p:cNvPr id="1096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97" name="Скругленный прямоугольник 2">
            <a:extLst>
              <a:ext uri="{FF2B5EF4-FFF2-40B4-BE49-F238E27FC236}">
                <a16:creationId xmlns:a16="http://schemas.microsoft.com/office/drawing/2014/main" id="{CA298282-7794-4FD6-81A3-E5E6E060B2A0}"/>
              </a:ext>
            </a:extLst>
          </p:cNvPr>
          <p:cNvSpPr/>
          <p:nvPr/>
        </p:nvSpPr>
        <p:spPr>
          <a:xfrm>
            <a:off x="611187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98" name="TextBox 16">
            <a:extLst>
              <a:ext uri="{FF2B5EF4-FFF2-40B4-BE49-F238E27FC236}">
                <a16:creationId xmlns:a16="http://schemas.microsoft.com/office/drawing/2014/main" id="{7D0264CF-B7EB-416A-8CCC-8A107210CD14}"/>
              </a:ext>
            </a:extLst>
          </p:cNvPr>
          <p:cNvSpPr txBox="1"/>
          <p:nvPr/>
        </p:nvSpPr>
        <p:spPr>
          <a:xfrm>
            <a:off x="1175338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Файл как ресурс</a:t>
            </a:r>
          </a:p>
        </p:txBody>
      </p:sp>
      <p:sp>
        <p:nvSpPr>
          <p:cNvPr id="1099" name="TextBox 15">
            <a:extLst>
              <a:ext uri="{FF2B5EF4-FFF2-40B4-BE49-F238E27FC236}">
                <a16:creationId xmlns:a16="http://schemas.microsoft.com/office/drawing/2014/main" id="{F1F1C6C2-BC7B-47ED-B874-8D6434F03B4E}"/>
              </a:ext>
            </a:extLst>
          </p:cNvPr>
          <p:cNvSpPr txBox="1"/>
          <p:nvPr/>
        </p:nvSpPr>
        <p:spPr>
          <a:xfrm>
            <a:off x="1175338" y="7725862"/>
            <a:ext cx="4889645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Открытый поток держит файловый дескриптор до тех пор, пока его явно не закроют.</a:t>
            </a:r>
          </a:p>
        </p:txBody>
      </p:sp>
      <p:sp>
        <p:nvSpPr>
          <p:cNvPr id="1100" name="Скругленный прямоугольник 3">
            <a:extLst>
              <a:ext uri="{FF2B5EF4-FFF2-40B4-BE49-F238E27FC236}">
                <a16:creationId xmlns:a16="http://schemas.microsoft.com/office/drawing/2014/main" id="{479BF89C-0CFD-4014-AA87-3F18BEEFEB87}"/>
              </a:ext>
            </a:extLst>
          </p:cNvPr>
          <p:cNvSpPr/>
          <p:nvPr/>
        </p:nvSpPr>
        <p:spPr>
          <a:xfrm>
            <a:off x="6890676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01" name="TextBox 12">
            <a:extLst>
              <a:ext uri="{FF2B5EF4-FFF2-40B4-BE49-F238E27FC236}">
                <a16:creationId xmlns:a16="http://schemas.microsoft.com/office/drawing/2014/main" id="{82EB81FD-982A-4584-B715-22943A21DFD0}"/>
              </a:ext>
            </a:extLst>
          </p:cNvPr>
          <p:cNvSpPr txBox="1"/>
          <p:nvPr/>
        </p:nvSpPr>
        <p:spPr>
          <a:xfrm>
            <a:off x="7454827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AutoCloseable</a:t>
            </a:r>
          </a:p>
        </p:txBody>
      </p:sp>
      <p:sp>
        <p:nvSpPr>
          <p:cNvPr id="1102" name="TextBox 11">
            <a:extLst>
              <a:ext uri="{FF2B5EF4-FFF2-40B4-BE49-F238E27FC236}">
                <a16:creationId xmlns:a16="http://schemas.microsoft.com/office/drawing/2014/main" id="{36683CD3-73B0-4E56-8EE6-1E70B9816650}"/>
              </a:ext>
            </a:extLst>
          </p:cNvPr>
          <p:cNvSpPr txBox="1"/>
          <p:nvPr/>
        </p:nvSpPr>
        <p:spPr>
          <a:xfrm>
            <a:off x="7454827" y="7725862"/>
            <a:ext cx="4889645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Контракт с единственным методом close(). Любой такой ресурс можно открыть в try-with-resources.</a:t>
            </a:r>
          </a:p>
        </p:txBody>
      </p:sp>
      <p:sp>
        <p:nvSpPr>
          <p:cNvPr id="1103" name="Скругленный прямоугольник 3">
            <a:extLst>
              <a:ext uri="{FF2B5EF4-FFF2-40B4-BE49-F238E27FC236}">
                <a16:creationId xmlns:a16="http://schemas.microsoft.com/office/drawing/2014/main" id="{ECE62FF3-96AA-46D1-92CE-DE44F4C94F9F}"/>
              </a:ext>
            </a:extLst>
          </p:cNvPr>
          <p:cNvSpPr/>
          <p:nvPr/>
        </p:nvSpPr>
        <p:spPr>
          <a:xfrm>
            <a:off x="13170165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04" name="TextBox 12">
            <a:extLst>
              <a:ext uri="{FF2B5EF4-FFF2-40B4-BE49-F238E27FC236}">
                <a16:creationId xmlns:a16="http://schemas.microsoft.com/office/drawing/2014/main" id="{64CA3C74-DEA2-4739-BB76-F95F25ED9D01}"/>
              </a:ext>
            </a:extLst>
          </p:cNvPr>
          <p:cNvSpPr txBox="1"/>
          <p:nvPr/>
        </p:nvSpPr>
        <p:spPr>
          <a:xfrm>
            <a:off x="13734316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try (...) { ... }</a:t>
            </a:r>
          </a:p>
        </p:txBody>
      </p:sp>
      <p:sp>
        <p:nvSpPr>
          <p:cNvPr id="1105" name="TextBox 11">
            <a:extLst>
              <a:ext uri="{FF2B5EF4-FFF2-40B4-BE49-F238E27FC236}">
                <a16:creationId xmlns:a16="http://schemas.microsoft.com/office/drawing/2014/main" id="{02B4EAE9-7C00-4B5B-B060-4195E267B42D}"/>
              </a:ext>
            </a:extLst>
          </p:cNvPr>
          <p:cNvSpPr txBox="1"/>
          <p:nvPr/>
        </p:nvSpPr>
        <p:spPr>
          <a:xfrm>
            <a:off x="13734316" y="7725862"/>
            <a:ext cx="4889645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close() вызывается автоматически при выходе из блока, даже если внутри было выброшено исключение.</a:t>
            </a:r>
          </a:p>
        </p:txBody>
      </p:sp>
    </p:spTree>
    <p:extLst>
      <p:ext uri="{BB962C8B-B14F-4D97-AF65-F5344CB8AC3E}">
        <p14:creationId xmlns:p14="http://schemas.microsoft.com/office/powerpoint/2010/main" val="1538283675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AB734-7436-4AD7-A518-56A39F8DB5FD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java.nio.Files</a:t>
            </a:r>
          </a:p>
        </p:txBody>
      </p:sp>
      <p:sp>
        <p:nvSpPr>
          <p:cNvPr id="1107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08" name="Скругленный прямоугольник 2">
            <a:extLst>
              <a:ext uri="{FF2B5EF4-FFF2-40B4-BE49-F238E27FC236}">
                <a16:creationId xmlns:a16="http://schemas.microsoft.com/office/drawing/2014/main" id="{7014E6A2-70ED-4E37-99FC-75BC58B732B9}"/>
              </a:ext>
            </a:extLst>
          </p:cNvPr>
          <p:cNvSpPr/>
          <p:nvPr/>
        </p:nvSpPr>
        <p:spPr>
          <a:xfrm>
            <a:off x="611187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09" name="TextBox 16">
            <a:extLst>
              <a:ext uri="{FF2B5EF4-FFF2-40B4-BE49-F238E27FC236}">
                <a16:creationId xmlns:a16="http://schemas.microsoft.com/office/drawing/2014/main" id="{2BB63D8D-7EDA-44DA-BAF4-355813AA39FC}"/>
              </a:ext>
            </a:extLst>
          </p:cNvPr>
          <p:cNvSpPr txBox="1"/>
          <p:nvPr/>
        </p:nvSpPr>
        <p:spPr>
          <a:xfrm>
            <a:off x="1175338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Методы поверх Path</a:t>
            </a:r>
          </a:p>
        </p:txBody>
      </p:sp>
      <p:sp>
        <p:nvSpPr>
          <p:cNvPr id="1110" name="TextBox 15">
            <a:extLst>
              <a:ext uri="{FF2B5EF4-FFF2-40B4-BE49-F238E27FC236}">
                <a16:creationId xmlns:a16="http://schemas.microsoft.com/office/drawing/2014/main" id="{5A991F14-7CA2-4BB1-8619-0783C7D534C0}"/>
              </a:ext>
            </a:extLst>
          </p:cNvPr>
          <p:cNvSpPr txBox="1"/>
          <p:nvPr/>
        </p:nvSpPr>
        <p:spPr>
          <a:xfrm>
            <a:off x="1175338" y="7725862"/>
            <a:ext cx="8029390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Готовые методы exists, readAllBytes, write и другие дают поработать с файлом одной строкой кода.</a:t>
            </a:r>
          </a:p>
        </p:txBody>
      </p:sp>
      <p:sp>
        <p:nvSpPr>
          <p:cNvPr id="1111" name="Скругленный прямоугольник 3">
            <a:extLst>
              <a:ext uri="{FF2B5EF4-FFF2-40B4-BE49-F238E27FC236}">
                <a16:creationId xmlns:a16="http://schemas.microsoft.com/office/drawing/2014/main" id="{0FCAAB80-C5B7-4C3B-821F-9D3C82FAD946}"/>
              </a:ext>
            </a:extLst>
          </p:cNvPr>
          <p:cNvSpPr/>
          <p:nvPr/>
        </p:nvSpPr>
        <p:spPr>
          <a:xfrm>
            <a:off x="10030421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12" name="TextBox 12">
            <a:extLst>
              <a:ext uri="{FF2B5EF4-FFF2-40B4-BE49-F238E27FC236}">
                <a16:creationId xmlns:a16="http://schemas.microsoft.com/office/drawing/2014/main" id="{1B197DC3-AE45-4F6B-9F2A-AEEFFF900C25}"/>
              </a:ext>
            </a:extLst>
          </p:cNvPr>
          <p:cNvSpPr txBox="1"/>
          <p:nvPr/>
        </p:nvSpPr>
        <p:spPr>
          <a:xfrm>
            <a:off x="10594572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Под капотом</a:t>
            </a:r>
          </a:p>
        </p:txBody>
      </p:sp>
      <p:sp>
        <p:nvSpPr>
          <p:cNvPr id="1113" name="TextBox 11">
            <a:extLst>
              <a:ext uri="{FF2B5EF4-FFF2-40B4-BE49-F238E27FC236}">
                <a16:creationId xmlns:a16="http://schemas.microsoft.com/office/drawing/2014/main" id="{17C1AE2E-C17C-4970-8DC6-1D2916279B5B}"/>
              </a:ext>
            </a:extLst>
          </p:cNvPr>
          <p:cNvSpPr txBox="1"/>
          <p:nvPr/>
        </p:nvSpPr>
        <p:spPr>
          <a:xfrm>
            <a:off x="10594572" y="7725862"/>
            <a:ext cx="8029390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Files сам открывает поток, выполняет операцию и закрывает его, не оставляя вызывающему коду ручной работы.</a:t>
            </a:r>
          </a:p>
        </p:txBody>
      </p:sp>
    </p:spTree>
    <p:extLst>
      <p:ext uri="{BB962C8B-B14F-4D97-AF65-F5344CB8AC3E}">
        <p14:creationId xmlns:p14="http://schemas.microsoft.com/office/powerpoint/2010/main" val="1274443320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F8E73EE-CE90-47EA-AFF7-E8F7D1FBB9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E1651-DBF9-48F0-B9E7-AFFCDBB3A931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Java NIO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65371-E8F2-431E-94AA-CC759297BD9E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Неблокирующий ввод-вывод: каналы и буферы вместо потока на соединение</a:t>
            </a:r>
          </a:p>
        </p:txBody>
      </p:sp>
    </p:spTree>
    <p:extLst>
      <p:ext uri="{BB962C8B-B14F-4D97-AF65-F5344CB8AC3E}">
        <p14:creationId xmlns:p14="http://schemas.microsoft.com/office/powerpoint/2010/main" val="1274052367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993CBA-9FB2-4F2B-9573-5AA4E7ABBA0D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Блокирующий сервер</a:t>
            </a:r>
          </a:p>
        </p:txBody>
      </p:sp>
      <p:sp>
        <p:nvSpPr>
          <p:cNvPr id="1125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15" name="Text"/>
          <p:cNvSpPr txBox="1"/>
          <p:nvPr/>
        </p:nvSpPr>
        <p:spPr>
          <a:xfrm>
            <a:off x="611187" y="2491539"/>
            <a:ext cx="18576926" cy="6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400" b="0" dirty="0">
                <a:solidFill>
                  <a:srgbClr val="333333"/>
                </a:solidFill>
                <a:latin typeface="T-Sans"/>
                <a:ea typeface="T-Sans"/>
              </a:rPr>
              <a:t>Один официант обслуживает один столик целиком — остальные гости ждут своей очереди.</a:t>
            </a:r>
          </a:p>
        </p:txBody>
      </p:sp>
      <p:pic>
        <p:nvPicPr>
          <p:cNvPr id="1116" name="Pictur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007806" y="5991098"/>
            <a:ext cx="2829175" cy="2829175"/>
          </a:xfrm>
          <a:prstGeom prst="rect">
            <a:avLst/>
          </a:prstGeom>
        </p:spPr>
      </p:pic>
      <p:pic>
        <p:nvPicPr>
          <p:cNvPr id="1117" name="Pictur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4953091" y="6579972"/>
            <a:ext cx="2734212" cy="2734212"/>
          </a:xfrm>
          <a:prstGeom prst="rect">
            <a:avLst/>
          </a:prstGeom>
        </p:spPr>
      </p:pic>
      <p:pic>
        <p:nvPicPr>
          <p:cNvPr id="1118" name="Picture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2111995" y="3291539"/>
            <a:ext cx="2389583" cy="2389583"/>
          </a:xfrm>
          <a:prstGeom prst="rect">
            <a:avLst/>
          </a:prstGeom>
        </p:spPr>
      </p:pic>
      <p:pic>
        <p:nvPicPr>
          <p:cNvPr id="1119" name="Picture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3641715" y="3737585"/>
            <a:ext cx="2697587" cy="2697587"/>
          </a:xfrm>
          <a:prstGeom prst="rect">
            <a:avLst/>
          </a:prstGeom>
        </p:spPr>
      </p:pic>
      <p:pic>
        <p:nvPicPr>
          <p:cNvPr id="1120" name="Picture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2488987" y="4888631"/>
            <a:ext cx="2389583" cy="2389583"/>
          </a:xfrm>
          <a:prstGeom prst="rect">
            <a:avLst/>
          </a:prstGeom>
        </p:spPr>
      </p:pic>
      <p:pic>
        <p:nvPicPr>
          <p:cNvPr id="1121" name="Picture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5134948" y="5385179"/>
            <a:ext cx="2389583" cy="2389583"/>
          </a:xfrm>
          <a:prstGeom prst="rect">
            <a:avLst/>
          </a:prstGeom>
        </p:spPr>
      </p:pic>
      <p:pic>
        <p:nvPicPr>
          <p:cNvPr id="1122" name="Picture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5093215" y="7278215"/>
            <a:ext cx="2791883" cy="2791883"/>
          </a:xfrm>
          <a:prstGeom prst="rect">
            <a:avLst/>
          </a:prstGeom>
        </p:spPr>
      </p:pic>
      <p:pic>
        <p:nvPicPr>
          <p:cNvPr id="1123" name="Picture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10795249" y="4817736"/>
            <a:ext cx="2791882" cy="2791882"/>
          </a:xfrm>
          <a:prstGeom prst="rect">
            <a:avLst/>
          </a:prstGeom>
        </p:spPr>
      </p:pic>
      <p:pic>
        <p:nvPicPr>
          <p:cNvPr id="1124" name="Picture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10944356" y="7918242"/>
            <a:ext cx="2791882" cy="279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1734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B99E9-8786-4C29-AD78-E6D87DC5FDA5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Один поток на соединение</a:t>
            </a:r>
          </a:p>
        </p:txBody>
      </p:sp>
      <p:sp>
        <p:nvSpPr>
          <p:cNvPr id="1129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27" name="Text"/>
          <p:cNvSpPr txBox="1"/>
          <p:nvPr/>
        </p:nvSpPr>
        <p:spPr>
          <a:xfrm>
            <a:off x="611187" y="2491539"/>
            <a:ext cx="18576926" cy="6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400" b="0" dirty="0">
                <a:solidFill>
                  <a:srgbClr val="333333"/>
                </a:solidFill>
                <a:latin typeface="T-Sans"/>
                <a:ea typeface="T-Sans"/>
              </a:rPr>
              <a:t>Socket — столик, Thread — официант: три столика занимают всех трёх официантов целиком.</a:t>
            </a:r>
          </a:p>
        </p:txBody>
      </p:sp>
      <p:pic>
        <p:nvPicPr>
          <p:cNvPr id="1128" name="Pictur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335710" y="3291539"/>
            <a:ext cx="11127879" cy="74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5359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A37BC-E744-49B6-8D1A-840D3DBB372C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Неблокирующий сервер</a:t>
            </a:r>
          </a:p>
        </p:txBody>
      </p:sp>
      <p:sp>
        <p:nvSpPr>
          <p:cNvPr id="1140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31" name="Text"/>
          <p:cNvSpPr txBox="1"/>
          <p:nvPr/>
        </p:nvSpPr>
        <p:spPr>
          <a:xfrm>
            <a:off x="611187" y="2491539"/>
            <a:ext cx="18576926" cy="6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400" b="0" dirty="0">
                <a:solidFill>
                  <a:srgbClr val="333333"/>
                </a:solidFill>
                <a:latin typeface="T-Sans"/>
                <a:ea typeface="T-Sans"/>
              </a:rPr>
              <a:t>Официант отпускает столик на время готовки и успевает обслужить сразу нескольких гостей.</a:t>
            </a:r>
          </a:p>
        </p:txBody>
      </p:sp>
      <p:pic>
        <p:nvPicPr>
          <p:cNvPr id="1132" name="Pictur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3287283" y="6783066"/>
            <a:ext cx="2599760" cy="2599760"/>
          </a:xfrm>
          <a:prstGeom prst="rect">
            <a:avLst/>
          </a:prstGeom>
        </p:spPr>
      </p:pic>
      <p:pic>
        <p:nvPicPr>
          <p:cNvPr id="1133" name="Pictur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683526" y="6223150"/>
            <a:ext cx="2690053" cy="2690053"/>
          </a:xfrm>
          <a:prstGeom prst="rect">
            <a:avLst/>
          </a:prstGeom>
        </p:spPr>
      </p:pic>
      <p:pic>
        <p:nvPicPr>
          <p:cNvPr id="1134" name="Picture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951937" y="5647026"/>
            <a:ext cx="2272077" cy="2272077"/>
          </a:xfrm>
          <a:prstGeom prst="rect">
            <a:avLst/>
          </a:prstGeom>
        </p:spPr>
      </p:pic>
      <p:pic>
        <p:nvPicPr>
          <p:cNvPr id="1135" name="Picture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3912256" y="7446974"/>
            <a:ext cx="2654595" cy="2654595"/>
          </a:xfrm>
          <a:prstGeom prst="rect">
            <a:avLst/>
          </a:prstGeom>
        </p:spPr>
      </p:pic>
      <p:pic>
        <p:nvPicPr>
          <p:cNvPr id="1136" name="Picture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9373580" y="3291539"/>
            <a:ext cx="2272077" cy="2272077"/>
          </a:xfrm>
          <a:prstGeom prst="rect">
            <a:avLst/>
          </a:prstGeom>
        </p:spPr>
      </p:pic>
      <p:pic>
        <p:nvPicPr>
          <p:cNvPr id="1137" name="Picture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9333899" y="5107487"/>
            <a:ext cx="2654595" cy="2654595"/>
          </a:xfrm>
          <a:prstGeom prst="rect">
            <a:avLst/>
          </a:prstGeom>
        </p:spPr>
      </p:pic>
      <p:pic>
        <p:nvPicPr>
          <p:cNvPr id="1138" name="Picture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9475674" y="8055529"/>
            <a:ext cx="2654595" cy="2654595"/>
          </a:xfrm>
          <a:prstGeom prst="rect">
            <a:avLst/>
          </a:prstGeom>
        </p:spPr>
      </p:pic>
      <p:pic>
        <p:nvPicPr>
          <p:cNvPr id="1139" name="Picture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9504793" y="6223150"/>
            <a:ext cx="2272077" cy="227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13162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43414B-184D-404C-9165-0DE2A3DB6B07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Один Selector на все соединения</a:t>
            </a:r>
          </a:p>
        </p:txBody>
      </p:sp>
      <p:sp>
        <p:nvSpPr>
          <p:cNvPr id="1144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42" name="Text"/>
          <p:cNvSpPr txBox="1"/>
          <p:nvPr/>
        </p:nvSpPr>
        <p:spPr>
          <a:xfrm>
            <a:off x="611187" y="2491539"/>
            <a:ext cx="18576926" cy="6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lang="ru-RU" sz="2400" b="0" dirty="0">
                <a:solidFill>
                  <a:srgbClr val="333333"/>
                </a:solidFill>
                <a:latin typeface="T-Sans"/>
                <a:ea typeface="T-Sans"/>
              </a:rPr>
              <a:t>Socket — столик, Selector — официант, Thread — повар: один официант успевает на все столики.</a:t>
            </a:r>
          </a:p>
        </p:txBody>
      </p:sp>
      <p:pic>
        <p:nvPicPr>
          <p:cNvPr id="1143" name="Pictur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335709" y="3291539"/>
            <a:ext cx="11127881" cy="74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02872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BD6E91-6328-4E7F-9E0F-66F82AC43AC5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Буферы и MappedByteBuffer</a:t>
            </a:r>
          </a:p>
        </p:txBody>
      </p:sp>
      <p:sp>
        <p:nvSpPr>
          <p:cNvPr id="1146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47" name="Скругленный прямоугольник 2">
            <a:extLst>
              <a:ext uri="{FF2B5EF4-FFF2-40B4-BE49-F238E27FC236}">
                <a16:creationId xmlns:a16="http://schemas.microsoft.com/office/drawing/2014/main" id="{F52B35A9-4D1F-46DF-8D74-C0F7EA1FBE3A}"/>
              </a:ext>
            </a:extLst>
          </p:cNvPr>
          <p:cNvSpPr/>
          <p:nvPr/>
        </p:nvSpPr>
        <p:spPr>
          <a:xfrm>
            <a:off x="611187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48" name="TextBox 16">
            <a:extLst>
              <a:ext uri="{FF2B5EF4-FFF2-40B4-BE49-F238E27FC236}">
                <a16:creationId xmlns:a16="http://schemas.microsoft.com/office/drawing/2014/main" id="{A856AAF4-B77C-411B-86CC-C7150B4140CF}"/>
              </a:ext>
            </a:extLst>
          </p:cNvPr>
          <p:cNvSpPr txBox="1"/>
          <p:nvPr/>
        </p:nvSpPr>
        <p:spPr>
          <a:xfrm>
            <a:off x="1175338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Buffer</a:t>
            </a:r>
          </a:p>
        </p:txBody>
      </p:sp>
      <p:sp>
        <p:nvSpPr>
          <p:cNvPr id="1149" name="TextBox 15">
            <a:extLst>
              <a:ext uri="{FF2B5EF4-FFF2-40B4-BE49-F238E27FC236}">
                <a16:creationId xmlns:a16="http://schemas.microsoft.com/office/drawing/2014/main" id="{8AA93EB7-1466-423A-8C8A-C02C05626961}"/>
              </a:ext>
            </a:extLst>
          </p:cNvPr>
          <p:cNvSpPr txBox="1"/>
          <p:nvPr/>
        </p:nvSpPr>
        <p:spPr>
          <a:xfrm>
            <a:off x="1175338" y="7725862"/>
            <a:ext cx="8029390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Блок памяти с position и limit, через который Channel обменивается данными, — замена byte[] из java.io.</a:t>
            </a:r>
          </a:p>
        </p:txBody>
      </p:sp>
      <p:sp>
        <p:nvSpPr>
          <p:cNvPr id="1150" name="Скругленный прямоугольник 3">
            <a:extLst>
              <a:ext uri="{FF2B5EF4-FFF2-40B4-BE49-F238E27FC236}">
                <a16:creationId xmlns:a16="http://schemas.microsoft.com/office/drawing/2014/main" id="{447A3908-126B-4E6C-8510-167688FE0549}"/>
              </a:ext>
            </a:extLst>
          </p:cNvPr>
          <p:cNvSpPr/>
          <p:nvPr/>
        </p:nvSpPr>
        <p:spPr>
          <a:xfrm>
            <a:off x="10030421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51" name="TextBox 12">
            <a:extLst>
              <a:ext uri="{FF2B5EF4-FFF2-40B4-BE49-F238E27FC236}">
                <a16:creationId xmlns:a16="http://schemas.microsoft.com/office/drawing/2014/main" id="{513A5B5F-EEB4-41E2-B578-2ACCD1C03B55}"/>
              </a:ext>
            </a:extLst>
          </p:cNvPr>
          <p:cNvSpPr txBox="1"/>
          <p:nvPr/>
        </p:nvSpPr>
        <p:spPr>
          <a:xfrm>
            <a:off x="10594572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MappedByteBuffer</a:t>
            </a:r>
          </a:p>
        </p:txBody>
      </p:sp>
      <p:sp>
        <p:nvSpPr>
          <p:cNvPr id="1152" name="TextBox 11">
            <a:extLst>
              <a:ext uri="{FF2B5EF4-FFF2-40B4-BE49-F238E27FC236}">
                <a16:creationId xmlns:a16="http://schemas.microsoft.com/office/drawing/2014/main" id="{B288A732-9149-4161-9F3A-DACE66A6B6A6}"/>
              </a:ext>
            </a:extLst>
          </p:cNvPr>
          <p:cNvSpPr txBox="1"/>
          <p:nvPr/>
        </p:nvSpPr>
        <p:spPr>
          <a:xfrm>
            <a:off x="10594572" y="7725862"/>
            <a:ext cx="8029390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Отображает файл прямо в память процесса: страницы подгружает и сбрасывает сама ОС, а не явный read/write. Удобно для очень больших файлов.</a:t>
            </a:r>
          </a:p>
        </p:txBody>
      </p:sp>
    </p:spTree>
    <p:extLst>
      <p:ext uri="{BB962C8B-B14F-4D97-AF65-F5344CB8AC3E}">
        <p14:creationId xmlns:p14="http://schemas.microsoft.com/office/powerpoint/2010/main" val="1042353953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849422D-61C6-413D-9C66-3A4C5761E33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0165E6-E450-4D6E-B611-4B4ED766DC53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Большие файлы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5C3FC-1AE8-4AA2-8D83-1352DDD69D8B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Файлы на диске не резиновые</a:t>
            </a:r>
          </a:p>
        </p:txBody>
      </p:sp>
    </p:spTree>
    <p:extLst>
      <p:ext uri="{BB962C8B-B14F-4D97-AF65-F5344CB8AC3E}">
        <p14:creationId xmlns:p14="http://schemas.microsoft.com/office/powerpoint/2010/main" val="2132096278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4447831"/>
            <a:ext cx="8644611" cy="22644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54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А что, если файл на несколько гигабайт?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38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43636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4583B5-DACD-4A71-9A4B-1973F5E85243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Читать потоково, а не целиком</a:t>
            </a:r>
          </a:p>
        </p:txBody>
      </p:sp>
      <p:sp>
        <p:nvSpPr>
          <p:cNvPr id="1154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55" name="Скругленный прямоугольник 2">
            <a:extLst>
              <a:ext uri="{FF2B5EF4-FFF2-40B4-BE49-F238E27FC236}">
                <a16:creationId xmlns:a16="http://schemas.microsoft.com/office/drawing/2014/main" id="{FA0ED7FB-C4C2-4B7A-A6AC-08DC3447F807}"/>
              </a:ext>
            </a:extLst>
          </p:cNvPr>
          <p:cNvSpPr/>
          <p:nvPr/>
        </p:nvSpPr>
        <p:spPr>
          <a:xfrm>
            <a:off x="611187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56" name="TextBox 16">
            <a:extLst>
              <a:ext uri="{FF2B5EF4-FFF2-40B4-BE49-F238E27FC236}">
                <a16:creationId xmlns:a16="http://schemas.microsoft.com/office/drawing/2014/main" id="{12820EF7-AC42-459F-B548-B1B291D84101}"/>
              </a:ext>
            </a:extLst>
          </p:cNvPr>
          <p:cNvSpPr txBox="1"/>
          <p:nvPr/>
        </p:nvSpPr>
        <p:spPr>
          <a:xfrm>
            <a:off x="1175338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Не грузить в память целиком</a:t>
            </a:r>
          </a:p>
        </p:txBody>
      </p:sp>
      <p:sp>
        <p:nvSpPr>
          <p:cNvPr id="1157" name="TextBox 15">
            <a:extLst>
              <a:ext uri="{FF2B5EF4-FFF2-40B4-BE49-F238E27FC236}">
                <a16:creationId xmlns:a16="http://schemas.microsoft.com/office/drawing/2014/main" id="{CAC29489-A8EA-4BF5-A407-03C702FF49C4}"/>
              </a:ext>
            </a:extLst>
          </p:cNvPr>
          <p:cNvSpPr txBox="1"/>
          <p:nvPr/>
        </p:nvSpPr>
        <p:spPr>
          <a:xfrm>
            <a:off x="1175338" y="7725862"/>
            <a:ext cx="8029390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Файл обрабатывается порциями или построчно, пока идёт чтение, а не загружается одним большим куском.</a:t>
            </a:r>
          </a:p>
        </p:txBody>
      </p:sp>
      <p:sp>
        <p:nvSpPr>
          <p:cNvPr id="1158" name="Скругленный прямоугольник 3">
            <a:extLst>
              <a:ext uri="{FF2B5EF4-FFF2-40B4-BE49-F238E27FC236}">
                <a16:creationId xmlns:a16="http://schemas.microsoft.com/office/drawing/2014/main" id="{6B154735-6433-4F14-8107-DDEF3CFD1753}"/>
              </a:ext>
            </a:extLst>
          </p:cNvPr>
          <p:cNvSpPr/>
          <p:nvPr/>
        </p:nvSpPr>
        <p:spPr>
          <a:xfrm>
            <a:off x="10030421" y="4013963"/>
            <a:ext cx="9157692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59" name="TextBox 12">
            <a:extLst>
              <a:ext uri="{FF2B5EF4-FFF2-40B4-BE49-F238E27FC236}">
                <a16:creationId xmlns:a16="http://schemas.microsoft.com/office/drawing/2014/main" id="{1D8E759C-F9D1-4FA4-A46E-06C8BFFE61ED}"/>
              </a:ext>
            </a:extLst>
          </p:cNvPr>
          <p:cNvSpPr txBox="1"/>
          <p:nvPr/>
        </p:nvSpPr>
        <p:spPr>
          <a:xfrm>
            <a:off x="10594572" y="6300788"/>
            <a:ext cx="8029390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Files.lines()</a:t>
            </a:r>
          </a:p>
        </p:txBody>
      </p:sp>
      <p:sp>
        <p:nvSpPr>
          <p:cNvPr id="1160" name="TextBox 11">
            <a:extLst>
              <a:ext uri="{FF2B5EF4-FFF2-40B4-BE49-F238E27FC236}">
                <a16:creationId xmlns:a16="http://schemas.microsoft.com/office/drawing/2014/main" id="{A8FF70D0-2232-4308-94E5-3DD8459CB9C6}"/>
              </a:ext>
            </a:extLst>
          </p:cNvPr>
          <p:cNvSpPr txBox="1"/>
          <p:nvPr/>
        </p:nvSpPr>
        <p:spPr>
          <a:xfrm>
            <a:off x="10594572" y="7725862"/>
            <a:ext cx="8029390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Даёт ленивый построчный поток строк файла. Использовать его нужно обязательно в try-with-resources.</a:t>
            </a:r>
          </a:p>
        </p:txBody>
      </p:sp>
    </p:spTree>
    <p:extLst>
      <p:ext uri="{BB962C8B-B14F-4D97-AF65-F5344CB8AC3E}">
        <p14:creationId xmlns:p14="http://schemas.microsoft.com/office/powerpoint/2010/main" val="1915412551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830603F-5231-4DC7-A4BC-E3C7D7A59E1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48BAA-BFD1-47B9-9EAC-69B7D5010A1E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WatchService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349DC-3F38-42FE-91AB-547F1687FD72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Следим за изменениями на диске</a:t>
            </a:r>
          </a:p>
        </p:txBody>
      </p:sp>
    </p:spTree>
    <p:extLst>
      <p:ext uri="{BB962C8B-B14F-4D97-AF65-F5344CB8AC3E}">
        <p14:creationId xmlns:p14="http://schemas.microsoft.com/office/powerpoint/2010/main" val="1867710147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D8705F-AC1C-4B00-B8DB-A9847F2C6E13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Как WatchService инвалидирует кеш</a:t>
            </a:r>
          </a:p>
        </p:txBody>
      </p:sp>
      <p:sp>
        <p:nvSpPr>
          <p:cNvPr id="1173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74" name="Box"/>
          <p:cNvSpPr/>
          <p:nvPr/>
        </p:nvSpPr>
        <p:spPr>
          <a:xfrm>
            <a:off x="611187" y="424396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75" name="Text"/>
          <p:cNvSpPr txBox="1"/>
          <p:nvPr/>
        </p:nvSpPr>
        <p:spPr>
          <a:xfrm>
            <a:off x="1031187" y="410396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WatchService следит за каталогом на диске и получает события от операционной системы напрямую, без опроса.</a:t>
            </a:r>
          </a:p>
        </p:txBody>
      </p:sp>
      <p:sp>
        <p:nvSpPr>
          <p:cNvPr id="1176" name="Box"/>
          <p:cNvSpPr/>
          <p:nvPr/>
        </p:nvSpPr>
        <p:spPr>
          <a:xfrm>
            <a:off x="611187" y="572451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77" name="Text"/>
          <p:cNvSpPr txBox="1"/>
          <p:nvPr/>
        </p:nvSpPr>
        <p:spPr>
          <a:xfrm>
            <a:off x="1031187" y="558451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Когда отслеживаемый файл меняется, кеш, построенный поверх него, сбрасывает ранее сохранённые данные.</a:t>
            </a:r>
          </a:p>
        </p:txBody>
      </p:sp>
      <p:sp>
        <p:nvSpPr>
          <p:cNvPr id="1178" name="Box"/>
          <p:cNvSpPr/>
          <p:nvPr/>
        </p:nvSpPr>
        <p:spPr>
          <a:xfrm>
            <a:off x="611187" y="720506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79" name="Text"/>
          <p:cNvSpPr txBox="1"/>
          <p:nvPr/>
        </p:nvSpPr>
        <p:spPr>
          <a:xfrm>
            <a:off x="1031187" y="706506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Следующее обращение к данным приводит к честному перечитыванию файла с диска, а не к устаревшему кешу.</a:t>
            </a:r>
          </a:p>
        </p:txBody>
      </p:sp>
      <p:sp>
        <p:nvSpPr>
          <p:cNvPr id="1180" name="Box"/>
          <p:cNvSpPr/>
          <p:nvPr/>
        </p:nvSpPr>
        <p:spPr>
          <a:xfrm>
            <a:off x="611187" y="8685613"/>
            <a:ext cx="160000" cy="16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81" name="Text"/>
          <p:cNvSpPr txBox="1"/>
          <p:nvPr/>
        </p:nvSpPr>
        <p:spPr>
          <a:xfrm>
            <a:off x="1031187" y="8545613"/>
            <a:ext cx="6180000" cy="130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</a:pPr>
            <a:r>
              <a:rPr lang="ru-RU" sz="2300" b="0" dirty="0">
                <a:solidFill>
                  <a:srgbClr val="333333"/>
                </a:solidFill>
                <a:latin typeface="T-Sans"/>
                <a:ea typeface="T-Sans"/>
              </a:rPr>
              <a:t>Без инвалидации кеш продолжал бы молча отдавать устаревшие данные из памяти.</a:t>
            </a:r>
          </a:p>
        </p:txBody>
      </p:sp>
      <p:sp>
        <p:nvSpPr>
          <p:cNvPr id="1161" name="Box"/>
          <p:cNvSpPr/>
          <p:nvPr/>
        </p:nvSpPr>
        <p:spPr>
          <a:xfrm>
            <a:off x="7861187" y="3750063"/>
            <a:ext cx="11326926" cy="13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62" name="Text"/>
          <p:cNvSpPr txBox="1"/>
          <p:nvPr/>
        </p:nvSpPr>
        <p:spPr>
          <a:xfrm>
            <a:off x="7861187" y="3750063"/>
            <a:ext cx="11326926" cy="13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300" b="1" dirty="0">
                <a:solidFill>
                  <a:srgbClr val="333333"/>
                </a:solidFill>
                <a:latin typeface="T-Sans"/>
                <a:ea typeface="T-Sans"/>
              </a:rPr>
              <a:t>Файл изменился</a:t>
            </a:r>
          </a:p>
        </p:txBody>
      </p:sp>
      <p:cxnSp>
        <p:nvCxnSpPr>
          <p:cNvPr id="1163" name="Arrow"/>
          <p:cNvCxnSpPr/>
          <p:nvPr/>
        </p:nvCxnSpPr>
        <p:spPr>
          <a:xfrm flipH="0" flipV="0">
            <a:off x="13524650" y="5100063"/>
            <a:ext cx="1" cy="35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164" name="Box"/>
          <p:cNvSpPr/>
          <p:nvPr/>
        </p:nvSpPr>
        <p:spPr>
          <a:xfrm>
            <a:off x="7861187" y="5450063"/>
            <a:ext cx="11326926" cy="1350000"/>
          </a:xfrm>
          <a:prstGeom prst="roundRect">
            <a:avLst>
              <a:gd name="adj" fmla="val 6000"/>
            </a:avLst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65" name="Text"/>
          <p:cNvSpPr txBox="1"/>
          <p:nvPr/>
        </p:nvSpPr>
        <p:spPr>
          <a:xfrm>
            <a:off x="7861187" y="5450063"/>
            <a:ext cx="11326926" cy="13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300" b="1" dirty="0">
                <a:solidFill>
                  <a:srgbClr val="333333"/>
                </a:solidFill>
                <a:latin typeface="T-Sans"/>
                <a:ea typeface="T-Sans"/>
              </a:rPr>
              <a:t>WatchService замечает</a:t>
            </a:r>
          </a:p>
        </p:txBody>
      </p:sp>
      <p:cxnSp>
        <p:nvCxnSpPr>
          <p:cNvPr id="1166" name="Arrow"/>
          <p:cNvCxnSpPr/>
          <p:nvPr/>
        </p:nvCxnSpPr>
        <p:spPr>
          <a:xfrm flipH="0" flipV="0">
            <a:off x="13524650" y="6800063"/>
            <a:ext cx="1" cy="35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167" name="Box"/>
          <p:cNvSpPr/>
          <p:nvPr/>
        </p:nvSpPr>
        <p:spPr>
          <a:xfrm>
            <a:off x="7861187" y="7150063"/>
            <a:ext cx="11326926" cy="13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68" name="Text"/>
          <p:cNvSpPr txBox="1"/>
          <p:nvPr/>
        </p:nvSpPr>
        <p:spPr>
          <a:xfrm>
            <a:off x="7861187" y="7150063"/>
            <a:ext cx="11326926" cy="13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300" b="1" dirty="0">
                <a:solidFill>
                  <a:srgbClr val="333333"/>
                </a:solidFill>
                <a:latin typeface="T-Sans"/>
                <a:ea typeface="T-Sans"/>
              </a:rPr>
              <a:t>Кеш инвалидируется</a:t>
            </a:r>
          </a:p>
        </p:txBody>
      </p:sp>
      <p:cxnSp>
        <p:nvCxnSpPr>
          <p:cNvPr id="1169" name="Arrow"/>
          <p:cNvCxnSpPr/>
          <p:nvPr/>
        </p:nvCxnSpPr>
        <p:spPr>
          <a:xfrm flipH="0" flipV="0">
            <a:off x="13524650" y="8500063"/>
            <a:ext cx="1" cy="350000"/>
          </a:xfrm>
          <a:prstGeom prst="straightConnector1">
            <a:avLst/>
          </a:prstGeom>
          <a:ln w="25400">
            <a:solidFill>
              <a:srgbClr val="333333"/>
            </a:solidFill>
            <a:prstDash val="solid"/>
            <a:tailEnd type="triangle" w="med" len="med"/>
          </a:ln>
        </p:spPr>
        <p:style>
          <a:lnRef idx="1">
            <a:srgbClr val="333333"/>
          </a:lnRef>
          <a:fillRef idx="0">
            <a:srgbClr val="333333"/>
          </a:fillRef>
          <a:effectRef idx="0">
            <a:srgbClr val="333333"/>
          </a:effectRef>
          <a:fontRef idx="minor"/>
        </p:style>
      </p:cxnSp>
      <p:sp>
        <p:nvSpPr>
          <p:cNvPr id="1170" name="Box"/>
          <p:cNvSpPr/>
          <p:nvPr/>
        </p:nvSpPr>
        <p:spPr>
          <a:xfrm>
            <a:off x="7861187" y="8850063"/>
            <a:ext cx="11326926" cy="1350000"/>
          </a:xfrm>
          <a:prstGeom prst="roundRect">
            <a:avLst>
              <a:gd name="adj" fmla="val 6000"/>
            </a:avLst>
          </a:prstGeom>
          <a:solidFill>
            <a:srgbClr val="E0E1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71" name="Text"/>
          <p:cNvSpPr txBox="1"/>
          <p:nvPr/>
        </p:nvSpPr>
        <p:spPr>
          <a:xfrm>
            <a:off x="7861187" y="8850063"/>
            <a:ext cx="11326926" cy="135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ru-RU" sz="2300" b="1" dirty="0">
                <a:solidFill>
                  <a:srgbClr val="333333"/>
                </a:solidFill>
                <a:latin typeface="T-Sans"/>
                <a:ea typeface="T-Sans"/>
              </a:rPr>
              <a:t>Следующий запрос перечитывает</a:t>
            </a:r>
          </a:p>
        </p:txBody>
      </p:sp>
    </p:spTree>
    <p:extLst>
      <p:ext uri="{BB962C8B-B14F-4D97-AF65-F5344CB8AC3E}">
        <p14:creationId xmlns:p14="http://schemas.microsoft.com/office/powerpoint/2010/main" val="2078109416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66F22E05-72FB-4521-A1A1-FD1D4330C4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63C7A-5DAA-4E33-A644-EDAA12E2EDD1}"/>
              </a:ext>
            </a:extLst>
          </p:cNvPr>
          <p:cNvSpPr txBox="1"/>
          <p:nvPr/>
        </p:nvSpPr>
        <p:spPr>
          <a:xfrm>
            <a:off x="1366838" y="1366838"/>
            <a:ext cx="16653976" cy="10248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72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Хранение и передача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C2E1A-6059-4FF7-B36C-58CE7C4DABBB}"/>
              </a:ext>
            </a:extLst>
          </p:cNvPr>
          <p:cNvSpPr txBox="1"/>
          <p:nvPr/>
        </p:nvSpPr>
        <p:spPr>
          <a:xfrm>
            <a:off x="1366838" y="2391734"/>
            <a:ext cx="14543323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Один и тот же формат пригождается и для хранения, и для передачи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526328663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163258-A262-4A7B-967E-9AE150F66B7E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Форматы для хранения на диске</a:t>
            </a:r>
          </a:p>
        </p:txBody>
      </p:sp>
      <p:sp>
        <p:nvSpPr>
          <p:cNvPr id="1183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84" name="Скругленный прямоугольник 2">
            <a:extLst>
              <a:ext uri="{FF2B5EF4-FFF2-40B4-BE49-F238E27FC236}">
                <a16:creationId xmlns:a16="http://schemas.microsoft.com/office/drawing/2014/main" id="{E2122D9F-829B-44D8-8C8A-723C023B6195}"/>
              </a:ext>
            </a:extLst>
          </p:cNvPr>
          <p:cNvSpPr/>
          <p:nvPr/>
        </p:nvSpPr>
        <p:spPr>
          <a:xfrm>
            <a:off x="611187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85" name="TextBox 16">
            <a:extLst>
              <a:ext uri="{FF2B5EF4-FFF2-40B4-BE49-F238E27FC236}">
                <a16:creationId xmlns:a16="http://schemas.microsoft.com/office/drawing/2014/main" id="{DE182ABB-80C3-4F35-A81B-32D3A925EEBC}"/>
              </a:ext>
            </a:extLst>
          </p:cNvPr>
          <p:cNvSpPr txBox="1"/>
          <p:nvPr/>
        </p:nvSpPr>
        <p:spPr>
          <a:xfrm>
            <a:off x="1175338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Бинарный</a:t>
            </a:r>
          </a:p>
        </p:txBody>
      </p:sp>
      <p:sp>
        <p:nvSpPr>
          <p:cNvPr id="1186" name="TextBox 15">
            <a:extLst>
              <a:ext uri="{FF2B5EF4-FFF2-40B4-BE49-F238E27FC236}">
                <a16:creationId xmlns:a16="http://schemas.microsoft.com/office/drawing/2014/main" id="{0C74A322-8BEF-49F2-AED3-CC75BA6D3C66}"/>
              </a:ext>
            </a:extLst>
          </p:cNvPr>
          <p:cNvSpPr txBox="1"/>
          <p:nvPr/>
        </p:nvSpPr>
        <p:spPr>
          <a:xfrm>
            <a:off x="1175338" y="7725862"/>
            <a:ext cx="4889645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Компактный, нечитаемый напрямую формат. Разбирается через DataOutputStream/DataInputStream.</a:t>
            </a:r>
          </a:p>
        </p:txBody>
      </p:sp>
      <p:sp>
        <p:nvSpPr>
          <p:cNvPr id="1187" name="Скругленный прямоугольник 3">
            <a:extLst>
              <a:ext uri="{FF2B5EF4-FFF2-40B4-BE49-F238E27FC236}">
                <a16:creationId xmlns:a16="http://schemas.microsoft.com/office/drawing/2014/main" id="{CA58A1B4-1BF2-4063-B5C3-96EBCDADF7FF}"/>
              </a:ext>
            </a:extLst>
          </p:cNvPr>
          <p:cNvSpPr/>
          <p:nvPr/>
        </p:nvSpPr>
        <p:spPr>
          <a:xfrm>
            <a:off x="6890676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88" name="TextBox 12">
            <a:extLst>
              <a:ext uri="{FF2B5EF4-FFF2-40B4-BE49-F238E27FC236}">
                <a16:creationId xmlns:a16="http://schemas.microsoft.com/office/drawing/2014/main" id="{B0038B3C-05EF-4F7B-A690-01A9C27A358D}"/>
              </a:ext>
            </a:extLst>
          </p:cNvPr>
          <p:cNvSpPr txBox="1"/>
          <p:nvPr/>
        </p:nvSpPr>
        <p:spPr>
          <a:xfrm>
            <a:off x="7454827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JSON, YAML</a:t>
            </a:r>
          </a:p>
        </p:txBody>
      </p:sp>
      <p:sp>
        <p:nvSpPr>
          <p:cNvPr id="1189" name="TextBox 11">
            <a:extLst>
              <a:ext uri="{FF2B5EF4-FFF2-40B4-BE49-F238E27FC236}">
                <a16:creationId xmlns:a16="http://schemas.microsoft.com/office/drawing/2014/main" id="{6820CEC9-040C-498E-BE6C-12B1E54AED3F}"/>
              </a:ext>
            </a:extLst>
          </p:cNvPr>
          <p:cNvSpPr txBox="1"/>
          <p:nvPr/>
        </p:nvSpPr>
        <p:spPr>
          <a:xfrm>
            <a:off x="7454827" y="7725862"/>
            <a:ext cx="4889645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Удобны для конфигов и собственных данных. Jackson ObjectMapper одним и тем же API читает и пишет оба формата.</a:t>
            </a:r>
          </a:p>
        </p:txBody>
      </p:sp>
      <p:sp>
        <p:nvSpPr>
          <p:cNvPr id="1190" name="Скругленный прямоугольник 3">
            <a:extLst>
              <a:ext uri="{FF2B5EF4-FFF2-40B4-BE49-F238E27FC236}">
                <a16:creationId xmlns:a16="http://schemas.microsoft.com/office/drawing/2014/main" id="{F771DEB8-C437-4F0E-B8E2-FAB620A67838}"/>
              </a:ext>
            </a:extLst>
          </p:cNvPr>
          <p:cNvSpPr/>
          <p:nvPr/>
        </p:nvSpPr>
        <p:spPr>
          <a:xfrm>
            <a:off x="13170165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91" name="TextBox 12">
            <a:extLst>
              <a:ext uri="{FF2B5EF4-FFF2-40B4-BE49-F238E27FC236}">
                <a16:creationId xmlns:a16="http://schemas.microsoft.com/office/drawing/2014/main" id="{EBD5C768-A156-4DC9-9A43-2448A7C73B14}"/>
              </a:ext>
            </a:extLst>
          </p:cNvPr>
          <p:cNvSpPr txBox="1"/>
          <p:nvPr/>
        </p:nvSpPr>
        <p:spPr>
          <a:xfrm>
            <a:off x="13734316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CSV</a:t>
            </a:r>
          </a:p>
        </p:txBody>
      </p:sp>
      <p:sp>
        <p:nvSpPr>
          <p:cNvPr id="1192" name="TextBox 11">
            <a:extLst>
              <a:ext uri="{FF2B5EF4-FFF2-40B4-BE49-F238E27FC236}">
                <a16:creationId xmlns:a16="http://schemas.microsoft.com/office/drawing/2014/main" id="{786CF84E-E3FC-4C63-9424-0DEF373F92F4}"/>
              </a:ext>
            </a:extLst>
          </p:cNvPr>
          <p:cNvSpPr txBox="1"/>
          <p:nvPr/>
        </p:nvSpPr>
        <p:spPr>
          <a:xfrm>
            <a:off x="13734316" y="7725862"/>
            <a:ext cx="4889645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Табличные данные, удобные для открытия в Excel. Для разбора стоит взять готовую библиотеку, например commons-csv, а не писать парсер самостоятельно.</a:t>
            </a:r>
          </a:p>
        </p:txBody>
      </p:sp>
    </p:spTree>
    <p:extLst>
      <p:ext uri="{BB962C8B-B14F-4D97-AF65-F5344CB8AC3E}">
        <p14:creationId xmlns:p14="http://schemas.microsoft.com/office/powerpoint/2010/main" val="1495265279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" name="Box"/>
          <p:cNvSpPr/>
          <p:nvPr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BBD4E0-2F7D-49E2-81D8-84AA79FF37D1}"/>
              </a:ext>
            </a:extLst>
          </p:cNvPr>
          <p:cNvSpPr txBox="1"/>
          <p:nvPr/>
        </p:nvSpPr>
        <p:spPr>
          <a:xfrm>
            <a:off x="2581321" y="1447459"/>
            <a:ext cx="14636659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 algn="ctr"/>
            <a:r>
              <a:rPr lang="ru-RU" sz="6000" b="1" dirty="0">
                <a:solidFill>
                  <a:srgbClr val="333333"/>
                </a:solidFill>
                <a:latin typeface="T-Sans" pitchFamily="2" charset="0"/>
                <a:ea typeface="T-Sans" pitchFamily="2" charset="0"/>
              </a:rPr>
              <a:t>Форматы для передачи данных</a:t>
            </a:r>
          </a:p>
        </p:txBody>
      </p:sp>
      <p:sp>
        <p:nvSpPr>
          <p:cNvPr id="1194" name="Box"/>
          <p:cNvSpPr/>
          <p:nvPr/>
        </p:nvSpPr>
        <p:spPr>
          <a:xfrm>
            <a:off x="9349650" y="2341539"/>
            <a:ext cx="1100000" cy="50000"/>
          </a:xfrm>
          <a:prstGeom prst="rect">
            <a:avLst/>
          </a:prstGeom>
          <a:solidFill>
            <a:srgbClr val="FFDD2C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95" name="Скругленный прямоугольник 2">
            <a:extLst>
              <a:ext uri="{FF2B5EF4-FFF2-40B4-BE49-F238E27FC236}">
                <a16:creationId xmlns:a16="http://schemas.microsoft.com/office/drawing/2014/main" id="{92287264-6BFC-400F-9CC2-02AC43891DC1}"/>
              </a:ext>
            </a:extLst>
          </p:cNvPr>
          <p:cNvSpPr/>
          <p:nvPr/>
        </p:nvSpPr>
        <p:spPr>
          <a:xfrm>
            <a:off x="611187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96" name="TextBox 16">
            <a:extLst>
              <a:ext uri="{FF2B5EF4-FFF2-40B4-BE49-F238E27FC236}">
                <a16:creationId xmlns:a16="http://schemas.microsoft.com/office/drawing/2014/main" id="{F0EDFD17-B41D-4FB7-BCA0-274A771A62B5}"/>
              </a:ext>
            </a:extLst>
          </p:cNvPr>
          <p:cNvSpPr txBox="1"/>
          <p:nvPr/>
        </p:nvSpPr>
        <p:spPr>
          <a:xfrm>
            <a:off x="1175338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Content-Type</a:t>
            </a:r>
          </a:p>
        </p:txBody>
      </p:sp>
      <p:sp>
        <p:nvSpPr>
          <p:cNvPr id="1197" name="TextBox 15">
            <a:extLst>
              <a:ext uri="{FF2B5EF4-FFF2-40B4-BE49-F238E27FC236}">
                <a16:creationId xmlns:a16="http://schemas.microsoft.com/office/drawing/2014/main" id="{87076A42-F779-45A7-B5F6-0DD884695D89}"/>
              </a:ext>
            </a:extLst>
          </p:cNvPr>
          <p:cNvSpPr txBox="1"/>
          <p:nvPr/>
        </p:nvSpPr>
        <p:spPr>
          <a:xfrm>
            <a:off x="1175338" y="7725862"/>
            <a:ext cx="4889645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Заголовок запроса или ответа сообщает, в каком формате передано тело: JSON, XML или любой другой.</a:t>
            </a:r>
          </a:p>
        </p:txBody>
      </p:sp>
      <p:sp>
        <p:nvSpPr>
          <p:cNvPr id="1198" name="Скругленный прямоугольник 3">
            <a:extLst>
              <a:ext uri="{FF2B5EF4-FFF2-40B4-BE49-F238E27FC236}">
                <a16:creationId xmlns:a16="http://schemas.microsoft.com/office/drawing/2014/main" id="{CE086D9E-ABC9-4340-96E6-014C222A1E0E}"/>
              </a:ext>
            </a:extLst>
          </p:cNvPr>
          <p:cNvSpPr/>
          <p:nvPr/>
        </p:nvSpPr>
        <p:spPr>
          <a:xfrm>
            <a:off x="6890676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99" name="TextBox 12">
            <a:extLst>
              <a:ext uri="{FF2B5EF4-FFF2-40B4-BE49-F238E27FC236}">
                <a16:creationId xmlns:a16="http://schemas.microsoft.com/office/drawing/2014/main" id="{D0630E1F-767F-426B-8C45-11B1569A3B33}"/>
              </a:ext>
            </a:extLst>
          </p:cNvPr>
          <p:cNvSpPr txBox="1"/>
          <p:nvPr/>
        </p:nvSpPr>
        <p:spPr>
          <a:xfrm>
            <a:off x="7454827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Accept</a:t>
            </a:r>
          </a:p>
        </p:txBody>
      </p:sp>
      <p:sp>
        <p:nvSpPr>
          <p:cNvPr id="1200" name="TextBox 11">
            <a:extLst>
              <a:ext uri="{FF2B5EF4-FFF2-40B4-BE49-F238E27FC236}">
                <a16:creationId xmlns:a16="http://schemas.microsoft.com/office/drawing/2014/main" id="{AC4B96F8-61F7-4C1E-BD91-FCFC7B1BF010}"/>
              </a:ext>
            </a:extLst>
          </p:cNvPr>
          <p:cNvSpPr txBox="1"/>
          <p:nvPr/>
        </p:nvSpPr>
        <p:spPr>
          <a:xfrm>
            <a:off x="7454827" y="7725862"/>
            <a:ext cx="4889645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Заголовок запроса сообщает, какие форматы ответа клиент готов принять. Сервер выбирает подходящий или отвечает ошибкой 406.</a:t>
            </a:r>
          </a:p>
        </p:txBody>
      </p:sp>
      <p:sp>
        <p:nvSpPr>
          <p:cNvPr id="1201" name="Скругленный прямоугольник 3">
            <a:extLst>
              <a:ext uri="{FF2B5EF4-FFF2-40B4-BE49-F238E27FC236}">
                <a16:creationId xmlns:a16="http://schemas.microsoft.com/office/drawing/2014/main" id="{06923E60-479E-4436-8104-65200C0F1BCD}"/>
              </a:ext>
            </a:extLst>
          </p:cNvPr>
          <p:cNvSpPr/>
          <p:nvPr/>
        </p:nvSpPr>
        <p:spPr>
          <a:xfrm>
            <a:off x="13170165" y="4013963"/>
            <a:ext cx="6017947" cy="5922200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02" name="TextBox 12">
            <a:extLst>
              <a:ext uri="{FF2B5EF4-FFF2-40B4-BE49-F238E27FC236}">
                <a16:creationId xmlns:a16="http://schemas.microsoft.com/office/drawing/2014/main" id="{13EDFE17-31C6-413A-A8E4-AC6BDCCF0747}"/>
              </a:ext>
            </a:extLst>
          </p:cNvPr>
          <p:cNvSpPr txBox="1"/>
          <p:nvPr/>
        </p:nvSpPr>
        <p:spPr>
          <a:xfrm>
            <a:off x="13734316" y="6300788"/>
            <a:ext cx="4889645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800" b="1" dirty="0">
                <a:solidFill>
                  <a:srgbClr val="333333"/>
                </a:solidFill>
                <a:latin typeface="T-Sans Medium" pitchFamily="2" charset="0"/>
                <a:ea typeface="T-Sans" pitchFamily="2" charset="0"/>
              </a:rPr>
              <a:t>Те же библиотеки</a:t>
            </a:r>
          </a:p>
        </p:txBody>
      </p:sp>
      <p:sp>
        <p:nvSpPr>
          <p:cNvPr id="1203" name="TextBox 11">
            <a:extLst>
              <a:ext uri="{FF2B5EF4-FFF2-40B4-BE49-F238E27FC236}">
                <a16:creationId xmlns:a16="http://schemas.microsoft.com/office/drawing/2014/main" id="{B3D65B23-39CA-4DD4-9D21-6B43EE8D1E6F}"/>
              </a:ext>
            </a:extLst>
          </p:cNvPr>
          <p:cNvSpPr txBox="1"/>
          <p:nvPr/>
        </p:nvSpPr>
        <p:spPr>
          <a:xfrm>
            <a:off x="13734316" y="7725862"/>
            <a:ext cx="4889645" cy="18928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sz="2900" dirty="0">
                <a:solidFill>
                  <a:srgbClr val="757675"/>
                </a:solidFill>
                <a:latin typeface="T-Sans" pitchFamily="2" charset="0"/>
                <a:ea typeface="T-Sans" pitchFamily="2" charset="0"/>
              </a:rPr>
              <a:t>Формат не привязан к источнику: один и тот же ObjectMapper разбирает и сетевой ответ, и файл, прочитанный с диска.</a:t>
            </a:r>
          </a:p>
        </p:txBody>
      </p:sp>
    </p:spTree>
    <p:extLst>
      <p:ext uri="{BB962C8B-B14F-4D97-AF65-F5344CB8AC3E}">
        <p14:creationId xmlns:p14="http://schemas.microsoft.com/office/powerpoint/2010/main" val="775305227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dirty="0">
                  <a:latin typeface="T-Sans" pitchFamily="2" charset="0"/>
                  <a:ea typeface="T-Sans" pitchFamily="2" charset="0"/>
                </a:rPr>
                <a:t>Оставьте, пожалуйста, обратную связь!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Обратная связь позволяет нам самосовершенствоваться и делать курс лучше!</a:t>
              </a:r>
            </a:p>
          </p:txBody>
        </p:sp>
      </p:grp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31F5F82-6E5A-CBC1-4863-FF922E508B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r="206"/>
          <a:stretch>
            <a:fillRect/>
          </a:stretch>
        </p:blipFill>
        <p:spPr/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43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5588366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 </a:t>
            </a:r>
            <a:b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  <p:extLst>
      <p:ext uri="{BB962C8B-B14F-4D97-AF65-F5344CB8AC3E}">
        <p14:creationId xmlns:p14="http://schemas.microsoft.com/office/powerpoint/2010/main" val="115168054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59762</TotalTime>
  <Words>2840</Words>
  <Application>Microsoft Macintosh PowerPoint</Application>
  <PresentationFormat>Custom</PresentationFormat>
  <Paragraphs>510</Paragraphs>
  <Slides>45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Tinkoff Sans</vt:lpstr>
      <vt:lpstr>Arial</vt:lpstr>
      <vt:lpstr>T-Sans</vt:lpstr>
      <vt:lpstr>Wingdings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1284</cp:revision>
  <dcterms:modified xsi:type="dcterms:W3CDTF">2026-10-14T14:05:41Z</dcterms:modified>
</cp:coreProperties>
</file>